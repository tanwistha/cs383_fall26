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79" r:id="rId5"/>
    <p:sldId id="259" r:id="rId6"/>
    <p:sldId id="260" r:id="rId7"/>
    <p:sldId id="261" r:id="rId8"/>
    <p:sldId id="262" r:id="rId9"/>
    <p:sldId id="263" r:id="rId10"/>
    <p:sldId id="264" r:id="rId11"/>
    <p:sldId id="266" r:id="rId12"/>
    <p:sldId id="267" r:id="rId13"/>
    <p:sldId id="268" r:id="rId14"/>
    <p:sldId id="269" r:id="rId15"/>
    <p:sldId id="270" r:id="rId16"/>
    <p:sldId id="271" r:id="rId17"/>
    <p:sldId id="272" r:id="rId18"/>
    <p:sldId id="273" r:id="rId19"/>
    <p:sldId id="274" r:id="rId20"/>
    <p:sldId id="280" r:id="rId21"/>
    <p:sldId id="281" r:id="rId22"/>
    <p:sldId id="282" r:id="rId23"/>
    <p:sldId id="276" r:id="rId24"/>
    <p:sldId id="277" r:id="rId25"/>
    <p:sldId id="278"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 uri="{1BD7E111-0CB8-44D6-8891-C1BB2F81B7CC}">
      <p1710:readonlyRecommended xmlns:p1710="http://schemas.microsoft.com/office/powerpoint/2017/10/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0358"/>
    <p:restoredTop sz="94693"/>
  </p:normalViewPr>
  <p:slideViewPr>
    <p:cSldViewPr snapToGrid="0">
      <p:cViewPr varScale="1">
        <p:scale>
          <a:sx n="105" d="100"/>
          <a:sy n="105" d="100"/>
        </p:scale>
        <p:origin x="192" y="4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73964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Lecture 1 opener. Last time we ended with traversals and the observation that the order in which we insert keys decides the height of a BST, and every operation is O(h). Today: what a balanced BST is, how a good pivot builds one, and how tree rotations let us keep a tree balanced while keys arrive one at a time. Next lecture: red-black trees as a concrete balanced BST. Running example for both lectures: the same array used for BSTs and heaps, A = 20, 13, 25, 2, 17, 8, 5, 7 (sorted: 2, 5, 7, 8, 13, 17, 20, 25).</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Recap from last lecture, using our running example A = 20, 13, 25, 2, 17, 8, 5, 7. Both trees hold the same eight keys and both satisfy the search tree property; in-order traversal of either prints 2, 5, 7, 8, 13, 17, 20, 25. Inserting A in its given order: 20 is the root, 13 and 25 its children, 2 and 17 under 13, then 8 goes right of 2, 5 left of 8, and 7 right of 5. That gives height 5, because the path 20, 13, 2, 8, 5, 7 is long. Inserting the sorted array gives a chain of height 7 = n - 1. The best possible height for 8 keys is floor(log2 8) = 3. Ask: how many comparisons does Search(7) take in each tree? 6 versus 3. And Search(25)? 2 versus 8. Each shape has its own expensive keys; the height bounds the worst case. Sorted input is common in practice, so the right-hand tree is not contrived.</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central observation of the last lecture. Each of these operations walks down a single path from the root, so its cost is proportional to the length of that path, at most the height h. Only traversals touch every node. So the height is the whole story: if h is about log2 n, a million keys need about 20 steps; if the tree degenerated into a chain, they need about a million. That motivates the goal for today.</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rPr dirty="0"/>
              <a:t>A balanced binary search tree preserves the usual BST ordering and maintains logarithmic height as keys are inserted or deleted. Here n denotes the number of nodes. Keeping the height small prevents the tree from becoming a long chain. AVL trees and red-black trees are two examples. The next slide summarizes the guarantees and compares their operation costs with a sorted array.</a:t>
            </a:r>
          </a:p>
          <a:p>
            <a:endParaRPr lang="en-US" dirty="0"/>
          </a:p>
          <a:p>
            <a:r>
              <a:rPr lang="en-US" dirty="0"/>
              <a:t>AVL trees maintain a local height condition at every node: its two subtree heights differ by at most one. Red-black trees use node colors and color rules to guarantee logarithmic height. The red-black rules appear later in this presentation.</a:t>
            </a:r>
          </a:p>
          <a:p>
            <a:endParaRPr lang="en-US" dirty="0"/>
          </a:p>
          <a:p>
            <a:r>
              <a:rPr lang="en-US" dirty="0"/>
              <a:t>[Sources]</a:t>
            </a:r>
          </a:p>
          <a:p>
            <a:r>
              <a:rPr lang="en-US" dirty="0"/>
              <a:t>AVL definition: NIST Dictionary of Algorithms and Data Structures, https://</a:t>
            </a:r>
            <a:r>
              <a:rPr lang="en-US" dirty="0" err="1"/>
              <a:t>xlinux.nist.gov</a:t>
            </a:r>
            <a:r>
              <a:rPr lang="en-US" dirty="0"/>
              <a:t>/dads/HTML/</a:t>
            </a:r>
            <a:r>
              <a:rPr lang="en-US" dirty="0" err="1"/>
              <a:t>avltree.html</a:t>
            </a:r>
            <a:endParaRPr lang="en-US" dirty="0"/>
          </a:p>
          <a:p>
            <a:r>
              <a:rPr lang="en-US" dirty="0"/>
              <a:t>RB definition: existing presentation, slides 12 and 16.</a:t>
            </a:r>
          </a:p>
          <a:p>
            <a:r>
              <a:rPr lang="en-US" dirty="0"/>
              <a:t>[/Sources]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lang="en-US" dirty="0"/>
              <a:t>A </a:t>
            </a:r>
            <a:r>
              <a:rPr dirty="0"/>
              <a:t>balanced BST </a:t>
            </a:r>
            <a:r>
              <a:rPr lang="en-US" dirty="0"/>
              <a:t>keeps the usual search-tree ordering</a:t>
            </a:r>
            <a:r>
              <a:rPr dirty="0"/>
              <a:t>: </a:t>
            </a:r>
            <a:r>
              <a:rPr lang="en-US" dirty="0"/>
              <a:t>all keys in </a:t>
            </a:r>
            <a:r>
              <a:rPr dirty="0"/>
              <a:t>a </a:t>
            </a:r>
            <a:r>
              <a:rPr lang="en-US" dirty="0"/>
              <a:t>node’s left subtree are smaller</a:t>
            </a:r>
            <a:r>
              <a:rPr dirty="0"/>
              <a:t>, </a:t>
            </a:r>
            <a:r>
              <a:rPr lang="en-US" dirty="0"/>
              <a:t>and all keys in </a:t>
            </a:r>
            <a:r>
              <a:rPr dirty="0"/>
              <a:t>its </a:t>
            </a:r>
            <a:r>
              <a:rPr lang="en-US" dirty="0"/>
              <a:t>right subtree are larger. In-order traversal therefore still produces the keys in sorted order.</a:t>
            </a:r>
          </a:p>
          <a:p>
            <a:endParaRPr lang="en-US" dirty="0"/>
          </a:p>
          <a:p>
            <a:r>
              <a:rPr lang="en-US" dirty="0"/>
              <a:t>The additional guarantee is that the </a:t>
            </a:r>
            <a:r>
              <a:rPr dirty="0"/>
              <a:t>height stays </a:t>
            </a:r>
            <a:r>
              <a:rPr lang="en-US" dirty="0"/>
              <a:t>O(log n) </a:t>
            </a:r>
            <a:r>
              <a:rPr dirty="0"/>
              <a:t>after every </a:t>
            </a:r>
            <a:r>
              <a:rPr lang="en-US" dirty="0"/>
              <a:t>insertion or deletion</a:t>
            </a:r>
            <a:r>
              <a:rPr dirty="0"/>
              <a:t>, </a:t>
            </a:r>
            <a:r>
              <a:rPr lang="en-US" dirty="0"/>
              <a:t>regardless of the order of updates. Maintaining this balance </a:t>
            </a:r>
            <a:r>
              <a:rPr dirty="0"/>
              <a:t>costs </a:t>
            </a:r>
            <a:r>
              <a:rPr lang="en-US" dirty="0"/>
              <a:t>at most </a:t>
            </a:r>
            <a:r>
              <a:rPr dirty="0"/>
              <a:t>O(log n) extra</a:t>
            </a:r>
            <a:r>
              <a:rPr lang="en-US" dirty="0"/>
              <a:t> work per operation</a:t>
            </a:r>
            <a:r>
              <a:rPr dirty="0"/>
              <a:t>. </a:t>
            </a:r>
            <a:r>
              <a:rPr lang="en-US" dirty="0"/>
              <a:t>These are </a:t>
            </a:r>
            <a:r>
              <a:rPr dirty="0"/>
              <a:t>the </a:t>
            </a:r>
            <a:r>
              <a:rPr lang="en-US" dirty="0"/>
              <a:t>guarantees we want from a balanced BST.</a:t>
            </a:r>
          </a:p>
          <a:p>
            <a:endParaRPr lang="en-US" dirty="0"/>
          </a:p>
          <a:p>
            <a:r>
              <a:rPr lang="en-US" dirty="0"/>
              <a:t>Use </a:t>
            </a:r>
            <a:r>
              <a:rPr dirty="0"/>
              <a:t>the </a:t>
            </a:r>
            <a:r>
              <a:rPr lang="en-US" dirty="0"/>
              <a:t>table to compare a balanced BST with </a:t>
            </a:r>
            <a:r>
              <a:rPr dirty="0"/>
              <a:t>a sorted array</a:t>
            </a:r>
            <a:r>
              <a:rPr lang="en-US" dirty="0"/>
              <a:t>. Both support search in O(log n). A sorted array gives O(1) access to its minimum and maximum</a:t>
            </a:r>
            <a:r>
              <a:rPr dirty="0"/>
              <a:t>, but </a:t>
            </a:r>
            <a:r>
              <a:rPr lang="en-US" dirty="0"/>
              <a:t>insertion </a:t>
            </a:r>
            <a:r>
              <a:rPr dirty="0"/>
              <a:t>and </a:t>
            </a:r>
            <a:r>
              <a:rPr lang="en-US" dirty="0"/>
              <a:t>deletion can take O</a:t>
            </a:r>
            <a:r>
              <a:rPr dirty="0"/>
              <a:t>(n) because elements </a:t>
            </a:r>
            <a:r>
              <a:rPr lang="en-US" dirty="0"/>
              <a:t>may need to </a:t>
            </a:r>
            <a:r>
              <a:rPr dirty="0"/>
              <a:t>shift. A balanced BST </a:t>
            </a:r>
            <a:r>
              <a:rPr lang="en-US" dirty="0"/>
              <a:t>supports insertion and deletion </a:t>
            </a:r>
            <a:r>
              <a:rPr dirty="0"/>
              <a:t>in O(log n), </a:t>
            </a:r>
            <a:r>
              <a:rPr lang="en-US" dirty="0"/>
              <a:t>along with search, minimum, maximum, predecessor, and successor. Outputting every key still takes O(n) in either structure because we must visit all n keys.</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Start with the easy, static version: all keys are known in advance. Think of the root of any subtree as a pivot: every key smaller goes left, every key larger goes right. To minimize height, pick the pivot that splits the keys evenly: the median. On a sorted array the median is just the middle element, so the code looks exactly like binary search, except we recurse into BOTH halves. Recurrence T(n) = 2T(n/2) + O(1), which the Master Theorem solves to O(n). Trace it on sorted A: lo = 0, hi = 7, mid = </a:t>
            </a:r>
            <a:r>
              <a:rPr lang="en-US" dirty="0"/>
              <a:t>4</a:t>
            </a:r>
            <a:r>
              <a:rPr dirty="0"/>
              <a:t>, so A[</a:t>
            </a:r>
            <a:r>
              <a:rPr lang="en-US" dirty="0"/>
              <a:t>4</a:t>
            </a:r>
            <a:r>
              <a:rPr dirty="0"/>
              <a:t>] = </a:t>
            </a:r>
            <a:r>
              <a:rPr lang="en-US" dirty="0"/>
              <a:t>13 </a:t>
            </a:r>
            <a:r>
              <a:rPr dirty="0"/>
              <a:t>is the root. </a:t>
            </a:r>
            <a:r>
              <a:rPr lang="en-US" dirty="0"/>
              <a:t>The left </a:t>
            </a:r>
            <a:r>
              <a:rPr dirty="0"/>
              <a:t>half [2, 5, 7</a:t>
            </a:r>
            <a:r>
              <a:rPr lang="en-US" dirty="0"/>
              <a:t>, 8</a:t>
            </a:r>
            <a:r>
              <a:rPr dirty="0"/>
              <a:t>] </a:t>
            </a:r>
            <a:r>
              <a:rPr lang="en-US" dirty="0"/>
              <a:t>chooses its upper median 7, </a:t>
            </a:r>
            <a:r>
              <a:rPr dirty="0"/>
              <a:t>with children </a:t>
            </a:r>
            <a:r>
              <a:rPr lang="en-US" dirty="0"/>
              <a:t>5 and 8, and 5 has left child </a:t>
            </a:r>
            <a:r>
              <a:rPr dirty="0"/>
              <a:t>2. </a:t>
            </a:r>
            <a:r>
              <a:rPr lang="en-US" dirty="0"/>
              <a:t>The right </a:t>
            </a:r>
            <a:r>
              <a:rPr dirty="0"/>
              <a:t>half [17, 20, 25] </a:t>
            </a:r>
            <a:r>
              <a:rPr lang="en-US" dirty="0"/>
              <a:t>chooses 20 with children 17 and 25</a:t>
            </a:r>
            <a:r>
              <a:rPr dirty="0"/>
              <a:t>. </a:t>
            </a:r>
            <a:r>
              <a:rPr lang="en-US" dirty="0"/>
              <a:t>This static upper-median BST differs in </a:t>
            </a:r>
            <a:r>
              <a:rPr dirty="0"/>
              <a:t>its left </a:t>
            </a:r>
            <a:r>
              <a:rPr lang="en-US" dirty="0"/>
              <a:t>subtree from the insertion-built red-black tree shown later</a:t>
            </a:r>
            <a:r>
              <a:rPr dirty="0"/>
              <a:t>, </a:t>
            </a:r>
            <a:r>
              <a:rPr lang="en-US" dirty="0"/>
              <a:t>though both have root 13 and height 3</a:t>
            </a:r>
            <a:r>
              <a:rPr dirty="0"/>
              <a:t>. Height 3 = floor(log2 8), the minimum possible, compared with 5 and 7 on the recap slide.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As on slide 5, BUILDBALANCED chooses the upper median: root 13, with children 7 and 20. The left subtree contains [2, 5, 7, 8] and the right subtree [17, 20, 25]. The tree has height 3, the minimum for these eight keys. </a:t>
            </a:r>
            <a:r>
              <a:rPr dirty="0"/>
              <a:t>Make the pivot idea explicit. Plain BST insertion makes the first key inserted the root, i.e. the pivot, and recursively the first key that arrives in each subtree becomes its pivot. With sorted input that is always the minimum, so every split is 0 versus n-1 and the height is n-1. With a random insertion order the splits are uneven but rarely extreme, and the expected height is O(log n). In our example, A's given order is 'random-looking' and gives height 5: better than 7, worse than the optimal 3. That is the same analysis as </a:t>
            </a:r>
            <a:r>
              <a:rPr dirty="0" err="1"/>
              <a:t>QuickSort</a:t>
            </a:r>
            <a:r>
              <a:rPr dirty="0"/>
              <a:t> with a random pivot, and in fact the BST built by insertion is exactly </a:t>
            </a:r>
            <a:r>
              <a:rPr dirty="0" err="1"/>
              <a:t>QuickSort's</a:t>
            </a:r>
            <a:r>
              <a:rPr dirty="0"/>
              <a:t> recursion tree with first-element pivots. But expected is not guaranteed, and in a dynamic setting we don't control the input order.</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Now the real problem: keys arrive one at a time, interleaved with searches and deletions. Option 1, rebuilding with </a:t>
            </a:r>
            <a:r>
              <a:rPr lang="en-US" err="1"/>
              <a:t>BUILDBALANCED</a:t>
            </a:r>
            <a:r>
              <a:rPr dirty="0"/>
              <a:t> after each insert, costs O(n) per insert, which defeats the purpose. Option 2, hoping for random order, gives no worst-case guarantee. Option 3 is what every balanced BST does: after each update, walk back up the path we just traversed and fix the shape locally, changing the pivot of a small subtree. The tool for that is the rotation (next slide). Bottom: the first three keys of sorted A form a chain; one rotation makes 5, their median, the pivot.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 rotation swaps a parent and child. In </a:t>
            </a:r>
            <a:r>
              <a:rPr lang="en-US" dirty="0"/>
              <a:t>LEFTROTATE</a:t>
            </a:r>
            <a:r>
              <a:rPr dirty="0"/>
              <a:t>(x), x's right child y moves up and becomes the root of this subtree; x becomes y's left child; y's old left subtree B becomes x's right subtree. A, B and C are whole subtrees, possibly empty. Check the in-order sequence on both sides: A, x, B, y, C. So the search tree property survives. Only a constant number of pointers change, so a rotation is O(1). Depth effect: everything in A moves down one level, everything in C moves up one, B stays. That is how rotations shorten a long side. </a:t>
            </a:r>
            <a:r>
              <a:rPr lang="en-US" dirty="0"/>
              <a:t>RIGHTROTATE</a:t>
            </a:r>
            <a:r>
              <a:rPr dirty="0"/>
              <a:t>(y) is the exact inverse.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shapes of imbalance among three nodes, both taken from our running example. Line: inserting the first three keys of sorted A gives 2, 5, 7 as a chain of right children; one </a:t>
            </a:r>
            <a:r>
              <a:rPr lang="en-US"/>
              <a:t>LEFTROTATE </a:t>
            </a:r>
            <a:r>
              <a:t>at the top makes 5 the pivot. Zig-zag: in the BST we built from A on the recap slide, 2 has right child 8 and 8 has left child 5. That bend is a zig-zag. A single rotation at 2 would just produce another zig-zag, so first </a:t>
            </a:r>
            <a:r>
              <a:rPr lang="en-US"/>
              <a:t>RIGHTROTATE</a:t>
            </a:r>
            <a:r>
              <a:t>(8) to straighten it into the line 2, 5, 8, then </a:t>
            </a:r>
            <a:r>
              <a:rPr lang="en-US"/>
              <a:t>LEFTROTATE</a:t>
            </a:r>
            <a:r>
              <a:t>(2). Have students check that in-order stays 2, 5, 8 at every step. These two patterns reappear exactly in red-black insertion next lecture, and this very zig-zag shows up when we insert 5.</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Lecture 2 opener. Quick recap: every BST operation is O(h); a balanced BST guarantees h = O(log n); rotations re-pick a subtree's pivot in O(1). Today: red-black trees, one concrete balanced BST. Plan: the four invariants, a proof that they force height at most 2 log2(n+1), then insertion with recoloring and rotations. The tree on the right is what we get by inserting our running example A = 20, 13, 25, 2, 17, 8, 5, 7 into a red-black tree; we build it step by step at the end of today.</a:t>
            </a:r>
          </a:p>
          <a:p>
            <a:endParaRPr lang="en-US" dirty="0"/>
          </a:p>
          <a:p>
            <a:r>
              <a:rPr lang="en-US" dirty="0"/>
              <a:t>Canonical completed example: root 13 black; children 5 and 20 red; nodes 2, 8, 17 and 25 black; node 7 red as the left child of 8. This is the same tree used for the invariants on slides 11 and 12 and the final result on slide 21.</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 red-black tree is a BST in which every node stores one extra bit, its color, and the four invariants hold. Spend time on invariant 4. A root-NULL path starts at the root and ends at a NULL child pointer; it is exactly the path an unsuccessful search follows. Every such path must contain the same number of black nodes, called the black-height. Invariants 3 and 4 do the real work: 4 says the black nodes are perfectly balanced, and 3 says red nodes can at most double the length of a path.</a:t>
            </a:r>
          </a:p>
          <a:p>
            <a:endParaRPr lang="en-US" dirty="0"/>
          </a:p>
          <a:p>
            <a:r>
              <a:rPr lang="en-US" dirty="0"/>
              <a:t>The diagram is the complete running RB tree rooted at black node 13, with red children 5 and 20, black nodes 2, 8, 17 and 25, and red node 7 below 8. The path 13, 20, 25, NULL contains two black internal nodes, as does every root-to-NULL path in this tree. Throughout this deck, the black-height count includes the root and excludes the terminal NULL.</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a:t>
            </a:r>
            <a:r>
              <a:rPr lang="en-US"/>
              <a:t>same completed red-black </a:t>
            </a:r>
            <a:r>
              <a:t>tree </a:t>
            </a:r>
            <a:r>
              <a:rPr lang="en-US"/>
              <a:t>shown on slide 10 and in the final panel of slide 21, obtained by inserting </a:t>
            </a:r>
            <a:r>
              <a:t>A </a:t>
            </a:r>
            <a:r>
              <a:rPr lang="en-US"/>
              <a:t>= 20, 13, 25</a:t>
            </a:r>
            <a:r>
              <a:t>, 2</a:t>
            </a:r>
            <a:r>
              <a:rPr lang="en-US"/>
              <a:t>, 17, 8, 5, 7. The </a:t>
            </a:r>
            <a:r>
              <a:t>root is </a:t>
            </a:r>
            <a:r>
              <a:rPr lang="en-US"/>
              <a:t>13 (</a:t>
            </a:r>
            <a:r>
              <a:t>black</a:t>
            </a:r>
            <a:r>
              <a:rPr lang="en-US"/>
              <a:t>). Its children </a:t>
            </a:r>
            <a:r>
              <a:t>are </a:t>
            </a:r>
            <a:r>
              <a:rPr lang="en-US"/>
              <a:t>5 (red) and 20 (red). Node 5 has children </a:t>
            </a:r>
            <a:r>
              <a:t>2</a:t>
            </a:r>
            <a:r>
              <a:rPr lang="en-US"/>
              <a:t> (black) and 8 (black), and 8 has left child </a:t>
            </a:r>
            <a:r>
              <a:t>7</a:t>
            </a:r>
            <a:r>
              <a:rPr lang="en-US"/>
              <a:t> (red). Node 20 has children </a:t>
            </a:r>
            <a:r>
              <a:t>17 </a:t>
            </a:r>
            <a:r>
              <a:rPr lang="en-US"/>
              <a:t>(black) </a:t>
            </a:r>
            <a:r>
              <a:t>and 25</a:t>
            </a:r>
            <a:r>
              <a:rPr lang="en-US"/>
              <a:t> (black). All missing children are black NULLs</a:t>
            </a:r>
            <a:r>
              <a:t>.</a:t>
            </a:r>
            <a:endParaRPr lang="en-US"/>
          </a:p>
          <a:p>
            <a:r>
              <a:rPr lang="en-US"/>
              <a:t>The in-order traversal is</a:t>
            </a:r>
            <a:r>
              <a:t> 2, </a:t>
            </a:r>
            <a:r>
              <a:rPr lang="en-US"/>
              <a:t>5, </a:t>
            </a:r>
            <a:r>
              <a:t>7</a:t>
            </a:r>
            <a:r>
              <a:rPr lang="en-US"/>
              <a:t>, 8, 13, 17, 20,</a:t>
            </a:r>
            <a:r>
              <a:t> 25, so </a:t>
            </a:r>
            <a:r>
              <a:rPr lang="en-US"/>
              <a:t>the BST ordering holds. Every node is red or black, the root is </a:t>
            </a:r>
            <a:r>
              <a:t>black</a:t>
            </a:r>
            <a:r>
              <a:rPr lang="en-US"/>
              <a:t>, </a:t>
            </a:r>
            <a:r>
              <a:t>and </a:t>
            </a:r>
            <a:r>
              <a:rPr lang="en-US"/>
              <a:t>each red node has only </a:t>
            </a:r>
            <a:r>
              <a:t>black</a:t>
            </a:r>
            <a:r>
              <a:rPr lang="en-US"/>
              <a:t> children or NULLs</a:t>
            </a:r>
            <a:r>
              <a:t>. </a:t>
            </a:r>
            <a:r>
              <a:rPr lang="en-US"/>
              <a:t>All root-to-NULL paths contain exactly two black internal nodes</a:t>
            </a:r>
            <a:r>
              <a:t>: </a:t>
            </a:r>
            <a:r>
              <a:rPr lang="en-US"/>
              <a:t>13 and one of </a:t>
            </a:r>
            <a:r>
              <a:t>2, 8, 17</a:t>
            </a:r>
            <a:r>
              <a:rPr lang="en-US"/>
              <a:t> or 25. For example</a:t>
            </a:r>
            <a:r>
              <a:t>, 13, </a:t>
            </a:r>
            <a:r>
              <a:rPr lang="en-US"/>
              <a:t>5, 8, 7, </a:t>
            </a:r>
            <a:r>
              <a:t>NULL </a:t>
            </a:r>
            <a:r>
              <a:rPr lang="en-US"/>
              <a:t>counts 13 </a:t>
            </a:r>
            <a:r>
              <a:t>and 8</a:t>
            </a:r>
            <a:r>
              <a:rPr lang="en-US"/>
              <a:t>; 13</a:t>
            </a:r>
            <a:r>
              <a:t>, 20, </a:t>
            </a:r>
            <a:r>
              <a:rPr lang="en-US"/>
              <a:t>17</a:t>
            </a:r>
            <a:r>
              <a:t>, NULL </a:t>
            </a:r>
            <a:r>
              <a:rPr lang="en-US"/>
              <a:t>counts 13 </a:t>
            </a:r>
            <a:r>
              <a:t>and </a:t>
            </a:r>
            <a:r>
              <a:rPr lang="en-US"/>
              <a:t>17</a:t>
            </a:r>
            <a:r>
              <a:t>. </a:t>
            </a:r>
            <a:r>
              <a:rPr lang="en-US"/>
              <a:t>This deck counts the root and excludes the terminal NULL when reporting black-height</a:t>
            </a:r>
            <a:r>
              <a:t>, so </a:t>
            </a:r>
            <a:r>
              <a:rPr lang="en-US"/>
              <a:t>k = </a:t>
            </a:r>
            <a:r>
              <a:t>2. </a:t>
            </a:r>
            <a:r>
              <a:rPr lang="en-US"/>
              <a:t>Including </a:t>
            </a:r>
            <a:r>
              <a:t>the </a:t>
            </a:r>
            <a:r>
              <a:rPr lang="en-US"/>
              <a:t>black NULL would give three black nodes on every path, still equal. Height </a:t>
            </a:r>
            <a:r>
              <a:t>is </a:t>
            </a:r>
            <a:r>
              <a:rPr lang="en-US"/>
              <a:t>3 edges.</a:t>
            </a:r>
          </a:p>
          <a:p>
            <a:r>
              <a:rPr lang="en-US"/>
              <a:t>Unlike this insertion-built RB tree, slide 5 constructs a static upper-median BST. Both have root 13, </a:t>
            </a:r>
            <a:r>
              <a:t>the </a:t>
            </a:r>
            <a:r>
              <a:rPr lang="en-US"/>
              <a:t>same keys and height 3, but their </a:t>
            </a:r>
            <a:r>
              <a:t>left</a:t>
            </a:r>
            <a:r>
              <a:rPr lang="en-US"/>
              <a:t> subtrees differ. Do not describe this as the exact output of BUILDBALANCED</a:t>
            </a:r>
            <a:r>
              <a:t>. Ask what </a:t>
            </a:r>
            <a:r>
              <a:rPr lang="en-US"/>
              <a:t>would break </a:t>
            </a:r>
            <a:r>
              <a:t>if </a:t>
            </a:r>
            <a:r>
              <a:rPr lang="en-US"/>
              <a:t>node 5 </a:t>
            </a:r>
            <a:r>
              <a:t>were </a:t>
            </a:r>
            <a:r>
              <a:rPr lang="en-US"/>
              <a:t>recolored </a:t>
            </a:r>
            <a:r>
              <a:t>black</a:t>
            </a:r>
            <a:r>
              <a:rPr lang="en-US"/>
              <a:t>: paths </a:t>
            </a:r>
            <a:r>
              <a:t>through </a:t>
            </a:r>
            <a:r>
              <a:rPr lang="en-US"/>
              <a:t>the left subtree would have three black internal nodes while right-subtree paths </a:t>
            </a:r>
            <a:r>
              <a:t>would </a:t>
            </a:r>
            <a:r>
              <a:rPr lang="en-US"/>
              <a:t>still have two.</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Invariant 2 makes node 2 black. The root-NULL path that goes left from 2 contains exactly one black node, the root itself. By invariant 4 the long path 2, 5, 7, NULL must also contain exactly one black node, so 5 and 7 are both red, which breaks invariant 3. Moral: the invariants outlaw long, skinny chains. The next two slides make that precise.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Begin with the picture, before showing any algebra. NULL means a missing child pointer. Start at the root and keep choosing left or right until a child is missing. Count actual nodes visited, including the root</a:t>
            </a:r>
            <a:r>
              <a:rPr dirty="0"/>
              <a:t>, </a:t>
            </a:r>
            <a:r>
              <a:rPr lang="en-US" dirty="0"/>
              <a:t>but exclude NULL</a:t>
            </a:r>
            <a:r>
              <a:rPr dirty="0"/>
              <a:t>.</a:t>
            </a:r>
            <a:endParaRPr lang="en-US" dirty="0"/>
          </a:p>
          <a:p>
            <a:r>
              <a:rPr lang="en-US" dirty="0"/>
              <a:t>Our example requires EVERY such route to visit at least three nodes. Ask</a:t>
            </a:r>
            <a:r>
              <a:rPr dirty="0"/>
              <a:t>: </a:t>
            </a:r>
            <a:r>
              <a:rPr lang="en-US" dirty="0"/>
              <a:t>could the root have a missing left child? No. Taking that direction would stop after just the root</a:t>
            </a:r>
            <a:r>
              <a:rPr dirty="0"/>
              <a:t>, </a:t>
            </a:r>
            <a:r>
              <a:rPr lang="en-US" dirty="0"/>
              <a:t>only one node. The same holds on </a:t>
            </a:r>
            <a:r>
              <a:rPr dirty="0"/>
              <a:t>the </a:t>
            </a:r>
            <a:r>
              <a:rPr lang="en-US" dirty="0"/>
              <a:t>right. We therefore need both children</a:t>
            </a:r>
            <a:r>
              <a:rPr dirty="0"/>
              <a:t>.</a:t>
            </a:r>
            <a:endParaRPr lang="en-US" dirty="0"/>
          </a:p>
          <a:p>
            <a:r>
              <a:rPr lang="en-US" dirty="0"/>
              <a:t>Now ask</a:t>
            </a:r>
            <a:r>
              <a:rPr dirty="0"/>
              <a:t>: </a:t>
            </a:r>
            <a:r>
              <a:rPr lang="en-US" dirty="0"/>
              <a:t>could either child have a missing child of its own? No. That route would stop after visiting the root and one child, only two nodes. So each of the two children needs two children. That gives four grandchildren. We now have at least 1 + 2 + 4 = 7 nodes. More nodes below are fine, but fewer nodes would create an early exit.</a:t>
            </a:r>
          </a:p>
          <a:p>
            <a:r>
              <a:rPr lang="en-US" dirty="0"/>
              <a:t>The same reasoning works for any positive integer k: if every route must visit </a:t>
            </a:r>
            <a:r>
              <a:rPr dirty="0"/>
              <a:t>at </a:t>
            </a:r>
            <a:r>
              <a:rPr lang="en-US" dirty="0"/>
              <a:t>least </a:t>
            </a:r>
            <a:r>
              <a:rPr dirty="0"/>
              <a:t>k </a:t>
            </a:r>
            <a:r>
              <a:rPr lang="en-US" dirty="0"/>
              <a:t>nodes</a:t>
            </a:r>
            <a:r>
              <a:rPr dirty="0"/>
              <a:t>, </a:t>
            </a:r>
            <a:r>
              <a:rPr lang="en-US" dirty="0"/>
              <a:t>no position in </a:t>
            </a:r>
            <a:r>
              <a:rPr dirty="0"/>
              <a:t>the </a:t>
            </a:r>
            <a:r>
              <a:rPr lang="en-US" dirty="0"/>
              <a:t>first k levels can be empty. The levels contain 1, 2, 4, and so on</a:t>
            </a:r>
            <a:r>
              <a:rPr dirty="0"/>
              <a:t>, </a:t>
            </a:r>
            <a:r>
              <a:rPr lang="en-US" dirty="0"/>
              <a:t>ending at 2^(</a:t>
            </a:r>
            <a:r>
              <a:rPr dirty="0"/>
              <a:t>k-1</a:t>
            </a:r>
            <a:r>
              <a:rPr lang="en-US" dirty="0"/>
              <a:t>). Adding these counts gives 2^k - 1. Let n be the total node count, so n &gt;=</a:t>
            </a:r>
            <a:r>
              <a:rPr dirty="0"/>
              <a:t> </a:t>
            </a:r>
            <a:r>
              <a:rPr lang="en-US" dirty="0"/>
              <a:t>2^k - 1. Add </a:t>
            </a:r>
            <a:r>
              <a:rPr dirty="0"/>
              <a:t>1 </a:t>
            </a:r>
            <a:r>
              <a:rPr lang="en-US" dirty="0"/>
              <a:t>to get n </a:t>
            </a:r>
            <a:r>
              <a:rPr dirty="0"/>
              <a:t>+ </a:t>
            </a:r>
            <a:r>
              <a:rPr lang="en-US" dirty="0"/>
              <a:t>1 &gt;= </a:t>
            </a:r>
            <a:r>
              <a:rPr dirty="0"/>
              <a:t>2^k</a:t>
            </a:r>
            <a:r>
              <a:rPr lang="en-US" dirty="0"/>
              <a:t>. Taking base-2 logarithms gives k &lt;= log2(n+1). For k = 0 the bound is simply n &gt;= 0.</a:t>
            </a:r>
          </a:p>
          <a:p>
            <a:r>
              <a:rPr lang="en-US" dirty="0"/>
              <a:t>Important distinction: this bounds the SHORTEST route to NULL, not the height of an arbitrary BST. A plain BST can still form a long chain</a:t>
            </a:r>
            <a:r>
              <a:rPr dirty="0"/>
              <a:t>. </a:t>
            </a:r>
            <a:r>
              <a:rPr lang="en-US" dirty="0"/>
              <a:t>The next slide adds the red-black rules: all routes have </a:t>
            </a:r>
            <a:r>
              <a:rPr dirty="0"/>
              <a:t>k </a:t>
            </a:r>
            <a:r>
              <a:rPr lang="en-US" dirty="0"/>
              <a:t>black nodes, and red nodes can at most double their length. That is what gives the red-black height bound h </a:t>
            </a:r>
            <a:r>
              <a:rPr dirty="0"/>
              <a:t>&lt;= </a:t>
            </a:r>
            <a:r>
              <a:rPr lang="en-US" dirty="0"/>
              <a:t>2 </a:t>
            </a:r>
            <a:r>
              <a:rPr dirty="0"/>
              <a:t>log2(n+1).</a:t>
            </a:r>
            <a:endParaRPr lang="en-US" dirty="0"/>
          </a:p>
          <a:p>
            <a:r>
              <a:rPr lang="en-US" dirty="0"/>
              <a:t>Student takeaway: a missing child gives an early exit. To prevent early exits, the top levels must be full</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Step 2: let k be the black-height. Invariant 4 says every root-NULL path has exactly k black nodes, hence at least k nodes, so the lemma applies: n &gt;= 2^k - 1 and k &lt;= log2(n+1). In the example tree for A, k = 2 and n = 8 &gt;= 3; the path shown is </a:t>
            </a:r>
            <a:r>
              <a:rPr lang="en-US" dirty="0"/>
              <a:t>13</a:t>
            </a:r>
            <a:r>
              <a:rPr dirty="0"/>
              <a:t>, 5, 2</a:t>
            </a:r>
            <a:r>
              <a:rPr lang="en-US" dirty="0"/>
              <a:t>: 13 and 2 are black, and 5 is red</a:t>
            </a:r>
            <a:r>
              <a:rPr dirty="0"/>
              <a:t>. Step 3: red nodes could lengthen a path, but not by much. Walking down any root-NULL path, each red node's parent is on the path (the root is black, so a red is never first) and is black by invariant 3. Distinct reds have distinct parents, so #reds &lt;= #blacks = k, and the path has at most 2k nodes. Therefore height &lt;= 2k &lt;= 2 log2(n+1). Contrast with the chain: height n - 1.</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Why color the new node red? Coloring it black would add a black node to some root-NULL paths but not others, breaking invariant 4 globally. Red can only cause a local problem: a red parent. Since the parent p is red and the root is black, p is not the root, so the grandparent g exists and is black. Name the cast: x is the new node, p its parent, g its grandparent, u its uncle (p's sibling). The repair depends only on the color of u.</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Case 1: p and u are both red, so g must be black. Push g's blackness down one level: p and u become black, g becomes red. Every path through g still meets exactly one black node among g, p, u, so black counts are unchanged and invariant 4 holds. The violation at x is gone, but g is now red and its own parent might be red, so the same situation can reappear two levels up: set x = g and repeat. Each round is O(1) and climbs two levels, so at most O(log n) rounds. If g is the root, color it black, which adds one black to every path equally.</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Case 2: the uncle is black (a NULL uncle counts as black). Recoloring alone cannot work, so we use last lecture's rotations, with the same line versus zig-zag distinction. Line case (x is a left child of a left child, or right of right): rotate at g so p moves up, then make p black and g red. Every path that went through black g now goes through black p instead, so black counts are preserved, and no red-red pair is left. The fix-up stops. Zig-zag case: first rotate at p to turn it into the line case. So an insertion performs at most 2 rotations in total. Mirror-image cases are symmetric.</a:t>
            </a:r>
          </a:p>
          <a:p>
            <a:r>
              <a:rPr lang="en-US"/>
              <a:t>The next slides expand the mirror cases using the rotation and insertion rules already introduced. Diagrams omit unchanged subtrees. u may be a black node or NULL.</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Derived from the supplied deck: original slides 9–10 (rotations) and 17–19 (insertion repair). Illustrative keys: g=30, p=10, x=20. Start from root 30 black with red left child 10 and insert 20 red. All omitted child pointers are black NULLs. Labels g, p, x retain their original node identities rather than tracking pseudocode variable reassignment. After the first rotation, x takes the parent role for the line-case repair. Final root 20 black has red children 10 and 30.</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Derived by mirroring the LL repair in original slide 19 and the left rotation on original slide 9. Illustrative keys: g=10, p=20, x=30. The uncle is the left NULL child of 10 and counts as black. All omitted pointers are black NULLs. Labels remain attached to the original nodes. Final root 20 black has red children 10 and 30.</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rPr dirty="0"/>
              <a:t>Derived by mirroring the LR repair and using the zig-zag rule on original slides 10 and 19. Illustrative keys: g=10, p=30, x=20. Start from root 10 black with red right child 30 and insert 20 red. All omitted pointers are black NULLs. Labels </a:t>
            </a:r>
            <a:r>
              <a:rPr dirty="0" err="1"/>
              <a:t>g,p,x</a:t>
            </a:r>
            <a:r>
              <a:rPr dirty="0"/>
              <a:t> retain their original node identities. After the first rotation, x takes the parent role. Final root 20 black has red children 10 and 30. When parent is black, no fix-up is needed. When uncle is red, the recoloring rule applies to LL, LR, RR and RL without rotations.</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Run RB-Insert by hand on our running example A = 20, 13, 25, 2, 17, 8, 5, 7. Insert 20: root, black. 13 and 25: red children of a black node, no violation. Insert 2: red child of red 13. Its uncle 25 is red, so Case 1: 13 and 25 become black, 20 red; 20 is the root, so recolor it black. Insert 17: red child of black 13, fine. Ask students to predict each case before revealing the next panel.</a:t>
            </a:r>
          </a:p>
          <a:p>
            <a:endParaRPr lang="en-US" dirty="0"/>
          </a:p>
          <a:p>
            <a:r>
              <a:rPr lang="en-US" dirty="0"/>
              <a:t>These panels are intermediate insertion stages, not the completed eight-key RB tree. The root is correctly 20 at this stage. The final repair after inserting 7 on slide 21 promotes 13 to the root.</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Continue. Insert 8: it goes right of 2. Parent 2 is red, uncle 17 is red: Case 1, so 2 and 17 turn black and 13 red; 13's parent 20 is black, so we stop. Insert 5: it goes left of 8. Parent 8 is red; the grandparent is 2 and its left child (the uncle) is NULL, black. 2 to 8 to 5 is the same zig-zag from Lecture 1: </a:t>
            </a:r>
            <a:r>
              <a:rPr lang="en-US" dirty="0"/>
              <a:t>RIGHTROTATE</a:t>
            </a:r>
            <a:r>
              <a:rPr dirty="0"/>
              <a:t>(8), then </a:t>
            </a:r>
            <a:r>
              <a:rPr lang="en-US" dirty="0"/>
              <a:t>LEFTROTATE</a:t>
            </a:r>
            <a:r>
              <a:rPr dirty="0"/>
              <a:t>(2), and 5 becomes black with red children 2 and 8. Insert 7: left of 8. Parent 8 red, uncle 2 red: Case 1, so 2 and 8 black, 5 red. Now 5 and its parent 13 are both red; repeat with x = 5. The uncle of 5 is 25, black, and 5, 13, 20 form a line of left children: </a:t>
            </a:r>
            <a:r>
              <a:rPr lang="en-US" dirty="0"/>
              <a:t>RIGHTROTATE</a:t>
            </a:r>
            <a:r>
              <a:rPr dirty="0"/>
              <a:t>(20), make 13 black and 20 red. Final tree: height 3, black-height 2, compared with height 5 for the plain BST built from A. Every case appeared.</a:t>
            </a:r>
          </a:p>
          <a:p>
            <a:endParaRPr lang="en-US" dirty="0"/>
          </a:p>
          <a:p>
            <a:r>
              <a:rPr lang="en-US" dirty="0"/>
              <a:t>The first three panels are intermediate states with root 20; the third still has a red-red violation and needs the final line repair. The final panel is the canonical completed tree rooted at black node 13, identical to slides 10, 11 and 12. Nodes 5, 7 and 20 are red; 2, 8, 17 and 25 are black. The static upper-median tree on slide 5 shares the root and keys but has a different left-subtree structure.</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Recap both lectures in three ideas: height is everything, rotations are the O(1) local repair tool, and the red-black invariants are one rule set that forces logarithmic height with cheap repairs. Deletion follows the same pattern, a BST delete plus a fix-up using recoloring and at most 3 rotations, but has more cases; CLRS chapter 13 has the full pseudocode. Assign the practice problem: insert sorted A (2, 5, 7, 8, 13, 17, 20, 25) into an empty red-black tree, drawing the tree after each insertion and naming the case used. The plain BST for this order was a chain of height 7; the red-black tree stays at height 3 or less.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A0507-8FFF-D265-2D11-6C4951B2791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40A683F-A8D5-0C09-BC03-909A3A44233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B5236F5-211B-6A26-25CA-707F5E3CE727}"/>
              </a:ext>
            </a:extLst>
          </p:cNvPr>
          <p:cNvSpPr>
            <a:spLocks noGrp="1"/>
          </p:cNvSpPr>
          <p:nvPr>
            <p:ph type="dt" sz="half" idx="10"/>
          </p:nvPr>
        </p:nvSpPr>
        <p:spPr/>
        <p:txBody>
          <a:bodyPr/>
          <a:lstStyle/>
          <a:p>
            <a:fld id="{001FA32C-0516-594B-A3A9-E4A9F22AFA08}" type="datetimeFigureOut">
              <a:rPr lang="en-US" smtClean="0"/>
              <a:t>10/14/26</a:t>
            </a:fld>
            <a:endParaRPr lang="en-US"/>
          </a:p>
        </p:txBody>
      </p:sp>
      <p:sp>
        <p:nvSpPr>
          <p:cNvPr id="5" name="Footer Placeholder 4">
            <a:extLst>
              <a:ext uri="{FF2B5EF4-FFF2-40B4-BE49-F238E27FC236}">
                <a16:creationId xmlns:a16="http://schemas.microsoft.com/office/drawing/2014/main" id="{EDF258A4-BABF-C7E7-4453-710B20CED0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827839-8CCD-6B5C-FB8B-0F96E5F0EF59}"/>
              </a:ext>
            </a:extLst>
          </p:cNvPr>
          <p:cNvSpPr>
            <a:spLocks noGrp="1"/>
          </p:cNvSpPr>
          <p:nvPr>
            <p:ph type="sldNum" sz="quarter" idx="12"/>
          </p:nvPr>
        </p:nvSpPr>
        <p:spPr/>
        <p:txBody>
          <a:bodyPr/>
          <a:lstStyle/>
          <a:p>
            <a:fld id="{6276E2D9-2972-054F-B7FD-EE06C3880E3A}" type="slidenum">
              <a:rPr lang="en-US" smtClean="0"/>
              <a:t>‹#›</a:t>
            </a:fld>
            <a:endParaRPr lang="en-US"/>
          </a:p>
        </p:txBody>
      </p:sp>
    </p:spTree>
    <p:extLst>
      <p:ext uri="{BB962C8B-B14F-4D97-AF65-F5344CB8AC3E}">
        <p14:creationId xmlns:p14="http://schemas.microsoft.com/office/powerpoint/2010/main" val="33337139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00400-4F17-83FA-BE63-53E08592C4A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71ADD92-9929-A19A-FFD6-C1DE17CEEDA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73AEC67-B7F3-5BCB-3FA3-25F1BAF39FF5}"/>
              </a:ext>
            </a:extLst>
          </p:cNvPr>
          <p:cNvSpPr>
            <a:spLocks noGrp="1"/>
          </p:cNvSpPr>
          <p:nvPr>
            <p:ph type="dt" sz="half" idx="10"/>
          </p:nvPr>
        </p:nvSpPr>
        <p:spPr/>
        <p:txBody>
          <a:bodyPr/>
          <a:lstStyle/>
          <a:p>
            <a:fld id="{001FA32C-0516-594B-A3A9-E4A9F22AFA08}" type="datetimeFigureOut">
              <a:rPr lang="en-US" smtClean="0"/>
              <a:t>10/14/26</a:t>
            </a:fld>
            <a:endParaRPr lang="en-US"/>
          </a:p>
        </p:txBody>
      </p:sp>
      <p:sp>
        <p:nvSpPr>
          <p:cNvPr id="5" name="Footer Placeholder 4">
            <a:extLst>
              <a:ext uri="{FF2B5EF4-FFF2-40B4-BE49-F238E27FC236}">
                <a16:creationId xmlns:a16="http://schemas.microsoft.com/office/drawing/2014/main" id="{C44379E6-0B14-C2DF-BC9C-CEE3930656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650FAC-DEDF-83C5-5D84-03585A32A75E}"/>
              </a:ext>
            </a:extLst>
          </p:cNvPr>
          <p:cNvSpPr>
            <a:spLocks noGrp="1"/>
          </p:cNvSpPr>
          <p:nvPr>
            <p:ph type="sldNum" sz="quarter" idx="12"/>
          </p:nvPr>
        </p:nvSpPr>
        <p:spPr/>
        <p:txBody>
          <a:bodyPr/>
          <a:lstStyle/>
          <a:p>
            <a:fld id="{6276E2D9-2972-054F-B7FD-EE06C3880E3A}" type="slidenum">
              <a:rPr lang="en-US" smtClean="0"/>
              <a:t>‹#›</a:t>
            </a:fld>
            <a:endParaRPr lang="en-US"/>
          </a:p>
        </p:txBody>
      </p:sp>
    </p:spTree>
    <p:extLst>
      <p:ext uri="{BB962C8B-B14F-4D97-AF65-F5344CB8AC3E}">
        <p14:creationId xmlns:p14="http://schemas.microsoft.com/office/powerpoint/2010/main" val="34894702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EBAADD-6ACB-478B-4157-2A83CDA8A08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E263EC7-4B4F-1EFE-ED8B-C570FE4C83A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165B7EE-1CB5-28B0-3971-69955C37E37C}"/>
              </a:ext>
            </a:extLst>
          </p:cNvPr>
          <p:cNvSpPr>
            <a:spLocks noGrp="1"/>
          </p:cNvSpPr>
          <p:nvPr>
            <p:ph type="dt" sz="half" idx="10"/>
          </p:nvPr>
        </p:nvSpPr>
        <p:spPr/>
        <p:txBody>
          <a:bodyPr/>
          <a:lstStyle/>
          <a:p>
            <a:fld id="{001FA32C-0516-594B-A3A9-E4A9F22AFA08}" type="datetimeFigureOut">
              <a:rPr lang="en-US" smtClean="0"/>
              <a:t>10/14/26</a:t>
            </a:fld>
            <a:endParaRPr lang="en-US"/>
          </a:p>
        </p:txBody>
      </p:sp>
      <p:sp>
        <p:nvSpPr>
          <p:cNvPr id="5" name="Footer Placeholder 4">
            <a:extLst>
              <a:ext uri="{FF2B5EF4-FFF2-40B4-BE49-F238E27FC236}">
                <a16:creationId xmlns:a16="http://schemas.microsoft.com/office/drawing/2014/main" id="{F4300F62-E6AF-9E3D-96C5-800DC387FC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D38499-8E3E-57F8-92FD-159EECABC880}"/>
              </a:ext>
            </a:extLst>
          </p:cNvPr>
          <p:cNvSpPr>
            <a:spLocks noGrp="1"/>
          </p:cNvSpPr>
          <p:nvPr>
            <p:ph type="sldNum" sz="quarter" idx="12"/>
          </p:nvPr>
        </p:nvSpPr>
        <p:spPr/>
        <p:txBody>
          <a:bodyPr/>
          <a:lstStyle/>
          <a:p>
            <a:fld id="{6276E2D9-2972-054F-B7FD-EE06C3880E3A}" type="slidenum">
              <a:rPr lang="en-US" smtClean="0"/>
              <a:t>‹#›</a:t>
            </a:fld>
            <a:endParaRPr lang="en-US"/>
          </a:p>
        </p:txBody>
      </p:sp>
    </p:spTree>
    <p:extLst>
      <p:ext uri="{BB962C8B-B14F-4D97-AF65-F5344CB8AC3E}">
        <p14:creationId xmlns:p14="http://schemas.microsoft.com/office/powerpoint/2010/main" val="25065221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1E5B4-12B0-4715-8390-5F85D789BDE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440A869-A8D2-DF1A-F94E-D80E41C9A5A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2A0851A-DB90-6461-AF85-D1D5E2A246A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E1BE978-8228-921A-2731-A6AF3C0E9823}"/>
              </a:ext>
            </a:extLst>
          </p:cNvPr>
          <p:cNvSpPr>
            <a:spLocks noGrp="1"/>
          </p:cNvSpPr>
          <p:nvPr>
            <p:ph type="dt" sz="half" idx="10"/>
          </p:nvPr>
        </p:nvSpPr>
        <p:spPr/>
        <p:txBody>
          <a:bodyPr/>
          <a:lstStyle/>
          <a:p>
            <a:fld id="{001FA32C-0516-594B-A3A9-E4A9F22AFA08}" type="datetimeFigureOut">
              <a:rPr lang="en-US" smtClean="0"/>
              <a:t>10/14/26</a:t>
            </a:fld>
            <a:endParaRPr lang="en-US"/>
          </a:p>
        </p:txBody>
      </p:sp>
      <p:sp>
        <p:nvSpPr>
          <p:cNvPr id="6" name="Footer Placeholder 5">
            <a:extLst>
              <a:ext uri="{FF2B5EF4-FFF2-40B4-BE49-F238E27FC236}">
                <a16:creationId xmlns:a16="http://schemas.microsoft.com/office/drawing/2014/main" id="{BD21429D-542F-4B27-B32A-2D0446CD94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36D449E-2BEF-B08E-0DF2-AFE6095E610F}"/>
              </a:ext>
            </a:extLst>
          </p:cNvPr>
          <p:cNvSpPr>
            <a:spLocks noGrp="1"/>
          </p:cNvSpPr>
          <p:nvPr>
            <p:ph type="sldNum" sz="quarter" idx="12"/>
          </p:nvPr>
        </p:nvSpPr>
        <p:spPr/>
        <p:txBody>
          <a:bodyPr/>
          <a:lstStyle/>
          <a:p>
            <a:fld id="{6276E2D9-2972-054F-B7FD-EE06C3880E3A}" type="slidenum">
              <a:rPr lang="en-US" smtClean="0"/>
              <a:t>‹#›</a:t>
            </a:fld>
            <a:endParaRPr lang="en-US"/>
          </a:p>
        </p:txBody>
      </p:sp>
    </p:spTree>
    <p:extLst>
      <p:ext uri="{BB962C8B-B14F-4D97-AF65-F5344CB8AC3E}">
        <p14:creationId xmlns:p14="http://schemas.microsoft.com/office/powerpoint/2010/main" val="36925298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D47466-D563-954C-A2B2-D0D3DA8A9ED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EC3EAF7-8458-6542-63C8-E2C29EB6D7B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7778604-95C0-6309-79FA-6FADCE5C417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BA9EFBF-5340-538A-2517-DFAE22F5D5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998CF46-29E2-0F03-E56B-F972C17DD8C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79E889C-6BEA-9795-C27F-DD3D9062E734}"/>
              </a:ext>
            </a:extLst>
          </p:cNvPr>
          <p:cNvSpPr>
            <a:spLocks noGrp="1"/>
          </p:cNvSpPr>
          <p:nvPr>
            <p:ph type="dt" sz="half" idx="10"/>
          </p:nvPr>
        </p:nvSpPr>
        <p:spPr/>
        <p:txBody>
          <a:bodyPr/>
          <a:lstStyle/>
          <a:p>
            <a:fld id="{001FA32C-0516-594B-A3A9-E4A9F22AFA08}" type="datetimeFigureOut">
              <a:rPr lang="en-US" smtClean="0"/>
              <a:t>10/14/26</a:t>
            </a:fld>
            <a:endParaRPr lang="en-US"/>
          </a:p>
        </p:txBody>
      </p:sp>
      <p:sp>
        <p:nvSpPr>
          <p:cNvPr id="8" name="Footer Placeholder 7">
            <a:extLst>
              <a:ext uri="{FF2B5EF4-FFF2-40B4-BE49-F238E27FC236}">
                <a16:creationId xmlns:a16="http://schemas.microsoft.com/office/drawing/2014/main" id="{7F057D7C-0FEF-E589-53EE-63B9CFF7522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572DBF9-914F-176B-0A2B-81E09815F825}"/>
              </a:ext>
            </a:extLst>
          </p:cNvPr>
          <p:cNvSpPr>
            <a:spLocks noGrp="1"/>
          </p:cNvSpPr>
          <p:nvPr>
            <p:ph type="sldNum" sz="quarter" idx="12"/>
          </p:nvPr>
        </p:nvSpPr>
        <p:spPr/>
        <p:txBody>
          <a:bodyPr/>
          <a:lstStyle/>
          <a:p>
            <a:fld id="{6276E2D9-2972-054F-B7FD-EE06C3880E3A}" type="slidenum">
              <a:rPr lang="en-US" smtClean="0"/>
              <a:t>‹#›</a:t>
            </a:fld>
            <a:endParaRPr lang="en-US"/>
          </a:p>
        </p:txBody>
      </p:sp>
    </p:spTree>
    <p:extLst>
      <p:ext uri="{BB962C8B-B14F-4D97-AF65-F5344CB8AC3E}">
        <p14:creationId xmlns:p14="http://schemas.microsoft.com/office/powerpoint/2010/main" val="15378966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4A670C-991C-9813-0DE5-A5EB4A00269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A2F2E1B-59F3-A3D5-8369-254EF09448AD}"/>
              </a:ext>
            </a:extLst>
          </p:cNvPr>
          <p:cNvSpPr>
            <a:spLocks noGrp="1"/>
          </p:cNvSpPr>
          <p:nvPr>
            <p:ph type="dt" sz="half" idx="10"/>
          </p:nvPr>
        </p:nvSpPr>
        <p:spPr/>
        <p:txBody>
          <a:bodyPr/>
          <a:lstStyle/>
          <a:p>
            <a:fld id="{001FA32C-0516-594B-A3A9-E4A9F22AFA08}" type="datetimeFigureOut">
              <a:rPr lang="en-US" smtClean="0"/>
              <a:t>10/14/26</a:t>
            </a:fld>
            <a:endParaRPr lang="en-US"/>
          </a:p>
        </p:txBody>
      </p:sp>
      <p:sp>
        <p:nvSpPr>
          <p:cNvPr id="4" name="Footer Placeholder 3">
            <a:extLst>
              <a:ext uri="{FF2B5EF4-FFF2-40B4-BE49-F238E27FC236}">
                <a16:creationId xmlns:a16="http://schemas.microsoft.com/office/drawing/2014/main" id="{0E139FB8-4A76-9956-F475-83B49276D00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EE69E20-59D9-1C57-A24C-68C9F6D26C38}"/>
              </a:ext>
            </a:extLst>
          </p:cNvPr>
          <p:cNvSpPr>
            <a:spLocks noGrp="1"/>
          </p:cNvSpPr>
          <p:nvPr>
            <p:ph type="sldNum" sz="quarter" idx="12"/>
          </p:nvPr>
        </p:nvSpPr>
        <p:spPr/>
        <p:txBody>
          <a:bodyPr/>
          <a:lstStyle/>
          <a:p>
            <a:fld id="{6276E2D9-2972-054F-B7FD-EE06C3880E3A}" type="slidenum">
              <a:rPr lang="en-US" smtClean="0"/>
              <a:t>‹#›</a:t>
            </a:fld>
            <a:endParaRPr lang="en-US"/>
          </a:p>
        </p:txBody>
      </p:sp>
    </p:spTree>
    <p:extLst>
      <p:ext uri="{BB962C8B-B14F-4D97-AF65-F5344CB8AC3E}">
        <p14:creationId xmlns:p14="http://schemas.microsoft.com/office/powerpoint/2010/main" val="18202517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508C77F-5D05-3B33-A872-00296D3D058D}"/>
              </a:ext>
            </a:extLst>
          </p:cNvPr>
          <p:cNvSpPr>
            <a:spLocks noGrp="1"/>
          </p:cNvSpPr>
          <p:nvPr>
            <p:ph type="dt" sz="half" idx="10"/>
          </p:nvPr>
        </p:nvSpPr>
        <p:spPr/>
        <p:txBody>
          <a:bodyPr/>
          <a:lstStyle/>
          <a:p>
            <a:fld id="{001FA32C-0516-594B-A3A9-E4A9F22AFA08}" type="datetimeFigureOut">
              <a:rPr lang="en-US" smtClean="0"/>
              <a:t>10/14/26</a:t>
            </a:fld>
            <a:endParaRPr lang="en-US"/>
          </a:p>
        </p:txBody>
      </p:sp>
      <p:sp>
        <p:nvSpPr>
          <p:cNvPr id="3" name="Footer Placeholder 2">
            <a:extLst>
              <a:ext uri="{FF2B5EF4-FFF2-40B4-BE49-F238E27FC236}">
                <a16:creationId xmlns:a16="http://schemas.microsoft.com/office/drawing/2014/main" id="{5EF1804A-8FD1-9C0E-A39F-C87818AC2AF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AE68608-1B32-1FE9-8B75-DBA4236B8CFF}"/>
              </a:ext>
            </a:extLst>
          </p:cNvPr>
          <p:cNvSpPr>
            <a:spLocks noGrp="1"/>
          </p:cNvSpPr>
          <p:nvPr>
            <p:ph type="sldNum" sz="quarter" idx="12"/>
          </p:nvPr>
        </p:nvSpPr>
        <p:spPr/>
        <p:txBody>
          <a:bodyPr/>
          <a:lstStyle/>
          <a:p>
            <a:fld id="{6276E2D9-2972-054F-B7FD-EE06C3880E3A}" type="slidenum">
              <a:rPr lang="en-US" smtClean="0"/>
              <a:t>‹#›</a:t>
            </a:fld>
            <a:endParaRPr lang="en-US"/>
          </a:p>
        </p:txBody>
      </p:sp>
    </p:spTree>
    <p:extLst>
      <p:ext uri="{BB962C8B-B14F-4D97-AF65-F5344CB8AC3E}">
        <p14:creationId xmlns:p14="http://schemas.microsoft.com/office/powerpoint/2010/main" val="27281155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C34B47-0847-946B-9100-8B2F6184825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BC8B926-C5D0-1D05-2804-3C2AEC11792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A0BD858-6D9D-DF0A-B0A8-8BF0814097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C90FDD-726A-8CDE-7B84-1DD08B86AD0D}"/>
              </a:ext>
            </a:extLst>
          </p:cNvPr>
          <p:cNvSpPr>
            <a:spLocks noGrp="1"/>
          </p:cNvSpPr>
          <p:nvPr>
            <p:ph type="dt" sz="half" idx="10"/>
          </p:nvPr>
        </p:nvSpPr>
        <p:spPr/>
        <p:txBody>
          <a:bodyPr/>
          <a:lstStyle/>
          <a:p>
            <a:fld id="{001FA32C-0516-594B-A3A9-E4A9F22AFA08}" type="datetimeFigureOut">
              <a:rPr lang="en-US" smtClean="0"/>
              <a:t>10/14/26</a:t>
            </a:fld>
            <a:endParaRPr lang="en-US"/>
          </a:p>
        </p:txBody>
      </p:sp>
      <p:sp>
        <p:nvSpPr>
          <p:cNvPr id="6" name="Footer Placeholder 5">
            <a:extLst>
              <a:ext uri="{FF2B5EF4-FFF2-40B4-BE49-F238E27FC236}">
                <a16:creationId xmlns:a16="http://schemas.microsoft.com/office/drawing/2014/main" id="{6147B513-D1D2-29B2-4657-1A17E24A415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DB001F6-61BF-3490-5589-CED77D759C0B}"/>
              </a:ext>
            </a:extLst>
          </p:cNvPr>
          <p:cNvSpPr>
            <a:spLocks noGrp="1"/>
          </p:cNvSpPr>
          <p:nvPr>
            <p:ph type="sldNum" sz="quarter" idx="12"/>
          </p:nvPr>
        </p:nvSpPr>
        <p:spPr/>
        <p:txBody>
          <a:bodyPr/>
          <a:lstStyle/>
          <a:p>
            <a:fld id="{6276E2D9-2972-054F-B7FD-EE06C3880E3A}" type="slidenum">
              <a:rPr lang="en-US" smtClean="0"/>
              <a:t>‹#›</a:t>
            </a:fld>
            <a:endParaRPr lang="en-US"/>
          </a:p>
        </p:txBody>
      </p:sp>
    </p:spTree>
    <p:extLst>
      <p:ext uri="{BB962C8B-B14F-4D97-AF65-F5344CB8AC3E}">
        <p14:creationId xmlns:p14="http://schemas.microsoft.com/office/powerpoint/2010/main" val="15645195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2A363-BA7A-642C-366D-D4186ED2AB6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09D883D-A31A-1A8D-71C6-819261AFE5C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CED0ADE-D64F-CA24-57CC-7660EEB055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712E128-2B58-7E73-30D0-F3F68824A080}"/>
              </a:ext>
            </a:extLst>
          </p:cNvPr>
          <p:cNvSpPr>
            <a:spLocks noGrp="1"/>
          </p:cNvSpPr>
          <p:nvPr>
            <p:ph type="dt" sz="half" idx="10"/>
          </p:nvPr>
        </p:nvSpPr>
        <p:spPr/>
        <p:txBody>
          <a:bodyPr/>
          <a:lstStyle/>
          <a:p>
            <a:fld id="{001FA32C-0516-594B-A3A9-E4A9F22AFA08}" type="datetimeFigureOut">
              <a:rPr lang="en-US" smtClean="0"/>
              <a:t>10/14/26</a:t>
            </a:fld>
            <a:endParaRPr lang="en-US"/>
          </a:p>
        </p:txBody>
      </p:sp>
      <p:sp>
        <p:nvSpPr>
          <p:cNvPr id="6" name="Footer Placeholder 5">
            <a:extLst>
              <a:ext uri="{FF2B5EF4-FFF2-40B4-BE49-F238E27FC236}">
                <a16:creationId xmlns:a16="http://schemas.microsoft.com/office/drawing/2014/main" id="{069A65FE-5971-60A8-E419-C9CECD3BABA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20D1DE-AE13-991C-2DE9-288DD07B0791}"/>
              </a:ext>
            </a:extLst>
          </p:cNvPr>
          <p:cNvSpPr>
            <a:spLocks noGrp="1"/>
          </p:cNvSpPr>
          <p:nvPr>
            <p:ph type="sldNum" sz="quarter" idx="12"/>
          </p:nvPr>
        </p:nvSpPr>
        <p:spPr/>
        <p:txBody>
          <a:bodyPr/>
          <a:lstStyle/>
          <a:p>
            <a:fld id="{6276E2D9-2972-054F-B7FD-EE06C3880E3A}" type="slidenum">
              <a:rPr lang="en-US" smtClean="0"/>
              <a:t>‹#›</a:t>
            </a:fld>
            <a:endParaRPr lang="en-US"/>
          </a:p>
        </p:txBody>
      </p:sp>
    </p:spTree>
    <p:extLst>
      <p:ext uri="{BB962C8B-B14F-4D97-AF65-F5344CB8AC3E}">
        <p14:creationId xmlns:p14="http://schemas.microsoft.com/office/powerpoint/2010/main" val="5969051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82638E-B09B-716B-6EEE-E3CB6406687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9047292-7EC0-ACFD-655E-08C3C1CED80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19BAE6-8C71-8CA3-D0DE-D472FA49F72A}"/>
              </a:ext>
            </a:extLst>
          </p:cNvPr>
          <p:cNvSpPr>
            <a:spLocks noGrp="1"/>
          </p:cNvSpPr>
          <p:nvPr>
            <p:ph type="dt" sz="half" idx="10"/>
          </p:nvPr>
        </p:nvSpPr>
        <p:spPr/>
        <p:txBody>
          <a:bodyPr/>
          <a:lstStyle/>
          <a:p>
            <a:fld id="{001FA32C-0516-594B-A3A9-E4A9F22AFA08}" type="datetimeFigureOut">
              <a:rPr lang="en-US" smtClean="0"/>
              <a:t>10/14/26</a:t>
            </a:fld>
            <a:endParaRPr lang="en-US"/>
          </a:p>
        </p:txBody>
      </p:sp>
      <p:sp>
        <p:nvSpPr>
          <p:cNvPr id="5" name="Footer Placeholder 4">
            <a:extLst>
              <a:ext uri="{FF2B5EF4-FFF2-40B4-BE49-F238E27FC236}">
                <a16:creationId xmlns:a16="http://schemas.microsoft.com/office/drawing/2014/main" id="{CBC17BB5-3FE6-5D35-36C9-FEB6D51591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E6BC48-9A8B-DB02-EF47-132FBFE1C610}"/>
              </a:ext>
            </a:extLst>
          </p:cNvPr>
          <p:cNvSpPr>
            <a:spLocks noGrp="1"/>
          </p:cNvSpPr>
          <p:nvPr>
            <p:ph type="sldNum" sz="quarter" idx="12"/>
          </p:nvPr>
        </p:nvSpPr>
        <p:spPr/>
        <p:txBody>
          <a:bodyPr/>
          <a:lstStyle/>
          <a:p>
            <a:fld id="{6276E2D9-2972-054F-B7FD-EE06C3880E3A}" type="slidenum">
              <a:rPr lang="en-US" smtClean="0"/>
              <a:t>‹#›</a:t>
            </a:fld>
            <a:endParaRPr lang="en-US"/>
          </a:p>
        </p:txBody>
      </p:sp>
    </p:spTree>
    <p:extLst>
      <p:ext uri="{BB962C8B-B14F-4D97-AF65-F5344CB8AC3E}">
        <p14:creationId xmlns:p14="http://schemas.microsoft.com/office/powerpoint/2010/main" val="2541073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6993DA9-DEDF-2909-5D7B-B492DF05B4C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5C90FDF-9F7C-EBE4-7D92-BDF7CE8F902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99FED2-DC72-0BED-2160-CA1E578A2300}"/>
              </a:ext>
            </a:extLst>
          </p:cNvPr>
          <p:cNvSpPr>
            <a:spLocks noGrp="1"/>
          </p:cNvSpPr>
          <p:nvPr>
            <p:ph type="dt" sz="half" idx="10"/>
          </p:nvPr>
        </p:nvSpPr>
        <p:spPr/>
        <p:txBody>
          <a:bodyPr/>
          <a:lstStyle/>
          <a:p>
            <a:fld id="{001FA32C-0516-594B-A3A9-E4A9F22AFA08}" type="datetimeFigureOut">
              <a:rPr lang="en-US" smtClean="0"/>
              <a:t>10/14/26</a:t>
            </a:fld>
            <a:endParaRPr lang="en-US"/>
          </a:p>
        </p:txBody>
      </p:sp>
      <p:sp>
        <p:nvSpPr>
          <p:cNvPr id="5" name="Footer Placeholder 4">
            <a:extLst>
              <a:ext uri="{FF2B5EF4-FFF2-40B4-BE49-F238E27FC236}">
                <a16:creationId xmlns:a16="http://schemas.microsoft.com/office/drawing/2014/main" id="{2E91B6C4-DBFD-F452-8F1D-0FD227E4F3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BFFB44-BAEC-8699-4BEF-60DAE24EEE8D}"/>
              </a:ext>
            </a:extLst>
          </p:cNvPr>
          <p:cNvSpPr>
            <a:spLocks noGrp="1"/>
          </p:cNvSpPr>
          <p:nvPr>
            <p:ph type="sldNum" sz="quarter" idx="12"/>
          </p:nvPr>
        </p:nvSpPr>
        <p:spPr/>
        <p:txBody>
          <a:bodyPr/>
          <a:lstStyle/>
          <a:p>
            <a:fld id="{6276E2D9-2972-054F-B7FD-EE06C3880E3A}" type="slidenum">
              <a:rPr lang="en-US" smtClean="0"/>
              <a:t>‹#›</a:t>
            </a:fld>
            <a:endParaRPr lang="en-US"/>
          </a:p>
        </p:txBody>
      </p:sp>
    </p:spTree>
    <p:extLst>
      <p:ext uri="{BB962C8B-B14F-4D97-AF65-F5344CB8AC3E}">
        <p14:creationId xmlns:p14="http://schemas.microsoft.com/office/powerpoint/2010/main" val="39641116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31258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5F62B60-4087-F09B-73F2-50551E710AD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4EF555A-868C-C57F-8CBB-2C776591CF4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A554C2-85E4-F874-F60D-FF8CE13E8C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01FA32C-0516-594B-A3A9-E4A9F22AFA08}" type="datetimeFigureOut">
              <a:rPr lang="en-US" smtClean="0"/>
              <a:t>10/14/26</a:t>
            </a:fld>
            <a:endParaRPr lang="en-US"/>
          </a:p>
        </p:txBody>
      </p:sp>
      <p:sp>
        <p:nvSpPr>
          <p:cNvPr id="5" name="Footer Placeholder 4">
            <a:extLst>
              <a:ext uri="{FF2B5EF4-FFF2-40B4-BE49-F238E27FC236}">
                <a16:creationId xmlns:a16="http://schemas.microsoft.com/office/drawing/2014/main" id="{6AE1699C-D995-E3BD-5AEC-AAA754593E5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6AC88A1-6C5C-5509-EF3D-E08EA04B3C3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276E2D9-2972-054F-B7FD-EE06C3880E3A}" type="slidenum">
              <a:rPr lang="en-US" smtClean="0"/>
              <a:t>‹#›</a:t>
            </a:fld>
            <a:endParaRPr lang="en-US"/>
          </a:p>
        </p:txBody>
      </p:sp>
    </p:spTree>
    <p:extLst>
      <p:ext uri="{BB962C8B-B14F-4D97-AF65-F5344CB8AC3E}">
        <p14:creationId xmlns:p14="http://schemas.microsoft.com/office/powerpoint/2010/main" val="5274585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hyperlink" Target="https://web.stanford.edu/class/archive/cs/cs161/cs161.1176/Lectures/CS161Lecture07.pdf" TargetMode="External"/><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28540"/>
            <a:ext cx="7863840" cy="523220"/>
          </a:xfrm>
          <a:prstGeom prst="rect">
            <a:avLst/>
          </a:prstGeom>
          <a:noFill/>
        </p:spPr>
        <p:txBody>
          <a:bodyPr wrap="square" lIns="0" tIns="0" rIns="0" bIns="0" anchor="b">
            <a:spAutoFit/>
          </a:bodyPr>
          <a:lstStyle/>
          <a:p>
            <a:pPr algn="l"/>
            <a:r>
              <a:rPr sz="3400" b="1" i="0" dirty="0">
                <a:solidFill>
                  <a:srgbClr val="44546A"/>
                </a:solidFill>
                <a:latin typeface="Calibri Light"/>
              </a:rPr>
              <a:t>Balanced Binary Search Trees</a:t>
            </a:r>
            <a:r>
              <a:rPr lang="en-US" sz="3400" b="1" i="0" dirty="0">
                <a:solidFill>
                  <a:srgbClr val="44546A"/>
                </a:solidFill>
                <a:latin typeface="Calibri Light"/>
              </a:rPr>
              <a:t> (RB Trees)</a:t>
            </a:r>
            <a:endParaRPr sz="3400" b="1" i="0" dirty="0">
              <a:solidFill>
                <a:srgbClr val="44546A"/>
              </a:solidFill>
              <a:latin typeface="Calibri Light"/>
            </a:endParaRPr>
          </a:p>
        </p:txBody>
      </p:sp>
      <p:sp>
        <p:nvSpPr>
          <p:cNvPr id="3" name="TextBox 2"/>
          <p:cNvSpPr txBox="1"/>
          <p:nvPr/>
        </p:nvSpPr>
        <p:spPr>
          <a:xfrm>
            <a:off x="548640" y="2816352"/>
            <a:ext cx="6949440" cy="502920"/>
          </a:xfrm>
          <a:prstGeom prst="rect">
            <a:avLst/>
          </a:prstGeom>
          <a:noFill/>
        </p:spPr>
        <p:txBody>
          <a:bodyPr wrap="square" lIns="0" tIns="0" rIns="0" bIns="0" anchor="t">
            <a:spAutoFit/>
          </a:bodyPr>
          <a:lstStyle/>
          <a:p>
            <a:pPr algn="l"/>
            <a:r>
              <a:rPr sz="2600" b="1" i="0">
                <a:solidFill>
                  <a:srgbClr val="ED7D31"/>
                </a:solidFill>
                <a:latin typeface="Calibri"/>
              </a:rPr>
              <a:t>Pivots &amp; Tree Rotations</a:t>
            </a:r>
          </a:p>
        </p:txBody>
      </p:sp>
      <p:sp>
        <p:nvSpPr>
          <p:cNvPr id="4" name="TextBox 3"/>
          <p:cNvSpPr txBox="1"/>
          <p:nvPr/>
        </p:nvSpPr>
        <p:spPr>
          <a:xfrm>
            <a:off x="548640" y="3419856"/>
            <a:ext cx="7296912" cy="704088"/>
          </a:xfrm>
          <a:prstGeom prst="rect">
            <a:avLst/>
          </a:prstGeom>
          <a:noFill/>
        </p:spPr>
        <p:txBody>
          <a:bodyPr wrap="square" lIns="0" tIns="0" rIns="0" bIns="0" anchor="t">
            <a:spAutoFit/>
          </a:bodyPr>
          <a:lstStyle/>
          <a:p>
            <a:pPr algn="l"/>
            <a:r>
              <a:rPr sz="1600" b="0" i="0">
                <a:solidFill>
                  <a:srgbClr val="595959"/>
                </a:solidFill>
                <a:latin typeface="Calibri"/>
              </a:rPr>
              <a:t>Every BST operation costs O(h). Today: how to keep h = O(log n), using our running example A = 20, 13, 25, 2, 17, 8, 5, 7.</a:t>
            </a:r>
          </a:p>
        </p:txBody>
      </p:sp>
      <p:sp>
        <p:nvSpPr>
          <p:cNvPr id="5" name="TextBox 4"/>
          <p:cNvSpPr txBox="1"/>
          <p:nvPr/>
        </p:nvSpPr>
        <p:spPr>
          <a:xfrm>
            <a:off x="548640" y="4453128"/>
            <a:ext cx="5998464" cy="320040"/>
          </a:xfrm>
          <a:prstGeom prst="rect">
            <a:avLst/>
          </a:prstGeom>
          <a:noFill/>
        </p:spPr>
        <p:txBody>
          <a:bodyPr wrap="square" lIns="0" tIns="0" rIns="0" bIns="0" anchor="t">
            <a:spAutoFit/>
          </a:bodyPr>
          <a:lstStyle/>
          <a:p>
            <a:pPr algn="l"/>
            <a:r>
              <a:rPr sz="1300" b="0" i="0">
                <a:solidFill>
                  <a:srgbClr val="595959"/>
                </a:solidFill>
                <a:latin typeface="Calibri"/>
              </a:rPr>
              <a:t>CS 383 Algorithms Analysis and Design</a:t>
            </a:r>
          </a:p>
        </p:txBody>
      </p:sp>
      <p:sp>
        <p:nvSpPr>
          <p:cNvPr id="6" name="TextBox 5"/>
          <p:cNvSpPr txBox="1"/>
          <p:nvPr/>
        </p:nvSpPr>
        <p:spPr>
          <a:xfrm>
            <a:off x="548640" y="4773168"/>
            <a:ext cx="5998464" cy="320040"/>
          </a:xfrm>
          <a:prstGeom prst="rect">
            <a:avLst/>
          </a:prstGeom>
          <a:noFill/>
        </p:spPr>
        <p:txBody>
          <a:bodyPr wrap="square" lIns="0" tIns="0" rIns="0" bIns="0" anchor="t">
            <a:spAutoFit/>
          </a:bodyPr>
          <a:lstStyle/>
          <a:p>
            <a:pPr algn="l"/>
            <a:r>
              <a:rPr sz="1300" b="0" i="0">
                <a:solidFill>
                  <a:srgbClr val="595959"/>
                </a:solidFill>
                <a:latin typeface="Calibri"/>
              </a:rPr>
              <a:t>Tanwistha Saha</a:t>
            </a:r>
          </a:p>
        </p:txBody>
      </p:sp>
      <p:cxnSp>
        <p:nvCxnSpPr>
          <p:cNvPr id="8" name="Connector 7"/>
          <p:cNvCxnSpPr/>
          <p:nvPr/>
        </p:nvCxnSpPr>
        <p:spPr>
          <a:xfrm>
            <a:off x="8229600" y="3200400"/>
            <a:ext cx="384048" cy="384048"/>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8613648" y="3584448"/>
            <a:ext cx="384048" cy="384048"/>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8997696" y="3968496"/>
            <a:ext cx="384048" cy="384048"/>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8046720" y="3017520"/>
            <a:ext cx="365760" cy="365760"/>
          </a:xfrm>
          <a:prstGeom prst="ellipse">
            <a:avLst/>
          </a:prstGeom>
          <a:solidFill>
            <a:srgbClr val="FFFFFF"/>
          </a:solidFill>
          <a:ln w="22225">
            <a:solidFill>
              <a:srgbClr val="4454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46720" y="3017520"/>
            <a:ext cx="365760" cy="365760"/>
          </a:xfrm>
          <a:prstGeom prst="rect">
            <a:avLst/>
          </a:prstGeom>
          <a:noFill/>
        </p:spPr>
        <p:txBody>
          <a:bodyPr wrap="square" lIns="0" tIns="0" rIns="0" bIns="0" anchor="ctr">
            <a:spAutoFit/>
          </a:bodyPr>
          <a:lstStyle/>
          <a:p>
            <a:pPr algn="ctr"/>
            <a:r>
              <a:rPr sz="1200" b="1" i="0">
                <a:solidFill>
                  <a:srgbClr val="333F50"/>
                </a:solidFill>
                <a:latin typeface="Calibri"/>
              </a:rPr>
              <a:t>2</a:t>
            </a:r>
          </a:p>
        </p:txBody>
      </p:sp>
      <p:sp>
        <p:nvSpPr>
          <p:cNvPr id="13" name="Oval 12"/>
          <p:cNvSpPr/>
          <p:nvPr/>
        </p:nvSpPr>
        <p:spPr>
          <a:xfrm>
            <a:off x="8430768" y="3401568"/>
            <a:ext cx="365760" cy="365760"/>
          </a:xfrm>
          <a:prstGeom prst="ellipse">
            <a:avLst/>
          </a:prstGeom>
          <a:solidFill>
            <a:srgbClr val="FFFFFF"/>
          </a:solidFill>
          <a:ln w="22225">
            <a:solidFill>
              <a:srgbClr val="4454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430768" y="3401568"/>
            <a:ext cx="365760" cy="365760"/>
          </a:xfrm>
          <a:prstGeom prst="rect">
            <a:avLst/>
          </a:prstGeom>
          <a:noFill/>
        </p:spPr>
        <p:txBody>
          <a:bodyPr wrap="square" lIns="0" tIns="0" rIns="0" bIns="0" anchor="ctr">
            <a:spAutoFit/>
          </a:bodyPr>
          <a:lstStyle/>
          <a:p>
            <a:pPr algn="ctr"/>
            <a:r>
              <a:rPr sz="1200" b="1" i="0">
                <a:solidFill>
                  <a:srgbClr val="333F50"/>
                </a:solidFill>
                <a:latin typeface="Calibri"/>
              </a:rPr>
              <a:t>5</a:t>
            </a:r>
          </a:p>
        </p:txBody>
      </p:sp>
      <p:sp>
        <p:nvSpPr>
          <p:cNvPr id="15" name="Oval 14"/>
          <p:cNvSpPr/>
          <p:nvPr/>
        </p:nvSpPr>
        <p:spPr>
          <a:xfrm>
            <a:off x="8814816" y="3785615"/>
            <a:ext cx="365760" cy="365760"/>
          </a:xfrm>
          <a:prstGeom prst="ellipse">
            <a:avLst/>
          </a:prstGeom>
          <a:solidFill>
            <a:srgbClr val="FFFFFF"/>
          </a:solidFill>
          <a:ln w="22225">
            <a:solidFill>
              <a:srgbClr val="4454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814816" y="3785615"/>
            <a:ext cx="365760" cy="365760"/>
          </a:xfrm>
          <a:prstGeom prst="rect">
            <a:avLst/>
          </a:prstGeom>
          <a:noFill/>
        </p:spPr>
        <p:txBody>
          <a:bodyPr wrap="square" lIns="0" tIns="0" rIns="0" bIns="0" anchor="ctr">
            <a:spAutoFit/>
          </a:bodyPr>
          <a:lstStyle/>
          <a:p>
            <a:pPr algn="ctr"/>
            <a:r>
              <a:rPr sz="1200" b="1" i="0">
                <a:solidFill>
                  <a:srgbClr val="333F50"/>
                </a:solidFill>
                <a:latin typeface="Calibri"/>
              </a:rPr>
              <a:t>7</a:t>
            </a:r>
          </a:p>
        </p:txBody>
      </p:sp>
      <p:sp>
        <p:nvSpPr>
          <p:cNvPr id="17" name="Oval 16"/>
          <p:cNvSpPr/>
          <p:nvPr/>
        </p:nvSpPr>
        <p:spPr>
          <a:xfrm>
            <a:off x="9198864" y="4169663"/>
            <a:ext cx="365760" cy="365760"/>
          </a:xfrm>
          <a:prstGeom prst="ellipse">
            <a:avLst/>
          </a:prstGeom>
          <a:solidFill>
            <a:srgbClr val="FFFFFF"/>
          </a:solidFill>
          <a:ln w="22225">
            <a:solidFill>
              <a:srgbClr val="4454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98864" y="4169663"/>
            <a:ext cx="365760" cy="365760"/>
          </a:xfrm>
          <a:prstGeom prst="rect">
            <a:avLst/>
          </a:prstGeom>
          <a:noFill/>
        </p:spPr>
        <p:txBody>
          <a:bodyPr wrap="square" lIns="0" tIns="0" rIns="0" bIns="0" anchor="ctr">
            <a:spAutoFit/>
          </a:bodyPr>
          <a:lstStyle/>
          <a:p>
            <a:pPr algn="ctr"/>
            <a:r>
              <a:rPr sz="1200" b="1" i="0">
                <a:solidFill>
                  <a:srgbClr val="333F50"/>
                </a:solidFill>
                <a:latin typeface="Calibri"/>
              </a:rPr>
              <a:t>8</a:t>
            </a:r>
          </a:p>
        </p:txBody>
      </p:sp>
      <p:sp>
        <p:nvSpPr>
          <p:cNvPr id="19" name="Right Arrow 18"/>
          <p:cNvSpPr/>
          <p:nvPr/>
        </p:nvSpPr>
        <p:spPr>
          <a:xfrm>
            <a:off x="9646920" y="3703320"/>
            <a:ext cx="548640" cy="292608"/>
          </a:xfrm>
          <a:prstGeom prst="rightArrow">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418320" y="3246120"/>
            <a:ext cx="1005840" cy="411480"/>
          </a:xfrm>
          <a:prstGeom prst="rect">
            <a:avLst/>
          </a:prstGeom>
          <a:noFill/>
        </p:spPr>
        <p:txBody>
          <a:bodyPr wrap="square" lIns="0" tIns="0" rIns="0" bIns="0" anchor="t">
            <a:spAutoFit/>
          </a:bodyPr>
          <a:lstStyle/>
          <a:p>
            <a:pPr algn="ctr"/>
            <a:r>
              <a:rPr sz="1100" b="1" i="0">
                <a:solidFill>
                  <a:srgbClr val="4472C4"/>
                </a:solidFill>
                <a:latin typeface="Calibri"/>
              </a:rPr>
              <a:t>rotate</a:t>
            </a:r>
          </a:p>
        </p:txBody>
      </p:sp>
      <p:cxnSp>
        <p:nvCxnSpPr>
          <p:cNvPr id="21" name="Connector 20"/>
          <p:cNvCxnSpPr/>
          <p:nvPr/>
        </p:nvCxnSpPr>
        <p:spPr>
          <a:xfrm flipH="1">
            <a:off x="10424160" y="3520440"/>
            <a:ext cx="457200" cy="64008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0881360" y="3520440"/>
            <a:ext cx="457200" cy="64008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1338560" y="4160520"/>
            <a:ext cx="365760" cy="64008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10698480" y="3337560"/>
            <a:ext cx="365760" cy="365760"/>
          </a:xfrm>
          <a:prstGeom prst="ellipse">
            <a:avLst/>
          </a:prstGeom>
          <a:solidFill>
            <a:srgbClr val="FFFFFF"/>
          </a:solidFill>
          <a:ln w="22225">
            <a:solidFill>
              <a:srgbClr val="4454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0698480" y="3337560"/>
            <a:ext cx="365760" cy="365760"/>
          </a:xfrm>
          <a:prstGeom prst="rect">
            <a:avLst/>
          </a:prstGeom>
          <a:noFill/>
        </p:spPr>
        <p:txBody>
          <a:bodyPr wrap="square" lIns="0" tIns="0" rIns="0" bIns="0" anchor="ctr">
            <a:spAutoFit/>
          </a:bodyPr>
          <a:lstStyle/>
          <a:p>
            <a:pPr algn="ctr"/>
            <a:r>
              <a:rPr sz="1200" b="1" i="0">
                <a:solidFill>
                  <a:srgbClr val="333F50"/>
                </a:solidFill>
                <a:latin typeface="Calibri"/>
              </a:rPr>
              <a:t>5</a:t>
            </a:r>
          </a:p>
        </p:txBody>
      </p:sp>
      <p:sp>
        <p:nvSpPr>
          <p:cNvPr id="26" name="Oval 25"/>
          <p:cNvSpPr/>
          <p:nvPr/>
        </p:nvSpPr>
        <p:spPr>
          <a:xfrm>
            <a:off x="10241280" y="3977639"/>
            <a:ext cx="365760" cy="365760"/>
          </a:xfrm>
          <a:prstGeom prst="ellipse">
            <a:avLst/>
          </a:prstGeom>
          <a:solidFill>
            <a:srgbClr val="FFFFFF"/>
          </a:solidFill>
          <a:ln w="22225">
            <a:solidFill>
              <a:srgbClr val="4454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0241280" y="3977639"/>
            <a:ext cx="365760" cy="365760"/>
          </a:xfrm>
          <a:prstGeom prst="rect">
            <a:avLst/>
          </a:prstGeom>
          <a:noFill/>
        </p:spPr>
        <p:txBody>
          <a:bodyPr wrap="square" lIns="0" tIns="0" rIns="0" bIns="0" anchor="ctr">
            <a:spAutoFit/>
          </a:bodyPr>
          <a:lstStyle/>
          <a:p>
            <a:pPr algn="ctr"/>
            <a:r>
              <a:rPr sz="1200" b="1" i="0">
                <a:solidFill>
                  <a:srgbClr val="333F50"/>
                </a:solidFill>
                <a:latin typeface="Calibri"/>
              </a:rPr>
              <a:t>2</a:t>
            </a:r>
          </a:p>
        </p:txBody>
      </p:sp>
      <p:sp>
        <p:nvSpPr>
          <p:cNvPr id="28" name="Oval 27"/>
          <p:cNvSpPr/>
          <p:nvPr/>
        </p:nvSpPr>
        <p:spPr>
          <a:xfrm>
            <a:off x="11155680" y="3977639"/>
            <a:ext cx="365760" cy="365760"/>
          </a:xfrm>
          <a:prstGeom prst="ellipse">
            <a:avLst/>
          </a:prstGeom>
          <a:solidFill>
            <a:srgbClr val="FFFFFF"/>
          </a:solidFill>
          <a:ln w="22225">
            <a:solidFill>
              <a:srgbClr val="4454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1155680" y="3977639"/>
            <a:ext cx="365760" cy="365760"/>
          </a:xfrm>
          <a:prstGeom prst="rect">
            <a:avLst/>
          </a:prstGeom>
          <a:noFill/>
        </p:spPr>
        <p:txBody>
          <a:bodyPr wrap="square" lIns="0" tIns="0" rIns="0" bIns="0" anchor="ctr">
            <a:spAutoFit/>
          </a:bodyPr>
          <a:lstStyle/>
          <a:p>
            <a:pPr algn="ctr"/>
            <a:r>
              <a:rPr sz="1200" b="1" i="0">
                <a:solidFill>
                  <a:srgbClr val="333F50"/>
                </a:solidFill>
                <a:latin typeface="Calibri"/>
              </a:rPr>
              <a:t>7</a:t>
            </a:r>
          </a:p>
        </p:txBody>
      </p:sp>
      <p:sp>
        <p:nvSpPr>
          <p:cNvPr id="30" name="Oval 29"/>
          <p:cNvSpPr/>
          <p:nvPr/>
        </p:nvSpPr>
        <p:spPr>
          <a:xfrm>
            <a:off x="11521440" y="4617720"/>
            <a:ext cx="365760" cy="365760"/>
          </a:xfrm>
          <a:prstGeom prst="ellipse">
            <a:avLst/>
          </a:prstGeom>
          <a:solidFill>
            <a:srgbClr val="FFFFFF"/>
          </a:solidFill>
          <a:ln w="22225">
            <a:solidFill>
              <a:srgbClr val="4454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1521440" y="4617720"/>
            <a:ext cx="365760" cy="365760"/>
          </a:xfrm>
          <a:prstGeom prst="rect">
            <a:avLst/>
          </a:prstGeom>
          <a:noFill/>
        </p:spPr>
        <p:txBody>
          <a:bodyPr wrap="square" lIns="0" tIns="0" rIns="0" bIns="0" anchor="ctr">
            <a:spAutoFit/>
          </a:bodyPr>
          <a:lstStyle/>
          <a:p>
            <a:pPr algn="ctr"/>
            <a:r>
              <a:rPr sz="1200" b="1" i="0">
                <a:solidFill>
                  <a:srgbClr val="333F50"/>
                </a:solidFill>
                <a:latin typeface="Calibri"/>
              </a:rPr>
              <a:t>8</a:t>
            </a:r>
          </a:p>
        </p:txBody>
      </p:sp>
      <p:cxnSp>
        <p:nvCxnSpPr>
          <p:cNvPr id="32" name="Connector 31"/>
          <p:cNvCxnSpPr/>
          <p:nvPr/>
        </p:nvCxnSpPr>
        <p:spPr>
          <a:xfrm>
            <a:off x="8001000" y="5138928"/>
            <a:ext cx="3657600" cy="0"/>
          </a:xfrm>
          <a:prstGeom prst="line">
            <a:avLst/>
          </a:prstGeom>
          <a:ln w="12700">
            <a:solidFill>
              <a:srgbClr val="A6A6A6"/>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8001000" y="5212080"/>
            <a:ext cx="1737360" cy="320040"/>
          </a:xfrm>
          <a:prstGeom prst="rect">
            <a:avLst/>
          </a:prstGeom>
          <a:noFill/>
        </p:spPr>
        <p:txBody>
          <a:bodyPr wrap="square" lIns="0" tIns="0" rIns="0" bIns="0" anchor="t">
            <a:spAutoFit/>
          </a:bodyPr>
          <a:lstStyle/>
          <a:p>
            <a:pPr algn="l"/>
            <a:r>
              <a:rPr sz="1200" b="1" i="0">
                <a:solidFill>
                  <a:srgbClr val="333F50"/>
                </a:solidFill>
                <a:latin typeface="Calibri"/>
              </a:rPr>
              <a:t>Before: h = n − 1</a:t>
            </a:r>
          </a:p>
        </p:txBody>
      </p:sp>
      <p:sp>
        <p:nvSpPr>
          <p:cNvPr id="34" name="TextBox 33"/>
          <p:cNvSpPr txBox="1"/>
          <p:nvPr/>
        </p:nvSpPr>
        <p:spPr>
          <a:xfrm>
            <a:off x="10058400" y="5212080"/>
            <a:ext cx="1600200" cy="320040"/>
          </a:xfrm>
          <a:prstGeom prst="rect">
            <a:avLst/>
          </a:prstGeom>
          <a:noFill/>
        </p:spPr>
        <p:txBody>
          <a:bodyPr wrap="square" lIns="0" tIns="0" rIns="0" bIns="0" anchor="t">
            <a:spAutoFit/>
          </a:bodyPr>
          <a:lstStyle/>
          <a:p>
            <a:pPr algn="r"/>
            <a:r>
              <a:rPr sz="1200" b="1" i="0">
                <a:solidFill>
                  <a:srgbClr val="333F50"/>
                </a:solidFill>
                <a:latin typeface="Calibri"/>
              </a:rPr>
              <a:t>After: h = O(log n)</a:t>
            </a:r>
          </a:p>
        </p:txBody>
      </p:sp>
      <p:sp>
        <p:nvSpPr>
          <p:cNvPr id="35" name="TextBox 34"/>
          <p:cNvSpPr txBox="1"/>
          <p:nvPr/>
        </p:nvSpPr>
        <p:spPr>
          <a:xfrm>
            <a:off x="548640" y="6501384"/>
            <a:ext cx="9326880" cy="138499"/>
          </a:xfrm>
          <a:prstGeom prst="rect">
            <a:avLst/>
          </a:prstGeom>
          <a:noFill/>
        </p:spPr>
        <p:txBody>
          <a:bodyPr wrap="square" lIns="0" tIns="0" rIns="0" bIns="0" anchor="t">
            <a:spAutoFit/>
          </a:bodyPr>
          <a:lstStyle/>
          <a:p>
            <a:pPr algn="l"/>
            <a:r>
              <a:rPr lang="en-US" sz="900" b="0" i="0">
                <a:solidFill>
                  <a:srgbClr val="595959"/>
                </a:solidFill>
                <a:latin typeface="Calibri"/>
              </a:rPr>
              <a:t>CS 383 </a:t>
            </a:r>
            <a:r>
              <a:rPr sz="900" b="0" i="0">
                <a:solidFill>
                  <a:srgbClr val="595959"/>
                </a:solidFill>
                <a:latin typeface="Calibri"/>
              </a:rPr>
              <a:t>Algorithm Design </a:t>
            </a:r>
            <a:r>
              <a:rPr lang="en-US" sz="900" b="0" i="0">
                <a:solidFill>
                  <a:srgbClr val="595959"/>
                </a:solidFill>
                <a:latin typeface="Calibri"/>
              </a:rPr>
              <a:t>and Analysis </a:t>
            </a:r>
            <a:r>
              <a:rPr sz="900" b="0" i="0">
                <a:solidFill>
                  <a:srgbClr val="595959"/>
                </a:solidFill>
                <a:latin typeface="Calibri"/>
              </a:rPr>
              <a:t> ·  Balanced Binary Search Trees  ·  </a:t>
            </a:r>
            <a:r>
              <a:rPr lang="en-US" sz="900" b="0" i="0">
                <a:solidFill>
                  <a:srgbClr val="595959"/>
                </a:solidFill>
                <a:latin typeface="Calibri"/>
              </a:rPr>
              <a:t>Tanwistha Saha</a:t>
            </a:r>
            <a:endParaRPr sz="900" b="0" i="0">
              <a:solidFill>
                <a:srgbClr val="595959"/>
              </a:solidFill>
              <a:latin typeface="Calibri"/>
            </a:endParaRPr>
          </a:p>
        </p:txBody>
      </p:sp>
      <p:sp>
        <p:nvSpPr>
          <p:cNvPr id="36" name="TextBox 35"/>
          <p:cNvSpPr txBox="1"/>
          <p:nvPr/>
        </p:nvSpPr>
        <p:spPr>
          <a:xfrm>
            <a:off x="10908792" y="6501384"/>
            <a:ext cx="731520" cy="274320"/>
          </a:xfrm>
          <a:prstGeom prst="rect">
            <a:avLst/>
          </a:prstGeom>
          <a:noFill/>
        </p:spPr>
        <p:txBody>
          <a:bodyPr wrap="square" lIns="0" tIns="0" rIns="0" bIns="0" anchor="t">
            <a:spAutoFit/>
          </a:bodyPr>
          <a:lstStyle/>
          <a:p>
            <a:pPr algn="r"/>
            <a:r>
              <a:rPr sz="900" b="0" i="0">
                <a:solidFill>
                  <a:srgbClr val="595959"/>
                </a:solidFill>
                <a:latin typeface="Calibri"/>
              </a:rP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9144000" cy="320040"/>
          </a:xfrm>
          <a:prstGeom prst="rect">
            <a:avLst/>
          </a:prstGeom>
          <a:noFill/>
        </p:spPr>
        <p:txBody>
          <a:bodyPr wrap="square" lIns="0" tIns="0" rIns="0" bIns="0" anchor="t">
            <a:spAutoFit/>
          </a:bodyPr>
          <a:lstStyle/>
          <a:p>
            <a:pPr algn="l"/>
            <a:r>
              <a:rPr sz="1200" b="1" i="0">
                <a:solidFill>
                  <a:srgbClr val="4472C4"/>
                </a:solidFill>
                <a:latin typeface="Calibri"/>
              </a:rPr>
              <a:t>RECAP · LAST LECTURE</a:t>
            </a:r>
          </a:p>
        </p:txBody>
      </p:sp>
      <p:sp>
        <p:nvSpPr>
          <p:cNvPr id="3" name="TextBox 2"/>
          <p:cNvSpPr txBox="1"/>
          <p:nvPr/>
        </p:nvSpPr>
        <p:spPr>
          <a:xfrm>
            <a:off x="548640" y="658368"/>
            <a:ext cx="11064240" cy="640080"/>
          </a:xfrm>
          <a:prstGeom prst="rect">
            <a:avLst/>
          </a:prstGeom>
          <a:noFill/>
        </p:spPr>
        <p:txBody>
          <a:bodyPr wrap="square" lIns="0" tIns="0" rIns="0" bIns="0" anchor="t">
            <a:spAutoFit/>
          </a:bodyPr>
          <a:lstStyle/>
          <a:p>
            <a:pPr algn="l"/>
            <a:r>
              <a:rPr sz="2800" b="1" i="0">
                <a:solidFill>
                  <a:srgbClr val="333F50"/>
                </a:solidFill>
                <a:latin typeface="Calibri Light"/>
              </a:rPr>
              <a:t>Insertion order decides the shape of a BST</a:t>
            </a:r>
          </a:p>
        </p:txBody>
      </p:sp>
      <p:sp>
        <p:nvSpPr>
          <p:cNvPr id="4" name="TextBox 3"/>
          <p:cNvSpPr txBox="1"/>
          <p:nvPr/>
        </p:nvSpPr>
        <p:spPr>
          <a:xfrm>
            <a:off x="548640" y="1197864"/>
            <a:ext cx="11064240" cy="502920"/>
          </a:xfrm>
          <a:prstGeom prst="rect">
            <a:avLst/>
          </a:prstGeom>
          <a:noFill/>
        </p:spPr>
        <p:txBody>
          <a:bodyPr wrap="square" lIns="0" tIns="0" rIns="0" bIns="0" anchor="t">
            <a:spAutoFit/>
          </a:bodyPr>
          <a:lstStyle/>
          <a:p>
            <a:pPr algn="l"/>
            <a:r>
              <a:rPr sz="1400" b="0" i="0">
                <a:solidFill>
                  <a:srgbClr val="595959"/>
                </a:solidFill>
                <a:latin typeface="Calibri"/>
              </a:rPr>
              <a:t>Same eight keys from A, two insertion orders. The best possible height for n = 8 is ⌊log₂ 8⌋ = 3.</a:t>
            </a:r>
          </a:p>
        </p:txBody>
      </p:sp>
      <p:sp>
        <p:nvSpPr>
          <p:cNvPr id="5" name="Rounded Rectangle 4"/>
          <p:cNvSpPr/>
          <p:nvPr/>
        </p:nvSpPr>
        <p:spPr>
          <a:xfrm>
            <a:off x="548640" y="1874519"/>
            <a:ext cx="5394960" cy="4206240"/>
          </a:xfrm>
          <a:prstGeom prst="roundRect">
            <a:avLst>
              <a:gd name="adj" fmla="val 5000"/>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2103120"/>
            <a:ext cx="4754880" cy="274320"/>
          </a:xfrm>
          <a:prstGeom prst="rect">
            <a:avLst/>
          </a:prstGeom>
          <a:noFill/>
        </p:spPr>
        <p:txBody>
          <a:bodyPr wrap="square" lIns="0" tIns="0" rIns="0" bIns="0" anchor="t">
            <a:spAutoFit/>
          </a:bodyPr>
          <a:lstStyle/>
          <a:p>
            <a:pPr algn="l"/>
            <a:r>
              <a:rPr sz="1100" b="1" i="0">
                <a:solidFill>
                  <a:srgbClr val="4472C4"/>
                </a:solidFill>
                <a:latin typeface="Calibri"/>
              </a:rPr>
              <a:t>INSERT A = 20, 13, 25, 2, 17, 8, 5, 7</a:t>
            </a:r>
          </a:p>
        </p:txBody>
      </p:sp>
      <p:cxnSp>
        <p:nvCxnSpPr>
          <p:cNvPr id="7" name="Connector 6"/>
          <p:cNvCxnSpPr/>
          <p:nvPr/>
        </p:nvCxnSpPr>
        <p:spPr>
          <a:xfrm flipH="1">
            <a:off x="2880360" y="2743200"/>
            <a:ext cx="1097279" cy="475488"/>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977639" y="2743200"/>
            <a:ext cx="1097281" cy="475488"/>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1965960" y="3218688"/>
            <a:ext cx="914400" cy="475488"/>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880360" y="3218688"/>
            <a:ext cx="731520" cy="475488"/>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965960" y="3694176"/>
            <a:ext cx="731520" cy="475488"/>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2148840" y="4169664"/>
            <a:ext cx="548640" cy="475488"/>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2148840" y="4645152"/>
            <a:ext cx="548640" cy="475488"/>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3776472" y="2542032"/>
            <a:ext cx="402336" cy="402336"/>
          </a:xfrm>
          <a:prstGeom prst="ellipse">
            <a:avLst/>
          </a:prstGeom>
          <a:solidFill>
            <a:srgbClr val="FFFFFF"/>
          </a:solidFill>
          <a:ln w="22225">
            <a:solidFill>
              <a:srgbClr val="4454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776472" y="2542032"/>
            <a:ext cx="402336" cy="402336"/>
          </a:xfrm>
          <a:prstGeom prst="rect">
            <a:avLst/>
          </a:prstGeom>
          <a:noFill/>
        </p:spPr>
        <p:txBody>
          <a:bodyPr wrap="square" lIns="0" tIns="0" rIns="0" bIns="0" anchor="ctr">
            <a:spAutoFit/>
          </a:bodyPr>
          <a:lstStyle/>
          <a:p>
            <a:pPr algn="ctr"/>
            <a:r>
              <a:rPr sz="1300" b="1" i="0">
                <a:solidFill>
                  <a:srgbClr val="333F50"/>
                </a:solidFill>
                <a:latin typeface="Calibri"/>
              </a:rPr>
              <a:t>20</a:t>
            </a:r>
          </a:p>
        </p:txBody>
      </p:sp>
      <p:sp>
        <p:nvSpPr>
          <p:cNvPr id="16" name="Oval 15"/>
          <p:cNvSpPr/>
          <p:nvPr/>
        </p:nvSpPr>
        <p:spPr>
          <a:xfrm>
            <a:off x="2679191" y="3017520"/>
            <a:ext cx="402336" cy="402336"/>
          </a:xfrm>
          <a:prstGeom prst="ellipse">
            <a:avLst/>
          </a:prstGeom>
          <a:solidFill>
            <a:srgbClr val="FFFFFF"/>
          </a:solidFill>
          <a:ln w="22225">
            <a:solidFill>
              <a:srgbClr val="4454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679191" y="3017520"/>
            <a:ext cx="402336" cy="402336"/>
          </a:xfrm>
          <a:prstGeom prst="rect">
            <a:avLst/>
          </a:prstGeom>
          <a:noFill/>
        </p:spPr>
        <p:txBody>
          <a:bodyPr wrap="square" lIns="0" tIns="0" rIns="0" bIns="0" anchor="ctr">
            <a:spAutoFit/>
          </a:bodyPr>
          <a:lstStyle/>
          <a:p>
            <a:pPr algn="ctr"/>
            <a:r>
              <a:rPr sz="1300" b="1" i="0">
                <a:solidFill>
                  <a:srgbClr val="333F50"/>
                </a:solidFill>
                <a:latin typeface="Calibri"/>
              </a:rPr>
              <a:t>13</a:t>
            </a:r>
          </a:p>
        </p:txBody>
      </p:sp>
      <p:sp>
        <p:nvSpPr>
          <p:cNvPr id="18" name="Oval 17"/>
          <p:cNvSpPr/>
          <p:nvPr/>
        </p:nvSpPr>
        <p:spPr>
          <a:xfrm>
            <a:off x="4873752" y="3017520"/>
            <a:ext cx="402336" cy="402336"/>
          </a:xfrm>
          <a:prstGeom prst="ellipse">
            <a:avLst/>
          </a:prstGeom>
          <a:solidFill>
            <a:srgbClr val="FFFFFF"/>
          </a:solidFill>
          <a:ln w="22225">
            <a:solidFill>
              <a:srgbClr val="4454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873752" y="3017520"/>
            <a:ext cx="402336" cy="402336"/>
          </a:xfrm>
          <a:prstGeom prst="rect">
            <a:avLst/>
          </a:prstGeom>
          <a:noFill/>
        </p:spPr>
        <p:txBody>
          <a:bodyPr wrap="square" lIns="0" tIns="0" rIns="0" bIns="0" anchor="ctr">
            <a:spAutoFit/>
          </a:bodyPr>
          <a:lstStyle/>
          <a:p>
            <a:pPr algn="ctr"/>
            <a:r>
              <a:rPr sz="1300" b="1" i="0">
                <a:solidFill>
                  <a:srgbClr val="333F50"/>
                </a:solidFill>
                <a:latin typeface="Calibri"/>
              </a:rPr>
              <a:t>25</a:t>
            </a:r>
          </a:p>
        </p:txBody>
      </p:sp>
      <p:sp>
        <p:nvSpPr>
          <p:cNvPr id="20" name="Oval 19"/>
          <p:cNvSpPr/>
          <p:nvPr/>
        </p:nvSpPr>
        <p:spPr>
          <a:xfrm>
            <a:off x="1764792" y="3493008"/>
            <a:ext cx="402336" cy="402336"/>
          </a:xfrm>
          <a:prstGeom prst="ellipse">
            <a:avLst/>
          </a:prstGeom>
          <a:solidFill>
            <a:srgbClr val="FFFFFF"/>
          </a:solidFill>
          <a:ln w="22225">
            <a:solidFill>
              <a:srgbClr val="4454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764792" y="3493008"/>
            <a:ext cx="402336" cy="402336"/>
          </a:xfrm>
          <a:prstGeom prst="rect">
            <a:avLst/>
          </a:prstGeom>
          <a:noFill/>
        </p:spPr>
        <p:txBody>
          <a:bodyPr wrap="square" lIns="0" tIns="0" rIns="0" bIns="0" anchor="ctr">
            <a:spAutoFit/>
          </a:bodyPr>
          <a:lstStyle/>
          <a:p>
            <a:pPr algn="ctr"/>
            <a:r>
              <a:rPr sz="1300" b="1" i="0">
                <a:solidFill>
                  <a:srgbClr val="333F50"/>
                </a:solidFill>
                <a:latin typeface="Calibri"/>
              </a:rPr>
              <a:t>2</a:t>
            </a:r>
          </a:p>
        </p:txBody>
      </p:sp>
      <p:sp>
        <p:nvSpPr>
          <p:cNvPr id="22" name="Oval 21"/>
          <p:cNvSpPr/>
          <p:nvPr/>
        </p:nvSpPr>
        <p:spPr>
          <a:xfrm>
            <a:off x="3410712" y="3493008"/>
            <a:ext cx="402336" cy="402336"/>
          </a:xfrm>
          <a:prstGeom prst="ellipse">
            <a:avLst/>
          </a:prstGeom>
          <a:solidFill>
            <a:srgbClr val="FFFFFF"/>
          </a:solidFill>
          <a:ln w="22225">
            <a:solidFill>
              <a:srgbClr val="4454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410712" y="3493008"/>
            <a:ext cx="402336" cy="402336"/>
          </a:xfrm>
          <a:prstGeom prst="rect">
            <a:avLst/>
          </a:prstGeom>
          <a:noFill/>
        </p:spPr>
        <p:txBody>
          <a:bodyPr wrap="square" lIns="0" tIns="0" rIns="0" bIns="0" anchor="ctr">
            <a:spAutoFit/>
          </a:bodyPr>
          <a:lstStyle/>
          <a:p>
            <a:pPr algn="ctr"/>
            <a:r>
              <a:rPr sz="1300" b="1" i="0">
                <a:solidFill>
                  <a:srgbClr val="333F50"/>
                </a:solidFill>
                <a:latin typeface="Calibri"/>
              </a:rPr>
              <a:t>17</a:t>
            </a:r>
          </a:p>
        </p:txBody>
      </p:sp>
      <p:sp>
        <p:nvSpPr>
          <p:cNvPr id="24" name="Oval 23"/>
          <p:cNvSpPr/>
          <p:nvPr/>
        </p:nvSpPr>
        <p:spPr>
          <a:xfrm>
            <a:off x="2496312" y="3968496"/>
            <a:ext cx="402336" cy="402336"/>
          </a:xfrm>
          <a:prstGeom prst="ellipse">
            <a:avLst/>
          </a:prstGeom>
          <a:solidFill>
            <a:srgbClr val="FFFFFF"/>
          </a:solidFill>
          <a:ln w="22225">
            <a:solidFill>
              <a:srgbClr val="4454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496312" y="3968496"/>
            <a:ext cx="402336" cy="402336"/>
          </a:xfrm>
          <a:prstGeom prst="rect">
            <a:avLst/>
          </a:prstGeom>
          <a:noFill/>
        </p:spPr>
        <p:txBody>
          <a:bodyPr wrap="square" lIns="0" tIns="0" rIns="0" bIns="0" anchor="ctr">
            <a:spAutoFit/>
          </a:bodyPr>
          <a:lstStyle/>
          <a:p>
            <a:pPr algn="ctr"/>
            <a:r>
              <a:rPr sz="1300" b="1" i="0">
                <a:solidFill>
                  <a:srgbClr val="333F50"/>
                </a:solidFill>
                <a:latin typeface="Calibri"/>
              </a:rPr>
              <a:t>8</a:t>
            </a:r>
          </a:p>
        </p:txBody>
      </p:sp>
      <p:sp>
        <p:nvSpPr>
          <p:cNvPr id="26" name="Oval 25"/>
          <p:cNvSpPr/>
          <p:nvPr/>
        </p:nvSpPr>
        <p:spPr>
          <a:xfrm>
            <a:off x="1947672" y="4443984"/>
            <a:ext cx="402336" cy="402336"/>
          </a:xfrm>
          <a:prstGeom prst="ellipse">
            <a:avLst/>
          </a:prstGeom>
          <a:solidFill>
            <a:srgbClr val="FFFFFF"/>
          </a:solidFill>
          <a:ln w="22225">
            <a:solidFill>
              <a:srgbClr val="4454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947672" y="4443984"/>
            <a:ext cx="402336" cy="402336"/>
          </a:xfrm>
          <a:prstGeom prst="rect">
            <a:avLst/>
          </a:prstGeom>
          <a:noFill/>
        </p:spPr>
        <p:txBody>
          <a:bodyPr wrap="square" lIns="0" tIns="0" rIns="0" bIns="0" anchor="ctr">
            <a:spAutoFit/>
          </a:bodyPr>
          <a:lstStyle/>
          <a:p>
            <a:pPr algn="ctr"/>
            <a:r>
              <a:rPr sz="1300" b="1" i="0">
                <a:solidFill>
                  <a:srgbClr val="333F50"/>
                </a:solidFill>
                <a:latin typeface="Calibri"/>
              </a:rPr>
              <a:t>5</a:t>
            </a:r>
          </a:p>
        </p:txBody>
      </p:sp>
      <p:sp>
        <p:nvSpPr>
          <p:cNvPr id="28" name="Oval 27"/>
          <p:cNvSpPr/>
          <p:nvPr/>
        </p:nvSpPr>
        <p:spPr>
          <a:xfrm>
            <a:off x="2496312" y="4919472"/>
            <a:ext cx="402336" cy="402336"/>
          </a:xfrm>
          <a:prstGeom prst="ellipse">
            <a:avLst/>
          </a:prstGeom>
          <a:solidFill>
            <a:srgbClr val="FFFFFF"/>
          </a:solidFill>
          <a:ln w="22225">
            <a:solidFill>
              <a:srgbClr val="4454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496312" y="4919472"/>
            <a:ext cx="402336" cy="402336"/>
          </a:xfrm>
          <a:prstGeom prst="rect">
            <a:avLst/>
          </a:prstGeom>
          <a:noFill/>
        </p:spPr>
        <p:txBody>
          <a:bodyPr wrap="square" lIns="0" tIns="0" rIns="0" bIns="0" anchor="ctr">
            <a:spAutoFit/>
          </a:bodyPr>
          <a:lstStyle/>
          <a:p>
            <a:pPr algn="ctr"/>
            <a:r>
              <a:rPr sz="1300" b="1" i="0">
                <a:solidFill>
                  <a:srgbClr val="333F50"/>
                </a:solidFill>
                <a:latin typeface="Calibri"/>
              </a:rPr>
              <a:t>7</a:t>
            </a:r>
          </a:p>
        </p:txBody>
      </p:sp>
      <p:sp>
        <p:nvSpPr>
          <p:cNvPr id="30" name="TextBox 29"/>
          <p:cNvSpPr txBox="1"/>
          <p:nvPr/>
        </p:nvSpPr>
        <p:spPr>
          <a:xfrm>
            <a:off x="868680" y="5532120"/>
            <a:ext cx="4754880" cy="411480"/>
          </a:xfrm>
          <a:prstGeom prst="rect">
            <a:avLst/>
          </a:prstGeom>
          <a:noFill/>
        </p:spPr>
        <p:txBody>
          <a:bodyPr wrap="square" lIns="0" tIns="0" rIns="0" bIns="0" anchor="t">
            <a:spAutoFit/>
          </a:bodyPr>
          <a:lstStyle/>
          <a:p>
            <a:pPr algn="l"/>
            <a:r>
              <a:rPr sz="1600" b="1" i="0">
                <a:solidFill>
                  <a:srgbClr val="C55A11"/>
                </a:solidFill>
                <a:latin typeface="Courier New"/>
              </a:rPr>
              <a:t>Height 5</a:t>
            </a:r>
          </a:p>
        </p:txBody>
      </p:sp>
      <p:sp>
        <p:nvSpPr>
          <p:cNvPr id="31" name="Rounded Rectangle 30"/>
          <p:cNvSpPr/>
          <p:nvPr/>
        </p:nvSpPr>
        <p:spPr>
          <a:xfrm>
            <a:off x="6245352" y="1874519"/>
            <a:ext cx="5394960" cy="4206240"/>
          </a:xfrm>
          <a:prstGeom prst="roundRect">
            <a:avLst>
              <a:gd name="adj" fmla="val 5000"/>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565392" y="2103120"/>
            <a:ext cx="4754880" cy="274320"/>
          </a:xfrm>
          <a:prstGeom prst="rect">
            <a:avLst/>
          </a:prstGeom>
          <a:noFill/>
        </p:spPr>
        <p:txBody>
          <a:bodyPr wrap="square" lIns="0" tIns="0" rIns="0" bIns="0" anchor="t">
            <a:spAutoFit/>
          </a:bodyPr>
          <a:lstStyle/>
          <a:p>
            <a:pPr algn="l"/>
            <a:r>
              <a:rPr sz="1100" b="1" i="0">
                <a:solidFill>
                  <a:srgbClr val="4472C4"/>
                </a:solidFill>
                <a:latin typeface="Calibri"/>
              </a:rPr>
              <a:t>INSERT SORTED A = 2, 5, 7, 8, 13, 17, 20, 25</a:t>
            </a:r>
          </a:p>
        </p:txBody>
      </p:sp>
      <p:cxnSp>
        <p:nvCxnSpPr>
          <p:cNvPr id="33" name="Connector 32"/>
          <p:cNvCxnSpPr/>
          <p:nvPr/>
        </p:nvCxnSpPr>
        <p:spPr>
          <a:xfrm>
            <a:off x="6839712" y="2743200"/>
            <a:ext cx="621792" cy="347472"/>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7461504" y="3090672"/>
            <a:ext cx="621792" cy="347472"/>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8083296" y="3438144"/>
            <a:ext cx="621792" cy="347472"/>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8705088" y="3785616"/>
            <a:ext cx="621792" cy="347471"/>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9326880" y="4133087"/>
            <a:ext cx="621792" cy="347473"/>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9948672" y="4480560"/>
            <a:ext cx="621791" cy="347472"/>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10570463" y="4828032"/>
            <a:ext cx="621793" cy="347472"/>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sp>
        <p:nvSpPr>
          <p:cNvPr id="40" name="Oval 39"/>
          <p:cNvSpPr/>
          <p:nvPr/>
        </p:nvSpPr>
        <p:spPr>
          <a:xfrm>
            <a:off x="6638544" y="2542032"/>
            <a:ext cx="402336" cy="402336"/>
          </a:xfrm>
          <a:prstGeom prst="ellipse">
            <a:avLst/>
          </a:prstGeom>
          <a:solidFill>
            <a:srgbClr val="FFFFFF"/>
          </a:solidFill>
          <a:ln w="22225">
            <a:solidFill>
              <a:srgbClr val="4454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638544" y="2542032"/>
            <a:ext cx="402336" cy="402336"/>
          </a:xfrm>
          <a:prstGeom prst="rect">
            <a:avLst/>
          </a:prstGeom>
          <a:noFill/>
        </p:spPr>
        <p:txBody>
          <a:bodyPr wrap="square" lIns="0" tIns="0" rIns="0" bIns="0" anchor="ctr">
            <a:spAutoFit/>
          </a:bodyPr>
          <a:lstStyle/>
          <a:p>
            <a:pPr algn="ctr"/>
            <a:r>
              <a:rPr sz="1300" b="1" i="0">
                <a:solidFill>
                  <a:srgbClr val="333F50"/>
                </a:solidFill>
                <a:latin typeface="Calibri"/>
              </a:rPr>
              <a:t>2</a:t>
            </a:r>
          </a:p>
        </p:txBody>
      </p:sp>
      <p:sp>
        <p:nvSpPr>
          <p:cNvPr id="42" name="Oval 41"/>
          <p:cNvSpPr/>
          <p:nvPr/>
        </p:nvSpPr>
        <p:spPr>
          <a:xfrm>
            <a:off x="7260336" y="2889503"/>
            <a:ext cx="402336" cy="402336"/>
          </a:xfrm>
          <a:prstGeom prst="ellipse">
            <a:avLst/>
          </a:prstGeom>
          <a:solidFill>
            <a:srgbClr val="FFFFFF"/>
          </a:solidFill>
          <a:ln w="22225">
            <a:solidFill>
              <a:srgbClr val="4454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7260336" y="2889503"/>
            <a:ext cx="402336" cy="402336"/>
          </a:xfrm>
          <a:prstGeom prst="rect">
            <a:avLst/>
          </a:prstGeom>
          <a:noFill/>
        </p:spPr>
        <p:txBody>
          <a:bodyPr wrap="square" lIns="0" tIns="0" rIns="0" bIns="0" anchor="ctr">
            <a:spAutoFit/>
          </a:bodyPr>
          <a:lstStyle/>
          <a:p>
            <a:pPr algn="ctr"/>
            <a:r>
              <a:rPr sz="1300" b="1" i="0">
                <a:solidFill>
                  <a:srgbClr val="333F50"/>
                </a:solidFill>
                <a:latin typeface="Calibri"/>
              </a:rPr>
              <a:t>5</a:t>
            </a:r>
          </a:p>
        </p:txBody>
      </p:sp>
      <p:sp>
        <p:nvSpPr>
          <p:cNvPr id="44" name="Oval 43"/>
          <p:cNvSpPr/>
          <p:nvPr/>
        </p:nvSpPr>
        <p:spPr>
          <a:xfrm>
            <a:off x="7882127" y="3236975"/>
            <a:ext cx="402336" cy="402336"/>
          </a:xfrm>
          <a:prstGeom prst="ellipse">
            <a:avLst/>
          </a:prstGeom>
          <a:solidFill>
            <a:srgbClr val="FFFFFF"/>
          </a:solidFill>
          <a:ln w="22225">
            <a:solidFill>
              <a:srgbClr val="4454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7882127" y="3236975"/>
            <a:ext cx="402336" cy="402336"/>
          </a:xfrm>
          <a:prstGeom prst="rect">
            <a:avLst/>
          </a:prstGeom>
          <a:noFill/>
        </p:spPr>
        <p:txBody>
          <a:bodyPr wrap="square" lIns="0" tIns="0" rIns="0" bIns="0" anchor="ctr">
            <a:spAutoFit/>
          </a:bodyPr>
          <a:lstStyle/>
          <a:p>
            <a:pPr algn="ctr"/>
            <a:r>
              <a:rPr sz="1300" b="1" i="0">
                <a:solidFill>
                  <a:srgbClr val="333F50"/>
                </a:solidFill>
                <a:latin typeface="Calibri"/>
              </a:rPr>
              <a:t>7</a:t>
            </a:r>
          </a:p>
        </p:txBody>
      </p:sp>
      <p:sp>
        <p:nvSpPr>
          <p:cNvPr id="46" name="Oval 45"/>
          <p:cNvSpPr/>
          <p:nvPr/>
        </p:nvSpPr>
        <p:spPr>
          <a:xfrm>
            <a:off x="8503919" y="3584448"/>
            <a:ext cx="402336" cy="402336"/>
          </a:xfrm>
          <a:prstGeom prst="ellipse">
            <a:avLst/>
          </a:prstGeom>
          <a:solidFill>
            <a:srgbClr val="FFFFFF"/>
          </a:solidFill>
          <a:ln w="22225">
            <a:solidFill>
              <a:srgbClr val="4454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8503919" y="3584448"/>
            <a:ext cx="402336" cy="402336"/>
          </a:xfrm>
          <a:prstGeom prst="rect">
            <a:avLst/>
          </a:prstGeom>
          <a:noFill/>
        </p:spPr>
        <p:txBody>
          <a:bodyPr wrap="square" lIns="0" tIns="0" rIns="0" bIns="0" anchor="ctr">
            <a:spAutoFit/>
          </a:bodyPr>
          <a:lstStyle/>
          <a:p>
            <a:pPr algn="ctr"/>
            <a:r>
              <a:rPr sz="1300" b="1" i="0">
                <a:solidFill>
                  <a:srgbClr val="333F50"/>
                </a:solidFill>
                <a:latin typeface="Calibri"/>
              </a:rPr>
              <a:t>8</a:t>
            </a:r>
          </a:p>
        </p:txBody>
      </p:sp>
      <p:sp>
        <p:nvSpPr>
          <p:cNvPr id="48" name="Oval 47"/>
          <p:cNvSpPr/>
          <p:nvPr/>
        </p:nvSpPr>
        <p:spPr>
          <a:xfrm>
            <a:off x="9125711" y="3931920"/>
            <a:ext cx="402336" cy="402336"/>
          </a:xfrm>
          <a:prstGeom prst="ellipse">
            <a:avLst/>
          </a:prstGeom>
          <a:solidFill>
            <a:srgbClr val="FFFFFF"/>
          </a:solidFill>
          <a:ln w="22225">
            <a:solidFill>
              <a:srgbClr val="4454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9125711" y="3931920"/>
            <a:ext cx="402336" cy="402336"/>
          </a:xfrm>
          <a:prstGeom prst="rect">
            <a:avLst/>
          </a:prstGeom>
          <a:noFill/>
        </p:spPr>
        <p:txBody>
          <a:bodyPr wrap="square" lIns="0" tIns="0" rIns="0" bIns="0" anchor="ctr">
            <a:spAutoFit/>
          </a:bodyPr>
          <a:lstStyle/>
          <a:p>
            <a:pPr algn="ctr"/>
            <a:r>
              <a:rPr sz="1300" b="1" i="0">
                <a:solidFill>
                  <a:srgbClr val="333F50"/>
                </a:solidFill>
                <a:latin typeface="Calibri"/>
              </a:rPr>
              <a:t>13</a:t>
            </a:r>
          </a:p>
        </p:txBody>
      </p:sp>
      <p:sp>
        <p:nvSpPr>
          <p:cNvPr id="50" name="Oval 49"/>
          <p:cNvSpPr/>
          <p:nvPr/>
        </p:nvSpPr>
        <p:spPr>
          <a:xfrm>
            <a:off x="9747503" y="4279392"/>
            <a:ext cx="402336" cy="402336"/>
          </a:xfrm>
          <a:prstGeom prst="ellipse">
            <a:avLst/>
          </a:prstGeom>
          <a:solidFill>
            <a:srgbClr val="FFFFFF"/>
          </a:solidFill>
          <a:ln w="22225">
            <a:solidFill>
              <a:srgbClr val="4454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9747503" y="4279392"/>
            <a:ext cx="402336" cy="402336"/>
          </a:xfrm>
          <a:prstGeom prst="rect">
            <a:avLst/>
          </a:prstGeom>
          <a:noFill/>
        </p:spPr>
        <p:txBody>
          <a:bodyPr wrap="square" lIns="0" tIns="0" rIns="0" bIns="0" anchor="ctr">
            <a:spAutoFit/>
          </a:bodyPr>
          <a:lstStyle/>
          <a:p>
            <a:pPr algn="ctr"/>
            <a:r>
              <a:rPr sz="1300" b="1" i="0">
                <a:solidFill>
                  <a:srgbClr val="333F50"/>
                </a:solidFill>
                <a:latin typeface="Calibri"/>
              </a:rPr>
              <a:t>17</a:t>
            </a:r>
          </a:p>
        </p:txBody>
      </p:sp>
      <p:sp>
        <p:nvSpPr>
          <p:cNvPr id="52" name="Oval 51"/>
          <p:cNvSpPr/>
          <p:nvPr/>
        </p:nvSpPr>
        <p:spPr>
          <a:xfrm>
            <a:off x="10369295" y="4626864"/>
            <a:ext cx="402336" cy="402336"/>
          </a:xfrm>
          <a:prstGeom prst="ellipse">
            <a:avLst/>
          </a:prstGeom>
          <a:solidFill>
            <a:srgbClr val="FFFFFF"/>
          </a:solidFill>
          <a:ln w="22225">
            <a:solidFill>
              <a:srgbClr val="4454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10369295" y="4626864"/>
            <a:ext cx="402336" cy="402336"/>
          </a:xfrm>
          <a:prstGeom prst="rect">
            <a:avLst/>
          </a:prstGeom>
          <a:noFill/>
        </p:spPr>
        <p:txBody>
          <a:bodyPr wrap="square" lIns="0" tIns="0" rIns="0" bIns="0" anchor="ctr">
            <a:spAutoFit/>
          </a:bodyPr>
          <a:lstStyle/>
          <a:p>
            <a:pPr algn="ctr"/>
            <a:r>
              <a:rPr sz="1300" b="1" i="0">
                <a:solidFill>
                  <a:srgbClr val="333F50"/>
                </a:solidFill>
                <a:latin typeface="Calibri"/>
              </a:rPr>
              <a:t>20</a:t>
            </a:r>
          </a:p>
        </p:txBody>
      </p:sp>
      <p:sp>
        <p:nvSpPr>
          <p:cNvPr id="54" name="Oval 53"/>
          <p:cNvSpPr/>
          <p:nvPr/>
        </p:nvSpPr>
        <p:spPr>
          <a:xfrm>
            <a:off x="10991088" y="4974336"/>
            <a:ext cx="402336" cy="402336"/>
          </a:xfrm>
          <a:prstGeom prst="ellipse">
            <a:avLst/>
          </a:prstGeom>
          <a:solidFill>
            <a:srgbClr val="FFFFFF"/>
          </a:solidFill>
          <a:ln w="22225">
            <a:solidFill>
              <a:srgbClr val="4454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10991088" y="4974336"/>
            <a:ext cx="402336" cy="402336"/>
          </a:xfrm>
          <a:prstGeom prst="rect">
            <a:avLst/>
          </a:prstGeom>
          <a:noFill/>
        </p:spPr>
        <p:txBody>
          <a:bodyPr wrap="square" lIns="0" tIns="0" rIns="0" bIns="0" anchor="ctr">
            <a:spAutoFit/>
          </a:bodyPr>
          <a:lstStyle/>
          <a:p>
            <a:pPr algn="ctr"/>
            <a:r>
              <a:rPr sz="1300" b="1" i="0">
                <a:solidFill>
                  <a:srgbClr val="333F50"/>
                </a:solidFill>
                <a:latin typeface="Calibri"/>
              </a:rPr>
              <a:t>25</a:t>
            </a:r>
          </a:p>
        </p:txBody>
      </p:sp>
      <p:sp>
        <p:nvSpPr>
          <p:cNvPr id="56" name="TextBox 55"/>
          <p:cNvSpPr txBox="1"/>
          <p:nvPr/>
        </p:nvSpPr>
        <p:spPr>
          <a:xfrm>
            <a:off x="6565392" y="5532120"/>
            <a:ext cx="4754880" cy="411480"/>
          </a:xfrm>
          <a:prstGeom prst="rect">
            <a:avLst/>
          </a:prstGeom>
          <a:noFill/>
        </p:spPr>
        <p:txBody>
          <a:bodyPr wrap="square" lIns="0" tIns="0" rIns="0" bIns="0" anchor="t">
            <a:spAutoFit/>
          </a:bodyPr>
          <a:lstStyle/>
          <a:p>
            <a:pPr algn="l"/>
            <a:r>
              <a:rPr sz="1600" b="1" i="0">
                <a:solidFill>
                  <a:srgbClr val="C55A11"/>
                </a:solidFill>
                <a:latin typeface="Courier New"/>
              </a:rPr>
              <a:t>Height 7  =  n − 1</a:t>
            </a:r>
          </a:p>
        </p:txBody>
      </p:sp>
      <p:sp>
        <p:nvSpPr>
          <p:cNvPr id="57" name="TextBox 56"/>
          <p:cNvSpPr txBox="1"/>
          <p:nvPr/>
        </p:nvSpPr>
        <p:spPr>
          <a:xfrm>
            <a:off x="548640" y="6501384"/>
            <a:ext cx="9326880" cy="138499"/>
          </a:xfrm>
          <a:prstGeom prst="rect">
            <a:avLst/>
          </a:prstGeom>
          <a:noFill/>
        </p:spPr>
        <p:txBody>
          <a:bodyPr wrap="square" lIns="0" tIns="0" rIns="0" bIns="0" anchor="t">
            <a:spAutoFit/>
          </a:bodyPr>
          <a:lstStyle/>
          <a:p>
            <a:pPr algn="l"/>
            <a:r>
              <a:rPr lang="en-US" sz="900" b="0" i="0">
                <a:solidFill>
                  <a:srgbClr val="595959"/>
                </a:solidFill>
                <a:latin typeface="Calibri"/>
              </a:rPr>
              <a:t>CS 383 </a:t>
            </a:r>
            <a:r>
              <a:rPr sz="900" b="0" i="0">
                <a:solidFill>
                  <a:srgbClr val="595959"/>
                </a:solidFill>
                <a:latin typeface="Calibri"/>
              </a:rPr>
              <a:t>Algorithm Design </a:t>
            </a:r>
            <a:r>
              <a:rPr lang="en-US" sz="900" b="0" i="0">
                <a:solidFill>
                  <a:srgbClr val="595959"/>
                </a:solidFill>
                <a:latin typeface="Calibri"/>
              </a:rPr>
              <a:t>and Analysis </a:t>
            </a:r>
            <a:r>
              <a:rPr sz="900" b="0" i="0">
                <a:solidFill>
                  <a:srgbClr val="595959"/>
                </a:solidFill>
                <a:latin typeface="Calibri"/>
              </a:rPr>
              <a:t> ·  Balanced Binary Search Trees  ·  </a:t>
            </a:r>
            <a:r>
              <a:rPr lang="en-US" sz="900" b="0" i="0">
                <a:solidFill>
                  <a:srgbClr val="595959"/>
                </a:solidFill>
                <a:latin typeface="Calibri"/>
              </a:rPr>
              <a:t>Tanwistha Saha</a:t>
            </a:r>
            <a:endParaRPr sz="900" b="0" i="0">
              <a:solidFill>
                <a:srgbClr val="595959"/>
              </a:solidFill>
              <a:latin typeface="Calibri"/>
            </a:endParaRPr>
          </a:p>
        </p:txBody>
      </p:sp>
      <p:sp>
        <p:nvSpPr>
          <p:cNvPr id="58" name="TextBox 57"/>
          <p:cNvSpPr txBox="1"/>
          <p:nvPr/>
        </p:nvSpPr>
        <p:spPr>
          <a:xfrm>
            <a:off x="10908792" y="6501384"/>
            <a:ext cx="731520" cy="274320"/>
          </a:xfrm>
          <a:prstGeom prst="rect">
            <a:avLst/>
          </a:prstGeom>
          <a:noFill/>
        </p:spPr>
        <p:txBody>
          <a:bodyPr wrap="square" lIns="0" tIns="0" rIns="0" bIns="0" anchor="t">
            <a:spAutoFit/>
          </a:bodyPr>
          <a:lstStyle/>
          <a:p>
            <a:pPr algn="r"/>
            <a:r>
              <a:rPr sz="900" b="0" i="0">
                <a:solidFill>
                  <a:srgbClr val="595959"/>
                </a:solidFill>
                <a:latin typeface="Calibri"/>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9144000" cy="320040"/>
          </a:xfrm>
          <a:prstGeom prst="rect">
            <a:avLst/>
          </a:prstGeom>
          <a:noFill/>
        </p:spPr>
        <p:txBody>
          <a:bodyPr wrap="square" lIns="0" tIns="0" rIns="0" bIns="0" anchor="t">
            <a:spAutoFit/>
          </a:bodyPr>
          <a:lstStyle/>
          <a:p>
            <a:pPr algn="l"/>
            <a:r>
              <a:rPr sz="1200" b="1" i="0">
                <a:solidFill>
                  <a:srgbClr val="4472C4"/>
                </a:solidFill>
                <a:latin typeface="Calibri"/>
              </a:rPr>
              <a:t>WHY IT MATTERS</a:t>
            </a:r>
          </a:p>
        </p:txBody>
      </p:sp>
      <p:sp>
        <p:nvSpPr>
          <p:cNvPr id="3" name="TextBox 2"/>
          <p:cNvSpPr txBox="1"/>
          <p:nvPr/>
        </p:nvSpPr>
        <p:spPr>
          <a:xfrm>
            <a:off x="548640" y="658368"/>
            <a:ext cx="11064240" cy="640080"/>
          </a:xfrm>
          <a:prstGeom prst="rect">
            <a:avLst/>
          </a:prstGeom>
          <a:noFill/>
        </p:spPr>
        <p:txBody>
          <a:bodyPr wrap="square" lIns="0" tIns="0" rIns="0" bIns="0" anchor="t">
            <a:spAutoFit/>
          </a:bodyPr>
          <a:lstStyle/>
          <a:p>
            <a:pPr algn="l"/>
            <a:r>
              <a:rPr sz="2800" b="1" i="0">
                <a:solidFill>
                  <a:srgbClr val="333F50"/>
                </a:solidFill>
                <a:latin typeface="Calibri Light"/>
              </a:rPr>
              <a:t>Every BST operation is bounded by the height h</a:t>
            </a:r>
          </a:p>
        </p:txBody>
      </p:sp>
      <p:sp>
        <p:nvSpPr>
          <p:cNvPr id="4" name="TextBox 3"/>
          <p:cNvSpPr txBox="1"/>
          <p:nvPr/>
        </p:nvSpPr>
        <p:spPr>
          <a:xfrm>
            <a:off x="548640" y="1197864"/>
            <a:ext cx="11064240" cy="502920"/>
          </a:xfrm>
          <a:prstGeom prst="rect">
            <a:avLst/>
          </a:prstGeom>
          <a:noFill/>
        </p:spPr>
        <p:txBody>
          <a:bodyPr wrap="square" lIns="0" tIns="0" rIns="0" bIns="0" anchor="t">
            <a:spAutoFit/>
          </a:bodyPr>
          <a:lstStyle/>
          <a:p>
            <a:pPr algn="l"/>
            <a:r>
              <a:rPr sz="1400" b="0" i="0">
                <a:solidFill>
                  <a:srgbClr val="595959"/>
                </a:solidFill>
                <a:latin typeface="Calibri"/>
              </a:rPr>
              <a:t>Each operation walks one path from the root, so its work is proportional to the length of that path.</a:t>
            </a:r>
          </a:p>
        </p:txBody>
      </p:sp>
      <p:graphicFrame>
        <p:nvGraphicFramePr>
          <p:cNvPr id="5" name="Table 4"/>
          <p:cNvGraphicFramePr>
            <a:graphicFrameLocks noGrp="1"/>
          </p:cNvGraphicFramePr>
          <p:nvPr/>
        </p:nvGraphicFramePr>
        <p:xfrm>
          <a:off x="548640" y="1874519"/>
          <a:ext cx="6812280" cy="2816352"/>
        </p:xfrm>
        <a:graphic>
          <a:graphicData uri="http://schemas.openxmlformats.org/drawingml/2006/table">
            <a:tbl>
              <a:tblPr firstRow="1">
                <a:tableStyleId>{5C22544A-7EE6-4342-B048-85BDC9FD1C3A}</a:tableStyleId>
              </a:tblPr>
              <a:tblGrid>
                <a:gridCol w="214884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402336">
                <a:tc>
                  <a:txBody>
                    <a:bodyPr/>
                    <a:lstStyle/>
                    <a:p>
                      <a:pPr algn="l"/>
                      <a:r>
                        <a:rPr sz="1200" b="1">
                          <a:solidFill>
                            <a:srgbClr val="FFFFFF"/>
                          </a:solidFill>
                          <a:latin typeface="Calibri"/>
                        </a:rPr>
                        <a:t>Operation</a:t>
                      </a:r>
                    </a:p>
                  </a:txBody>
                  <a:tcPr anchor="ctr">
                    <a:solidFill>
                      <a:srgbClr val="333F50"/>
                    </a:solidFill>
                  </a:tcPr>
                </a:tc>
                <a:tc>
                  <a:txBody>
                    <a:bodyPr/>
                    <a:lstStyle/>
                    <a:p>
                      <a:pPr algn="l"/>
                      <a:r>
                        <a:rPr sz="1200" b="1">
                          <a:solidFill>
                            <a:srgbClr val="FFFFFF"/>
                          </a:solidFill>
                          <a:latin typeface="Calibri"/>
                        </a:rPr>
                        <a:t>Path it walks</a:t>
                      </a:r>
                    </a:p>
                  </a:txBody>
                  <a:tcPr anchor="ctr">
                    <a:solidFill>
                      <a:srgbClr val="333F50"/>
                    </a:solidFill>
                  </a:tcPr>
                </a:tc>
                <a:tc>
                  <a:txBody>
                    <a:bodyPr/>
                    <a:lstStyle/>
                    <a:p>
                      <a:pPr algn="l"/>
                      <a:r>
                        <a:rPr sz="1200" b="1">
                          <a:solidFill>
                            <a:srgbClr val="FFFFFF"/>
                          </a:solidFill>
                          <a:latin typeface="Calibri"/>
                        </a:rPr>
                        <a:t>Cost</a:t>
                      </a:r>
                    </a:p>
                  </a:txBody>
                  <a:tcPr anchor="ctr">
                    <a:solidFill>
                      <a:srgbClr val="333F50"/>
                    </a:solidFill>
                  </a:tcPr>
                </a:tc>
                <a:extLst>
                  <a:ext uri="{0D108BD9-81ED-4DB2-BD59-A6C34878D82A}">
                    <a16:rowId xmlns:a16="http://schemas.microsoft.com/office/drawing/2014/main" val="10000"/>
                  </a:ext>
                </a:extLst>
              </a:tr>
              <a:tr h="402336">
                <a:tc>
                  <a:txBody>
                    <a:bodyPr/>
                    <a:lstStyle/>
                    <a:p>
                      <a:pPr algn="l"/>
                      <a:r>
                        <a:rPr sz="1200" b="1">
                          <a:solidFill>
                            <a:srgbClr val="333F50"/>
                          </a:solidFill>
                          <a:latin typeface="Calibri"/>
                        </a:rPr>
                        <a:t>Search</a:t>
                      </a:r>
                    </a:p>
                  </a:txBody>
                  <a:tcPr anchor="ctr">
                    <a:solidFill>
                      <a:srgbClr val="FFFFFF"/>
                    </a:solidFill>
                  </a:tcPr>
                </a:tc>
                <a:tc>
                  <a:txBody>
                    <a:bodyPr/>
                    <a:lstStyle/>
                    <a:p>
                      <a:pPr algn="l"/>
                      <a:r>
                        <a:rPr sz="1200" b="0">
                          <a:solidFill>
                            <a:srgbClr val="333F50"/>
                          </a:solidFill>
                          <a:latin typeface="Calibri"/>
                        </a:rPr>
                        <a:t>root → key (or a NULL)</a:t>
                      </a:r>
                    </a:p>
                  </a:txBody>
                  <a:tcPr anchor="ctr">
                    <a:solidFill>
                      <a:srgbClr val="FFFFFF"/>
                    </a:solidFill>
                  </a:tcPr>
                </a:tc>
                <a:tc>
                  <a:txBody>
                    <a:bodyPr/>
                    <a:lstStyle/>
                    <a:p>
                      <a:pPr algn="l"/>
                      <a:r>
                        <a:rPr sz="1200" b="0">
                          <a:solidFill>
                            <a:srgbClr val="333F50"/>
                          </a:solidFill>
                          <a:latin typeface="Courier New"/>
                        </a:rPr>
                        <a:t>O(h)</a:t>
                      </a:r>
                    </a:p>
                  </a:txBody>
                  <a:tcPr anchor="ctr">
                    <a:solidFill>
                      <a:srgbClr val="FFFFFF"/>
                    </a:solidFill>
                  </a:tcPr>
                </a:tc>
                <a:extLst>
                  <a:ext uri="{0D108BD9-81ED-4DB2-BD59-A6C34878D82A}">
                    <a16:rowId xmlns:a16="http://schemas.microsoft.com/office/drawing/2014/main" val="10001"/>
                  </a:ext>
                </a:extLst>
              </a:tr>
              <a:tr h="402336">
                <a:tc>
                  <a:txBody>
                    <a:bodyPr/>
                    <a:lstStyle/>
                    <a:p>
                      <a:pPr algn="l"/>
                      <a:r>
                        <a:rPr sz="1200" b="1">
                          <a:solidFill>
                            <a:srgbClr val="333F50"/>
                          </a:solidFill>
                          <a:latin typeface="Calibri"/>
                        </a:rPr>
                        <a:t>Insert</a:t>
                      </a:r>
                    </a:p>
                  </a:txBody>
                  <a:tcPr anchor="ctr">
                    <a:solidFill>
                      <a:srgbClr val="F7F8FA"/>
                    </a:solidFill>
                  </a:tcPr>
                </a:tc>
                <a:tc>
                  <a:txBody>
                    <a:bodyPr/>
                    <a:lstStyle/>
                    <a:p>
                      <a:pPr algn="l"/>
                      <a:r>
                        <a:rPr sz="1200" b="0">
                          <a:solidFill>
                            <a:srgbClr val="333F50"/>
                          </a:solidFill>
                          <a:latin typeface="Calibri"/>
                        </a:rPr>
                        <a:t>root → NULL where the new leaf goes</a:t>
                      </a:r>
                    </a:p>
                  </a:txBody>
                  <a:tcPr anchor="ctr">
                    <a:solidFill>
                      <a:srgbClr val="F7F8FA"/>
                    </a:solidFill>
                  </a:tcPr>
                </a:tc>
                <a:tc>
                  <a:txBody>
                    <a:bodyPr/>
                    <a:lstStyle/>
                    <a:p>
                      <a:pPr algn="l"/>
                      <a:r>
                        <a:rPr sz="1200" b="0">
                          <a:solidFill>
                            <a:srgbClr val="333F50"/>
                          </a:solidFill>
                          <a:latin typeface="Courier New"/>
                        </a:rPr>
                        <a:t>O(h)</a:t>
                      </a:r>
                    </a:p>
                  </a:txBody>
                  <a:tcPr anchor="ctr">
                    <a:solidFill>
                      <a:srgbClr val="F7F8FA"/>
                    </a:solidFill>
                  </a:tcPr>
                </a:tc>
                <a:extLst>
                  <a:ext uri="{0D108BD9-81ED-4DB2-BD59-A6C34878D82A}">
                    <a16:rowId xmlns:a16="http://schemas.microsoft.com/office/drawing/2014/main" val="10002"/>
                  </a:ext>
                </a:extLst>
              </a:tr>
              <a:tr h="402336">
                <a:tc>
                  <a:txBody>
                    <a:bodyPr/>
                    <a:lstStyle/>
                    <a:p>
                      <a:pPr algn="l"/>
                      <a:r>
                        <a:rPr sz="1200" b="1">
                          <a:solidFill>
                            <a:srgbClr val="333F50"/>
                          </a:solidFill>
                          <a:latin typeface="Calibri"/>
                        </a:rPr>
                        <a:t>Delete</a:t>
                      </a:r>
                    </a:p>
                  </a:txBody>
                  <a:tcPr anchor="ctr">
                    <a:solidFill>
                      <a:srgbClr val="FFFFFF"/>
                    </a:solidFill>
                  </a:tcPr>
                </a:tc>
                <a:tc>
                  <a:txBody>
                    <a:bodyPr/>
                    <a:lstStyle/>
                    <a:p>
                      <a:pPr algn="l"/>
                      <a:r>
                        <a:rPr sz="1200" b="0">
                          <a:solidFill>
                            <a:srgbClr val="333F50"/>
                          </a:solidFill>
                          <a:latin typeface="Calibri"/>
                        </a:rPr>
                        <a:t>root → key, then to its successor</a:t>
                      </a:r>
                    </a:p>
                  </a:txBody>
                  <a:tcPr anchor="ctr">
                    <a:solidFill>
                      <a:srgbClr val="FFFFFF"/>
                    </a:solidFill>
                  </a:tcPr>
                </a:tc>
                <a:tc>
                  <a:txBody>
                    <a:bodyPr/>
                    <a:lstStyle/>
                    <a:p>
                      <a:pPr algn="l"/>
                      <a:r>
                        <a:rPr sz="1200" b="0">
                          <a:solidFill>
                            <a:srgbClr val="333F50"/>
                          </a:solidFill>
                          <a:latin typeface="Courier New"/>
                        </a:rPr>
                        <a:t>O(h)</a:t>
                      </a:r>
                    </a:p>
                  </a:txBody>
                  <a:tcPr anchor="ctr">
                    <a:solidFill>
                      <a:srgbClr val="FFFFFF"/>
                    </a:solidFill>
                  </a:tcPr>
                </a:tc>
                <a:extLst>
                  <a:ext uri="{0D108BD9-81ED-4DB2-BD59-A6C34878D82A}">
                    <a16:rowId xmlns:a16="http://schemas.microsoft.com/office/drawing/2014/main" val="10003"/>
                  </a:ext>
                </a:extLst>
              </a:tr>
              <a:tr h="402336">
                <a:tc>
                  <a:txBody>
                    <a:bodyPr/>
                    <a:lstStyle/>
                    <a:p>
                      <a:pPr algn="l"/>
                      <a:r>
                        <a:rPr sz="1200" b="1">
                          <a:solidFill>
                            <a:srgbClr val="333F50"/>
                          </a:solidFill>
                          <a:latin typeface="Calibri"/>
                        </a:rPr>
                        <a:t>Min / Max</a:t>
                      </a:r>
                    </a:p>
                  </a:txBody>
                  <a:tcPr anchor="ctr">
                    <a:solidFill>
                      <a:srgbClr val="F7F8FA"/>
                    </a:solidFill>
                  </a:tcPr>
                </a:tc>
                <a:tc>
                  <a:txBody>
                    <a:bodyPr/>
                    <a:lstStyle/>
                    <a:p>
                      <a:pPr algn="l"/>
                      <a:r>
                        <a:rPr sz="1200" b="0">
                          <a:solidFill>
                            <a:srgbClr val="333F50"/>
                          </a:solidFill>
                          <a:latin typeface="Calibri"/>
                        </a:rPr>
                        <a:t>root → leftmost / rightmost node</a:t>
                      </a:r>
                    </a:p>
                  </a:txBody>
                  <a:tcPr anchor="ctr">
                    <a:solidFill>
                      <a:srgbClr val="F7F8FA"/>
                    </a:solidFill>
                  </a:tcPr>
                </a:tc>
                <a:tc>
                  <a:txBody>
                    <a:bodyPr/>
                    <a:lstStyle/>
                    <a:p>
                      <a:pPr algn="l"/>
                      <a:r>
                        <a:rPr sz="1200" b="0">
                          <a:solidFill>
                            <a:srgbClr val="333F50"/>
                          </a:solidFill>
                          <a:latin typeface="Courier New"/>
                        </a:rPr>
                        <a:t>O(h)</a:t>
                      </a:r>
                    </a:p>
                  </a:txBody>
                  <a:tcPr anchor="ctr">
                    <a:solidFill>
                      <a:srgbClr val="F7F8FA"/>
                    </a:solidFill>
                  </a:tcPr>
                </a:tc>
                <a:extLst>
                  <a:ext uri="{0D108BD9-81ED-4DB2-BD59-A6C34878D82A}">
                    <a16:rowId xmlns:a16="http://schemas.microsoft.com/office/drawing/2014/main" val="10004"/>
                  </a:ext>
                </a:extLst>
              </a:tr>
              <a:tr h="402336">
                <a:tc>
                  <a:txBody>
                    <a:bodyPr/>
                    <a:lstStyle/>
                    <a:p>
                      <a:pPr algn="l"/>
                      <a:r>
                        <a:rPr sz="1200" b="1">
                          <a:solidFill>
                            <a:srgbClr val="333F50"/>
                          </a:solidFill>
                          <a:latin typeface="Calibri"/>
                        </a:rPr>
                        <a:t>Predecessor / Successor</a:t>
                      </a:r>
                    </a:p>
                  </a:txBody>
                  <a:tcPr anchor="ctr">
                    <a:solidFill>
                      <a:srgbClr val="FFFFFF"/>
                    </a:solidFill>
                  </a:tcPr>
                </a:tc>
                <a:tc>
                  <a:txBody>
                    <a:bodyPr/>
                    <a:lstStyle/>
                    <a:p>
                      <a:pPr algn="l"/>
                      <a:r>
                        <a:rPr sz="1200" b="0">
                          <a:solidFill>
                            <a:srgbClr val="333F50"/>
                          </a:solidFill>
                          <a:latin typeface="Calibri"/>
                        </a:rPr>
                        <a:t>along one path up or down</a:t>
                      </a:r>
                    </a:p>
                  </a:txBody>
                  <a:tcPr anchor="ctr">
                    <a:solidFill>
                      <a:srgbClr val="FFFFFF"/>
                    </a:solidFill>
                  </a:tcPr>
                </a:tc>
                <a:tc>
                  <a:txBody>
                    <a:bodyPr/>
                    <a:lstStyle/>
                    <a:p>
                      <a:pPr algn="l"/>
                      <a:r>
                        <a:rPr sz="1200" b="0">
                          <a:solidFill>
                            <a:srgbClr val="333F50"/>
                          </a:solidFill>
                          <a:latin typeface="Courier New"/>
                        </a:rPr>
                        <a:t>O(h)</a:t>
                      </a:r>
                    </a:p>
                  </a:txBody>
                  <a:tcPr anchor="ctr">
                    <a:solidFill>
                      <a:srgbClr val="FFFFFF"/>
                    </a:solidFill>
                  </a:tcPr>
                </a:tc>
                <a:extLst>
                  <a:ext uri="{0D108BD9-81ED-4DB2-BD59-A6C34878D82A}">
                    <a16:rowId xmlns:a16="http://schemas.microsoft.com/office/drawing/2014/main" val="10005"/>
                  </a:ext>
                </a:extLst>
              </a:tr>
              <a:tr h="402336">
                <a:tc>
                  <a:txBody>
                    <a:bodyPr/>
                    <a:lstStyle/>
                    <a:p>
                      <a:pPr algn="l"/>
                      <a:r>
                        <a:rPr sz="1200" b="1">
                          <a:solidFill>
                            <a:srgbClr val="333F50"/>
                          </a:solidFill>
                          <a:latin typeface="Calibri"/>
                        </a:rPr>
                        <a:t>In-order traversal</a:t>
                      </a:r>
                    </a:p>
                  </a:txBody>
                  <a:tcPr anchor="ctr">
                    <a:solidFill>
                      <a:srgbClr val="F7F8FA"/>
                    </a:solidFill>
                  </a:tcPr>
                </a:tc>
                <a:tc>
                  <a:txBody>
                    <a:bodyPr/>
                    <a:lstStyle/>
                    <a:p>
                      <a:pPr algn="l"/>
                      <a:r>
                        <a:rPr sz="1200" b="0">
                          <a:solidFill>
                            <a:srgbClr val="333F50"/>
                          </a:solidFill>
                          <a:latin typeface="Calibri"/>
                        </a:rPr>
                        <a:t>every node once</a:t>
                      </a:r>
                    </a:p>
                  </a:txBody>
                  <a:tcPr anchor="ctr">
                    <a:solidFill>
                      <a:srgbClr val="F7F8FA"/>
                    </a:solidFill>
                  </a:tcPr>
                </a:tc>
                <a:tc>
                  <a:txBody>
                    <a:bodyPr/>
                    <a:lstStyle/>
                    <a:p>
                      <a:pPr algn="l"/>
                      <a:r>
                        <a:rPr sz="1200" b="0">
                          <a:solidFill>
                            <a:srgbClr val="333F50"/>
                          </a:solidFill>
                          <a:latin typeface="Courier New"/>
                        </a:rPr>
                        <a:t>O(n)</a:t>
                      </a:r>
                    </a:p>
                  </a:txBody>
                  <a:tcPr anchor="ctr">
                    <a:solidFill>
                      <a:srgbClr val="F7F8FA"/>
                    </a:solidFill>
                  </a:tcPr>
                </a:tc>
                <a:extLst>
                  <a:ext uri="{0D108BD9-81ED-4DB2-BD59-A6C34878D82A}">
                    <a16:rowId xmlns:a16="http://schemas.microsoft.com/office/drawing/2014/main" val="10006"/>
                  </a:ext>
                </a:extLst>
              </a:tr>
            </a:tbl>
          </a:graphicData>
        </a:graphic>
      </p:graphicFrame>
      <p:sp>
        <p:nvSpPr>
          <p:cNvPr id="6" name="Rounded Rectangle 5"/>
          <p:cNvSpPr/>
          <p:nvPr/>
        </p:nvSpPr>
        <p:spPr>
          <a:xfrm>
            <a:off x="7680960" y="1874519"/>
            <a:ext cx="3959352" cy="1280160"/>
          </a:xfrm>
          <a:prstGeom prst="roundRect">
            <a:avLst>
              <a:gd name="adj" fmla="val 5000"/>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909560" y="2011679"/>
            <a:ext cx="3566160" cy="274320"/>
          </a:xfrm>
          <a:prstGeom prst="rect">
            <a:avLst/>
          </a:prstGeom>
          <a:noFill/>
        </p:spPr>
        <p:txBody>
          <a:bodyPr wrap="square" lIns="0" tIns="0" rIns="0" bIns="0" anchor="t">
            <a:spAutoFit/>
          </a:bodyPr>
          <a:lstStyle/>
          <a:p>
            <a:pPr algn="l"/>
            <a:r>
              <a:rPr sz="1100" b="1" i="0">
                <a:solidFill>
                  <a:srgbClr val="4472C4"/>
                </a:solidFill>
                <a:latin typeface="Calibri"/>
              </a:rPr>
              <a:t>BALANCED: h ≈ log₂ n</a:t>
            </a:r>
          </a:p>
        </p:txBody>
      </p:sp>
      <p:sp>
        <p:nvSpPr>
          <p:cNvPr id="8" name="TextBox 7"/>
          <p:cNvSpPr txBox="1"/>
          <p:nvPr/>
        </p:nvSpPr>
        <p:spPr>
          <a:xfrm>
            <a:off x="7909560" y="2286000"/>
            <a:ext cx="3566160" cy="502920"/>
          </a:xfrm>
          <a:prstGeom prst="rect">
            <a:avLst/>
          </a:prstGeom>
          <a:noFill/>
        </p:spPr>
        <p:txBody>
          <a:bodyPr wrap="square" lIns="0" tIns="0" rIns="0" bIns="0" anchor="t">
            <a:spAutoFit/>
          </a:bodyPr>
          <a:lstStyle/>
          <a:p>
            <a:pPr algn="l"/>
            <a:r>
              <a:rPr sz="2800" b="1" i="0">
                <a:solidFill>
                  <a:srgbClr val="4472C4"/>
                </a:solidFill>
                <a:latin typeface="Courier New"/>
              </a:rPr>
              <a:t>≈ 20</a:t>
            </a:r>
          </a:p>
        </p:txBody>
      </p:sp>
      <p:sp>
        <p:nvSpPr>
          <p:cNvPr id="9" name="TextBox 8"/>
          <p:cNvSpPr txBox="1"/>
          <p:nvPr/>
        </p:nvSpPr>
        <p:spPr>
          <a:xfrm>
            <a:off x="7909560" y="2788920"/>
            <a:ext cx="3566160" cy="274320"/>
          </a:xfrm>
          <a:prstGeom prst="rect">
            <a:avLst/>
          </a:prstGeom>
          <a:noFill/>
        </p:spPr>
        <p:txBody>
          <a:bodyPr wrap="square" lIns="0" tIns="0" rIns="0" bIns="0" anchor="t">
            <a:spAutoFit/>
          </a:bodyPr>
          <a:lstStyle/>
          <a:p>
            <a:pPr algn="l"/>
            <a:r>
              <a:rPr sz="1200" b="0" i="0">
                <a:solidFill>
                  <a:srgbClr val="595959"/>
                </a:solidFill>
                <a:latin typeface="Calibri"/>
              </a:rPr>
              <a:t>steps for n = 1,000,000 keys</a:t>
            </a:r>
          </a:p>
        </p:txBody>
      </p:sp>
      <p:sp>
        <p:nvSpPr>
          <p:cNvPr id="10" name="Rounded Rectangle 9"/>
          <p:cNvSpPr/>
          <p:nvPr/>
        </p:nvSpPr>
        <p:spPr>
          <a:xfrm>
            <a:off x="7680960" y="3337560"/>
            <a:ext cx="3959352" cy="1280160"/>
          </a:xfrm>
          <a:prstGeom prst="roundRect">
            <a:avLst>
              <a:gd name="adj" fmla="val 5000"/>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909560" y="3474720"/>
            <a:ext cx="3566160" cy="274320"/>
          </a:xfrm>
          <a:prstGeom prst="rect">
            <a:avLst/>
          </a:prstGeom>
          <a:noFill/>
        </p:spPr>
        <p:txBody>
          <a:bodyPr wrap="square" lIns="0" tIns="0" rIns="0" bIns="0" anchor="t">
            <a:spAutoFit/>
          </a:bodyPr>
          <a:lstStyle/>
          <a:p>
            <a:pPr algn="l"/>
            <a:r>
              <a:rPr sz="1100" b="1" i="0">
                <a:solidFill>
                  <a:srgbClr val="4472C4"/>
                </a:solidFill>
                <a:latin typeface="Calibri"/>
              </a:rPr>
              <a:t>DEGENERATE: h = n − 1</a:t>
            </a:r>
          </a:p>
        </p:txBody>
      </p:sp>
      <p:sp>
        <p:nvSpPr>
          <p:cNvPr id="12" name="TextBox 11"/>
          <p:cNvSpPr txBox="1"/>
          <p:nvPr/>
        </p:nvSpPr>
        <p:spPr>
          <a:xfrm>
            <a:off x="7909560" y="3749039"/>
            <a:ext cx="3566160" cy="502920"/>
          </a:xfrm>
          <a:prstGeom prst="rect">
            <a:avLst/>
          </a:prstGeom>
          <a:noFill/>
        </p:spPr>
        <p:txBody>
          <a:bodyPr wrap="square" lIns="0" tIns="0" rIns="0" bIns="0" anchor="t">
            <a:spAutoFit/>
          </a:bodyPr>
          <a:lstStyle/>
          <a:p>
            <a:pPr algn="l"/>
            <a:r>
              <a:rPr sz="2800" b="1" i="0">
                <a:solidFill>
                  <a:srgbClr val="C55A11"/>
                </a:solidFill>
                <a:latin typeface="Courier New"/>
              </a:rPr>
              <a:t>999,999</a:t>
            </a:r>
          </a:p>
        </p:txBody>
      </p:sp>
      <p:sp>
        <p:nvSpPr>
          <p:cNvPr id="13" name="TextBox 12"/>
          <p:cNvSpPr txBox="1"/>
          <p:nvPr/>
        </p:nvSpPr>
        <p:spPr>
          <a:xfrm>
            <a:off x="7909560" y="4251960"/>
            <a:ext cx="3566160" cy="274320"/>
          </a:xfrm>
          <a:prstGeom prst="rect">
            <a:avLst/>
          </a:prstGeom>
          <a:noFill/>
        </p:spPr>
        <p:txBody>
          <a:bodyPr wrap="square" lIns="0" tIns="0" rIns="0" bIns="0" anchor="t">
            <a:spAutoFit/>
          </a:bodyPr>
          <a:lstStyle/>
          <a:p>
            <a:pPr algn="l"/>
            <a:r>
              <a:rPr sz="1200" b="0" i="0">
                <a:solidFill>
                  <a:srgbClr val="595959"/>
                </a:solidFill>
                <a:latin typeface="Calibri"/>
              </a:rPr>
              <a:t>steps for n = 1,000,000 keys</a:t>
            </a:r>
          </a:p>
        </p:txBody>
      </p:sp>
      <p:sp>
        <p:nvSpPr>
          <p:cNvPr id="14" name="Rounded Rectangle 13"/>
          <p:cNvSpPr/>
          <p:nvPr/>
        </p:nvSpPr>
        <p:spPr>
          <a:xfrm>
            <a:off x="548640" y="5029200"/>
            <a:ext cx="11091672" cy="548640"/>
          </a:xfrm>
          <a:prstGeom prst="roundRect">
            <a:avLst>
              <a:gd name="adj" fmla="val 5000"/>
            </a:avLst>
          </a:prstGeom>
          <a:solidFill>
            <a:srgbClr val="F5F5F5"/>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95528" y="5029200"/>
            <a:ext cx="10607040" cy="548640"/>
          </a:xfrm>
          <a:prstGeom prst="rect">
            <a:avLst/>
          </a:prstGeom>
          <a:noFill/>
        </p:spPr>
        <p:txBody>
          <a:bodyPr wrap="square" lIns="0" tIns="0" rIns="0" bIns="0" anchor="ctr">
            <a:spAutoFit/>
          </a:bodyPr>
          <a:lstStyle/>
          <a:p>
            <a:pPr algn="l"/>
            <a:r>
              <a:rPr sz="1300" b="1" i="0">
                <a:solidFill>
                  <a:srgbClr val="333F50"/>
                </a:solidFill>
                <a:latin typeface="Calibri"/>
              </a:rPr>
              <a:t>Goal: </a:t>
            </a:r>
            <a:r>
              <a:rPr sz="1300" b="0" i="0">
                <a:solidFill>
                  <a:srgbClr val="333F50"/>
                </a:solidFill>
                <a:latin typeface="Calibri"/>
              </a:rPr>
              <a:t>keep h = O(log n) no matter what order the keys arrive in. A BST that guarantees this is a </a:t>
            </a:r>
            <a:r>
              <a:rPr sz="1300" b="1" i="0">
                <a:solidFill>
                  <a:srgbClr val="333F50"/>
                </a:solidFill>
                <a:latin typeface="Calibri"/>
              </a:rPr>
              <a:t>balanced binary search tree</a:t>
            </a:r>
            <a:r>
              <a:rPr sz="1300" b="0" i="0">
                <a:solidFill>
                  <a:srgbClr val="333F50"/>
                </a:solidFill>
                <a:latin typeface="Calibri"/>
              </a:rPr>
              <a:t>.</a:t>
            </a:r>
          </a:p>
        </p:txBody>
      </p:sp>
      <p:sp>
        <p:nvSpPr>
          <p:cNvPr id="16" name="TextBox 15"/>
          <p:cNvSpPr txBox="1"/>
          <p:nvPr/>
        </p:nvSpPr>
        <p:spPr>
          <a:xfrm>
            <a:off x="548640" y="6501384"/>
            <a:ext cx="9326880" cy="138499"/>
          </a:xfrm>
          <a:prstGeom prst="rect">
            <a:avLst/>
          </a:prstGeom>
          <a:noFill/>
        </p:spPr>
        <p:txBody>
          <a:bodyPr wrap="square" lIns="0" tIns="0" rIns="0" bIns="0" anchor="t">
            <a:spAutoFit/>
          </a:bodyPr>
          <a:lstStyle/>
          <a:p>
            <a:pPr algn="l"/>
            <a:r>
              <a:rPr lang="en-US" sz="900" b="0" i="0">
                <a:solidFill>
                  <a:srgbClr val="595959"/>
                </a:solidFill>
                <a:latin typeface="Calibri"/>
              </a:rPr>
              <a:t>CS 383 </a:t>
            </a:r>
            <a:r>
              <a:rPr sz="900" b="0" i="0">
                <a:solidFill>
                  <a:srgbClr val="595959"/>
                </a:solidFill>
                <a:latin typeface="Calibri"/>
              </a:rPr>
              <a:t>Algorithm Design </a:t>
            </a:r>
            <a:r>
              <a:rPr lang="en-US" sz="900" b="0" i="0">
                <a:solidFill>
                  <a:srgbClr val="595959"/>
                </a:solidFill>
                <a:latin typeface="Calibri"/>
              </a:rPr>
              <a:t>and Analysis </a:t>
            </a:r>
            <a:r>
              <a:rPr sz="900" b="0" i="0">
                <a:solidFill>
                  <a:srgbClr val="595959"/>
                </a:solidFill>
                <a:latin typeface="Calibri"/>
              </a:rPr>
              <a:t> ·  Balanced Binary Search Trees  ·  </a:t>
            </a:r>
            <a:r>
              <a:rPr lang="en-US" sz="900" b="0" i="0">
                <a:solidFill>
                  <a:srgbClr val="595959"/>
                </a:solidFill>
                <a:latin typeface="Calibri"/>
              </a:rPr>
              <a:t>Tanwistha Saha</a:t>
            </a:r>
            <a:endParaRPr sz="900" b="0" i="0">
              <a:solidFill>
                <a:srgbClr val="595959"/>
              </a:solidFill>
              <a:latin typeface="Calibri"/>
            </a:endParaRPr>
          </a:p>
        </p:txBody>
      </p:sp>
      <p:sp>
        <p:nvSpPr>
          <p:cNvPr id="17" name="TextBox 16"/>
          <p:cNvSpPr txBox="1"/>
          <p:nvPr/>
        </p:nvSpPr>
        <p:spPr>
          <a:xfrm>
            <a:off x="10908792" y="6501384"/>
            <a:ext cx="731520" cy="274320"/>
          </a:xfrm>
          <a:prstGeom prst="rect">
            <a:avLst/>
          </a:prstGeom>
          <a:noFill/>
        </p:spPr>
        <p:txBody>
          <a:bodyPr wrap="square" lIns="0" tIns="0" rIns="0" bIns="0" anchor="t">
            <a:spAutoFit/>
          </a:bodyPr>
          <a:lstStyle/>
          <a:p>
            <a:pPr algn="r"/>
            <a:r>
              <a:rPr sz="900" b="0" i="0">
                <a:solidFill>
                  <a:srgbClr val="595959"/>
                </a:solidFill>
                <a:latin typeface="Calibri"/>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9144000" cy="320040"/>
          </a:xfrm>
          <a:prstGeom prst="rect">
            <a:avLst/>
          </a:prstGeom>
          <a:noFill/>
        </p:spPr>
        <p:txBody>
          <a:bodyPr wrap="square" lIns="0" tIns="0" rIns="0" bIns="0" anchor="t">
            <a:spAutoFit/>
          </a:bodyPr>
          <a:lstStyle/>
          <a:p>
            <a:pPr algn="l"/>
            <a:r>
              <a:rPr sz="1200" b="1" i="0">
                <a:solidFill>
                  <a:srgbClr val="4472C4"/>
                </a:solidFill>
                <a:latin typeface="Calibri"/>
              </a:rPr>
              <a:t>DEFINITION</a:t>
            </a:r>
          </a:p>
        </p:txBody>
      </p:sp>
      <p:sp>
        <p:nvSpPr>
          <p:cNvPr id="3" name="TextBox 2"/>
          <p:cNvSpPr txBox="1"/>
          <p:nvPr/>
        </p:nvSpPr>
        <p:spPr>
          <a:xfrm>
            <a:off x="548640" y="658368"/>
            <a:ext cx="11064240" cy="640080"/>
          </a:xfrm>
          <a:prstGeom prst="rect">
            <a:avLst/>
          </a:prstGeom>
          <a:noFill/>
        </p:spPr>
        <p:txBody>
          <a:bodyPr wrap="square" lIns="0" tIns="0" rIns="0" bIns="0" anchor="t">
            <a:spAutoFit/>
          </a:bodyPr>
          <a:lstStyle/>
          <a:p>
            <a:pPr algn="l"/>
            <a:r>
              <a:rPr sz="2800" b="1" i="0">
                <a:solidFill>
                  <a:srgbClr val="333F50"/>
                </a:solidFill>
                <a:latin typeface="Calibri Light"/>
              </a:rPr>
              <a:t>What is a balanced binary search tree?</a:t>
            </a:r>
          </a:p>
        </p:txBody>
      </p:sp>
      <p:sp>
        <p:nvSpPr>
          <p:cNvPr id="19" name="TextBox 18"/>
          <p:cNvSpPr txBox="1"/>
          <p:nvPr/>
        </p:nvSpPr>
        <p:spPr>
          <a:xfrm>
            <a:off x="548640" y="6501384"/>
            <a:ext cx="9326880" cy="138499"/>
          </a:xfrm>
          <a:prstGeom prst="rect">
            <a:avLst/>
          </a:prstGeom>
          <a:noFill/>
        </p:spPr>
        <p:txBody>
          <a:bodyPr wrap="square" lIns="0" tIns="0" rIns="0" bIns="0" anchor="t">
            <a:spAutoFit/>
          </a:bodyPr>
          <a:lstStyle/>
          <a:p>
            <a:pPr algn="l"/>
            <a:r>
              <a:rPr lang="en-US" sz="900" b="0" i="0">
                <a:solidFill>
                  <a:srgbClr val="595959"/>
                </a:solidFill>
                <a:latin typeface="Calibri"/>
              </a:rPr>
              <a:t>CS 383 </a:t>
            </a:r>
            <a:r>
              <a:rPr sz="900" b="0" i="0">
                <a:solidFill>
                  <a:srgbClr val="595959"/>
                </a:solidFill>
                <a:latin typeface="Calibri"/>
              </a:rPr>
              <a:t>Algorithm Design </a:t>
            </a:r>
            <a:r>
              <a:rPr lang="en-US" sz="900" b="0" i="0">
                <a:solidFill>
                  <a:srgbClr val="595959"/>
                </a:solidFill>
                <a:latin typeface="Calibri"/>
              </a:rPr>
              <a:t>and Analysis </a:t>
            </a:r>
            <a:r>
              <a:rPr sz="900" b="0" i="0">
                <a:solidFill>
                  <a:srgbClr val="595959"/>
                </a:solidFill>
                <a:latin typeface="Calibri"/>
              </a:rPr>
              <a:t> ·  Balanced Binary Search Trees  ·  </a:t>
            </a:r>
            <a:r>
              <a:rPr lang="en-US" sz="900" b="0" i="0">
                <a:solidFill>
                  <a:srgbClr val="595959"/>
                </a:solidFill>
                <a:latin typeface="Calibri"/>
              </a:rPr>
              <a:t>Tanwistha Saha</a:t>
            </a:r>
            <a:endParaRPr sz="900" b="0" i="0">
              <a:solidFill>
                <a:srgbClr val="595959"/>
              </a:solidFill>
              <a:latin typeface="Calibri"/>
            </a:endParaRPr>
          </a:p>
        </p:txBody>
      </p:sp>
      <p:sp>
        <p:nvSpPr>
          <p:cNvPr id="20" name="TextBox 19"/>
          <p:cNvSpPr txBox="1"/>
          <p:nvPr/>
        </p:nvSpPr>
        <p:spPr>
          <a:xfrm>
            <a:off x="10908792" y="6501384"/>
            <a:ext cx="731520" cy="274320"/>
          </a:xfrm>
          <a:prstGeom prst="rect">
            <a:avLst/>
          </a:prstGeom>
          <a:noFill/>
        </p:spPr>
        <p:txBody>
          <a:bodyPr wrap="square" lIns="0" tIns="0" rIns="0" bIns="0" anchor="t">
            <a:spAutoFit/>
          </a:bodyPr>
          <a:lstStyle/>
          <a:p>
            <a:pPr algn="r"/>
            <a:r>
              <a:rPr sz="900" b="0" i="0">
                <a:solidFill>
                  <a:srgbClr val="595959"/>
                </a:solidFill>
                <a:latin typeface="Calibri"/>
              </a:rPr>
              <a:t>4</a:t>
            </a:r>
          </a:p>
        </p:txBody>
      </p:sp>
      <p:sp>
        <p:nvSpPr>
          <p:cNvPr id="21" name="TextBox 20"/>
          <p:cNvSpPr txBox="1"/>
          <p:nvPr/>
        </p:nvSpPr>
        <p:spPr>
          <a:xfrm>
            <a:off x="548640" y="1847088"/>
            <a:ext cx="10881360" cy="1060704"/>
          </a:xfrm>
          <a:prstGeom prst="rect">
            <a:avLst/>
          </a:prstGeom>
          <a:noFill/>
        </p:spPr>
        <p:txBody>
          <a:bodyPr wrap="square" lIns="0" tIns="0" rIns="0" bIns="0">
            <a:spAutoFit/>
          </a:bodyPr>
          <a:lstStyle/>
          <a:p>
            <a:r>
              <a:rPr sz="2200" b="0">
                <a:solidFill>
                  <a:srgbClr val="333F50"/>
                </a:solidFill>
                <a:latin typeface="Calibri"/>
              </a:rPr>
              <a:t>A balanced BST is a binary search tree that keeps its height
h = O(log n) after every insertion or deletion, where n is the number of nodes.</a:t>
            </a:r>
          </a:p>
        </p:txBody>
      </p:sp>
      <p:sp>
        <p:nvSpPr>
          <p:cNvPr id="22" name="TextBox 21"/>
          <p:cNvSpPr txBox="1"/>
          <p:nvPr/>
        </p:nvSpPr>
        <p:spPr>
          <a:xfrm>
            <a:off x="548640" y="3182112"/>
            <a:ext cx="10789920" cy="457200"/>
          </a:xfrm>
          <a:prstGeom prst="rect">
            <a:avLst/>
          </a:prstGeom>
          <a:noFill/>
        </p:spPr>
        <p:txBody>
          <a:bodyPr wrap="square" lIns="0" tIns="0" rIns="0" bIns="0">
            <a:spAutoFit/>
          </a:bodyPr>
          <a:lstStyle/>
          <a:p>
            <a:r>
              <a:rPr sz="1800" b="0">
                <a:solidFill>
                  <a:srgbClr val="595959"/>
                </a:solidFill>
                <a:latin typeface="Calibri"/>
              </a:rPr>
              <a:t>It preserves the BST ordering: left subtree &lt; node &lt; right subtree.</a:t>
            </a:r>
          </a:p>
        </p:txBody>
      </p:sp>
      <p:sp>
        <p:nvSpPr>
          <p:cNvPr id="23" name="TextBox 22"/>
          <p:cNvSpPr txBox="1"/>
          <p:nvPr/>
        </p:nvSpPr>
        <p:spPr>
          <a:xfrm>
            <a:off x="548640" y="4096512"/>
            <a:ext cx="10789920" cy="365760"/>
          </a:xfrm>
          <a:prstGeom prst="rect">
            <a:avLst/>
          </a:prstGeom>
          <a:noFill/>
        </p:spPr>
        <p:txBody>
          <a:bodyPr wrap="square" lIns="0" tIns="0" rIns="0" bIns="0">
            <a:spAutoFit/>
          </a:bodyPr>
          <a:lstStyle/>
          <a:p>
            <a:r>
              <a:rPr sz="1800" b="1">
                <a:solidFill>
                  <a:srgbClr val="4472C4"/>
                </a:solidFill>
                <a:latin typeface="Calibri"/>
              </a:rPr>
              <a:t>Examples</a:t>
            </a:r>
          </a:p>
        </p:txBody>
      </p:sp>
      <p:sp>
        <p:nvSpPr>
          <p:cNvPr id="24" name="TextBox 23"/>
          <p:cNvSpPr txBox="1"/>
          <p:nvPr/>
        </p:nvSpPr>
        <p:spPr>
          <a:xfrm>
            <a:off x="548640" y="4626864"/>
            <a:ext cx="10789920" cy="820738"/>
          </a:xfrm>
          <a:prstGeom prst="rect">
            <a:avLst/>
          </a:prstGeom>
          <a:noFill/>
        </p:spPr>
        <p:txBody>
          <a:bodyPr wrap="square" lIns="0" tIns="0" rIns="0" bIns="0">
            <a:spAutoFit/>
          </a:bodyPr>
          <a:lstStyle/>
          <a:p>
            <a:pPr marL="265176" indent="-210312">
              <a:spcAft>
                <a:spcPts val="1600"/>
              </a:spcAft>
              <a:buChar char="•"/>
            </a:pPr>
            <a:r>
              <a:rPr sz="2000" b="0">
                <a:solidFill>
                  <a:srgbClr val="333F50"/>
                </a:solidFill>
                <a:latin typeface="Calibri"/>
              </a:rPr>
              <a:t>AVL tree</a:t>
            </a:r>
            <a:r>
              <a:rPr lang="en-US" sz="2000" b="0">
                <a:solidFill>
                  <a:srgbClr val="333F50"/>
                </a:solidFill>
                <a:latin typeface="Calibri"/>
              </a:rPr>
              <a:t>: a BST in which the left and right subtree heights differ by at most 1 at every node.</a:t>
            </a:r>
            <a:endParaRPr sz="2000" b="0">
              <a:solidFill>
                <a:srgbClr val="333F50"/>
              </a:solidFill>
              <a:latin typeface="Calibri"/>
            </a:endParaRPr>
          </a:p>
          <a:p>
            <a:pPr marL="265176" indent="-210312">
              <a:spcAft>
                <a:spcPts val="1600"/>
              </a:spcAft>
              <a:buChar char="•"/>
            </a:pPr>
            <a:r>
              <a:rPr sz="2000">
                <a:solidFill>
                  <a:srgbClr val="333F50"/>
                </a:solidFill>
                <a:latin typeface="Calibri"/>
              </a:rPr>
              <a:t>Red-black (RB) tree</a:t>
            </a:r>
            <a:r>
              <a:rPr lang="en-US" sz="2000">
                <a:solidFill>
                  <a:srgbClr val="333F50"/>
                </a:solidFill>
                <a:latin typeface="Calibri"/>
              </a:rPr>
              <a:t>: a BST with red/black color rules that keep its height O(log n).</a:t>
            </a:r>
            <a:endParaRPr sz="2000">
              <a:solidFill>
                <a:srgbClr val="333F50"/>
              </a:solidFill>
              <a:latin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9144000" cy="320040"/>
          </a:xfrm>
          <a:prstGeom prst="rect">
            <a:avLst/>
          </a:prstGeom>
          <a:noFill/>
        </p:spPr>
        <p:txBody>
          <a:bodyPr wrap="square" lIns="0" tIns="0" rIns="0" bIns="0" anchor="t">
            <a:spAutoFit/>
          </a:bodyPr>
          <a:lstStyle/>
          <a:p>
            <a:pPr algn="l"/>
            <a:r>
              <a:rPr sz="1200" b="1" i="0">
                <a:solidFill>
                  <a:srgbClr val="4472C4"/>
                </a:solidFill>
                <a:latin typeface="Calibri"/>
              </a:rPr>
              <a:t>BALANCED BINARY SEARCH TREES</a:t>
            </a:r>
          </a:p>
        </p:txBody>
      </p:sp>
      <p:sp>
        <p:nvSpPr>
          <p:cNvPr id="3" name="TextBox 2"/>
          <p:cNvSpPr txBox="1"/>
          <p:nvPr/>
        </p:nvSpPr>
        <p:spPr>
          <a:xfrm>
            <a:off x="548640" y="658368"/>
            <a:ext cx="11064240" cy="640080"/>
          </a:xfrm>
          <a:prstGeom prst="rect">
            <a:avLst/>
          </a:prstGeom>
          <a:noFill/>
        </p:spPr>
        <p:txBody>
          <a:bodyPr wrap="square" lIns="0" tIns="0" rIns="0" bIns="0" anchor="t">
            <a:spAutoFit/>
          </a:bodyPr>
          <a:lstStyle/>
          <a:p>
            <a:pPr algn="l"/>
            <a:r>
              <a:rPr sz="2800" b="1" i="0">
                <a:solidFill>
                  <a:srgbClr val="333F50"/>
                </a:solidFill>
                <a:latin typeface="Calibri Light"/>
              </a:rPr>
              <a:t>The goal: guarantee h = O(log n) after every update</a:t>
            </a:r>
          </a:p>
        </p:txBody>
      </p:sp>
      <p:sp>
        <p:nvSpPr>
          <p:cNvPr id="4" name="TextBox 3"/>
          <p:cNvSpPr txBox="1"/>
          <p:nvPr/>
        </p:nvSpPr>
        <p:spPr>
          <a:xfrm>
            <a:off x="548640" y="1197864"/>
            <a:ext cx="11064240" cy="502920"/>
          </a:xfrm>
          <a:prstGeom prst="rect">
            <a:avLst/>
          </a:prstGeom>
          <a:noFill/>
        </p:spPr>
        <p:txBody>
          <a:bodyPr wrap="square" lIns="0" tIns="0" rIns="0" bIns="0" anchor="t">
            <a:spAutoFit/>
          </a:bodyPr>
          <a:lstStyle/>
          <a:p>
            <a:pPr algn="l"/>
            <a:r>
              <a:rPr sz="1400" b="0" i="0">
                <a:solidFill>
                  <a:srgbClr val="595959"/>
                </a:solidFill>
                <a:latin typeface="Calibri"/>
              </a:rPr>
              <a:t>A balanced BST supports the same operations as a BST, but keeps its height logarithmic however keys are inserted or deleted.</a:t>
            </a:r>
          </a:p>
        </p:txBody>
      </p:sp>
      <p:sp>
        <p:nvSpPr>
          <p:cNvPr id="5" name="Oval 4"/>
          <p:cNvSpPr/>
          <p:nvPr/>
        </p:nvSpPr>
        <p:spPr>
          <a:xfrm>
            <a:off x="548640" y="1965960"/>
            <a:ext cx="502920" cy="502920"/>
          </a:xfrm>
          <a:prstGeom prst="ellipse">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965960"/>
            <a:ext cx="502920" cy="502920"/>
          </a:xfrm>
          <a:prstGeom prst="rect">
            <a:avLst/>
          </a:prstGeom>
          <a:noFill/>
        </p:spPr>
        <p:txBody>
          <a:bodyPr wrap="square" lIns="0" tIns="0" rIns="0" bIns="0" anchor="ctr">
            <a:spAutoFit/>
          </a:bodyPr>
          <a:lstStyle/>
          <a:p>
            <a:pPr algn="ctr"/>
            <a:r>
              <a:rPr sz="2000" b="1" i="0">
                <a:solidFill>
                  <a:srgbClr val="333F50"/>
                </a:solidFill>
                <a:latin typeface="Calibri"/>
              </a:rPr>
              <a:t>1</a:t>
            </a:r>
          </a:p>
        </p:txBody>
      </p:sp>
      <p:sp>
        <p:nvSpPr>
          <p:cNvPr id="7" name="TextBox 6"/>
          <p:cNvSpPr txBox="1"/>
          <p:nvPr/>
        </p:nvSpPr>
        <p:spPr>
          <a:xfrm>
            <a:off x="1280160" y="1920240"/>
            <a:ext cx="4663440" cy="411480"/>
          </a:xfrm>
          <a:prstGeom prst="rect">
            <a:avLst/>
          </a:prstGeom>
          <a:noFill/>
        </p:spPr>
        <p:txBody>
          <a:bodyPr wrap="square" lIns="0" tIns="0" rIns="0" bIns="0" anchor="t">
            <a:spAutoFit/>
          </a:bodyPr>
          <a:lstStyle/>
          <a:p>
            <a:pPr algn="l"/>
            <a:r>
              <a:rPr sz="1800" b="1" i="0">
                <a:solidFill>
                  <a:srgbClr val="333F50"/>
                </a:solidFill>
                <a:latin typeface="Calibri"/>
              </a:rPr>
              <a:t>The search tree property always holds</a:t>
            </a:r>
          </a:p>
        </p:txBody>
      </p:sp>
      <p:sp>
        <p:nvSpPr>
          <p:cNvPr id="8" name="TextBox 7"/>
          <p:cNvSpPr txBox="1"/>
          <p:nvPr/>
        </p:nvSpPr>
        <p:spPr>
          <a:xfrm>
            <a:off x="1280160" y="2331720"/>
            <a:ext cx="4663440" cy="640080"/>
          </a:xfrm>
          <a:prstGeom prst="rect">
            <a:avLst/>
          </a:prstGeom>
          <a:noFill/>
        </p:spPr>
        <p:txBody>
          <a:bodyPr wrap="square" lIns="0" tIns="0" rIns="0" bIns="0" anchor="t">
            <a:spAutoFit/>
          </a:bodyPr>
          <a:lstStyle/>
          <a:p>
            <a:pPr algn="l"/>
            <a:r>
              <a:rPr sz="1400" b="0" i="0">
                <a:solidFill>
                  <a:srgbClr val="595959"/>
                </a:solidFill>
                <a:latin typeface="Calibri"/>
              </a:rPr>
              <a:t>Left subtree &lt; node &lt; right subtree, so in-order traversal still prints keys in sorted order.</a:t>
            </a:r>
          </a:p>
        </p:txBody>
      </p:sp>
      <p:sp>
        <p:nvSpPr>
          <p:cNvPr id="9" name="Oval 8"/>
          <p:cNvSpPr/>
          <p:nvPr/>
        </p:nvSpPr>
        <p:spPr>
          <a:xfrm>
            <a:off x="548640" y="3108960"/>
            <a:ext cx="502920" cy="502920"/>
          </a:xfrm>
          <a:prstGeom prst="ellipse">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8640" y="3108960"/>
            <a:ext cx="502920" cy="502920"/>
          </a:xfrm>
          <a:prstGeom prst="rect">
            <a:avLst/>
          </a:prstGeom>
          <a:noFill/>
        </p:spPr>
        <p:txBody>
          <a:bodyPr wrap="square" lIns="0" tIns="0" rIns="0" bIns="0" anchor="ctr">
            <a:spAutoFit/>
          </a:bodyPr>
          <a:lstStyle/>
          <a:p>
            <a:pPr algn="ctr"/>
            <a:r>
              <a:rPr sz="2000" b="1" i="0">
                <a:solidFill>
                  <a:srgbClr val="333F50"/>
                </a:solidFill>
                <a:latin typeface="Calibri"/>
              </a:rPr>
              <a:t>2</a:t>
            </a:r>
          </a:p>
        </p:txBody>
      </p:sp>
      <p:sp>
        <p:nvSpPr>
          <p:cNvPr id="11" name="TextBox 10"/>
          <p:cNvSpPr txBox="1"/>
          <p:nvPr/>
        </p:nvSpPr>
        <p:spPr>
          <a:xfrm>
            <a:off x="1280160" y="3063240"/>
            <a:ext cx="4663440" cy="411480"/>
          </a:xfrm>
          <a:prstGeom prst="rect">
            <a:avLst/>
          </a:prstGeom>
          <a:noFill/>
        </p:spPr>
        <p:txBody>
          <a:bodyPr wrap="square" lIns="0" tIns="0" rIns="0" bIns="0" anchor="t">
            <a:spAutoFit/>
          </a:bodyPr>
          <a:lstStyle/>
          <a:p>
            <a:pPr algn="l"/>
            <a:r>
              <a:rPr sz="1800" b="1" i="0">
                <a:solidFill>
                  <a:srgbClr val="333F50"/>
                </a:solidFill>
                <a:latin typeface="Calibri"/>
              </a:rPr>
              <a:t>Height stays O(log n)</a:t>
            </a:r>
          </a:p>
        </p:txBody>
      </p:sp>
      <p:sp>
        <p:nvSpPr>
          <p:cNvPr id="12" name="TextBox 11"/>
          <p:cNvSpPr txBox="1"/>
          <p:nvPr/>
        </p:nvSpPr>
        <p:spPr>
          <a:xfrm>
            <a:off x="1280160" y="3474720"/>
            <a:ext cx="4663440" cy="640080"/>
          </a:xfrm>
          <a:prstGeom prst="rect">
            <a:avLst/>
          </a:prstGeom>
          <a:noFill/>
        </p:spPr>
        <p:txBody>
          <a:bodyPr wrap="square" lIns="0" tIns="0" rIns="0" bIns="0" anchor="t">
            <a:spAutoFit/>
          </a:bodyPr>
          <a:lstStyle/>
          <a:p>
            <a:pPr algn="l"/>
            <a:r>
              <a:rPr sz="1400" b="0" i="0">
                <a:solidFill>
                  <a:srgbClr val="595959"/>
                </a:solidFill>
                <a:latin typeface="Calibri"/>
              </a:rPr>
              <a:t>After every Insert and Delete, not just on lucky input orders.</a:t>
            </a:r>
          </a:p>
        </p:txBody>
      </p:sp>
      <p:sp>
        <p:nvSpPr>
          <p:cNvPr id="13" name="Oval 12"/>
          <p:cNvSpPr/>
          <p:nvPr/>
        </p:nvSpPr>
        <p:spPr>
          <a:xfrm>
            <a:off x="548640" y="4251960"/>
            <a:ext cx="502920" cy="502920"/>
          </a:xfrm>
          <a:prstGeom prst="ellipse">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48640" y="4251960"/>
            <a:ext cx="502920" cy="502920"/>
          </a:xfrm>
          <a:prstGeom prst="rect">
            <a:avLst/>
          </a:prstGeom>
          <a:noFill/>
        </p:spPr>
        <p:txBody>
          <a:bodyPr wrap="square" lIns="0" tIns="0" rIns="0" bIns="0" anchor="ctr">
            <a:spAutoFit/>
          </a:bodyPr>
          <a:lstStyle/>
          <a:p>
            <a:pPr algn="ctr"/>
            <a:r>
              <a:rPr sz="2000" b="1" i="0">
                <a:solidFill>
                  <a:srgbClr val="333F50"/>
                </a:solidFill>
                <a:latin typeface="Calibri"/>
              </a:rPr>
              <a:t>3</a:t>
            </a:r>
          </a:p>
        </p:txBody>
      </p:sp>
      <p:sp>
        <p:nvSpPr>
          <p:cNvPr id="15" name="TextBox 14"/>
          <p:cNvSpPr txBox="1"/>
          <p:nvPr/>
        </p:nvSpPr>
        <p:spPr>
          <a:xfrm>
            <a:off x="1280160" y="4206240"/>
            <a:ext cx="4663440" cy="411480"/>
          </a:xfrm>
          <a:prstGeom prst="rect">
            <a:avLst/>
          </a:prstGeom>
          <a:noFill/>
        </p:spPr>
        <p:txBody>
          <a:bodyPr wrap="square" lIns="0" tIns="0" rIns="0" bIns="0" anchor="t">
            <a:spAutoFit/>
          </a:bodyPr>
          <a:lstStyle/>
          <a:p>
            <a:pPr algn="l"/>
            <a:r>
              <a:rPr sz="1800" b="1" i="0">
                <a:solidFill>
                  <a:srgbClr val="333F50"/>
                </a:solidFill>
                <a:latin typeface="Calibri"/>
              </a:rPr>
              <a:t>Repairs are cheap</a:t>
            </a:r>
          </a:p>
        </p:txBody>
      </p:sp>
      <p:sp>
        <p:nvSpPr>
          <p:cNvPr id="16" name="TextBox 15"/>
          <p:cNvSpPr txBox="1"/>
          <p:nvPr/>
        </p:nvSpPr>
        <p:spPr>
          <a:xfrm>
            <a:off x="1280160" y="4617720"/>
            <a:ext cx="4663440" cy="640080"/>
          </a:xfrm>
          <a:prstGeom prst="rect">
            <a:avLst/>
          </a:prstGeom>
          <a:noFill/>
        </p:spPr>
        <p:txBody>
          <a:bodyPr wrap="square" lIns="0" tIns="0" rIns="0" bIns="0" anchor="t">
            <a:spAutoFit/>
          </a:bodyPr>
          <a:lstStyle/>
          <a:p>
            <a:pPr algn="l"/>
            <a:r>
              <a:rPr sz="1400" b="0" i="0">
                <a:solidFill>
                  <a:srgbClr val="595959"/>
                </a:solidFill>
                <a:latin typeface="Calibri"/>
              </a:rPr>
              <a:t>Restoring balance costs at most O(log n) extra work per operation.</a:t>
            </a:r>
          </a:p>
        </p:txBody>
      </p:sp>
      <p:graphicFrame>
        <p:nvGraphicFramePr>
          <p:cNvPr id="17" name="Table 16"/>
          <p:cNvGraphicFramePr>
            <a:graphicFrameLocks noGrp="1"/>
          </p:cNvGraphicFramePr>
          <p:nvPr>
            <p:extLst>
              <p:ext uri="{D42A27DB-BD31-4B8C-83A1-F6EECF244321}">
                <p14:modId xmlns:p14="http://schemas.microsoft.com/office/powerpoint/2010/main" val="2799488510"/>
              </p:ext>
            </p:extLst>
          </p:nvPr>
        </p:nvGraphicFramePr>
        <p:xfrm>
          <a:off x="6355080" y="1874519"/>
          <a:ext cx="5285232" cy="2651760"/>
        </p:xfrm>
        <a:graphic>
          <a:graphicData uri="http://schemas.openxmlformats.org/drawingml/2006/table">
            <a:tbl>
              <a:tblPr firstRow="1">
                <a:tableStyleId>{5C22544A-7EE6-4342-B048-85BDC9FD1C3A}</a:tableStyleId>
              </a:tblPr>
              <a:tblGrid>
                <a:gridCol w="2103120">
                  <a:extLst>
                    <a:ext uri="{9D8B030D-6E8A-4147-A177-3AD203B41FA5}">
                      <a16:colId xmlns:a16="http://schemas.microsoft.com/office/drawing/2014/main" val="20000"/>
                    </a:ext>
                  </a:extLst>
                </a:gridCol>
                <a:gridCol w="1591056">
                  <a:extLst>
                    <a:ext uri="{9D8B030D-6E8A-4147-A177-3AD203B41FA5}">
                      <a16:colId xmlns:a16="http://schemas.microsoft.com/office/drawing/2014/main" val="20001"/>
                    </a:ext>
                  </a:extLst>
                </a:gridCol>
                <a:gridCol w="1591056">
                  <a:extLst>
                    <a:ext uri="{9D8B030D-6E8A-4147-A177-3AD203B41FA5}">
                      <a16:colId xmlns:a16="http://schemas.microsoft.com/office/drawing/2014/main" val="20002"/>
                    </a:ext>
                  </a:extLst>
                </a:gridCol>
              </a:tblGrid>
              <a:tr h="365760">
                <a:tc>
                  <a:txBody>
                    <a:bodyPr/>
                    <a:lstStyle/>
                    <a:p>
                      <a:pPr algn="l"/>
                      <a:r>
                        <a:rPr sz="1200" b="1" dirty="0">
                          <a:solidFill>
                            <a:srgbClr val="FFFFFF"/>
                          </a:solidFill>
                          <a:latin typeface="Calibri"/>
                        </a:rPr>
                        <a:t>Operation</a:t>
                      </a:r>
                    </a:p>
                  </a:txBody>
                  <a:tcPr anchor="ctr">
                    <a:solidFill>
                      <a:srgbClr val="333F50"/>
                    </a:solidFill>
                  </a:tcPr>
                </a:tc>
                <a:tc>
                  <a:txBody>
                    <a:bodyPr/>
                    <a:lstStyle/>
                    <a:p>
                      <a:pPr algn="l"/>
                      <a:r>
                        <a:rPr sz="1200" b="1">
                          <a:solidFill>
                            <a:srgbClr val="FFFFFF"/>
                          </a:solidFill>
                          <a:latin typeface="Calibri"/>
                        </a:rPr>
                        <a:t>Sorted array</a:t>
                      </a:r>
                    </a:p>
                  </a:txBody>
                  <a:tcPr anchor="ctr">
                    <a:solidFill>
                      <a:srgbClr val="333F50"/>
                    </a:solidFill>
                  </a:tcPr>
                </a:tc>
                <a:tc>
                  <a:txBody>
                    <a:bodyPr/>
                    <a:lstStyle/>
                    <a:p>
                      <a:pPr algn="l"/>
                      <a:r>
                        <a:rPr sz="1200" b="1">
                          <a:solidFill>
                            <a:srgbClr val="FFFFFF"/>
                          </a:solidFill>
                          <a:latin typeface="Calibri"/>
                        </a:rPr>
                        <a:t>Balanced BST</a:t>
                      </a:r>
                    </a:p>
                  </a:txBody>
                  <a:tcPr anchor="ctr">
                    <a:solidFill>
                      <a:srgbClr val="333F50"/>
                    </a:solidFill>
                  </a:tcPr>
                </a:tc>
                <a:extLst>
                  <a:ext uri="{0D108BD9-81ED-4DB2-BD59-A6C34878D82A}">
                    <a16:rowId xmlns:a16="http://schemas.microsoft.com/office/drawing/2014/main" val="10000"/>
                  </a:ext>
                </a:extLst>
              </a:tr>
              <a:tr h="365760">
                <a:tc>
                  <a:txBody>
                    <a:bodyPr/>
                    <a:lstStyle/>
                    <a:p>
                      <a:pPr algn="l"/>
                      <a:r>
                        <a:rPr sz="1200" b="1">
                          <a:solidFill>
                            <a:srgbClr val="333F50"/>
                          </a:solidFill>
                          <a:latin typeface="Calibri"/>
                        </a:rPr>
                        <a:t>Search</a:t>
                      </a:r>
                    </a:p>
                  </a:txBody>
                  <a:tcPr anchor="ctr">
                    <a:solidFill>
                      <a:srgbClr val="FFFFFF"/>
                    </a:solidFill>
                  </a:tcPr>
                </a:tc>
                <a:tc>
                  <a:txBody>
                    <a:bodyPr/>
                    <a:lstStyle/>
                    <a:p>
                      <a:pPr algn="l"/>
                      <a:r>
                        <a:rPr sz="1200" b="0">
                          <a:solidFill>
                            <a:srgbClr val="333F50"/>
                          </a:solidFill>
                          <a:latin typeface="Courier New"/>
                        </a:rPr>
                        <a:t>O(log n)</a:t>
                      </a:r>
                    </a:p>
                  </a:txBody>
                  <a:tcPr anchor="ctr">
                    <a:solidFill>
                      <a:srgbClr val="FFFFFF"/>
                    </a:solidFill>
                  </a:tcPr>
                </a:tc>
                <a:tc>
                  <a:txBody>
                    <a:bodyPr/>
                    <a:lstStyle/>
                    <a:p>
                      <a:pPr algn="l"/>
                      <a:r>
                        <a:rPr sz="1200" b="0">
                          <a:solidFill>
                            <a:srgbClr val="333F50"/>
                          </a:solidFill>
                          <a:latin typeface="Courier New"/>
                        </a:rPr>
                        <a:t>O(log n)</a:t>
                      </a:r>
                    </a:p>
                  </a:txBody>
                  <a:tcPr anchor="ctr">
                    <a:solidFill>
                      <a:srgbClr val="FFFFFF"/>
                    </a:solidFill>
                  </a:tcPr>
                </a:tc>
                <a:extLst>
                  <a:ext uri="{0D108BD9-81ED-4DB2-BD59-A6C34878D82A}">
                    <a16:rowId xmlns:a16="http://schemas.microsoft.com/office/drawing/2014/main" val="10001"/>
                  </a:ext>
                </a:extLst>
              </a:tr>
              <a:tr h="365760">
                <a:tc>
                  <a:txBody>
                    <a:bodyPr/>
                    <a:lstStyle/>
                    <a:p>
                      <a:pPr algn="l"/>
                      <a:r>
                        <a:rPr sz="1200" b="1">
                          <a:solidFill>
                            <a:srgbClr val="333F50"/>
                          </a:solidFill>
                          <a:latin typeface="Calibri"/>
                        </a:rPr>
                        <a:t>Min / Max</a:t>
                      </a:r>
                    </a:p>
                  </a:txBody>
                  <a:tcPr anchor="ctr">
                    <a:solidFill>
                      <a:srgbClr val="F7F8FA"/>
                    </a:solidFill>
                  </a:tcPr>
                </a:tc>
                <a:tc>
                  <a:txBody>
                    <a:bodyPr/>
                    <a:lstStyle/>
                    <a:p>
                      <a:pPr algn="l"/>
                      <a:r>
                        <a:rPr sz="1200" b="0">
                          <a:solidFill>
                            <a:srgbClr val="333F50"/>
                          </a:solidFill>
                          <a:latin typeface="Courier New"/>
                        </a:rPr>
                        <a:t>O(1)</a:t>
                      </a:r>
                    </a:p>
                  </a:txBody>
                  <a:tcPr anchor="ctr">
                    <a:solidFill>
                      <a:srgbClr val="F7F8FA"/>
                    </a:solidFill>
                  </a:tcPr>
                </a:tc>
                <a:tc>
                  <a:txBody>
                    <a:bodyPr/>
                    <a:lstStyle/>
                    <a:p>
                      <a:pPr algn="l"/>
                      <a:r>
                        <a:rPr sz="1200" b="0">
                          <a:solidFill>
                            <a:srgbClr val="333F50"/>
                          </a:solidFill>
                          <a:latin typeface="Courier New"/>
                        </a:rPr>
                        <a:t>O(log n)</a:t>
                      </a:r>
                    </a:p>
                  </a:txBody>
                  <a:tcPr anchor="ctr">
                    <a:solidFill>
                      <a:srgbClr val="F7F8FA"/>
                    </a:solidFill>
                  </a:tcPr>
                </a:tc>
                <a:extLst>
                  <a:ext uri="{0D108BD9-81ED-4DB2-BD59-A6C34878D82A}">
                    <a16:rowId xmlns:a16="http://schemas.microsoft.com/office/drawing/2014/main" val="10002"/>
                  </a:ext>
                </a:extLst>
              </a:tr>
              <a:tr h="365760">
                <a:tc>
                  <a:txBody>
                    <a:bodyPr/>
                    <a:lstStyle/>
                    <a:p>
                      <a:pPr algn="l"/>
                      <a:r>
                        <a:rPr sz="1200" b="1">
                          <a:solidFill>
                            <a:srgbClr val="333F50"/>
                          </a:solidFill>
                          <a:latin typeface="Calibri"/>
                        </a:rPr>
                        <a:t>Pred / Succ</a:t>
                      </a:r>
                    </a:p>
                  </a:txBody>
                  <a:tcPr anchor="ctr">
                    <a:solidFill>
                      <a:srgbClr val="FFFFFF"/>
                    </a:solidFill>
                  </a:tcPr>
                </a:tc>
                <a:tc>
                  <a:txBody>
                    <a:bodyPr/>
                    <a:lstStyle/>
                    <a:p>
                      <a:pPr algn="l"/>
                      <a:r>
                        <a:rPr sz="1200" b="0">
                          <a:solidFill>
                            <a:srgbClr val="333F50"/>
                          </a:solidFill>
                          <a:latin typeface="Courier New"/>
                        </a:rPr>
                        <a:t>O(log n)</a:t>
                      </a:r>
                    </a:p>
                  </a:txBody>
                  <a:tcPr anchor="ctr">
                    <a:solidFill>
                      <a:srgbClr val="FFFFFF"/>
                    </a:solidFill>
                  </a:tcPr>
                </a:tc>
                <a:tc>
                  <a:txBody>
                    <a:bodyPr/>
                    <a:lstStyle/>
                    <a:p>
                      <a:pPr algn="l"/>
                      <a:r>
                        <a:rPr sz="1200" b="0">
                          <a:solidFill>
                            <a:srgbClr val="333F50"/>
                          </a:solidFill>
                          <a:latin typeface="Courier New"/>
                        </a:rPr>
                        <a:t>O(log n)</a:t>
                      </a:r>
                    </a:p>
                  </a:txBody>
                  <a:tcPr anchor="ctr">
                    <a:solidFill>
                      <a:srgbClr val="FFFFFF"/>
                    </a:solidFill>
                  </a:tcPr>
                </a:tc>
                <a:extLst>
                  <a:ext uri="{0D108BD9-81ED-4DB2-BD59-A6C34878D82A}">
                    <a16:rowId xmlns:a16="http://schemas.microsoft.com/office/drawing/2014/main" val="10003"/>
                  </a:ext>
                </a:extLst>
              </a:tr>
              <a:tr h="365760">
                <a:tc>
                  <a:txBody>
                    <a:bodyPr/>
                    <a:lstStyle/>
                    <a:p>
                      <a:pPr algn="l"/>
                      <a:r>
                        <a:rPr sz="1200" b="1" dirty="0" err="1">
                          <a:solidFill>
                            <a:srgbClr val="333F50"/>
                          </a:solidFill>
                          <a:latin typeface="Calibri"/>
                        </a:rPr>
                        <a:t>OutputSorted</a:t>
                      </a:r>
                      <a:r>
                        <a:rPr lang="en-US" sz="1200" b="1" dirty="0">
                          <a:solidFill>
                            <a:srgbClr val="333F50"/>
                          </a:solidFill>
                          <a:latin typeface="Calibri"/>
                        </a:rPr>
                        <a:t> (</a:t>
                      </a:r>
                      <a:r>
                        <a:rPr lang="en-US" sz="1200" b="1" dirty="0" err="1">
                          <a:solidFill>
                            <a:srgbClr val="333F50"/>
                          </a:solidFill>
                          <a:latin typeface="Calibri"/>
                        </a:rPr>
                        <a:t>inorder</a:t>
                      </a:r>
                      <a:r>
                        <a:rPr lang="en-US" sz="1200" b="1" dirty="0">
                          <a:solidFill>
                            <a:srgbClr val="333F50"/>
                          </a:solidFill>
                          <a:latin typeface="Calibri"/>
                        </a:rPr>
                        <a:t> traversal for Trees)</a:t>
                      </a:r>
                      <a:endParaRPr sz="1200" b="1" dirty="0">
                        <a:solidFill>
                          <a:srgbClr val="333F50"/>
                        </a:solidFill>
                        <a:latin typeface="Calibri"/>
                      </a:endParaRPr>
                    </a:p>
                  </a:txBody>
                  <a:tcPr anchor="ctr">
                    <a:solidFill>
                      <a:srgbClr val="F7F8FA"/>
                    </a:solidFill>
                  </a:tcPr>
                </a:tc>
                <a:tc>
                  <a:txBody>
                    <a:bodyPr/>
                    <a:lstStyle/>
                    <a:p>
                      <a:pPr algn="l"/>
                      <a:r>
                        <a:rPr sz="1200" b="0" dirty="0">
                          <a:solidFill>
                            <a:srgbClr val="333F50"/>
                          </a:solidFill>
                          <a:latin typeface="Courier New"/>
                        </a:rPr>
                        <a:t>O(n)</a:t>
                      </a:r>
                    </a:p>
                  </a:txBody>
                  <a:tcPr anchor="ctr">
                    <a:solidFill>
                      <a:srgbClr val="F7F8FA"/>
                    </a:solidFill>
                  </a:tcPr>
                </a:tc>
                <a:tc>
                  <a:txBody>
                    <a:bodyPr/>
                    <a:lstStyle/>
                    <a:p>
                      <a:pPr algn="l"/>
                      <a:r>
                        <a:rPr sz="1200" b="0">
                          <a:solidFill>
                            <a:srgbClr val="333F50"/>
                          </a:solidFill>
                          <a:latin typeface="Courier New"/>
                        </a:rPr>
                        <a:t>O(n)</a:t>
                      </a:r>
                    </a:p>
                  </a:txBody>
                  <a:tcPr anchor="ctr">
                    <a:solidFill>
                      <a:srgbClr val="F7F8FA"/>
                    </a:solidFill>
                  </a:tcPr>
                </a:tc>
                <a:extLst>
                  <a:ext uri="{0D108BD9-81ED-4DB2-BD59-A6C34878D82A}">
                    <a16:rowId xmlns:a16="http://schemas.microsoft.com/office/drawing/2014/main" val="10004"/>
                  </a:ext>
                </a:extLst>
              </a:tr>
              <a:tr h="365760">
                <a:tc>
                  <a:txBody>
                    <a:bodyPr/>
                    <a:lstStyle/>
                    <a:p>
                      <a:pPr algn="l"/>
                      <a:r>
                        <a:rPr sz="1200" b="1" dirty="0">
                          <a:solidFill>
                            <a:srgbClr val="333F50"/>
                          </a:solidFill>
                          <a:latin typeface="Calibri"/>
                        </a:rPr>
                        <a:t>Insert</a:t>
                      </a:r>
                    </a:p>
                  </a:txBody>
                  <a:tcPr anchor="ctr">
                    <a:solidFill>
                      <a:srgbClr val="FFFFFF"/>
                    </a:solidFill>
                  </a:tcPr>
                </a:tc>
                <a:tc>
                  <a:txBody>
                    <a:bodyPr/>
                    <a:lstStyle/>
                    <a:p>
                      <a:pPr algn="l"/>
                      <a:r>
                        <a:rPr sz="1200" b="1" dirty="0">
                          <a:solidFill>
                            <a:srgbClr val="C55A11"/>
                          </a:solidFill>
                          <a:latin typeface="Courier New"/>
                        </a:rPr>
                        <a:t>O(n)</a:t>
                      </a:r>
                    </a:p>
                  </a:txBody>
                  <a:tcPr anchor="ctr">
                    <a:solidFill>
                      <a:srgbClr val="FFFFFF"/>
                    </a:solidFill>
                  </a:tcPr>
                </a:tc>
                <a:tc>
                  <a:txBody>
                    <a:bodyPr/>
                    <a:lstStyle/>
                    <a:p>
                      <a:pPr algn="l"/>
                      <a:r>
                        <a:rPr sz="1200" b="1" dirty="0">
                          <a:solidFill>
                            <a:schemeClr val="accent3"/>
                          </a:solidFill>
                          <a:latin typeface="Courier New"/>
                        </a:rPr>
                        <a:t>O(log n)</a:t>
                      </a:r>
                    </a:p>
                  </a:txBody>
                  <a:tcPr anchor="ctr">
                    <a:solidFill>
                      <a:srgbClr val="FFFFFF"/>
                    </a:solidFill>
                  </a:tcPr>
                </a:tc>
                <a:extLst>
                  <a:ext uri="{0D108BD9-81ED-4DB2-BD59-A6C34878D82A}">
                    <a16:rowId xmlns:a16="http://schemas.microsoft.com/office/drawing/2014/main" val="10005"/>
                  </a:ext>
                </a:extLst>
              </a:tr>
              <a:tr h="365760">
                <a:tc>
                  <a:txBody>
                    <a:bodyPr/>
                    <a:lstStyle/>
                    <a:p>
                      <a:pPr algn="l"/>
                      <a:r>
                        <a:rPr sz="1200" b="1" dirty="0">
                          <a:solidFill>
                            <a:srgbClr val="333F50"/>
                          </a:solidFill>
                          <a:latin typeface="Calibri"/>
                        </a:rPr>
                        <a:t>Delete</a:t>
                      </a:r>
                    </a:p>
                  </a:txBody>
                  <a:tcPr anchor="ctr">
                    <a:solidFill>
                      <a:srgbClr val="F7F8FA"/>
                    </a:solidFill>
                  </a:tcPr>
                </a:tc>
                <a:tc>
                  <a:txBody>
                    <a:bodyPr/>
                    <a:lstStyle/>
                    <a:p>
                      <a:pPr algn="l"/>
                      <a:r>
                        <a:rPr sz="1200" b="1" dirty="0">
                          <a:solidFill>
                            <a:srgbClr val="C55A11"/>
                          </a:solidFill>
                          <a:latin typeface="Courier New"/>
                        </a:rPr>
                        <a:t>O(n)</a:t>
                      </a:r>
                    </a:p>
                  </a:txBody>
                  <a:tcPr anchor="ctr">
                    <a:solidFill>
                      <a:srgbClr val="F7F8FA"/>
                    </a:solidFill>
                  </a:tcPr>
                </a:tc>
                <a:tc>
                  <a:txBody>
                    <a:bodyPr/>
                    <a:lstStyle/>
                    <a:p>
                      <a:pPr algn="l"/>
                      <a:r>
                        <a:rPr sz="1200" b="1" dirty="0">
                          <a:solidFill>
                            <a:schemeClr val="accent3"/>
                          </a:solidFill>
                          <a:latin typeface="Courier New"/>
                        </a:rPr>
                        <a:t>O(log n)</a:t>
                      </a:r>
                    </a:p>
                  </a:txBody>
                  <a:tcPr anchor="ctr">
                    <a:solidFill>
                      <a:srgbClr val="F7F8FA"/>
                    </a:solidFill>
                  </a:tcPr>
                </a:tc>
                <a:extLst>
                  <a:ext uri="{0D108BD9-81ED-4DB2-BD59-A6C34878D82A}">
                    <a16:rowId xmlns:a16="http://schemas.microsoft.com/office/drawing/2014/main" val="10006"/>
                  </a:ext>
                </a:extLst>
              </a:tr>
            </a:tbl>
          </a:graphicData>
        </a:graphic>
      </p:graphicFrame>
      <p:sp>
        <p:nvSpPr>
          <p:cNvPr id="19" name="TextBox 18"/>
          <p:cNvSpPr txBox="1"/>
          <p:nvPr/>
        </p:nvSpPr>
        <p:spPr>
          <a:xfrm>
            <a:off x="548640" y="6501384"/>
            <a:ext cx="9326880" cy="138499"/>
          </a:xfrm>
          <a:prstGeom prst="rect">
            <a:avLst/>
          </a:prstGeom>
          <a:noFill/>
        </p:spPr>
        <p:txBody>
          <a:bodyPr wrap="square" lIns="0" tIns="0" rIns="0" bIns="0" anchor="t">
            <a:spAutoFit/>
          </a:bodyPr>
          <a:lstStyle/>
          <a:p>
            <a:pPr algn="l"/>
            <a:r>
              <a:rPr lang="en-US" sz="900" b="0" i="0">
                <a:solidFill>
                  <a:srgbClr val="595959"/>
                </a:solidFill>
                <a:latin typeface="Calibri"/>
              </a:rPr>
              <a:t>CS 383 </a:t>
            </a:r>
            <a:r>
              <a:rPr sz="900" b="0" i="0">
                <a:solidFill>
                  <a:srgbClr val="595959"/>
                </a:solidFill>
                <a:latin typeface="Calibri"/>
              </a:rPr>
              <a:t>Algorithm Design </a:t>
            </a:r>
            <a:r>
              <a:rPr lang="en-US" sz="900" b="0" i="0">
                <a:solidFill>
                  <a:srgbClr val="595959"/>
                </a:solidFill>
                <a:latin typeface="Calibri"/>
              </a:rPr>
              <a:t>and Analysis </a:t>
            </a:r>
            <a:r>
              <a:rPr sz="900" b="0" i="0">
                <a:solidFill>
                  <a:srgbClr val="595959"/>
                </a:solidFill>
                <a:latin typeface="Calibri"/>
              </a:rPr>
              <a:t> ·  Balanced Binary Search Trees  ·  </a:t>
            </a:r>
            <a:r>
              <a:rPr lang="en-US" sz="900" b="0" i="0">
                <a:solidFill>
                  <a:srgbClr val="595959"/>
                </a:solidFill>
                <a:latin typeface="Calibri"/>
              </a:rPr>
              <a:t>Tanwistha Saha</a:t>
            </a:r>
            <a:endParaRPr sz="900" b="0" i="0">
              <a:solidFill>
                <a:srgbClr val="595959"/>
              </a:solidFill>
              <a:latin typeface="Calibri"/>
            </a:endParaRPr>
          </a:p>
        </p:txBody>
      </p:sp>
      <p:sp>
        <p:nvSpPr>
          <p:cNvPr id="20" name="TextBox 19"/>
          <p:cNvSpPr txBox="1"/>
          <p:nvPr/>
        </p:nvSpPr>
        <p:spPr>
          <a:xfrm>
            <a:off x="10908792" y="6501384"/>
            <a:ext cx="731520" cy="138499"/>
          </a:xfrm>
          <a:prstGeom prst="rect">
            <a:avLst/>
          </a:prstGeom>
          <a:noFill/>
        </p:spPr>
        <p:txBody>
          <a:bodyPr wrap="square" lIns="0" tIns="0" rIns="0" bIns="0" anchor="t">
            <a:spAutoFit/>
          </a:bodyPr>
          <a:lstStyle/>
          <a:p>
            <a:pPr algn="r"/>
            <a:r>
              <a:rPr lang="en-US" sz="900" b="0" i="0">
                <a:solidFill>
                  <a:srgbClr val="595959"/>
                </a:solidFill>
                <a:latin typeface="Calibri"/>
              </a:rPr>
              <a:t>5</a:t>
            </a:r>
            <a:endParaRPr sz="900" b="0" i="0">
              <a:solidFill>
                <a:srgbClr val="595959"/>
              </a:solidFill>
              <a:latin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9144000" cy="320040"/>
          </a:xfrm>
          <a:prstGeom prst="rect">
            <a:avLst/>
          </a:prstGeom>
          <a:noFill/>
        </p:spPr>
        <p:txBody>
          <a:bodyPr wrap="square" lIns="0" tIns="0" rIns="0" bIns="0" anchor="t">
            <a:spAutoFit/>
          </a:bodyPr>
          <a:lstStyle/>
          <a:p>
            <a:pPr algn="l"/>
            <a:r>
              <a:rPr sz="1200" b="1" i="0">
                <a:solidFill>
                  <a:srgbClr val="4472C4"/>
                </a:solidFill>
                <a:latin typeface="Calibri"/>
              </a:rPr>
              <a:t>BUILDING A BALANCED BST</a:t>
            </a:r>
          </a:p>
        </p:txBody>
      </p:sp>
      <p:sp>
        <p:nvSpPr>
          <p:cNvPr id="3" name="TextBox 2"/>
          <p:cNvSpPr txBox="1"/>
          <p:nvPr/>
        </p:nvSpPr>
        <p:spPr>
          <a:xfrm>
            <a:off x="548640" y="658368"/>
            <a:ext cx="11064240" cy="640080"/>
          </a:xfrm>
          <a:prstGeom prst="rect">
            <a:avLst/>
          </a:prstGeom>
          <a:noFill/>
        </p:spPr>
        <p:txBody>
          <a:bodyPr wrap="square" lIns="0" tIns="0" rIns="0" bIns="0" anchor="t">
            <a:spAutoFit/>
          </a:bodyPr>
          <a:lstStyle/>
          <a:p>
            <a:pPr algn="l"/>
            <a:r>
              <a:rPr sz="2800" b="1" i="0">
                <a:solidFill>
                  <a:srgbClr val="333F50"/>
                </a:solidFill>
                <a:latin typeface="Calibri Light"/>
              </a:rPr>
              <a:t>If all keys are known: pick the median as the pivot</a:t>
            </a:r>
          </a:p>
        </p:txBody>
      </p:sp>
      <p:sp>
        <p:nvSpPr>
          <p:cNvPr id="4" name="TextBox 3"/>
          <p:cNvSpPr txBox="1"/>
          <p:nvPr/>
        </p:nvSpPr>
        <p:spPr>
          <a:xfrm>
            <a:off x="548640" y="1197864"/>
            <a:ext cx="11064240" cy="502920"/>
          </a:xfrm>
          <a:prstGeom prst="rect">
            <a:avLst/>
          </a:prstGeom>
          <a:noFill/>
        </p:spPr>
        <p:txBody>
          <a:bodyPr wrap="square" lIns="0" tIns="0" rIns="0" bIns="0" anchor="t">
            <a:spAutoFit/>
          </a:bodyPr>
          <a:lstStyle/>
          <a:p>
            <a:pPr algn="l"/>
            <a:r>
              <a:rPr sz="1400" b="0" i="0">
                <a:solidFill>
                  <a:srgbClr val="595959"/>
                </a:solidFill>
                <a:latin typeface="Calibri"/>
              </a:rPr>
              <a:t>The root of every subtree acts as a pivot that splits the keys. The median splits them evenly: divide and conquer, like binary search.</a:t>
            </a:r>
          </a:p>
        </p:txBody>
      </p:sp>
      <p:sp>
        <p:nvSpPr>
          <p:cNvPr id="5" name="Rounded Rectangle 4"/>
          <p:cNvSpPr/>
          <p:nvPr/>
        </p:nvSpPr>
        <p:spPr>
          <a:xfrm>
            <a:off x="548640" y="1874519"/>
            <a:ext cx="5852160" cy="2926080"/>
          </a:xfrm>
          <a:prstGeom prst="roundRect">
            <a:avLst>
              <a:gd name="adj" fmla="val 5000"/>
            </a:avLst>
          </a:prstGeom>
          <a:solidFill>
            <a:srgbClr val="F5F5F5"/>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95528" y="2103120"/>
            <a:ext cx="5394960" cy="1923604"/>
          </a:xfrm>
          <a:prstGeom prst="rect">
            <a:avLst/>
          </a:prstGeom>
          <a:noFill/>
        </p:spPr>
        <p:txBody>
          <a:bodyPr wrap="square" lIns="0" tIns="0" rIns="0" bIns="0" anchor="t">
            <a:spAutoFit/>
          </a:bodyPr>
          <a:lstStyle/>
          <a:p>
            <a:pPr algn="l"/>
            <a:r>
              <a:rPr lang="en-US" sz="1250" b="1" i="0">
                <a:solidFill>
                  <a:srgbClr val="333F50"/>
                </a:solidFill>
                <a:latin typeface="Courier New"/>
              </a:rPr>
              <a:t>BUILDBALANCED</a:t>
            </a:r>
            <a:r>
              <a:rPr sz="1250" b="1" i="0">
                <a:solidFill>
                  <a:srgbClr val="333F50"/>
                </a:solidFill>
                <a:latin typeface="Courier New"/>
              </a:rPr>
              <a:t>(A, lo, hi):   # A sorted</a:t>
            </a:r>
          </a:p>
          <a:p>
            <a:pPr algn="l"/>
            <a:r>
              <a:rPr sz="1250" b="1" i="0">
                <a:solidFill>
                  <a:srgbClr val="333F50"/>
                </a:solidFill>
                <a:latin typeface="Courier New"/>
              </a:rPr>
              <a:t>  </a:t>
            </a:r>
            <a:r>
              <a:rPr lang="en-US" sz="1250" b="1" i="0">
                <a:solidFill>
                  <a:srgbClr val="333F50"/>
                </a:solidFill>
                <a:latin typeface="Courier New"/>
              </a:rPr>
              <a:t>  </a:t>
            </a:r>
            <a:r>
              <a:rPr sz="1250" b="1" i="0">
                <a:solidFill>
                  <a:srgbClr val="333F50"/>
                </a:solidFill>
                <a:latin typeface="Courier New"/>
              </a:rPr>
              <a:t>if lo &gt; hi:</a:t>
            </a:r>
          </a:p>
          <a:p>
            <a:pPr algn="l"/>
            <a:r>
              <a:rPr sz="1250" b="1" i="0">
                <a:solidFill>
                  <a:srgbClr val="333F50"/>
                </a:solidFill>
                <a:latin typeface="Courier New"/>
              </a:rPr>
              <a:t>    </a:t>
            </a:r>
            <a:r>
              <a:rPr lang="en-US" sz="1250" b="1" i="0">
                <a:solidFill>
                  <a:srgbClr val="333F50"/>
                </a:solidFill>
                <a:latin typeface="Courier New"/>
              </a:rPr>
              <a:t>    </a:t>
            </a:r>
            <a:r>
              <a:rPr sz="1250" b="1" i="0">
                <a:solidFill>
                  <a:srgbClr val="333F50"/>
                </a:solidFill>
                <a:latin typeface="Courier New"/>
              </a:rPr>
              <a:t>return NIL</a:t>
            </a:r>
          </a:p>
          <a:p>
            <a:pPr algn="l"/>
            <a:r>
              <a:rPr sz="1250" b="1" i="0">
                <a:solidFill>
                  <a:srgbClr val="333F50"/>
                </a:solidFill>
                <a:latin typeface="Courier New"/>
              </a:rPr>
              <a:t>  </a:t>
            </a:r>
            <a:r>
              <a:rPr lang="en-US" sz="1250" b="1" i="0">
                <a:solidFill>
                  <a:srgbClr val="333F50"/>
                </a:solidFill>
                <a:latin typeface="Courier New"/>
              </a:rPr>
              <a:t>  </a:t>
            </a:r>
            <a:r>
              <a:rPr sz="1250" b="1" i="0">
                <a:solidFill>
                  <a:srgbClr val="333F50"/>
                </a:solidFill>
                <a:latin typeface="Courier New"/>
              </a:rPr>
              <a:t>mid = (lo + hi</a:t>
            </a:r>
            <a:r>
              <a:rPr lang="en-US" sz="1250" b="1" i="0">
                <a:solidFill>
                  <a:srgbClr val="333F50"/>
                </a:solidFill>
                <a:latin typeface="Courier New"/>
              </a:rPr>
              <a:t> + 1</a:t>
            </a:r>
            <a:r>
              <a:rPr sz="1250" b="1" i="0">
                <a:solidFill>
                  <a:srgbClr val="333F50"/>
                </a:solidFill>
                <a:latin typeface="Courier New"/>
              </a:rPr>
              <a:t>) </a:t>
            </a:r>
            <a:r>
              <a:rPr lang="en-US" sz="1250" b="1" i="0">
                <a:solidFill>
                  <a:srgbClr val="333F50"/>
                </a:solidFill>
                <a:latin typeface="Courier New"/>
              </a:rPr>
              <a:t>// </a:t>
            </a:r>
            <a:r>
              <a:rPr sz="1250" b="1" i="0">
                <a:solidFill>
                  <a:srgbClr val="333F50"/>
                </a:solidFill>
                <a:latin typeface="Courier New"/>
              </a:rPr>
              <a:t>2  # </a:t>
            </a:r>
            <a:r>
              <a:rPr lang="en-US" sz="1250" b="1" i="0">
                <a:solidFill>
                  <a:srgbClr val="333F50"/>
                </a:solidFill>
                <a:latin typeface="Courier New"/>
              </a:rPr>
              <a:t>upper </a:t>
            </a:r>
            <a:r>
              <a:rPr sz="1250" b="1" i="0">
                <a:solidFill>
                  <a:srgbClr val="333F50"/>
                </a:solidFill>
                <a:latin typeface="Courier New"/>
              </a:rPr>
              <a:t>median</a:t>
            </a:r>
          </a:p>
          <a:p>
            <a:pPr algn="l"/>
            <a:r>
              <a:rPr sz="1250" b="1" i="0">
                <a:solidFill>
                  <a:srgbClr val="333F50"/>
                </a:solidFill>
                <a:latin typeface="Courier New"/>
              </a:rPr>
              <a:t>  </a:t>
            </a:r>
            <a:r>
              <a:rPr lang="en-US" sz="1250" b="1" i="0">
                <a:solidFill>
                  <a:srgbClr val="333F50"/>
                </a:solidFill>
                <a:latin typeface="Courier New"/>
              </a:rPr>
              <a:t>  </a:t>
            </a:r>
            <a:r>
              <a:rPr sz="1250" b="1" i="0">
                <a:solidFill>
                  <a:srgbClr val="333F50"/>
                </a:solidFill>
                <a:latin typeface="Courier New"/>
              </a:rPr>
              <a:t>node = new Node(A[mid])</a:t>
            </a:r>
          </a:p>
          <a:p>
            <a:pPr algn="l"/>
            <a:r>
              <a:rPr sz="1250" b="1" i="0">
                <a:solidFill>
                  <a:srgbClr val="333F50"/>
                </a:solidFill>
                <a:latin typeface="Courier New"/>
              </a:rPr>
              <a:t>  </a:t>
            </a:r>
            <a:r>
              <a:rPr lang="en-US" sz="1250" b="1" i="0">
                <a:solidFill>
                  <a:srgbClr val="333F50"/>
                </a:solidFill>
                <a:latin typeface="Courier New"/>
              </a:rPr>
              <a:t>  </a:t>
            </a:r>
            <a:r>
              <a:rPr sz="1250" b="1" i="0">
                <a:solidFill>
                  <a:srgbClr val="333F50"/>
                </a:solidFill>
                <a:latin typeface="Courier New"/>
              </a:rPr>
              <a:t>node.left = </a:t>
            </a:r>
            <a:r>
              <a:rPr lang="en-US" sz="1250" b="1" i="0">
                <a:solidFill>
                  <a:srgbClr val="333F50"/>
                </a:solidFill>
                <a:latin typeface="Courier New"/>
              </a:rPr>
              <a:t>BUILDBALANCED</a:t>
            </a:r>
            <a:r>
              <a:rPr sz="1250" b="1" i="0">
                <a:solidFill>
                  <a:srgbClr val="333F50"/>
                </a:solidFill>
                <a:latin typeface="Courier New"/>
              </a:rPr>
              <a:t>(A, lo, mid-1)</a:t>
            </a:r>
          </a:p>
          <a:p>
            <a:pPr algn="l"/>
            <a:r>
              <a:rPr sz="1250" b="1" i="0">
                <a:solidFill>
                  <a:srgbClr val="333F50"/>
                </a:solidFill>
                <a:latin typeface="Courier New"/>
              </a:rPr>
              <a:t>  </a:t>
            </a:r>
            <a:r>
              <a:rPr lang="en-US" sz="1250" b="1" i="0">
                <a:solidFill>
                  <a:srgbClr val="333F50"/>
                </a:solidFill>
                <a:latin typeface="Courier New"/>
              </a:rPr>
              <a:t>  </a:t>
            </a:r>
            <a:r>
              <a:rPr sz="1250" b="1" i="0">
                <a:solidFill>
                  <a:srgbClr val="333F50"/>
                </a:solidFill>
                <a:latin typeface="Courier New"/>
              </a:rPr>
              <a:t>node.right = </a:t>
            </a:r>
            <a:r>
              <a:rPr lang="en-US" sz="1250" b="1" i="0">
                <a:solidFill>
                  <a:srgbClr val="333F50"/>
                </a:solidFill>
                <a:latin typeface="Courier New"/>
              </a:rPr>
              <a:t>BUILDBALANCED</a:t>
            </a:r>
            <a:r>
              <a:rPr sz="1250" b="1" i="0">
                <a:solidFill>
                  <a:srgbClr val="333F50"/>
                </a:solidFill>
                <a:latin typeface="Courier New"/>
              </a:rPr>
              <a:t>(A, mid+1, hi)</a:t>
            </a:r>
          </a:p>
          <a:p>
            <a:pPr algn="l"/>
            <a:r>
              <a:rPr sz="1250" b="1" i="0">
                <a:solidFill>
                  <a:srgbClr val="333F50"/>
                </a:solidFill>
                <a:latin typeface="Courier New"/>
              </a:rPr>
              <a:t>  </a:t>
            </a:r>
            <a:r>
              <a:rPr lang="en-US" sz="1250" b="1" i="0">
                <a:solidFill>
                  <a:srgbClr val="333F50"/>
                </a:solidFill>
                <a:latin typeface="Courier New"/>
              </a:rPr>
              <a:t>  </a:t>
            </a:r>
            <a:r>
              <a:rPr sz="1250" b="1" i="0">
                <a:solidFill>
                  <a:srgbClr val="333F50"/>
                </a:solidFill>
                <a:latin typeface="Courier New"/>
              </a:rPr>
              <a:t>return node</a:t>
            </a:r>
          </a:p>
          <a:p>
            <a:pPr algn="l"/>
            <a:endParaRPr sz="1250" b="1" i="0">
              <a:solidFill>
                <a:srgbClr val="333F50"/>
              </a:solidFill>
              <a:latin typeface="Courier New"/>
            </a:endParaRPr>
          </a:p>
          <a:p>
            <a:pPr algn="l"/>
            <a:r>
              <a:rPr sz="1250" b="1" i="0">
                <a:solidFill>
                  <a:srgbClr val="333F50"/>
                </a:solidFill>
                <a:latin typeface="Courier New"/>
              </a:rPr>
              <a:t># initial call: </a:t>
            </a:r>
            <a:r>
              <a:rPr lang="en-US" sz="1250" b="1" i="0">
                <a:solidFill>
                  <a:srgbClr val="333F50"/>
                </a:solidFill>
                <a:latin typeface="Courier New"/>
              </a:rPr>
              <a:t>BUILDBALANCED</a:t>
            </a:r>
            <a:r>
              <a:rPr sz="1250" b="1" i="0">
                <a:solidFill>
                  <a:srgbClr val="333F50"/>
                </a:solidFill>
                <a:latin typeface="Courier New"/>
              </a:rPr>
              <a:t>(A, 0, n-1)</a:t>
            </a:r>
          </a:p>
        </p:txBody>
      </p:sp>
      <p:sp>
        <p:nvSpPr>
          <p:cNvPr id="7" name="Rounded Rectangle 6"/>
          <p:cNvSpPr/>
          <p:nvPr/>
        </p:nvSpPr>
        <p:spPr>
          <a:xfrm>
            <a:off x="6675120" y="1874519"/>
            <a:ext cx="4965192" cy="2926080"/>
          </a:xfrm>
          <a:prstGeom prst="roundRect">
            <a:avLst>
              <a:gd name="adj" fmla="val 5000"/>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903720" y="2057400"/>
            <a:ext cx="4572000" cy="169277"/>
          </a:xfrm>
          <a:prstGeom prst="rect">
            <a:avLst/>
          </a:prstGeom>
          <a:noFill/>
        </p:spPr>
        <p:txBody>
          <a:bodyPr wrap="square" lIns="0" tIns="0" rIns="0" bIns="0" anchor="t">
            <a:spAutoFit/>
          </a:bodyPr>
          <a:lstStyle/>
          <a:p>
            <a:pPr algn="l"/>
            <a:r>
              <a:rPr sz="1100" b="1" i="0" dirty="0">
                <a:solidFill>
                  <a:srgbClr val="4472C4"/>
                </a:solidFill>
                <a:latin typeface="Calibri"/>
              </a:rPr>
              <a:t>SORTED A = [2, 5, 7, </a:t>
            </a:r>
            <a:r>
              <a:rPr sz="1100" b="1" i="0" dirty="0">
                <a:solidFill>
                  <a:schemeClr val="accent2"/>
                </a:solidFill>
                <a:latin typeface="Calibri"/>
              </a:rPr>
              <a:t>8, 13, </a:t>
            </a:r>
            <a:r>
              <a:rPr sz="1100" b="1" i="0" dirty="0">
                <a:solidFill>
                  <a:srgbClr val="4472C4"/>
                </a:solidFill>
                <a:latin typeface="Calibri"/>
              </a:rPr>
              <a:t>17, 20, 25]</a:t>
            </a:r>
          </a:p>
        </p:txBody>
      </p:sp>
      <p:cxnSp>
        <p:nvCxnSpPr>
          <p:cNvPr id="9" name="Connector 8"/>
          <p:cNvCxnSpPr/>
          <p:nvPr/>
        </p:nvCxnSpPr>
        <p:spPr>
          <a:xfrm flipH="1">
            <a:off x="8001000" y="2606039"/>
            <a:ext cx="1143000" cy="594361"/>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9144000" y="2606039"/>
            <a:ext cx="1143000" cy="594361"/>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7406640" y="3200400"/>
            <a:ext cx="594360" cy="59436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8001000" y="3200400"/>
            <a:ext cx="594360" cy="59436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9692640" y="3200400"/>
            <a:ext cx="594360" cy="59436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287000" y="3200400"/>
            <a:ext cx="594360" cy="59436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6995160" y="3794760"/>
            <a:ext cx="411480" cy="41148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8942832" y="2404871"/>
            <a:ext cx="402336" cy="402336"/>
          </a:xfrm>
          <a:prstGeom prst="ellipse">
            <a:avLst/>
          </a:prstGeom>
          <a:solidFill>
            <a:srgbClr val="D6DCE4"/>
          </a:solidFill>
          <a:ln w="22225">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942832" y="2506011"/>
            <a:ext cx="402336" cy="200055"/>
          </a:xfrm>
          <a:prstGeom prst="rect">
            <a:avLst/>
          </a:prstGeom>
          <a:noFill/>
        </p:spPr>
        <p:txBody>
          <a:bodyPr wrap="square" lIns="0" tIns="0" rIns="0" bIns="0" anchor="ctr">
            <a:spAutoFit/>
          </a:bodyPr>
          <a:lstStyle/>
          <a:p>
            <a:pPr algn="ctr"/>
            <a:r>
              <a:rPr lang="en-US" sz="1300" b="1" i="0">
                <a:solidFill>
                  <a:srgbClr val="333F50"/>
                </a:solidFill>
                <a:latin typeface="Calibri"/>
              </a:rPr>
              <a:t>13</a:t>
            </a:r>
            <a:endParaRPr sz="1300" b="1" i="0">
              <a:solidFill>
                <a:srgbClr val="333F50"/>
              </a:solidFill>
              <a:latin typeface="Calibri"/>
            </a:endParaRPr>
          </a:p>
        </p:txBody>
      </p:sp>
      <p:sp>
        <p:nvSpPr>
          <p:cNvPr id="18" name="Oval 17"/>
          <p:cNvSpPr/>
          <p:nvPr/>
        </p:nvSpPr>
        <p:spPr>
          <a:xfrm>
            <a:off x="7799831" y="2999232"/>
            <a:ext cx="402336" cy="402336"/>
          </a:xfrm>
          <a:prstGeom prst="ellipse">
            <a:avLst/>
          </a:prstGeom>
          <a:solidFill>
            <a:srgbClr val="D6DCE4"/>
          </a:solidFill>
          <a:ln w="22225">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99831" y="3100372"/>
            <a:ext cx="402336" cy="200055"/>
          </a:xfrm>
          <a:prstGeom prst="rect">
            <a:avLst/>
          </a:prstGeom>
          <a:noFill/>
        </p:spPr>
        <p:txBody>
          <a:bodyPr wrap="square" lIns="0" tIns="0" rIns="0" bIns="0" anchor="ctr">
            <a:spAutoFit/>
          </a:bodyPr>
          <a:lstStyle/>
          <a:p>
            <a:pPr algn="ctr"/>
            <a:r>
              <a:rPr lang="en-US" sz="1300" b="1" i="0">
                <a:solidFill>
                  <a:srgbClr val="333F50"/>
                </a:solidFill>
                <a:latin typeface="Calibri"/>
              </a:rPr>
              <a:t>7</a:t>
            </a:r>
            <a:endParaRPr sz="1300" b="1" i="0">
              <a:solidFill>
                <a:srgbClr val="333F50"/>
              </a:solidFill>
              <a:latin typeface="Calibri"/>
            </a:endParaRPr>
          </a:p>
        </p:txBody>
      </p:sp>
      <p:sp>
        <p:nvSpPr>
          <p:cNvPr id="20" name="Oval 19"/>
          <p:cNvSpPr/>
          <p:nvPr/>
        </p:nvSpPr>
        <p:spPr>
          <a:xfrm>
            <a:off x="10085832" y="2999232"/>
            <a:ext cx="402336" cy="402336"/>
          </a:xfrm>
          <a:prstGeom prst="ellipse">
            <a:avLst/>
          </a:prstGeom>
          <a:solidFill>
            <a:srgbClr val="D6DCE4"/>
          </a:solidFill>
          <a:ln w="22225">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0085832" y="3100372"/>
            <a:ext cx="402336" cy="200055"/>
          </a:xfrm>
          <a:prstGeom prst="rect">
            <a:avLst/>
          </a:prstGeom>
          <a:noFill/>
        </p:spPr>
        <p:txBody>
          <a:bodyPr wrap="square" lIns="0" tIns="0" rIns="0" bIns="0" anchor="ctr">
            <a:spAutoFit/>
          </a:bodyPr>
          <a:lstStyle/>
          <a:p>
            <a:pPr algn="ctr"/>
            <a:r>
              <a:rPr lang="en-US" sz="1300" b="1" i="0">
                <a:solidFill>
                  <a:srgbClr val="333F50"/>
                </a:solidFill>
                <a:latin typeface="Calibri"/>
              </a:rPr>
              <a:t>20</a:t>
            </a:r>
            <a:endParaRPr sz="1300" b="1" i="0">
              <a:solidFill>
                <a:srgbClr val="333F50"/>
              </a:solidFill>
              <a:latin typeface="Calibri"/>
            </a:endParaRPr>
          </a:p>
        </p:txBody>
      </p:sp>
      <p:sp>
        <p:nvSpPr>
          <p:cNvPr id="22" name="Oval 21"/>
          <p:cNvSpPr/>
          <p:nvPr/>
        </p:nvSpPr>
        <p:spPr>
          <a:xfrm>
            <a:off x="7205472" y="3593592"/>
            <a:ext cx="402336" cy="402336"/>
          </a:xfrm>
          <a:prstGeom prst="ellipse">
            <a:avLst/>
          </a:prstGeom>
          <a:solidFill>
            <a:srgbClr val="FFFFFF"/>
          </a:solidFill>
          <a:ln w="22225">
            <a:solidFill>
              <a:srgbClr val="4454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205472" y="3694732"/>
            <a:ext cx="402336" cy="200055"/>
          </a:xfrm>
          <a:prstGeom prst="rect">
            <a:avLst/>
          </a:prstGeom>
          <a:noFill/>
        </p:spPr>
        <p:txBody>
          <a:bodyPr wrap="square" lIns="0" tIns="0" rIns="0" bIns="0" anchor="ctr">
            <a:spAutoFit/>
          </a:bodyPr>
          <a:lstStyle/>
          <a:p>
            <a:pPr algn="ctr"/>
            <a:r>
              <a:rPr lang="en-US" sz="1300" b="1" i="0">
                <a:solidFill>
                  <a:srgbClr val="333F50"/>
                </a:solidFill>
                <a:latin typeface="Calibri"/>
              </a:rPr>
              <a:t>5</a:t>
            </a:r>
            <a:endParaRPr sz="1300" b="1" i="0">
              <a:solidFill>
                <a:srgbClr val="333F50"/>
              </a:solidFill>
              <a:latin typeface="Calibri"/>
            </a:endParaRPr>
          </a:p>
        </p:txBody>
      </p:sp>
      <p:sp>
        <p:nvSpPr>
          <p:cNvPr id="24" name="Oval 23"/>
          <p:cNvSpPr/>
          <p:nvPr/>
        </p:nvSpPr>
        <p:spPr>
          <a:xfrm>
            <a:off x="8394192" y="3593592"/>
            <a:ext cx="402336" cy="402336"/>
          </a:xfrm>
          <a:prstGeom prst="ellipse">
            <a:avLst/>
          </a:prstGeom>
          <a:solidFill>
            <a:srgbClr val="FFFFFF"/>
          </a:solidFill>
          <a:ln w="22225">
            <a:solidFill>
              <a:srgbClr val="4454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394192" y="3694732"/>
            <a:ext cx="402336" cy="200055"/>
          </a:xfrm>
          <a:prstGeom prst="rect">
            <a:avLst/>
          </a:prstGeom>
          <a:noFill/>
        </p:spPr>
        <p:txBody>
          <a:bodyPr wrap="square" lIns="0" tIns="0" rIns="0" bIns="0" anchor="ctr">
            <a:spAutoFit/>
          </a:bodyPr>
          <a:lstStyle/>
          <a:p>
            <a:pPr algn="ctr"/>
            <a:r>
              <a:rPr lang="en-US" sz="1300" b="1" i="0">
                <a:solidFill>
                  <a:srgbClr val="333F50"/>
                </a:solidFill>
                <a:latin typeface="Calibri"/>
              </a:rPr>
              <a:t>8</a:t>
            </a:r>
            <a:endParaRPr sz="1300" b="1" i="0">
              <a:solidFill>
                <a:srgbClr val="333F50"/>
              </a:solidFill>
              <a:latin typeface="Calibri"/>
            </a:endParaRPr>
          </a:p>
        </p:txBody>
      </p:sp>
      <p:sp>
        <p:nvSpPr>
          <p:cNvPr id="26" name="Oval 25"/>
          <p:cNvSpPr/>
          <p:nvPr/>
        </p:nvSpPr>
        <p:spPr>
          <a:xfrm>
            <a:off x="9491472" y="3593592"/>
            <a:ext cx="402336" cy="402336"/>
          </a:xfrm>
          <a:prstGeom prst="ellipse">
            <a:avLst/>
          </a:prstGeom>
          <a:solidFill>
            <a:srgbClr val="FFFFFF"/>
          </a:solidFill>
          <a:ln w="22225">
            <a:solidFill>
              <a:srgbClr val="4454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491472" y="3694732"/>
            <a:ext cx="402336" cy="200055"/>
          </a:xfrm>
          <a:prstGeom prst="rect">
            <a:avLst/>
          </a:prstGeom>
          <a:noFill/>
        </p:spPr>
        <p:txBody>
          <a:bodyPr wrap="square" lIns="0" tIns="0" rIns="0" bIns="0" anchor="ctr">
            <a:spAutoFit/>
          </a:bodyPr>
          <a:lstStyle/>
          <a:p>
            <a:pPr algn="ctr"/>
            <a:r>
              <a:rPr lang="en-US" sz="1300" b="1" i="0">
                <a:solidFill>
                  <a:srgbClr val="333F50"/>
                </a:solidFill>
                <a:latin typeface="Calibri"/>
              </a:rPr>
              <a:t>17</a:t>
            </a:r>
            <a:endParaRPr sz="1300" b="1" i="0">
              <a:solidFill>
                <a:srgbClr val="333F50"/>
              </a:solidFill>
              <a:latin typeface="Calibri"/>
            </a:endParaRPr>
          </a:p>
        </p:txBody>
      </p:sp>
      <p:sp>
        <p:nvSpPr>
          <p:cNvPr id="28" name="Oval 27"/>
          <p:cNvSpPr/>
          <p:nvPr/>
        </p:nvSpPr>
        <p:spPr>
          <a:xfrm>
            <a:off x="10680192" y="3593592"/>
            <a:ext cx="402336" cy="402336"/>
          </a:xfrm>
          <a:prstGeom prst="ellipse">
            <a:avLst/>
          </a:prstGeom>
          <a:solidFill>
            <a:srgbClr val="FFFFFF"/>
          </a:solidFill>
          <a:ln w="22225">
            <a:solidFill>
              <a:srgbClr val="4454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0680192" y="3694732"/>
            <a:ext cx="402336" cy="200055"/>
          </a:xfrm>
          <a:prstGeom prst="rect">
            <a:avLst/>
          </a:prstGeom>
          <a:noFill/>
        </p:spPr>
        <p:txBody>
          <a:bodyPr wrap="square" lIns="0" tIns="0" rIns="0" bIns="0" anchor="ctr">
            <a:spAutoFit/>
          </a:bodyPr>
          <a:lstStyle/>
          <a:p>
            <a:pPr algn="ctr"/>
            <a:r>
              <a:rPr lang="en-US" sz="1300" b="1" i="0">
                <a:solidFill>
                  <a:srgbClr val="333F50"/>
                </a:solidFill>
                <a:latin typeface="Calibri"/>
              </a:rPr>
              <a:t>25</a:t>
            </a:r>
            <a:endParaRPr sz="1300" b="1" i="0">
              <a:solidFill>
                <a:srgbClr val="333F50"/>
              </a:solidFill>
              <a:latin typeface="Calibri"/>
            </a:endParaRPr>
          </a:p>
        </p:txBody>
      </p:sp>
      <p:sp>
        <p:nvSpPr>
          <p:cNvPr id="30" name="Oval 29"/>
          <p:cNvSpPr/>
          <p:nvPr/>
        </p:nvSpPr>
        <p:spPr>
          <a:xfrm>
            <a:off x="6793992" y="4005072"/>
            <a:ext cx="402336" cy="402336"/>
          </a:xfrm>
          <a:prstGeom prst="ellipse">
            <a:avLst/>
          </a:prstGeom>
          <a:solidFill>
            <a:srgbClr val="FFFFFF"/>
          </a:solidFill>
          <a:ln w="22225">
            <a:solidFill>
              <a:srgbClr val="4454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793992" y="4106212"/>
            <a:ext cx="402336" cy="200055"/>
          </a:xfrm>
          <a:prstGeom prst="rect">
            <a:avLst/>
          </a:prstGeom>
          <a:noFill/>
        </p:spPr>
        <p:txBody>
          <a:bodyPr wrap="square" lIns="0" tIns="0" rIns="0" bIns="0" anchor="ctr">
            <a:spAutoFit/>
          </a:bodyPr>
          <a:lstStyle/>
          <a:p>
            <a:pPr algn="ctr"/>
            <a:r>
              <a:rPr lang="en-US" sz="1300" b="1" i="0">
                <a:solidFill>
                  <a:srgbClr val="333F50"/>
                </a:solidFill>
                <a:latin typeface="Calibri"/>
              </a:rPr>
              <a:t>2</a:t>
            </a:r>
            <a:endParaRPr sz="1300" b="1" i="0">
              <a:solidFill>
                <a:srgbClr val="333F50"/>
              </a:solidFill>
              <a:latin typeface="Calibri"/>
            </a:endParaRPr>
          </a:p>
        </p:txBody>
      </p:sp>
      <p:sp>
        <p:nvSpPr>
          <p:cNvPr id="32" name="TextBox 31"/>
          <p:cNvSpPr txBox="1"/>
          <p:nvPr/>
        </p:nvSpPr>
        <p:spPr>
          <a:xfrm>
            <a:off x="6903720" y="4434840"/>
            <a:ext cx="4572000" cy="274320"/>
          </a:xfrm>
          <a:prstGeom prst="rect">
            <a:avLst/>
          </a:prstGeom>
          <a:noFill/>
        </p:spPr>
        <p:txBody>
          <a:bodyPr wrap="square" lIns="0" tIns="0" rIns="0" bIns="0" anchor="t">
            <a:spAutoFit/>
          </a:bodyPr>
          <a:lstStyle/>
          <a:p>
            <a:pPr algn="l"/>
            <a:r>
              <a:rPr sz="1100" b="0" i="0">
                <a:solidFill>
                  <a:srgbClr val="595959"/>
                </a:solidFill>
                <a:latin typeface="Calibri"/>
              </a:rPr>
              <a:t>Blue = pivots chosen at the top two levels of recursion</a:t>
            </a:r>
          </a:p>
        </p:txBody>
      </p:sp>
      <p:sp>
        <p:nvSpPr>
          <p:cNvPr id="33" name="Rounded Rectangle 32"/>
          <p:cNvSpPr/>
          <p:nvPr/>
        </p:nvSpPr>
        <p:spPr>
          <a:xfrm>
            <a:off x="548640" y="4983480"/>
            <a:ext cx="11091672" cy="1184034"/>
          </a:xfrm>
          <a:prstGeom prst="roundRect">
            <a:avLst>
              <a:gd name="adj" fmla="val 5000"/>
            </a:avLst>
          </a:prstGeom>
          <a:solidFill>
            <a:srgbClr val="F5F5F5"/>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005840" y="5143381"/>
            <a:ext cx="10607040" cy="800219"/>
          </a:xfrm>
          <a:prstGeom prst="rect">
            <a:avLst/>
          </a:prstGeom>
          <a:noFill/>
        </p:spPr>
        <p:txBody>
          <a:bodyPr wrap="square" lIns="0" tIns="0" rIns="0" bIns="0" anchor="ctr">
            <a:spAutoFit/>
          </a:bodyPr>
          <a:lstStyle/>
          <a:p>
            <a:pPr algn="l"/>
            <a:r>
              <a:rPr sz="1300" b="1" i="0" dirty="0">
                <a:solidFill>
                  <a:srgbClr val="333F50"/>
                </a:solidFill>
                <a:latin typeface="Courier New"/>
              </a:rPr>
              <a:t>T(n) = 2·T(n/2) + O(1) = O(n)</a:t>
            </a:r>
            <a:r>
              <a:rPr sz="1300" i="0" dirty="0">
                <a:solidFill>
                  <a:srgbClr val="333F50"/>
                </a:solidFill>
                <a:latin typeface="Calibri"/>
              </a:rPr>
              <a:t>   </a:t>
            </a:r>
            <a:r>
              <a:rPr sz="1300" b="0" i="0" dirty="0">
                <a:solidFill>
                  <a:srgbClr val="333F50"/>
                </a:solidFill>
                <a:latin typeface="Calibri"/>
              </a:rPr>
              <a:t>·   height = ⌊log₂ 8⌋ = 3, the minimum possible (vs. 5 and 7 on slide 2)</a:t>
            </a:r>
            <a:endParaRPr lang="en-US" sz="1300" b="0" i="0" dirty="0">
              <a:solidFill>
                <a:srgbClr val="333F50"/>
              </a:solidFill>
              <a:latin typeface="Calibri"/>
            </a:endParaRPr>
          </a:p>
          <a:p>
            <a:pPr algn="l"/>
            <a:endParaRPr lang="en-US" sz="1300" dirty="0">
              <a:solidFill>
                <a:srgbClr val="333F50"/>
              </a:solidFill>
              <a:latin typeface="Calibri"/>
            </a:endParaRPr>
          </a:p>
          <a:p>
            <a:pPr algn="l"/>
            <a:r>
              <a:rPr lang="en-US" sz="1300" b="0" i="0" dirty="0">
                <a:solidFill>
                  <a:srgbClr val="333F50"/>
                </a:solidFill>
                <a:latin typeface="Calibri"/>
              </a:rPr>
              <a:t>Note: This sorted array had 2 medians. We chose the higher valued median = 13 to build the tree. You can also choose the lower valued median = 8 and still get a valid balanced BST. </a:t>
            </a:r>
            <a:r>
              <a:rPr lang="en-US" sz="1300" dirty="0">
                <a:solidFill>
                  <a:srgbClr val="333F50"/>
                </a:solidFill>
                <a:latin typeface="Calibri"/>
              </a:rPr>
              <a:t>Only difference would be the shape/structure of the tree. </a:t>
            </a:r>
            <a:r>
              <a:rPr lang="en-US" sz="1300" b="0" i="0" dirty="0">
                <a:solidFill>
                  <a:srgbClr val="333F50"/>
                </a:solidFill>
                <a:latin typeface="Calibri"/>
              </a:rPr>
              <a:t> </a:t>
            </a:r>
            <a:endParaRPr sz="1300" b="0" i="0" dirty="0">
              <a:solidFill>
                <a:srgbClr val="333F50"/>
              </a:solidFill>
              <a:latin typeface="Calibri"/>
            </a:endParaRPr>
          </a:p>
        </p:txBody>
      </p:sp>
      <p:sp>
        <p:nvSpPr>
          <p:cNvPr id="35" name="TextBox 34"/>
          <p:cNvSpPr txBox="1"/>
          <p:nvPr/>
        </p:nvSpPr>
        <p:spPr>
          <a:xfrm>
            <a:off x="548640" y="6501384"/>
            <a:ext cx="9326880" cy="138499"/>
          </a:xfrm>
          <a:prstGeom prst="rect">
            <a:avLst/>
          </a:prstGeom>
          <a:noFill/>
        </p:spPr>
        <p:txBody>
          <a:bodyPr wrap="square" lIns="0" tIns="0" rIns="0" bIns="0" anchor="t">
            <a:spAutoFit/>
          </a:bodyPr>
          <a:lstStyle/>
          <a:p>
            <a:pPr algn="l"/>
            <a:r>
              <a:rPr lang="en-US" sz="900" b="0" i="0">
                <a:solidFill>
                  <a:srgbClr val="595959"/>
                </a:solidFill>
                <a:latin typeface="Calibri"/>
              </a:rPr>
              <a:t>CS 383 </a:t>
            </a:r>
            <a:r>
              <a:rPr sz="900" b="0" i="0">
                <a:solidFill>
                  <a:srgbClr val="595959"/>
                </a:solidFill>
                <a:latin typeface="Calibri"/>
              </a:rPr>
              <a:t>Algorithm Design </a:t>
            </a:r>
            <a:r>
              <a:rPr lang="en-US" sz="900" b="0" i="0">
                <a:solidFill>
                  <a:srgbClr val="595959"/>
                </a:solidFill>
                <a:latin typeface="Calibri"/>
              </a:rPr>
              <a:t>and Analysis </a:t>
            </a:r>
            <a:r>
              <a:rPr sz="900" b="0" i="0">
                <a:solidFill>
                  <a:srgbClr val="595959"/>
                </a:solidFill>
                <a:latin typeface="Calibri"/>
              </a:rPr>
              <a:t> ·  Balanced Binary Search Trees  ·  </a:t>
            </a:r>
            <a:r>
              <a:rPr lang="en-US" sz="900" b="0" i="0">
                <a:solidFill>
                  <a:srgbClr val="595959"/>
                </a:solidFill>
                <a:latin typeface="Calibri"/>
              </a:rPr>
              <a:t>Tanwistha Saha</a:t>
            </a:r>
            <a:endParaRPr sz="900" b="0" i="0">
              <a:solidFill>
                <a:srgbClr val="595959"/>
              </a:solidFill>
              <a:latin typeface="Calibri"/>
            </a:endParaRPr>
          </a:p>
        </p:txBody>
      </p:sp>
      <p:sp>
        <p:nvSpPr>
          <p:cNvPr id="36" name="TextBox 35"/>
          <p:cNvSpPr txBox="1"/>
          <p:nvPr/>
        </p:nvSpPr>
        <p:spPr>
          <a:xfrm>
            <a:off x="10908792" y="6501384"/>
            <a:ext cx="731520" cy="138499"/>
          </a:xfrm>
          <a:prstGeom prst="rect">
            <a:avLst/>
          </a:prstGeom>
          <a:noFill/>
        </p:spPr>
        <p:txBody>
          <a:bodyPr wrap="square" lIns="0" tIns="0" rIns="0" bIns="0" anchor="t">
            <a:spAutoFit/>
          </a:bodyPr>
          <a:lstStyle/>
          <a:p>
            <a:pPr algn="r"/>
            <a:r>
              <a:rPr lang="en-US" sz="900" b="0" i="0">
                <a:solidFill>
                  <a:srgbClr val="595959"/>
                </a:solidFill>
                <a:latin typeface="Calibri"/>
              </a:rPr>
              <a:t>6</a:t>
            </a:r>
            <a:endParaRPr sz="900" b="0" i="0">
              <a:solidFill>
                <a:srgbClr val="595959"/>
              </a:solidFill>
              <a:latin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9144000" cy="320040"/>
          </a:xfrm>
          <a:prstGeom prst="rect">
            <a:avLst/>
          </a:prstGeom>
          <a:noFill/>
        </p:spPr>
        <p:txBody>
          <a:bodyPr wrap="square" lIns="0" tIns="0" rIns="0" bIns="0" anchor="t">
            <a:spAutoFit/>
          </a:bodyPr>
          <a:lstStyle/>
          <a:p>
            <a:pPr algn="l"/>
            <a:r>
              <a:rPr sz="1200" b="1" i="0">
                <a:solidFill>
                  <a:srgbClr val="4472C4"/>
                </a:solidFill>
                <a:latin typeface="Calibri"/>
              </a:rPr>
              <a:t>PIVOT STRATEGY</a:t>
            </a:r>
          </a:p>
        </p:txBody>
      </p:sp>
      <p:sp>
        <p:nvSpPr>
          <p:cNvPr id="3" name="TextBox 2"/>
          <p:cNvSpPr txBox="1"/>
          <p:nvPr/>
        </p:nvSpPr>
        <p:spPr>
          <a:xfrm>
            <a:off x="548640" y="658368"/>
            <a:ext cx="11064240" cy="640080"/>
          </a:xfrm>
          <a:prstGeom prst="rect">
            <a:avLst/>
          </a:prstGeom>
          <a:noFill/>
        </p:spPr>
        <p:txBody>
          <a:bodyPr wrap="square" lIns="0" tIns="0" rIns="0" bIns="0" anchor="t">
            <a:spAutoFit/>
          </a:bodyPr>
          <a:lstStyle/>
          <a:p>
            <a:pPr algn="l"/>
            <a:r>
              <a:rPr sz="2800" b="1" i="0">
                <a:solidFill>
                  <a:srgbClr val="333F50"/>
                </a:solidFill>
                <a:latin typeface="Calibri Light"/>
              </a:rPr>
              <a:t>The pivot choice determines the height</a:t>
            </a:r>
          </a:p>
        </p:txBody>
      </p:sp>
      <p:sp>
        <p:nvSpPr>
          <p:cNvPr id="4" name="TextBox 3"/>
          <p:cNvSpPr txBox="1"/>
          <p:nvPr/>
        </p:nvSpPr>
        <p:spPr>
          <a:xfrm>
            <a:off x="548640" y="1197864"/>
            <a:ext cx="11064240" cy="502920"/>
          </a:xfrm>
          <a:prstGeom prst="rect">
            <a:avLst/>
          </a:prstGeom>
          <a:noFill/>
        </p:spPr>
        <p:txBody>
          <a:bodyPr wrap="square" lIns="0" tIns="0" rIns="0" bIns="0" anchor="t">
            <a:spAutoFit/>
          </a:bodyPr>
          <a:lstStyle/>
          <a:p>
            <a:pPr algn="l"/>
            <a:r>
              <a:rPr sz="1400" b="0" i="0">
                <a:solidFill>
                  <a:srgbClr val="595959"/>
                </a:solidFill>
                <a:latin typeface="Calibri"/>
              </a:rPr>
              <a:t>Plain BST insertion makes the FIRST key that reaches a subtree its pivot, so the input order chooses the pivots for us.</a:t>
            </a:r>
          </a:p>
        </p:txBody>
      </p:sp>
      <p:graphicFrame>
        <p:nvGraphicFramePr>
          <p:cNvPr id="5" name="Table 4"/>
          <p:cNvGraphicFramePr>
            <a:graphicFrameLocks noGrp="1"/>
          </p:cNvGraphicFramePr>
          <p:nvPr>
            <p:extLst>
              <p:ext uri="{D42A27DB-BD31-4B8C-83A1-F6EECF244321}">
                <p14:modId xmlns:p14="http://schemas.microsoft.com/office/powerpoint/2010/main" val="1146038173"/>
              </p:ext>
            </p:extLst>
          </p:nvPr>
        </p:nvGraphicFramePr>
        <p:xfrm>
          <a:off x="548640" y="1874519"/>
          <a:ext cx="11091672" cy="1755648"/>
        </p:xfrm>
        <a:graphic>
          <a:graphicData uri="http://schemas.openxmlformats.org/drawingml/2006/table">
            <a:tbl>
              <a:tblPr firstRow="1">
                <a:tableStyleId>{5C22544A-7EE6-4342-B048-85BDC9FD1C3A}</a:tableStyleId>
              </a:tblPr>
              <a:tblGrid>
                <a:gridCol w="283464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2953512">
                  <a:extLst>
                    <a:ext uri="{9D8B030D-6E8A-4147-A177-3AD203B41FA5}">
                      <a16:colId xmlns:a16="http://schemas.microsoft.com/office/drawing/2014/main" val="20003"/>
                    </a:ext>
                  </a:extLst>
                </a:gridCol>
              </a:tblGrid>
              <a:tr h="438912">
                <a:tc>
                  <a:txBody>
                    <a:bodyPr/>
                    <a:lstStyle/>
                    <a:p>
                      <a:pPr algn="l"/>
                      <a:r>
                        <a:rPr sz="1200" b="1">
                          <a:solidFill>
                            <a:srgbClr val="FFFFFF"/>
                          </a:solidFill>
                          <a:latin typeface="Calibri"/>
                        </a:rPr>
                        <a:t>Pivot (subtree root) choice</a:t>
                      </a:r>
                    </a:p>
                  </a:txBody>
                  <a:tcPr anchor="ctr">
                    <a:solidFill>
                      <a:srgbClr val="333F50"/>
                    </a:solidFill>
                  </a:tcPr>
                </a:tc>
                <a:tc>
                  <a:txBody>
                    <a:bodyPr/>
                    <a:lstStyle/>
                    <a:p>
                      <a:pPr algn="l"/>
                      <a:r>
                        <a:rPr sz="1200" b="1">
                          <a:solidFill>
                            <a:srgbClr val="FFFFFF"/>
                          </a:solidFill>
                          <a:latin typeface="Calibri"/>
                        </a:rPr>
                        <a:t>How the remaining keys split</a:t>
                      </a:r>
                    </a:p>
                  </a:txBody>
                  <a:tcPr anchor="ctr">
                    <a:solidFill>
                      <a:srgbClr val="333F50"/>
                    </a:solidFill>
                  </a:tcPr>
                </a:tc>
                <a:tc>
                  <a:txBody>
                    <a:bodyPr/>
                    <a:lstStyle/>
                    <a:p>
                      <a:pPr algn="l"/>
                      <a:r>
                        <a:rPr sz="1200" b="1">
                          <a:solidFill>
                            <a:srgbClr val="FFFFFF"/>
                          </a:solidFill>
                          <a:latin typeface="Calibri"/>
                        </a:rPr>
                        <a:t>Resulting height</a:t>
                      </a:r>
                    </a:p>
                  </a:txBody>
                  <a:tcPr anchor="ctr">
                    <a:solidFill>
                      <a:srgbClr val="333F50"/>
                    </a:solidFill>
                  </a:tcPr>
                </a:tc>
                <a:tc>
                  <a:txBody>
                    <a:bodyPr/>
                    <a:lstStyle/>
                    <a:p>
                      <a:pPr algn="l"/>
                      <a:r>
                        <a:rPr sz="1200" b="1">
                          <a:solidFill>
                            <a:srgbClr val="FFFFFF"/>
                          </a:solidFill>
                          <a:latin typeface="Calibri"/>
                        </a:rPr>
                        <a:t>Example</a:t>
                      </a:r>
                    </a:p>
                  </a:txBody>
                  <a:tcPr anchor="ctr">
                    <a:solidFill>
                      <a:srgbClr val="333F50"/>
                    </a:solidFill>
                  </a:tcPr>
                </a:tc>
                <a:extLst>
                  <a:ext uri="{0D108BD9-81ED-4DB2-BD59-A6C34878D82A}">
                    <a16:rowId xmlns:a16="http://schemas.microsoft.com/office/drawing/2014/main" val="10000"/>
                  </a:ext>
                </a:extLst>
              </a:tr>
              <a:tr h="438912">
                <a:tc>
                  <a:txBody>
                    <a:bodyPr/>
                    <a:lstStyle/>
                    <a:p>
                      <a:pPr algn="l"/>
                      <a:r>
                        <a:rPr lang="en-US" sz="1200" b="1">
                          <a:solidFill>
                            <a:srgbClr val="333F50"/>
                          </a:solidFill>
                          <a:latin typeface="Calibri"/>
                        </a:rPr>
                        <a:t>Upper median</a:t>
                      </a:r>
                    </a:p>
                  </a:txBody>
                  <a:tcPr anchor="ctr">
                    <a:solidFill>
                      <a:srgbClr val="FFFFFF"/>
                    </a:solidFill>
                  </a:tcPr>
                </a:tc>
                <a:tc>
                  <a:txBody>
                    <a:bodyPr/>
                    <a:lstStyle/>
                    <a:p>
                      <a:pPr algn="l"/>
                      <a:r>
                        <a:rPr sz="1200" b="0">
                          <a:solidFill>
                            <a:srgbClr val="333F50"/>
                          </a:solidFill>
                          <a:latin typeface="Calibri"/>
                        </a:rPr>
                        <a:t>evenly, about half on each side</a:t>
                      </a:r>
                    </a:p>
                  </a:txBody>
                  <a:tcPr anchor="ctr">
                    <a:solidFill>
                      <a:srgbClr val="FFFFFF"/>
                    </a:solidFill>
                  </a:tcPr>
                </a:tc>
                <a:tc>
                  <a:txBody>
                    <a:bodyPr/>
                    <a:lstStyle/>
                    <a:p>
                      <a:pPr algn="l"/>
                      <a:r>
                        <a:rPr sz="1200" b="0">
                          <a:solidFill>
                            <a:srgbClr val="333F50"/>
                          </a:solidFill>
                          <a:latin typeface="Calibri"/>
                        </a:rPr>
                        <a:t>⌊log₂ n⌋</a:t>
                      </a:r>
                    </a:p>
                  </a:txBody>
                  <a:tcPr anchor="ctr">
                    <a:solidFill>
                      <a:srgbClr val="FFFFFF"/>
                    </a:solidFill>
                  </a:tcPr>
                </a:tc>
                <a:tc>
                  <a:txBody>
                    <a:bodyPr/>
                    <a:lstStyle/>
                    <a:p>
                      <a:pPr algn="l"/>
                      <a:r>
                        <a:rPr lang="en-US" sz="1200" b="0">
                          <a:solidFill>
                            <a:srgbClr val="333F50"/>
                          </a:solidFill>
                          <a:latin typeface="Calibri"/>
                        </a:rPr>
                        <a:t>BUILDBALANCED(sorted A): root 13</a:t>
                      </a:r>
                    </a:p>
                  </a:txBody>
                  <a:tcPr anchor="ctr">
                    <a:solidFill>
                      <a:srgbClr val="FFFFFF"/>
                    </a:solidFill>
                  </a:tcPr>
                </a:tc>
                <a:extLst>
                  <a:ext uri="{0D108BD9-81ED-4DB2-BD59-A6C34878D82A}">
                    <a16:rowId xmlns:a16="http://schemas.microsoft.com/office/drawing/2014/main" val="10001"/>
                  </a:ext>
                </a:extLst>
              </a:tr>
              <a:tr h="438912">
                <a:tc>
                  <a:txBody>
                    <a:bodyPr/>
                    <a:lstStyle/>
                    <a:p>
                      <a:pPr algn="l"/>
                      <a:r>
                        <a:rPr sz="1200" b="1">
                          <a:solidFill>
                            <a:srgbClr val="333F50"/>
                          </a:solidFill>
                          <a:latin typeface="Calibri"/>
                        </a:rPr>
                        <a:t>First key, sorted input</a:t>
                      </a:r>
                    </a:p>
                  </a:txBody>
                  <a:tcPr anchor="ctr">
                    <a:solidFill>
                      <a:srgbClr val="F7F8FA"/>
                    </a:solidFill>
                  </a:tcPr>
                </a:tc>
                <a:tc>
                  <a:txBody>
                    <a:bodyPr/>
                    <a:lstStyle/>
                    <a:p>
                      <a:pPr algn="l"/>
                      <a:r>
                        <a:rPr sz="1200" b="0">
                          <a:solidFill>
                            <a:srgbClr val="333F50"/>
                          </a:solidFill>
                          <a:latin typeface="Calibri"/>
                        </a:rPr>
                        <a:t>0 on one side, n − 1 on the other</a:t>
                      </a:r>
                    </a:p>
                  </a:txBody>
                  <a:tcPr anchor="ctr">
                    <a:solidFill>
                      <a:srgbClr val="F7F8FA"/>
                    </a:solidFill>
                  </a:tcPr>
                </a:tc>
                <a:tc>
                  <a:txBody>
                    <a:bodyPr/>
                    <a:lstStyle/>
                    <a:p>
                      <a:pPr algn="l"/>
                      <a:r>
                        <a:rPr sz="1200" b="0">
                          <a:solidFill>
                            <a:srgbClr val="C55A11"/>
                          </a:solidFill>
                          <a:latin typeface="Calibri"/>
                        </a:rPr>
                        <a:t>n − 1</a:t>
                      </a:r>
                    </a:p>
                  </a:txBody>
                  <a:tcPr anchor="ctr">
                    <a:solidFill>
                      <a:srgbClr val="F7F8FA"/>
                    </a:solidFill>
                  </a:tcPr>
                </a:tc>
                <a:tc>
                  <a:txBody>
                    <a:bodyPr/>
                    <a:lstStyle/>
                    <a:p>
                      <a:pPr algn="l"/>
                      <a:r>
                        <a:rPr sz="1200" b="0">
                          <a:solidFill>
                            <a:srgbClr val="333F50"/>
                          </a:solidFill>
                          <a:latin typeface="Calibri"/>
                        </a:rPr>
                        <a:t>insert 2, 5, 7, …, 25: height 7</a:t>
                      </a:r>
                    </a:p>
                  </a:txBody>
                  <a:tcPr anchor="ctr">
                    <a:solidFill>
                      <a:srgbClr val="F7F8FA"/>
                    </a:solidFill>
                  </a:tcPr>
                </a:tc>
                <a:extLst>
                  <a:ext uri="{0D108BD9-81ED-4DB2-BD59-A6C34878D82A}">
                    <a16:rowId xmlns:a16="http://schemas.microsoft.com/office/drawing/2014/main" val="10002"/>
                  </a:ext>
                </a:extLst>
              </a:tr>
              <a:tr h="438912">
                <a:tc>
                  <a:txBody>
                    <a:bodyPr/>
                    <a:lstStyle/>
                    <a:p>
                      <a:pPr algn="l"/>
                      <a:r>
                        <a:rPr sz="1200" b="1">
                          <a:solidFill>
                            <a:srgbClr val="333F50"/>
                          </a:solidFill>
                          <a:latin typeface="Calibri"/>
                        </a:rPr>
                        <a:t>First key, random order</a:t>
                      </a:r>
                    </a:p>
                  </a:txBody>
                  <a:tcPr anchor="ctr">
                    <a:solidFill>
                      <a:srgbClr val="FFFFFF"/>
                    </a:solidFill>
                  </a:tcPr>
                </a:tc>
                <a:tc>
                  <a:txBody>
                    <a:bodyPr/>
                    <a:lstStyle/>
                    <a:p>
                      <a:pPr algn="l"/>
                      <a:r>
                        <a:rPr sz="1200" b="0">
                          <a:solidFill>
                            <a:srgbClr val="333F50"/>
                          </a:solidFill>
                          <a:latin typeface="Calibri"/>
                        </a:rPr>
                        <a:t>uneven, but rarely extreme</a:t>
                      </a:r>
                    </a:p>
                  </a:txBody>
                  <a:tcPr anchor="ctr">
                    <a:solidFill>
                      <a:srgbClr val="FFFFFF"/>
                    </a:solidFill>
                  </a:tcPr>
                </a:tc>
                <a:tc>
                  <a:txBody>
                    <a:bodyPr/>
                    <a:lstStyle/>
                    <a:p>
                      <a:pPr algn="l"/>
                      <a:r>
                        <a:rPr sz="1200" b="0">
                          <a:solidFill>
                            <a:srgbClr val="333F50"/>
                          </a:solidFill>
                          <a:latin typeface="Calibri"/>
                        </a:rPr>
                        <a:t>O(log n) expected</a:t>
                      </a:r>
                    </a:p>
                  </a:txBody>
                  <a:tcPr anchor="ctr">
                    <a:solidFill>
                      <a:srgbClr val="FFFFFF"/>
                    </a:solidFill>
                  </a:tcPr>
                </a:tc>
                <a:tc>
                  <a:txBody>
                    <a:bodyPr/>
                    <a:lstStyle/>
                    <a:p>
                      <a:pPr algn="l"/>
                      <a:r>
                        <a:rPr sz="1200" b="0">
                          <a:solidFill>
                            <a:srgbClr val="333F50"/>
                          </a:solidFill>
                          <a:latin typeface="Calibri"/>
                        </a:rPr>
                        <a:t>insert A as given: height 5</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6" name="Rounded Rectangle 5"/>
          <p:cNvSpPr/>
          <p:nvPr/>
        </p:nvSpPr>
        <p:spPr>
          <a:xfrm>
            <a:off x="548640" y="3886200"/>
            <a:ext cx="5422392" cy="2057400"/>
          </a:xfrm>
          <a:prstGeom prst="roundRect">
            <a:avLst>
              <a:gd name="adj" fmla="val 5000"/>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4069080"/>
            <a:ext cx="4846320" cy="274320"/>
          </a:xfrm>
          <a:prstGeom prst="rect">
            <a:avLst/>
          </a:prstGeom>
          <a:noFill/>
        </p:spPr>
        <p:txBody>
          <a:bodyPr wrap="square" lIns="0" tIns="0" rIns="0" bIns="0" anchor="t">
            <a:spAutoFit/>
          </a:bodyPr>
          <a:lstStyle/>
          <a:p>
            <a:pPr algn="l"/>
            <a:r>
              <a:rPr sz="1100" b="1" i="0">
                <a:solidFill>
                  <a:srgbClr val="4472C4"/>
                </a:solidFill>
                <a:latin typeface="Calibri"/>
              </a:rPr>
              <a:t>WHY NOT JUST SHUFFLE?</a:t>
            </a:r>
          </a:p>
        </p:txBody>
      </p:sp>
      <p:sp>
        <p:nvSpPr>
          <p:cNvPr id="8" name="TextBox 7"/>
          <p:cNvSpPr txBox="1"/>
          <p:nvPr/>
        </p:nvSpPr>
        <p:spPr>
          <a:xfrm>
            <a:off x="868680" y="4389120"/>
            <a:ext cx="4846320" cy="365760"/>
          </a:xfrm>
          <a:prstGeom prst="rect">
            <a:avLst/>
          </a:prstGeom>
          <a:noFill/>
        </p:spPr>
        <p:txBody>
          <a:bodyPr wrap="square" lIns="0" tIns="0" rIns="0" bIns="0" anchor="t">
            <a:spAutoFit/>
          </a:bodyPr>
          <a:lstStyle/>
          <a:p>
            <a:pPr algn="l"/>
            <a:r>
              <a:rPr sz="1600" b="1" i="0">
                <a:solidFill>
                  <a:srgbClr val="333F50"/>
                </a:solidFill>
                <a:latin typeface="Calibri"/>
              </a:rPr>
              <a:t>Expected is not guaranteed</a:t>
            </a:r>
          </a:p>
        </p:txBody>
      </p:sp>
      <p:sp>
        <p:nvSpPr>
          <p:cNvPr id="9" name="TextBox 8"/>
          <p:cNvSpPr txBox="1"/>
          <p:nvPr/>
        </p:nvSpPr>
        <p:spPr>
          <a:xfrm>
            <a:off x="868680" y="4800600"/>
            <a:ext cx="4846320" cy="1005840"/>
          </a:xfrm>
          <a:prstGeom prst="rect">
            <a:avLst/>
          </a:prstGeom>
          <a:noFill/>
        </p:spPr>
        <p:txBody>
          <a:bodyPr wrap="square" lIns="0" tIns="0" rIns="0" bIns="0" anchor="t">
            <a:spAutoFit/>
          </a:bodyPr>
          <a:lstStyle/>
          <a:p>
            <a:pPr algn="l"/>
            <a:r>
              <a:rPr sz="1300" b="0" i="0">
                <a:solidFill>
                  <a:srgbClr val="333F50"/>
                </a:solidFill>
                <a:latin typeface="Calibri"/>
              </a:rPr>
              <a:t>Random order gives O(log n) height only in expectation, and in a dynamic setting keys arrive in whatever order the world sends them: sorted logs, timestamps, IDs.</a:t>
            </a:r>
          </a:p>
        </p:txBody>
      </p:sp>
      <p:sp>
        <p:nvSpPr>
          <p:cNvPr id="10" name="Rounded Rectangle 9"/>
          <p:cNvSpPr/>
          <p:nvPr/>
        </p:nvSpPr>
        <p:spPr>
          <a:xfrm>
            <a:off x="6217920" y="3886200"/>
            <a:ext cx="5422392" cy="2057400"/>
          </a:xfrm>
          <a:prstGeom prst="roundRect">
            <a:avLst>
              <a:gd name="adj" fmla="val 5000"/>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37959" y="4069080"/>
            <a:ext cx="4846320" cy="274320"/>
          </a:xfrm>
          <a:prstGeom prst="rect">
            <a:avLst/>
          </a:prstGeom>
          <a:noFill/>
        </p:spPr>
        <p:txBody>
          <a:bodyPr wrap="square" lIns="0" tIns="0" rIns="0" bIns="0" anchor="t">
            <a:spAutoFit/>
          </a:bodyPr>
          <a:lstStyle/>
          <a:p>
            <a:pPr algn="l"/>
            <a:r>
              <a:rPr sz="1100" b="1" i="0">
                <a:solidFill>
                  <a:srgbClr val="4472C4"/>
                </a:solidFill>
                <a:latin typeface="Calibri"/>
              </a:rPr>
              <a:t>CONNECTION</a:t>
            </a:r>
          </a:p>
        </p:txBody>
      </p:sp>
      <p:sp>
        <p:nvSpPr>
          <p:cNvPr id="12" name="TextBox 11"/>
          <p:cNvSpPr txBox="1"/>
          <p:nvPr/>
        </p:nvSpPr>
        <p:spPr>
          <a:xfrm>
            <a:off x="6537959" y="4389120"/>
            <a:ext cx="4846320" cy="365760"/>
          </a:xfrm>
          <a:prstGeom prst="rect">
            <a:avLst/>
          </a:prstGeom>
          <a:noFill/>
        </p:spPr>
        <p:txBody>
          <a:bodyPr wrap="square" lIns="0" tIns="0" rIns="0" bIns="0" anchor="t">
            <a:spAutoFit/>
          </a:bodyPr>
          <a:lstStyle/>
          <a:p>
            <a:pPr algn="l"/>
            <a:r>
              <a:rPr sz="1600" b="1" i="0">
                <a:solidFill>
                  <a:srgbClr val="333F50"/>
                </a:solidFill>
                <a:latin typeface="Calibri"/>
              </a:rPr>
              <a:t>Same picture as QuickSort</a:t>
            </a:r>
          </a:p>
        </p:txBody>
      </p:sp>
      <p:sp>
        <p:nvSpPr>
          <p:cNvPr id="13" name="TextBox 12"/>
          <p:cNvSpPr txBox="1"/>
          <p:nvPr/>
        </p:nvSpPr>
        <p:spPr>
          <a:xfrm>
            <a:off x="6537959" y="4800600"/>
            <a:ext cx="4846320" cy="1005840"/>
          </a:xfrm>
          <a:prstGeom prst="rect">
            <a:avLst/>
          </a:prstGeom>
          <a:noFill/>
        </p:spPr>
        <p:txBody>
          <a:bodyPr wrap="square" lIns="0" tIns="0" rIns="0" bIns="0" anchor="t">
            <a:spAutoFit/>
          </a:bodyPr>
          <a:lstStyle/>
          <a:p>
            <a:pPr algn="l"/>
            <a:r>
              <a:rPr sz="1300" b="0" i="0">
                <a:solidFill>
                  <a:srgbClr val="333F50"/>
                </a:solidFill>
                <a:latin typeface="Calibri"/>
              </a:rPr>
              <a:t>The BST built by inserting keys is exactly QuickSort's recursion tree with first-element pivots. Bad pivots give deep trees in both.</a:t>
            </a:r>
          </a:p>
        </p:txBody>
      </p:sp>
      <p:sp>
        <p:nvSpPr>
          <p:cNvPr id="14" name="TextBox 13"/>
          <p:cNvSpPr txBox="1"/>
          <p:nvPr/>
        </p:nvSpPr>
        <p:spPr>
          <a:xfrm>
            <a:off x="548640" y="6501384"/>
            <a:ext cx="9326880" cy="138499"/>
          </a:xfrm>
          <a:prstGeom prst="rect">
            <a:avLst/>
          </a:prstGeom>
          <a:noFill/>
        </p:spPr>
        <p:txBody>
          <a:bodyPr wrap="square" lIns="0" tIns="0" rIns="0" bIns="0" anchor="t">
            <a:spAutoFit/>
          </a:bodyPr>
          <a:lstStyle/>
          <a:p>
            <a:pPr algn="l"/>
            <a:r>
              <a:rPr lang="en-US" sz="900" b="0" i="0" dirty="0">
                <a:solidFill>
                  <a:srgbClr val="595959"/>
                </a:solidFill>
                <a:latin typeface="Calibri"/>
              </a:rPr>
              <a:t>CS 383 </a:t>
            </a:r>
            <a:r>
              <a:rPr sz="900" b="0" i="0" dirty="0">
                <a:solidFill>
                  <a:srgbClr val="595959"/>
                </a:solidFill>
                <a:latin typeface="Calibri"/>
              </a:rPr>
              <a:t>Algorithm Design </a:t>
            </a:r>
            <a:r>
              <a:rPr lang="en-US" sz="900" b="0" i="0" dirty="0">
                <a:solidFill>
                  <a:srgbClr val="595959"/>
                </a:solidFill>
                <a:latin typeface="Calibri"/>
              </a:rPr>
              <a:t>and Analysis </a:t>
            </a:r>
            <a:r>
              <a:rPr sz="900" b="0" i="0" dirty="0">
                <a:solidFill>
                  <a:srgbClr val="595959"/>
                </a:solidFill>
                <a:latin typeface="Calibri"/>
              </a:rPr>
              <a:t> ·  Balanced Binary Search Trees  ·  </a:t>
            </a:r>
            <a:r>
              <a:rPr lang="en-US" sz="900" b="0" i="0" dirty="0">
                <a:solidFill>
                  <a:srgbClr val="595959"/>
                </a:solidFill>
                <a:latin typeface="Calibri"/>
              </a:rPr>
              <a:t>Tanwistha Saha</a:t>
            </a:r>
            <a:endParaRPr sz="900" b="0" i="0" dirty="0">
              <a:solidFill>
                <a:srgbClr val="595959"/>
              </a:solidFill>
              <a:latin typeface="Calibri"/>
            </a:endParaRPr>
          </a:p>
        </p:txBody>
      </p:sp>
      <p:sp>
        <p:nvSpPr>
          <p:cNvPr id="15" name="TextBox 14"/>
          <p:cNvSpPr txBox="1"/>
          <p:nvPr/>
        </p:nvSpPr>
        <p:spPr>
          <a:xfrm>
            <a:off x="10908792" y="6501384"/>
            <a:ext cx="731520" cy="138499"/>
          </a:xfrm>
          <a:prstGeom prst="rect">
            <a:avLst/>
          </a:prstGeom>
          <a:noFill/>
        </p:spPr>
        <p:txBody>
          <a:bodyPr wrap="square" lIns="0" tIns="0" rIns="0" bIns="0" anchor="t">
            <a:spAutoFit/>
          </a:bodyPr>
          <a:lstStyle/>
          <a:p>
            <a:pPr algn="r"/>
            <a:r>
              <a:rPr lang="en-US" sz="900" b="0" i="0">
                <a:solidFill>
                  <a:srgbClr val="595959"/>
                </a:solidFill>
                <a:latin typeface="Calibri"/>
              </a:rPr>
              <a:t>7</a:t>
            </a:r>
            <a:endParaRPr sz="900" b="0" i="0">
              <a:solidFill>
                <a:srgbClr val="595959"/>
              </a:solidFill>
              <a:latin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9144000" cy="320040"/>
          </a:xfrm>
          <a:prstGeom prst="rect">
            <a:avLst/>
          </a:prstGeom>
          <a:noFill/>
        </p:spPr>
        <p:txBody>
          <a:bodyPr wrap="square" lIns="0" tIns="0" rIns="0" bIns="0" anchor="t">
            <a:spAutoFit/>
          </a:bodyPr>
          <a:lstStyle/>
          <a:p>
            <a:pPr algn="l"/>
            <a:r>
              <a:rPr sz="1200" b="1" i="0">
                <a:solidFill>
                  <a:srgbClr val="4472C4"/>
                </a:solidFill>
                <a:latin typeface="Calibri"/>
              </a:rPr>
              <a:t>THE DYNAMIC PROBLEM</a:t>
            </a:r>
          </a:p>
        </p:txBody>
      </p:sp>
      <p:sp>
        <p:nvSpPr>
          <p:cNvPr id="3" name="TextBox 2"/>
          <p:cNvSpPr txBox="1"/>
          <p:nvPr/>
        </p:nvSpPr>
        <p:spPr>
          <a:xfrm>
            <a:off x="548640" y="658368"/>
            <a:ext cx="11064240" cy="640080"/>
          </a:xfrm>
          <a:prstGeom prst="rect">
            <a:avLst/>
          </a:prstGeom>
          <a:noFill/>
        </p:spPr>
        <p:txBody>
          <a:bodyPr wrap="square" lIns="0" tIns="0" rIns="0" bIns="0" anchor="t">
            <a:spAutoFit/>
          </a:bodyPr>
          <a:lstStyle/>
          <a:p>
            <a:pPr algn="l"/>
            <a:r>
              <a:rPr sz="2800" b="1" i="0">
                <a:solidFill>
                  <a:srgbClr val="333F50"/>
                </a:solidFill>
                <a:latin typeface="Calibri Light"/>
              </a:rPr>
              <a:t>Keys arrive one at a time, so we must repair locally</a:t>
            </a:r>
          </a:p>
        </p:txBody>
      </p:sp>
      <p:sp>
        <p:nvSpPr>
          <p:cNvPr id="4" name="TextBox 3"/>
          <p:cNvSpPr txBox="1"/>
          <p:nvPr/>
        </p:nvSpPr>
        <p:spPr>
          <a:xfrm>
            <a:off x="548640" y="1197864"/>
            <a:ext cx="11064240" cy="502920"/>
          </a:xfrm>
          <a:prstGeom prst="rect">
            <a:avLst/>
          </a:prstGeom>
          <a:noFill/>
        </p:spPr>
        <p:txBody>
          <a:bodyPr wrap="square" lIns="0" tIns="0" rIns="0" bIns="0" anchor="t">
            <a:spAutoFit/>
          </a:bodyPr>
          <a:lstStyle/>
          <a:p>
            <a:pPr algn="l"/>
            <a:r>
              <a:rPr sz="1400" b="0" i="0">
                <a:solidFill>
                  <a:srgbClr val="595959"/>
                </a:solidFill>
                <a:latin typeface="Calibri"/>
              </a:rPr>
              <a:t>We cannot pick the median in advance, and rebuilding the whole tree after every insertion is far too slow.</a:t>
            </a:r>
          </a:p>
        </p:txBody>
      </p:sp>
      <p:sp>
        <p:nvSpPr>
          <p:cNvPr id="5" name="Rounded Rectangle 4"/>
          <p:cNvSpPr/>
          <p:nvPr/>
        </p:nvSpPr>
        <p:spPr>
          <a:xfrm>
            <a:off x="548640" y="1874519"/>
            <a:ext cx="3575304" cy="2240280"/>
          </a:xfrm>
          <a:prstGeom prst="roundRect">
            <a:avLst>
              <a:gd name="adj" fmla="val 5000"/>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822959" y="2103120"/>
            <a:ext cx="457200" cy="457200"/>
          </a:xfrm>
          <a:prstGeom prst="ellipse">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59" y="2103120"/>
            <a:ext cx="457200" cy="457200"/>
          </a:xfrm>
          <a:prstGeom prst="rect">
            <a:avLst/>
          </a:prstGeom>
          <a:noFill/>
        </p:spPr>
        <p:txBody>
          <a:bodyPr wrap="square" lIns="0" tIns="0" rIns="0" bIns="0" anchor="ctr">
            <a:spAutoFit/>
          </a:bodyPr>
          <a:lstStyle/>
          <a:p>
            <a:pPr algn="ctr"/>
            <a:r>
              <a:rPr sz="2000" b="1" i="0">
                <a:solidFill>
                  <a:srgbClr val="333F50"/>
                </a:solidFill>
                <a:latin typeface="Calibri"/>
              </a:rPr>
              <a:t>1</a:t>
            </a:r>
          </a:p>
        </p:txBody>
      </p:sp>
      <p:sp>
        <p:nvSpPr>
          <p:cNvPr id="8" name="TextBox 7"/>
          <p:cNvSpPr txBox="1"/>
          <p:nvPr/>
        </p:nvSpPr>
        <p:spPr>
          <a:xfrm>
            <a:off x="1417319" y="2148840"/>
            <a:ext cx="2606040" cy="411480"/>
          </a:xfrm>
          <a:prstGeom prst="rect">
            <a:avLst/>
          </a:prstGeom>
          <a:noFill/>
        </p:spPr>
        <p:txBody>
          <a:bodyPr wrap="square" lIns="0" tIns="0" rIns="0" bIns="0" anchor="ctr">
            <a:spAutoFit/>
          </a:bodyPr>
          <a:lstStyle/>
          <a:p>
            <a:pPr algn="l"/>
            <a:r>
              <a:rPr sz="1500" b="1" i="0">
                <a:solidFill>
                  <a:srgbClr val="333F50"/>
                </a:solidFill>
                <a:latin typeface="Calibri"/>
              </a:rPr>
              <a:t>Rebuild from scratch</a:t>
            </a:r>
          </a:p>
        </p:txBody>
      </p:sp>
      <p:sp>
        <p:nvSpPr>
          <p:cNvPr id="9" name="TextBox 8"/>
          <p:cNvSpPr txBox="1"/>
          <p:nvPr/>
        </p:nvSpPr>
        <p:spPr>
          <a:xfrm>
            <a:off x="822959" y="2743200"/>
            <a:ext cx="3063240" cy="200055"/>
          </a:xfrm>
          <a:prstGeom prst="rect">
            <a:avLst/>
          </a:prstGeom>
          <a:noFill/>
        </p:spPr>
        <p:txBody>
          <a:bodyPr wrap="square" lIns="0" tIns="0" rIns="0" bIns="0" anchor="t">
            <a:spAutoFit/>
          </a:bodyPr>
          <a:lstStyle/>
          <a:p>
            <a:pPr algn="l"/>
            <a:r>
              <a:rPr sz="1300" b="0" i="0">
                <a:solidFill>
                  <a:srgbClr val="333F50"/>
                </a:solidFill>
                <a:latin typeface="Calibri"/>
              </a:rPr>
              <a:t>Run </a:t>
            </a:r>
            <a:r>
              <a:rPr lang="en-US" sz="1300" b="0" i="0">
                <a:solidFill>
                  <a:srgbClr val="333F50"/>
                </a:solidFill>
                <a:latin typeface="Calibri"/>
              </a:rPr>
              <a:t>BUILDBALANCED</a:t>
            </a:r>
            <a:r>
              <a:rPr sz="1300" b="0" i="0">
                <a:solidFill>
                  <a:srgbClr val="333F50"/>
                </a:solidFill>
                <a:latin typeface="Calibri"/>
              </a:rPr>
              <a:t> after every insertion.</a:t>
            </a:r>
          </a:p>
        </p:txBody>
      </p:sp>
      <p:sp>
        <p:nvSpPr>
          <p:cNvPr id="10" name="TextBox 9"/>
          <p:cNvSpPr txBox="1"/>
          <p:nvPr/>
        </p:nvSpPr>
        <p:spPr>
          <a:xfrm>
            <a:off x="822959" y="3566160"/>
            <a:ext cx="3063240" cy="365760"/>
          </a:xfrm>
          <a:prstGeom prst="rect">
            <a:avLst/>
          </a:prstGeom>
          <a:noFill/>
        </p:spPr>
        <p:txBody>
          <a:bodyPr wrap="square" lIns="0" tIns="0" rIns="0" bIns="0" anchor="t">
            <a:spAutoFit/>
          </a:bodyPr>
          <a:lstStyle/>
          <a:p>
            <a:pPr algn="l"/>
            <a:r>
              <a:rPr sz="1300" b="1" i="0">
                <a:solidFill>
                  <a:srgbClr val="C55A11"/>
                </a:solidFill>
                <a:latin typeface="Courier New"/>
              </a:rPr>
              <a:t>O(n) per insert  ✗</a:t>
            </a:r>
          </a:p>
        </p:txBody>
      </p:sp>
      <p:sp>
        <p:nvSpPr>
          <p:cNvPr id="11" name="Rounded Rectangle 10"/>
          <p:cNvSpPr/>
          <p:nvPr/>
        </p:nvSpPr>
        <p:spPr>
          <a:xfrm>
            <a:off x="4306824" y="1874519"/>
            <a:ext cx="3575304" cy="2240280"/>
          </a:xfrm>
          <a:prstGeom prst="roundRect">
            <a:avLst>
              <a:gd name="adj" fmla="val 5000"/>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4581144" y="2103120"/>
            <a:ext cx="457200" cy="457200"/>
          </a:xfrm>
          <a:prstGeom prst="ellipse">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81144" y="2103120"/>
            <a:ext cx="457200" cy="457200"/>
          </a:xfrm>
          <a:prstGeom prst="rect">
            <a:avLst/>
          </a:prstGeom>
          <a:noFill/>
        </p:spPr>
        <p:txBody>
          <a:bodyPr wrap="square" lIns="0" tIns="0" rIns="0" bIns="0" anchor="ctr">
            <a:spAutoFit/>
          </a:bodyPr>
          <a:lstStyle/>
          <a:p>
            <a:pPr algn="ctr"/>
            <a:r>
              <a:rPr sz="2000" b="1" i="0">
                <a:solidFill>
                  <a:srgbClr val="333F50"/>
                </a:solidFill>
                <a:latin typeface="Calibri"/>
              </a:rPr>
              <a:t>2</a:t>
            </a:r>
          </a:p>
        </p:txBody>
      </p:sp>
      <p:sp>
        <p:nvSpPr>
          <p:cNvPr id="14" name="TextBox 13"/>
          <p:cNvSpPr txBox="1"/>
          <p:nvPr/>
        </p:nvSpPr>
        <p:spPr>
          <a:xfrm>
            <a:off x="5175504" y="2148840"/>
            <a:ext cx="2606040" cy="411480"/>
          </a:xfrm>
          <a:prstGeom prst="rect">
            <a:avLst/>
          </a:prstGeom>
          <a:noFill/>
        </p:spPr>
        <p:txBody>
          <a:bodyPr wrap="square" lIns="0" tIns="0" rIns="0" bIns="0" anchor="ctr">
            <a:spAutoFit/>
          </a:bodyPr>
          <a:lstStyle/>
          <a:p>
            <a:pPr algn="l"/>
            <a:r>
              <a:rPr sz="1500" b="1" i="0">
                <a:solidFill>
                  <a:srgbClr val="333F50"/>
                </a:solidFill>
                <a:latin typeface="Calibri"/>
              </a:rPr>
              <a:t>Hope for random order</a:t>
            </a:r>
          </a:p>
        </p:txBody>
      </p:sp>
      <p:sp>
        <p:nvSpPr>
          <p:cNvPr id="15" name="TextBox 14"/>
          <p:cNvSpPr txBox="1"/>
          <p:nvPr/>
        </p:nvSpPr>
        <p:spPr>
          <a:xfrm>
            <a:off x="4581144" y="2743200"/>
            <a:ext cx="3063240" cy="685800"/>
          </a:xfrm>
          <a:prstGeom prst="rect">
            <a:avLst/>
          </a:prstGeom>
          <a:noFill/>
        </p:spPr>
        <p:txBody>
          <a:bodyPr wrap="square" lIns="0" tIns="0" rIns="0" bIns="0" anchor="t">
            <a:spAutoFit/>
          </a:bodyPr>
          <a:lstStyle/>
          <a:p>
            <a:pPr algn="l"/>
            <a:r>
              <a:rPr sz="1300" b="0" i="0">
                <a:solidFill>
                  <a:srgbClr val="333F50"/>
                </a:solidFill>
                <a:latin typeface="Calibri"/>
              </a:rPr>
              <a:t>Shuffle-and-insert works only when we control the input.</a:t>
            </a:r>
          </a:p>
        </p:txBody>
      </p:sp>
      <p:sp>
        <p:nvSpPr>
          <p:cNvPr id="16" name="TextBox 15"/>
          <p:cNvSpPr txBox="1"/>
          <p:nvPr/>
        </p:nvSpPr>
        <p:spPr>
          <a:xfrm>
            <a:off x="4581144" y="3566160"/>
            <a:ext cx="3063240" cy="365760"/>
          </a:xfrm>
          <a:prstGeom prst="rect">
            <a:avLst/>
          </a:prstGeom>
          <a:noFill/>
        </p:spPr>
        <p:txBody>
          <a:bodyPr wrap="square" lIns="0" tIns="0" rIns="0" bIns="0" anchor="t">
            <a:spAutoFit/>
          </a:bodyPr>
          <a:lstStyle/>
          <a:p>
            <a:pPr algn="l"/>
            <a:r>
              <a:rPr sz="1300" b="1" i="0">
                <a:solidFill>
                  <a:srgbClr val="C55A11"/>
                </a:solidFill>
                <a:latin typeface="Courier New"/>
              </a:rPr>
              <a:t>No worst-case bound  ✗</a:t>
            </a:r>
          </a:p>
        </p:txBody>
      </p:sp>
      <p:sp>
        <p:nvSpPr>
          <p:cNvPr id="17" name="Rounded Rectangle 16"/>
          <p:cNvSpPr/>
          <p:nvPr/>
        </p:nvSpPr>
        <p:spPr>
          <a:xfrm>
            <a:off x="8065008" y="1874519"/>
            <a:ext cx="3575304" cy="2240280"/>
          </a:xfrm>
          <a:prstGeom prst="roundRect">
            <a:avLst>
              <a:gd name="adj" fmla="val 5000"/>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8339328" y="2103120"/>
            <a:ext cx="457200" cy="457200"/>
          </a:xfrm>
          <a:prstGeom prst="ellipse">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339328" y="2103120"/>
            <a:ext cx="457200" cy="457200"/>
          </a:xfrm>
          <a:prstGeom prst="rect">
            <a:avLst/>
          </a:prstGeom>
          <a:noFill/>
        </p:spPr>
        <p:txBody>
          <a:bodyPr wrap="square" lIns="0" tIns="0" rIns="0" bIns="0" anchor="ctr">
            <a:spAutoFit/>
          </a:bodyPr>
          <a:lstStyle/>
          <a:p>
            <a:pPr algn="ctr"/>
            <a:r>
              <a:rPr sz="2000" b="1" i="0">
                <a:solidFill>
                  <a:srgbClr val="333F50"/>
                </a:solidFill>
                <a:latin typeface="Calibri"/>
              </a:rPr>
              <a:t>3</a:t>
            </a:r>
          </a:p>
        </p:txBody>
      </p:sp>
      <p:sp>
        <p:nvSpPr>
          <p:cNvPr id="20" name="TextBox 19"/>
          <p:cNvSpPr txBox="1"/>
          <p:nvPr/>
        </p:nvSpPr>
        <p:spPr>
          <a:xfrm>
            <a:off x="8933688" y="2148840"/>
            <a:ext cx="2606040" cy="411480"/>
          </a:xfrm>
          <a:prstGeom prst="rect">
            <a:avLst/>
          </a:prstGeom>
          <a:noFill/>
        </p:spPr>
        <p:txBody>
          <a:bodyPr wrap="square" lIns="0" tIns="0" rIns="0" bIns="0" anchor="ctr">
            <a:spAutoFit/>
          </a:bodyPr>
          <a:lstStyle/>
          <a:p>
            <a:pPr algn="l"/>
            <a:r>
              <a:rPr sz="1500" b="1" i="0">
                <a:solidFill>
                  <a:srgbClr val="333F50"/>
                </a:solidFill>
                <a:latin typeface="Calibri"/>
              </a:rPr>
              <a:t>Local repair by rotation</a:t>
            </a:r>
          </a:p>
        </p:txBody>
      </p:sp>
      <p:sp>
        <p:nvSpPr>
          <p:cNvPr id="21" name="TextBox 20"/>
          <p:cNvSpPr txBox="1"/>
          <p:nvPr/>
        </p:nvSpPr>
        <p:spPr>
          <a:xfrm>
            <a:off x="8339328" y="2743200"/>
            <a:ext cx="3063240" cy="685800"/>
          </a:xfrm>
          <a:prstGeom prst="rect">
            <a:avLst/>
          </a:prstGeom>
          <a:noFill/>
        </p:spPr>
        <p:txBody>
          <a:bodyPr wrap="square" lIns="0" tIns="0" rIns="0" bIns="0" anchor="t">
            <a:spAutoFit/>
          </a:bodyPr>
          <a:lstStyle/>
          <a:p>
            <a:pPr algn="l"/>
            <a:r>
              <a:rPr sz="1300" b="0" i="0">
                <a:solidFill>
                  <a:srgbClr val="333F50"/>
                </a:solidFill>
                <a:latin typeface="Calibri"/>
              </a:rPr>
              <a:t>After each update, fix the shape along the path just walked.</a:t>
            </a:r>
          </a:p>
        </p:txBody>
      </p:sp>
      <p:sp>
        <p:nvSpPr>
          <p:cNvPr id="22" name="TextBox 21"/>
          <p:cNvSpPr txBox="1"/>
          <p:nvPr/>
        </p:nvSpPr>
        <p:spPr>
          <a:xfrm>
            <a:off x="8339328" y="3566160"/>
            <a:ext cx="3063240" cy="365760"/>
          </a:xfrm>
          <a:prstGeom prst="rect">
            <a:avLst/>
          </a:prstGeom>
          <a:noFill/>
        </p:spPr>
        <p:txBody>
          <a:bodyPr wrap="square" lIns="0" tIns="0" rIns="0" bIns="0" anchor="t">
            <a:spAutoFit/>
          </a:bodyPr>
          <a:lstStyle/>
          <a:p>
            <a:pPr algn="l"/>
            <a:r>
              <a:rPr sz="1300" b="1" i="0">
                <a:solidFill>
                  <a:srgbClr val="4472C4"/>
                </a:solidFill>
                <a:latin typeface="Courier New"/>
              </a:rPr>
              <a:t>O(log n) per operation  ✓</a:t>
            </a:r>
          </a:p>
        </p:txBody>
      </p:sp>
      <p:sp>
        <p:nvSpPr>
          <p:cNvPr id="23" name="Rounded Rectangle 22"/>
          <p:cNvSpPr/>
          <p:nvPr/>
        </p:nvSpPr>
        <p:spPr>
          <a:xfrm>
            <a:off x="548640" y="4343400"/>
            <a:ext cx="11091672" cy="1874519"/>
          </a:xfrm>
          <a:prstGeom prst="roundRect">
            <a:avLst>
              <a:gd name="adj" fmla="val 5000"/>
            </a:avLst>
          </a:prstGeom>
          <a:solidFill>
            <a:srgbClr val="F5F5F5"/>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22960" y="4526280"/>
            <a:ext cx="1188720" cy="274320"/>
          </a:xfrm>
          <a:prstGeom prst="rect">
            <a:avLst/>
          </a:prstGeom>
          <a:noFill/>
        </p:spPr>
        <p:txBody>
          <a:bodyPr wrap="square" lIns="0" tIns="0" rIns="0" bIns="0" anchor="t">
            <a:spAutoFit/>
          </a:bodyPr>
          <a:lstStyle/>
          <a:p>
            <a:pPr algn="l"/>
            <a:r>
              <a:rPr sz="1100" b="1" i="0">
                <a:solidFill>
                  <a:srgbClr val="4472C4"/>
                </a:solidFill>
                <a:latin typeface="Calibri"/>
              </a:rPr>
              <a:t>INSERT 2, 5, 7</a:t>
            </a:r>
          </a:p>
        </p:txBody>
      </p:sp>
      <p:cxnSp>
        <p:nvCxnSpPr>
          <p:cNvPr id="25" name="Connector 24"/>
          <p:cNvCxnSpPr/>
          <p:nvPr/>
        </p:nvCxnSpPr>
        <p:spPr>
          <a:xfrm>
            <a:off x="2286000" y="4846320"/>
            <a:ext cx="548640" cy="50292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2834640" y="5349240"/>
            <a:ext cx="548640" cy="50292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2084831" y="4645152"/>
            <a:ext cx="402336" cy="402336"/>
          </a:xfrm>
          <a:prstGeom prst="ellipse">
            <a:avLst/>
          </a:prstGeom>
          <a:solidFill>
            <a:srgbClr val="FFFFFF"/>
          </a:solidFill>
          <a:ln w="22225">
            <a:solidFill>
              <a:srgbClr val="4454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084831" y="4645152"/>
            <a:ext cx="402336" cy="402336"/>
          </a:xfrm>
          <a:prstGeom prst="rect">
            <a:avLst/>
          </a:prstGeom>
          <a:noFill/>
        </p:spPr>
        <p:txBody>
          <a:bodyPr wrap="square" lIns="0" tIns="0" rIns="0" bIns="0" anchor="ctr">
            <a:spAutoFit/>
          </a:bodyPr>
          <a:lstStyle/>
          <a:p>
            <a:pPr algn="ctr"/>
            <a:r>
              <a:rPr sz="1400" b="1" i="0">
                <a:solidFill>
                  <a:srgbClr val="333F50"/>
                </a:solidFill>
                <a:latin typeface="Calibri"/>
              </a:rPr>
              <a:t>2</a:t>
            </a:r>
          </a:p>
        </p:txBody>
      </p:sp>
      <p:sp>
        <p:nvSpPr>
          <p:cNvPr id="29" name="Oval 28"/>
          <p:cNvSpPr/>
          <p:nvPr/>
        </p:nvSpPr>
        <p:spPr>
          <a:xfrm>
            <a:off x="2633472" y="5148072"/>
            <a:ext cx="402336" cy="402336"/>
          </a:xfrm>
          <a:prstGeom prst="ellipse">
            <a:avLst/>
          </a:prstGeom>
          <a:solidFill>
            <a:srgbClr val="FFFFFF"/>
          </a:solidFill>
          <a:ln w="22225">
            <a:solidFill>
              <a:srgbClr val="4454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633472" y="5148072"/>
            <a:ext cx="402336" cy="402336"/>
          </a:xfrm>
          <a:prstGeom prst="rect">
            <a:avLst/>
          </a:prstGeom>
          <a:noFill/>
        </p:spPr>
        <p:txBody>
          <a:bodyPr wrap="square" lIns="0" tIns="0" rIns="0" bIns="0" anchor="ctr">
            <a:spAutoFit/>
          </a:bodyPr>
          <a:lstStyle/>
          <a:p>
            <a:pPr algn="ctr"/>
            <a:r>
              <a:rPr sz="1400" b="1" i="0">
                <a:solidFill>
                  <a:srgbClr val="333F50"/>
                </a:solidFill>
                <a:latin typeface="Calibri"/>
              </a:rPr>
              <a:t>5</a:t>
            </a:r>
          </a:p>
        </p:txBody>
      </p:sp>
      <p:sp>
        <p:nvSpPr>
          <p:cNvPr id="31" name="Oval 30"/>
          <p:cNvSpPr/>
          <p:nvPr/>
        </p:nvSpPr>
        <p:spPr>
          <a:xfrm>
            <a:off x="3182112" y="5650992"/>
            <a:ext cx="402336" cy="402336"/>
          </a:xfrm>
          <a:prstGeom prst="ellipse">
            <a:avLst/>
          </a:prstGeom>
          <a:solidFill>
            <a:srgbClr val="FFFFFF"/>
          </a:solidFill>
          <a:ln w="22225">
            <a:solidFill>
              <a:srgbClr val="4454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182112" y="5650992"/>
            <a:ext cx="402336" cy="402336"/>
          </a:xfrm>
          <a:prstGeom prst="rect">
            <a:avLst/>
          </a:prstGeom>
          <a:noFill/>
        </p:spPr>
        <p:txBody>
          <a:bodyPr wrap="square" lIns="0" tIns="0" rIns="0" bIns="0" anchor="ctr">
            <a:spAutoFit/>
          </a:bodyPr>
          <a:lstStyle/>
          <a:p>
            <a:pPr algn="ctr"/>
            <a:r>
              <a:rPr sz="1400" b="1" i="0">
                <a:solidFill>
                  <a:srgbClr val="333F50"/>
                </a:solidFill>
                <a:latin typeface="Calibri"/>
              </a:rPr>
              <a:t>7</a:t>
            </a:r>
          </a:p>
        </p:txBody>
      </p:sp>
      <p:sp>
        <p:nvSpPr>
          <p:cNvPr id="33" name="Right Arrow 32"/>
          <p:cNvSpPr/>
          <p:nvPr/>
        </p:nvSpPr>
        <p:spPr>
          <a:xfrm>
            <a:off x="3977639" y="5349240"/>
            <a:ext cx="640080" cy="310896"/>
          </a:xfrm>
          <a:prstGeom prst="rightArrow">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611880" y="4983480"/>
            <a:ext cx="1371600" cy="274320"/>
          </a:xfrm>
          <a:prstGeom prst="rect">
            <a:avLst/>
          </a:prstGeom>
          <a:noFill/>
        </p:spPr>
        <p:txBody>
          <a:bodyPr wrap="square" lIns="0" tIns="0" rIns="0" bIns="0" anchor="t">
            <a:spAutoFit/>
          </a:bodyPr>
          <a:lstStyle/>
          <a:p>
            <a:pPr algn="ctr"/>
            <a:r>
              <a:rPr sz="1200" b="1" i="0">
                <a:solidFill>
                  <a:srgbClr val="4472C4"/>
                </a:solidFill>
                <a:latin typeface="Calibri"/>
              </a:rPr>
              <a:t>rotate</a:t>
            </a:r>
          </a:p>
        </p:txBody>
      </p:sp>
      <p:cxnSp>
        <p:nvCxnSpPr>
          <p:cNvPr id="35" name="Connector 34"/>
          <p:cNvCxnSpPr/>
          <p:nvPr/>
        </p:nvCxnSpPr>
        <p:spPr>
          <a:xfrm flipH="1">
            <a:off x="5120640" y="4937759"/>
            <a:ext cx="548640" cy="777241"/>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5669280" y="4937759"/>
            <a:ext cx="548640" cy="777241"/>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sp>
        <p:nvSpPr>
          <p:cNvPr id="37" name="Oval 36"/>
          <p:cNvSpPr/>
          <p:nvPr/>
        </p:nvSpPr>
        <p:spPr>
          <a:xfrm>
            <a:off x="5468112" y="4736592"/>
            <a:ext cx="402336" cy="402336"/>
          </a:xfrm>
          <a:prstGeom prst="ellipse">
            <a:avLst/>
          </a:prstGeom>
          <a:solidFill>
            <a:srgbClr val="FFFFFF"/>
          </a:solidFill>
          <a:ln w="22225">
            <a:solidFill>
              <a:srgbClr val="4454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468112" y="4736592"/>
            <a:ext cx="402336" cy="402336"/>
          </a:xfrm>
          <a:prstGeom prst="rect">
            <a:avLst/>
          </a:prstGeom>
          <a:noFill/>
        </p:spPr>
        <p:txBody>
          <a:bodyPr wrap="square" lIns="0" tIns="0" rIns="0" bIns="0" anchor="ctr">
            <a:spAutoFit/>
          </a:bodyPr>
          <a:lstStyle/>
          <a:p>
            <a:pPr algn="ctr"/>
            <a:r>
              <a:rPr sz="1400" b="1" i="0">
                <a:solidFill>
                  <a:srgbClr val="333F50"/>
                </a:solidFill>
                <a:latin typeface="Calibri"/>
              </a:rPr>
              <a:t>5</a:t>
            </a:r>
          </a:p>
        </p:txBody>
      </p:sp>
      <p:sp>
        <p:nvSpPr>
          <p:cNvPr id="39" name="Oval 38"/>
          <p:cNvSpPr/>
          <p:nvPr/>
        </p:nvSpPr>
        <p:spPr>
          <a:xfrm>
            <a:off x="4919472" y="5513832"/>
            <a:ext cx="402336" cy="402336"/>
          </a:xfrm>
          <a:prstGeom prst="ellipse">
            <a:avLst/>
          </a:prstGeom>
          <a:solidFill>
            <a:srgbClr val="FFFFFF"/>
          </a:solidFill>
          <a:ln w="22225">
            <a:solidFill>
              <a:srgbClr val="4454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919472" y="5513832"/>
            <a:ext cx="402336" cy="402336"/>
          </a:xfrm>
          <a:prstGeom prst="rect">
            <a:avLst/>
          </a:prstGeom>
          <a:noFill/>
        </p:spPr>
        <p:txBody>
          <a:bodyPr wrap="square" lIns="0" tIns="0" rIns="0" bIns="0" anchor="ctr">
            <a:spAutoFit/>
          </a:bodyPr>
          <a:lstStyle/>
          <a:p>
            <a:pPr algn="ctr"/>
            <a:r>
              <a:rPr sz="1400" b="1" i="0">
                <a:solidFill>
                  <a:srgbClr val="333F50"/>
                </a:solidFill>
                <a:latin typeface="Calibri"/>
              </a:rPr>
              <a:t>2</a:t>
            </a:r>
          </a:p>
        </p:txBody>
      </p:sp>
      <p:sp>
        <p:nvSpPr>
          <p:cNvPr id="41" name="Oval 40"/>
          <p:cNvSpPr/>
          <p:nvPr/>
        </p:nvSpPr>
        <p:spPr>
          <a:xfrm>
            <a:off x="6016752" y="5513832"/>
            <a:ext cx="402336" cy="402336"/>
          </a:xfrm>
          <a:prstGeom prst="ellipse">
            <a:avLst/>
          </a:prstGeom>
          <a:solidFill>
            <a:srgbClr val="FFFFFF"/>
          </a:solidFill>
          <a:ln w="22225">
            <a:solidFill>
              <a:srgbClr val="4454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016752" y="5513832"/>
            <a:ext cx="402336" cy="402336"/>
          </a:xfrm>
          <a:prstGeom prst="rect">
            <a:avLst/>
          </a:prstGeom>
          <a:noFill/>
        </p:spPr>
        <p:txBody>
          <a:bodyPr wrap="square" lIns="0" tIns="0" rIns="0" bIns="0" anchor="ctr">
            <a:spAutoFit/>
          </a:bodyPr>
          <a:lstStyle/>
          <a:p>
            <a:pPr algn="ctr"/>
            <a:r>
              <a:rPr sz="1400" b="1" i="0">
                <a:solidFill>
                  <a:srgbClr val="333F50"/>
                </a:solidFill>
                <a:latin typeface="Calibri"/>
              </a:rPr>
              <a:t>7</a:t>
            </a:r>
          </a:p>
        </p:txBody>
      </p:sp>
      <p:sp>
        <p:nvSpPr>
          <p:cNvPr id="43" name="TextBox 42"/>
          <p:cNvSpPr txBox="1"/>
          <p:nvPr/>
        </p:nvSpPr>
        <p:spPr>
          <a:xfrm>
            <a:off x="6949440" y="4754880"/>
            <a:ext cx="4480560" cy="1280160"/>
          </a:xfrm>
          <a:prstGeom prst="rect">
            <a:avLst/>
          </a:prstGeom>
          <a:noFill/>
        </p:spPr>
        <p:txBody>
          <a:bodyPr wrap="square" lIns="0" tIns="0" rIns="0" bIns="0" anchor="t">
            <a:spAutoFit/>
          </a:bodyPr>
          <a:lstStyle/>
          <a:p>
            <a:pPr algn="l"/>
            <a:r>
              <a:rPr sz="1400" b="1" i="0">
                <a:solidFill>
                  <a:srgbClr val="333F50"/>
                </a:solidFill>
                <a:latin typeface="Calibri"/>
              </a:rPr>
              <a:t>Height 2 → 1. </a:t>
            </a:r>
            <a:r>
              <a:rPr sz="1400" b="0" i="0">
                <a:solidFill>
                  <a:srgbClr val="333F50"/>
                </a:solidFill>
                <a:latin typeface="Calibri"/>
              </a:rPr>
              <a:t>One O(1) rotation makes 5 the pivot of this subtree. Rotations are how a balanced BST re-picks pivots without rebuilding.</a:t>
            </a:r>
          </a:p>
        </p:txBody>
      </p:sp>
      <p:sp>
        <p:nvSpPr>
          <p:cNvPr id="44" name="TextBox 43"/>
          <p:cNvSpPr txBox="1"/>
          <p:nvPr/>
        </p:nvSpPr>
        <p:spPr>
          <a:xfrm>
            <a:off x="548640" y="6501384"/>
            <a:ext cx="9326880" cy="138499"/>
          </a:xfrm>
          <a:prstGeom prst="rect">
            <a:avLst/>
          </a:prstGeom>
          <a:noFill/>
        </p:spPr>
        <p:txBody>
          <a:bodyPr wrap="square" lIns="0" tIns="0" rIns="0" bIns="0" anchor="t">
            <a:spAutoFit/>
          </a:bodyPr>
          <a:lstStyle/>
          <a:p>
            <a:pPr algn="l"/>
            <a:r>
              <a:rPr lang="en-US" sz="900" b="0" i="0">
                <a:solidFill>
                  <a:srgbClr val="595959"/>
                </a:solidFill>
                <a:latin typeface="Calibri"/>
              </a:rPr>
              <a:t>CS 383 </a:t>
            </a:r>
            <a:r>
              <a:rPr sz="900" b="0" i="0">
                <a:solidFill>
                  <a:srgbClr val="595959"/>
                </a:solidFill>
                <a:latin typeface="Calibri"/>
              </a:rPr>
              <a:t>Algorithm Design </a:t>
            </a:r>
            <a:r>
              <a:rPr lang="en-US" sz="900" b="0" i="0">
                <a:solidFill>
                  <a:srgbClr val="595959"/>
                </a:solidFill>
                <a:latin typeface="Calibri"/>
              </a:rPr>
              <a:t>and Analysis </a:t>
            </a:r>
            <a:r>
              <a:rPr sz="900" b="0" i="0">
                <a:solidFill>
                  <a:srgbClr val="595959"/>
                </a:solidFill>
                <a:latin typeface="Calibri"/>
              </a:rPr>
              <a:t> ·  Balanced Binary Search Trees  ·  </a:t>
            </a:r>
            <a:r>
              <a:rPr lang="en-US" sz="900" b="0" i="0">
                <a:solidFill>
                  <a:srgbClr val="595959"/>
                </a:solidFill>
                <a:latin typeface="Calibri"/>
              </a:rPr>
              <a:t>Tanwistha Saha</a:t>
            </a:r>
            <a:endParaRPr sz="900" b="0" i="0">
              <a:solidFill>
                <a:srgbClr val="595959"/>
              </a:solidFill>
              <a:latin typeface="Calibri"/>
            </a:endParaRPr>
          </a:p>
        </p:txBody>
      </p:sp>
      <p:sp>
        <p:nvSpPr>
          <p:cNvPr id="45" name="TextBox 44"/>
          <p:cNvSpPr txBox="1"/>
          <p:nvPr/>
        </p:nvSpPr>
        <p:spPr>
          <a:xfrm>
            <a:off x="10908792" y="6501384"/>
            <a:ext cx="731520" cy="138499"/>
          </a:xfrm>
          <a:prstGeom prst="rect">
            <a:avLst/>
          </a:prstGeom>
          <a:noFill/>
        </p:spPr>
        <p:txBody>
          <a:bodyPr wrap="square" lIns="0" tIns="0" rIns="0" bIns="0" anchor="t">
            <a:spAutoFit/>
          </a:bodyPr>
          <a:lstStyle/>
          <a:p>
            <a:pPr algn="r"/>
            <a:r>
              <a:rPr lang="en-US" sz="900" b="0" i="0">
                <a:solidFill>
                  <a:srgbClr val="595959"/>
                </a:solidFill>
                <a:latin typeface="Calibri"/>
              </a:rPr>
              <a:t>8</a:t>
            </a:r>
            <a:endParaRPr sz="900" b="0" i="0">
              <a:solidFill>
                <a:srgbClr val="595959"/>
              </a:solidFill>
              <a:latin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9144000" cy="320040"/>
          </a:xfrm>
          <a:prstGeom prst="rect">
            <a:avLst/>
          </a:prstGeom>
          <a:noFill/>
        </p:spPr>
        <p:txBody>
          <a:bodyPr wrap="square" lIns="0" tIns="0" rIns="0" bIns="0" anchor="t">
            <a:spAutoFit/>
          </a:bodyPr>
          <a:lstStyle/>
          <a:p>
            <a:pPr algn="l"/>
            <a:r>
              <a:rPr sz="1200" b="1" i="0">
                <a:solidFill>
                  <a:srgbClr val="4472C4"/>
                </a:solidFill>
                <a:latin typeface="Calibri"/>
              </a:rPr>
              <a:t>TREE ROTATION</a:t>
            </a:r>
          </a:p>
        </p:txBody>
      </p:sp>
      <p:sp>
        <p:nvSpPr>
          <p:cNvPr id="3" name="TextBox 2"/>
          <p:cNvSpPr txBox="1"/>
          <p:nvPr/>
        </p:nvSpPr>
        <p:spPr>
          <a:xfrm>
            <a:off x="548640" y="658368"/>
            <a:ext cx="11064240" cy="640080"/>
          </a:xfrm>
          <a:prstGeom prst="rect">
            <a:avLst/>
          </a:prstGeom>
          <a:noFill/>
        </p:spPr>
        <p:txBody>
          <a:bodyPr wrap="square" lIns="0" tIns="0" rIns="0" bIns="0" anchor="t">
            <a:spAutoFit/>
          </a:bodyPr>
          <a:lstStyle/>
          <a:p>
            <a:pPr algn="l"/>
            <a:r>
              <a:rPr sz="2800" b="1" i="0">
                <a:solidFill>
                  <a:srgbClr val="333F50"/>
                </a:solidFill>
                <a:latin typeface="Calibri Light"/>
              </a:rPr>
              <a:t>Rotation: change the local pivot in O(1)</a:t>
            </a:r>
          </a:p>
        </p:txBody>
      </p:sp>
      <p:sp>
        <p:nvSpPr>
          <p:cNvPr id="4" name="TextBox 3"/>
          <p:cNvSpPr txBox="1"/>
          <p:nvPr/>
        </p:nvSpPr>
        <p:spPr>
          <a:xfrm>
            <a:off x="548640" y="1197864"/>
            <a:ext cx="11064240" cy="502920"/>
          </a:xfrm>
          <a:prstGeom prst="rect">
            <a:avLst/>
          </a:prstGeom>
          <a:noFill/>
        </p:spPr>
        <p:txBody>
          <a:bodyPr wrap="square" lIns="0" tIns="0" rIns="0" bIns="0" anchor="t">
            <a:spAutoFit/>
          </a:bodyPr>
          <a:lstStyle/>
          <a:p>
            <a:pPr algn="l"/>
            <a:r>
              <a:rPr sz="1400" b="0" i="0">
                <a:solidFill>
                  <a:srgbClr val="595959"/>
                </a:solidFill>
                <a:latin typeface="Calibri"/>
              </a:rPr>
              <a:t>A rotation promotes a child to be the root of its subtree while keeping the in-order sequence A &lt; x &lt; B &lt; y &lt; C.</a:t>
            </a:r>
          </a:p>
        </p:txBody>
      </p:sp>
      <p:sp>
        <p:nvSpPr>
          <p:cNvPr id="5" name="Rounded Rectangle 4"/>
          <p:cNvSpPr/>
          <p:nvPr/>
        </p:nvSpPr>
        <p:spPr>
          <a:xfrm>
            <a:off x="548640" y="1874519"/>
            <a:ext cx="6720840" cy="3749039"/>
          </a:xfrm>
          <a:prstGeom prst="roundRect">
            <a:avLst>
              <a:gd name="adj" fmla="val 5000"/>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flipH="1">
            <a:off x="1143000" y="2560320"/>
            <a:ext cx="685800" cy="82296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828800" y="2560320"/>
            <a:ext cx="685800" cy="82296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1920240" y="3383280"/>
            <a:ext cx="594360" cy="82296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514600" y="3383280"/>
            <a:ext cx="594360" cy="82296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609344" y="2340864"/>
            <a:ext cx="438912" cy="438912"/>
          </a:xfrm>
          <a:prstGeom prst="ellipse">
            <a:avLst/>
          </a:prstGeom>
          <a:solidFill>
            <a:srgbClr val="FFFFFF"/>
          </a:solidFill>
          <a:ln w="22225">
            <a:solidFill>
              <a:srgbClr val="4454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609344" y="2340864"/>
            <a:ext cx="438912" cy="438912"/>
          </a:xfrm>
          <a:prstGeom prst="rect">
            <a:avLst/>
          </a:prstGeom>
          <a:noFill/>
        </p:spPr>
        <p:txBody>
          <a:bodyPr wrap="square" lIns="0" tIns="0" rIns="0" bIns="0" anchor="ctr">
            <a:spAutoFit/>
          </a:bodyPr>
          <a:lstStyle/>
          <a:p>
            <a:pPr algn="ctr"/>
            <a:r>
              <a:rPr sz="1400" b="1" i="0">
                <a:solidFill>
                  <a:srgbClr val="333F50"/>
                </a:solidFill>
                <a:latin typeface="Calibri"/>
              </a:rPr>
              <a:t>x</a:t>
            </a:r>
          </a:p>
        </p:txBody>
      </p:sp>
      <p:sp>
        <p:nvSpPr>
          <p:cNvPr id="12" name="Rounded Rectangle 11"/>
          <p:cNvSpPr/>
          <p:nvPr/>
        </p:nvSpPr>
        <p:spPr>
          <a:xfrm>
            <a:off x="923544" y="3163824"/>
            <a:ext cx="438912" cy="438912"/>
          </a:xfrm>
          <a:prstGeom prst="roundRect">
            <a:avLst>
              <a:gd name="adj" fmla="val 15000"/>
            </a:avLst>
          </a:prstGeom>
          <a:solidFill>
            <a:srgbClr val="F5F5F5"/>
          </a:solidFill>
          <a:ln w="15875">
            <a:solidFill>
              <a:srgbClr val="ADB9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23544" y="3163824"/>
            <a:ext cx="438912" cy="438912"/>
          </a:xfrm>
          <a:prstGeom prst="rect">
            <a:avLst/>
          </a:prstGeom>
          <a:noFill/>
        </p:spPr>
        <p:txBody>
          <a:bodyPr wrap="square" lIns="0" tIns="0" rIns="0" bIns="0" anchor="ctr">
            <a:spAutoFit/>
          </a:bodyPr>
          <a:lstStyle/>
          <a:p>
            <a:pPr algn="ctr"/>
            <a:r>
              <a:rPr sz="1600" b="0" i="1">
                <a:solidFill>
                  <a:srgbClr val="333F50"/>
                </a:solidFill>
                <a:latin typeface="Cambria"/>
              </a:rPr>
              <a:t>A</a:t>
            </a:r>
          </a:p>
        </p:txBody>
      </p:sp>
      <p:sp>
        <p:nvSpPr>
          <p:cNvPr id="14" name="Oval 13"/>
          <p:cNvSpPr/>
          <p:nvPr/>
        </p:nvSpPr>
        <p:spPr>
          <a:xfrm>
            <a:off x="2295144" y="3163824"/>
            <a:ext cx="438912" cy="438912"/>
          </a:xfrm>
          <a:prstGeom prst="ellipse">
            <a:avLst/>
          </a:prstGeom>
          <a:solidFill>
            <a:srgbClr val="FFFFFF"/>
          </a:solidFill>
          <a:ln w="22225">
            <a:solidFill>
              <a:srgbClr val="4454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295144" y="3163824"/>
            <a:ext cx="438912" cy="438912"/>
          </a:xfrm>
          <a:prstGeom prst="rect">
            <a:avLst/>
          </a:prstGeom>
          <a:noFill/>
        </p:spPr>
        <p:txBody>
          <a:bodyPr wrap="square" lIns="0" tIns="0" rIns="0" bIns="0" anchor="ctr">
            <a:spAutoFit/>
          </a:bodyPr>
          <a:lstStyle/>
          <a:p>
            <a:pPr algn="ctr"/>
            <a:r>
              <a:rPr sz="1400" b="1" i="0">
                <a:solidFill>
                  <a:srgbClr val="333F50"/>
                </a:solidFill>
                <a:latin typeface="Calibri"/>
              </a:rPr>
              <a:t>y</a:t>
            </a:r>
          </a:p>
        </p:txBody>
      </p:sp>
      <p:sp>
        <p:nvSpPr>
          <p:cNvPr id="16" name="Rounded Rectangle 15"/>
          <p:cNvSpPr/>
          <p:nvPr/>
        </p:nvSpPr>
        <p:spPr>
          <a:xfrm>
            <a:off x="1700784" y="3986783"/>
            <a:ext cx="438912" cy="438912"/>
          </a:xfrm>
          <a:prstGeom prst="roundRect">
            <a:avLst>
              <a:gd name="adj" fmla="val 15000"/>
            </a:avLst>
          </a:prstGeom>
          <a:solidFill>
            <a:srgbClr val="F5F5F5"/>
          </a:solidFill>
          <a:ln w="15875">
            <a:solidFill>
              <a:srgbClr val="ADB9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700784" y="3986783"/>
            <a:ext cx="438912" cy="438912"/>
          </a:xfrm>
          <a:prstGeom prst="rect">
            <a:avLst/>
          </a:prstGeom>
          <a:noFill/>
        </p:spPr>
        <p:txBody>
          <a:bodyPr wrap="square" lIns="0" tIns="0" rIns="0" bIns="0" anchor="ctr">
            <a:spAutoFit/>
          </a:bodyPr>
          <a:lstStyle/>
          <a:p>
            <a:pPr algn="ctr"/>
            <a:r>
              <a:rPr sz="1600" b="0" i="1">
                <a:solidFill>
                  <a:srgbClr val="333F50"/>
                </a:solidFill>
                <a:latin typeface="Cambria"/>
              </a:rPr>
              <a:t>B</a:t>
            </a:r>
          </a:p>
        </p:txBody>
      </p:sp>
      <p:sp>
        <p:nvSpPr>
          <p:cNvPr id="18" name="Rounded Rectangle 17"/>
          <p:cNvSpPr/>
          <p:nvPr/>
        </p:nvSpPr>
        <p:spPr>
          <a:xfrm>
            <a:off x="2889504" y="3986783"/>
            <a:ext cx="438912" cy="438912"/>
          </a:xfrm>
          <a:prstGeom prst="roundRect">
            <a:avLst>
              <a:gd name="adj" fmla="val 15000"/>
            </a:avLst>
          </a:prstGeom>
          <a:solidFill>
            <a:srgbClr val="F5F5F5"/>
          </a:solidFill>
          <a:ln w="15875">
            <a:solidFill>
              <a:srgbClr val="ADB9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889504" y="3986783"/>
            <a:ext cx="438912" cy="438912"/>
          </a:xfrm>
          <a:prstGeom prst="rect">
            <a:avLst/>
          </a:prstGeom>
          <a:noFill/>
        </p:spPr>
        <p:txBody>
          <a:bodyPr wrap="square" lIns="0" tIns="0" rIns="0" bIns="0" anchor="ctr">
            <a:spAutoFit/>
          </a:bodyPr>
          <a:lstStyle/>
          <a:p>
            <a:pPr algn="ctr"/>
            <a:r>
              <a:rPr sz="1600" b="0" i="1">
                <a:solidFill>
                  <a:srgbClr val="333F50"/>
                </a:solidFill>
                <a:latin typeface="Cambria"/>
              </a:rPr>
              <a:t>C</a:t>
            </a:r>
          </a:p>
        </p:txBody>
      </p:sp>
      <p:cxnSp>
        <p:nvCxnSpPr>
          <p:cNvPr id="20" name="Connector 19"/>
          <p:cNvCxnSpPr/>
          <p:nvPr/>
        </p:nvCxnSpPr>
        <p:spPr>
          <a:xfrm flipH="1">
            <a:off x="5349240" y="2560320"/>
            <a:ext cx="685800" cy="82296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035040" y="2560320"/>
            <a:ext cx="685800" cy="82296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4754880" y="3383280"/>
            <a:ext cx="594360" cy="82296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5349240" y="3383280"/>
            <a:ext cx="594360" cy="82296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5815583" y="2340864"/>
            <a:ext cx="438912" cy="438912"/>
          </a:xfrm>
          <a:prstGeom prst="ellipse">
            <a:avLst/>
          </a:prstGeom>
          <a:solidFill>
            <a:srgbClr val="FFFFFF"/>
          </a:solidFill>
          <a:ln w="22225">
            <a:solidFill>
              <a:srgbClr val="4454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815583" y="2340864"/>
            <a:ext cx="438912" cy="438912"/>
          </a:xfrm>
          <a:prstGeom prst="rect">
            <a:avLst/>
          </a:prstGeom>
          <a:noFill/>
        </p:spPr>
        <p:txBody>
          <a:bodyPr wrap="square" lIns="0" tIns="0" rIns="0" bIns="0" anchor="ctr">
            <a:spAutoFit/>
          </a:bodyPr>
          <a:lstStyle/>
          <a:p>
            <a:pPr algn="ctr"/>
            <a:r>
              <a:rPr sz="1400" b="1" i="0">
                <a:solidFill>
                  <a:srgbClr val="333F50"/>
                </a:solidFill>
                <a:latin typeface="Calibri"/>
              </a:rPr>
              <a:t>y</a:t>
            </a:r>
          </a:p>
        </p:txBody>
      </p:sp>
      <p:sp>
        <p:nvSpPr>
          <p:cNvPr id="26" name="Oval 25"/>
          <p:cNvSpPr/>
          <p:nvPr/>
        </p:nvSpPr>
        <p:spPr>
          <a:xfrm>
            <a:off x="5129783" y="3163824"/>
            <a:ext cx="438912" cy="438912"/>
          </a:xfrm>
          <a:prstGeom prst="ellipse">
            <a:avLst/>
          </a:prstGeom>
          <a:solidFill>
            <a:srgbClr val="FFFFFF"/>
          </a:solidFill>
          <a:ln w="22225">
            <a:solidFill>
              <a:srgbClr val="4454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129783" y="3163824"/>
            <a:ext cx="438912" cy="438912"/>
          </a:xfrm>
          <a:prstGeom prst="rect">
            <a:avLst/>
          </a:prstGeom>
          <a:noFill/>
        </p:spPr>
        <p:txBody>
          <a:bodyPr wrap="square" lIns="0" tIns="0" rIns="0" bIns="0" anchor="ctr">
            <a:spAutoFit/>
          </a:bodyPr>
          <a:lstStyle/>
          <a:p>
            <a:pPr algn="ctr"/>
            <a:r>
              <a:rPr sz="1400" b="1" i="0">
                <a:solidFill>
                  <a:srgbClr val="333F50"/>
                </a:solidFill>
                <a:latin typeface="Calibri"/>
              </a:rPr>
              <a:t>x</a:t>
            </a:r>
          </a:p>
        </p:txBody>
      </p:sp>
      <p:sp>
        <p:nvSpPr>
          <p:cNvPr id="28" name="Rounded Rectangle 27"/>
          <p:cNvSpPr/>
          <p:nvPr/>
        </p:nvSpPr>
        <p:spPr>
          <a:xfrm>
            <a:off x="6501383" y="3163824"/>
            <a:ext cx="438912" cy="438912"/>
          </a:xfrm>
          <a:prstGeom prst="roundRect">
            <a:avLst>
              <a:gd name="adj" fmla="val 15000"/>
            </a:avLst>
          </a:prstGeom>
          <a:solidFill>
            <a:srgbClr val="F5F5F5"/>
          </a:solidFill>
          <a:ln w="15875">
            <a:solidFill>
              <a:srgbClr val="ADB9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501383" y="3163824"/>
            <a:ext cx="438912" cy="438912"/>
          </a:xfrm>
          <a:prstGeom prst="rect">
            <a:avLst/>
          </a:prstGeom>
          <a:noFill/>
        </p:spPr>
        <p:txBody>
          <a:bodyPr wrap="square" lIns="0" tIns="0" rIns="0" bIns="0" anchor="ctr">
            <a:spAutoFit/>
          </a:bodyPr>
          <a:lstStyle/>
          <a:p>
            <a:pPr algn="ctr"/>
            <a:r>
              <a:rPr sz="1600" b="0" i="1">
                <a:solidFill>
                  <a:srgbClr val="333F50"/>
                </a:solidFill>
                <a:latin typeface="Cambria"/>
              </a:rPr>
              <a:t>C</a:t>
            </a:r>
          </a:p>
        </p:txBody>
      </p:sp>
      <p:sp>
        <p:nvSpPr>
          <p:cNvPr id="30" name="Rounded Rectangle 29"/>
          <p:cNvSpPr/>
          <p:nvPr/>
        </p:nvSpPr>
        <p:spPr>
          <a:xfrm>
            <a:off x="4535424" y="3986783"/>
            <a:ext cx="438912" cy="438912"/>
          </a:xfrm>
          <a:prstGeom prst="roundRect">
            <a:avLst>
              <a:gd name="adj" fmla="val 15000"/>
            </a:avLst>
          </a:prstGeom>
          <a:solidFill>
            <a:srgbClr val="F5F5F5"/>
          </a:solidFill>
          <a:ln w="15875">
            <a:solidFill>
              <a:srgbClr val="ADB9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535424" y="3986783"/>
            <a:ext cx="438912" cy="438912"/>
          </a:xfrm>
          <a:prstGeom prst="rect">
            <a:avLst/>
          </a:prstGeom>
          <a:noFill/>
        </p:spPr>
        <p:txBody>
          <a:bodyPr wrap="square" lIns="0" tIns="0" rIns="0" bIns="0" anchor="ctr">
            <a:spAutoFit/>
          </a:bodyPr>
          <a:lstStyle/>
          <a:p>
            <a:pPr algn="ctr"/>
            <a:r>
              <a:rPr sz="1600" b="0" i="1">
                <a:solidFill>
                  <a:srgbClr val="333F50"/>
                </a:solidFill>
                <a:latin typeface="Cambria"/>
              </a:rPr>
              <a:t>A</a:t>
            </a:r>
          </a:p>
        </p:txBody>
      </p:sp>
      <p:sp>
        <p:nvSpPr>
          <p:cNvPr id="32" name="Rounded Rectangle 31"/>
          <p:cNvSpPr/>
          <p:nvPr/>
        </p:nvSpPr>
        <p:spPr>
          <a:xfrm>
            <a:off x="5724144" y="3986783"/>
            <a:ext cx="438912" cy="438912"/>
          </a:xfrm>
          <a:prstGeom prst="roundRect">
            <a:avLst>
              <a:gd name="adj" fmla="val 15000"/>
            </a:avLst>
          </a:prstGeom>
          <a:solidFill>
            <a:srgbClr val="F5F5F5"/>
          </a:solidFill>
          <a:ln w="15875">
            <a:solidFill>
              <a:srgbClr val="ADB9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724144" y="3986783"/>
            <a:ext cx="438912" cy="438912"/>
          </a:xfrm>
          <a:prstGeom prst="rect">
            <a:avLst/>
          </a:prstGeom>
          <a:noFill/>
        </p:spPr>
        <p:txBody>
          <a:bodyPr wrap="square" lIns="0" tIns="0" rIns="0" bIns="0" anchor="ctr">
            <a:spAutoFit/>
          </a:bodyPr>
          <a:lstStyle/>
          <a:p>
            <a:pPr algn="ctr"/>
            <a:r>
              <a:rPr sz="1600" b="0" i="1">
                <a:solidFill>
                  <a:srgbClr val="333F50"/>
                </a:solidFill>
                <a:latin typeface="Cambria"/>
              </a:rPr>
              <a:t>B</a:t>
            </a:r>
          </a:p>
        </p:txBody>
      </p:sp>
      <p:sp>
        <p:nvSpPr>
          <p:cNvPr id="38" name="TextBox 37"/>
          <p:cNvSpPr txBox="1"/>
          <p:nvPr/>
        </p:nvSpPr>
        <p:spPr>
          <a:xfrm>
            <a:off x="837943" y="5133804"/>
            <a:ext cx="6217920" cy="640080"/>
          </a:xfrm>
          <a:prstGeom prst="rect">
            <a:avLst/>
          </a:prstGeom>
          <a:noFill/>
        </p:spPr>
        <p:txBody>
          <a:bodyPr wrap="square" lIns="0" tIns="0" rIns="0" bIns="0" anchor="t">
            <a:spAutoFit/>
          </a:bodyPr>
          <a:lstStyle/>
          <a:p>
            <a:pPr algn="l"/>
            <a:r>
              <a:rPr sz="1300" b="1" i="0" dirty="0">
                <a:solidFill>
                  <a:srgbClr val="333F50"/>
                </a:solidFill>
                <a:latin typeface="Calibri"/>
              </a:rPr>
              <a:t>Depth change: </a:t>
            </a:r>
            <a:r>
              <a:rPr sz="1300" b="0" i="0" dirty="0">
                <a:solidFill>
                  <a:srgbClr val="333F50"/>
                </a:solidFill>
                <a:latin typeface="Calibri"/>
              </a:rPr>
              <a:t>A moves down one level, C moves up one, B stays. In-order is still A, x, B, y, C.</a:t>
            </a:r>
          </a:p>
        </p:txBody>
      </p:sp>
      <p:sp>
        <p:nvSpPr>
          <p:cNvPr id="39" name="Rounded Rectangle 38"/>
          <p:cNvSpPr/>
          <p:nvPr/>
        </p:nvSpPr>
        <p:spPr>
          <a:xfrm>
            <a:off x="7498079" y="1874519"/>
            <a:ext cx="4142232" cy="3749039"/>
          </a:xfrm>
          <a:prstGeom prst="roundRect">
            <a:avLst>
              <a:gd name="adj" fmla="val 5000"/>
            </a:avLst>
          </a:prstGeom>
          <a:solidFill>
            <a:srgbClr val="F5F5F5"/>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699248" y="2057400"/>
            <a:ext cx="3840480" cy="3383280"/>
          </a:xfrm>
          <a:prstGeom prst="rect">
            <a:avLst/>
          </a:prstGeom>
          <a:noFill/>
        </p:spPr>
        <p:txBody>
          <a:bodyPr wrap="square" lIns="0" tIns="0" rIns="0" bIns="0" anchor="t">
            <a:spAutoFit/>
          </a:bodyPr>
          <a:lstStyle/>
          <a:p>
            <a:pPr algn="l">
              <a:lnSpc>
                <a:spcPct val="108000"/>
              </a:lnSpc>
              <a:spcAft>
                <a:spcPts val="1400"/>
              </a:spcAft>
              <a:defRPr sz="1600" b="1">
                <a:solidFill>
                  <a:srgbClr val="333F50"/>
                </a:solidFill>
                <a:latin typeface="Calibri"/>
              </a:defRPr>
            </a:pPr>
            <a:r>
              <a:rPr lang="en-US"/>
              <a:t>What changes in a left rotation?</a:t>
            </a:r>
          </a:p>
          <a:p>
            <a:pPr marL="190500" indent="-158750">
              <a:lnSpc>
                <a:spcPct val="108000"/>
              </a:lnSpc>
              <a:spcAft>
                <a:spcPts val="1200"/>
              </a:spcAft>
              <a:buChar char="•"/>
              <a:defRPr sz="1600" b="0">
                <a:solidFill>
                  <a:srgbClr val="333F50"/>
                </a:solidFill>
                <a:latin typeface="Calibri"/>
              </a:defRPr>
            </a:pPr>
            <a:r>
              <a:rPr lang="en-US"/>
              <a:t>Promote y, the right child of x, to become the local root. Move x down to become y’s left child.</a:t>
            </a:r>
          </a:p>
          <a:p>
            <a:pPr marL="190500" indent="-158750">
              <a:lnSpc>
                <a:spcPct val="108000"/>
              </a:lnSpc>
              <a:spcAft>
                <a:spcPts val="1200"/>
              </a:spcAft>
              <a:buChar char="•"/>
              <a:defRPr sz="1600" b="0">
                <a:solidFill>
                  <a:srgbClr val="333F50"/>
                </a:solidFill>
                <a:latin typeface="Calibri"/>
              </a:defRPr>
            </a:pPr>
            <a:r>
              <a:rPr lang="en-US"/>
              <a:t>Move subtree B to the right of x. Its keys still lie between x and y.</a:t>
            </a:r>
          </a:p>
          <a:p>
            <a:pPr marL="190500" indent="-158750">
              <a:lnSpc>
                <a:spcPct val="108000"/>
              </a:lnSpc>
              <a:spcAft>
                <a:spcPts val="1200"/>
              </a:spcAft>
              <a:buChar char="•"/>
              <a:defRPr sz="1600" b="0">
                <a:solidFill>
                  <a:srgbClr val="333F50"/>
                </a:solidFill>
                <a:latin typeface="Calibri"/>
              </a:defRPr>
            </a:pPr>
            <a:r>
              <a:rPr lang="en-US"/>
              <a:t>Keep A attached to x and C attached to y. The sorted order stays the same.</a:t>
            </a:r>
          </a:p>
          <a:p>
            <a:pPr marL="190500" indent="-158750">
              <a:lnSpc>
                <a:spcPct val="108000"/>
              </a:lnSpc>
              <a:spcAft>
                <a:spcPts val="1200"/>
              </a:spcAft>
              <a:buChar char="•"/>
              <a:defRPr sz="1600" b="0">
                <a:solidFill>
                  <a:srgbClr val="333F50"/>
                </a:solidFill>
                <a:latin typeface="Calibri"/>
              </a:defRPr>
            </a:pPr>
            <a:r>
              <a:rPr lang="en-US"/>
              <a:t>Change only a few links, regardless of subtree size. Each rotation takes O(1) time.</a:t>
            </a:r>
          </a:p>
        </p:txBody>
      </p:sp>
      <p:sp>
        <p:nvSpPr>
          <p:cNvPr id="41" name="Rounded Rectangle 40"/>
          <p:cNvSpPr/>
          <p:nvPr/>
        </p:nvSpPr>
        <p:spPr>
          <a:xfrm>
            <a:off x="548640" y="5760720"/>
            <a:ext cx="11091672" cy="457200"/>
          </a:xfrm>
          <a:prstGeom prst="roundRect">
            <a:avLst>
              <a:gd name="adj" fmla="val 5000"/>
            </a:avLst>
          </a:prstGeom>
          <a:solidFill>
            <a:srgbClr val="F5F5F5"/>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95528" y="5889292"/>
            <a:ext cx="10607040" cy="200055"/>
          </a:xfrm>
          <a:prstGeom prst="rect">
            <a:avLst/>
          </a:prstGeom>
          <a:noFill/>
        </p:spPr>
        <p:txBody>
          <a:bodyPr wrap="square" lIns="0" tIns="0" rIns="0" bIns="0" anchor="ctr">
            <a:spAutoFit/>
          </a:bodyPr>
          <a:lstStyle/>
          <a:p>
            <a:pPr algn="l"/>
            <a:r>
              <a:rPr sz="1300" b="0" i="0">
                <a:solidFill>
                  <a:srgbClr val="333F50"/>
                </a:solidFill>
                <a:latin typeface="Calibri"/>
              </a:rPr>
              <a:t>O(1) pointer updates   ·   search tree property preserved   ·   </a:t>
            </a:r>
            <a:r>
              <a:rPr lang="en-US" sz="1300" b="0" i="0">
                <a:solidFill>
                  <a:srgbClr val="333F50"/>
                </a:solidFill>
                <a:latin typeface="Calibri"/>
              </a:rPr>
              <a:t>RIGHTROTATE</a:t>
            </a:r>
            <a:r>
              <a:rPr sz="1300" b="0" i="0">
                <a:solidFill>
                  <a:srgbClr val="333F50"/>
                </a:solidFill>
                <a:latin typeface="Calibri"/>
              </a:rPr>
              <a:t> is the mirror image</a:t>
            </a:r>
          </a:p>
        </p:txBody>
      </p:sp>
      <p:sp>
        <p:nvSpPr>
          <p:cNvPr id="43" name="TextBox 42"/>
          <p:cNvSpPr txBox="1"/>
          <p:nvPr/>
        </p:nvSpPr>
        <p:spPr>
          <a:xfrm>
            <a:off x="548640" y="6501384"/>
            <a:ext cx="9326880" cy="138499"/>
          </a:xfrm>
          <a:prstGeom prst="rect">
            <a:avLst/>
          </a:prstGeom>
          <a:noFill/>
        </p:spPr>
        <p:txBody>
          <a:bodyPr wrap="square" lIns="0" tIns="0" rIns="0" bIns="0" anchor="t">
            <a:spAutoFit/>
          </a:bodyPr>
          <a:lstStyle/>
          <a:p>
            <a:pPr algn="l"/>
            <a:r>
              <a:rPr lang="en-US" sz="900" b="0" i="0">
                <a:solidFill>
                  <a:srgbClr val="595959"/>
                </a:solidFill>
                <a:latin typeface="Calibri"/>
              </a:rPr>
              <a:t>CS 383 </a:t>
            </a:r>
            <a:r>
              <a:rPr sz="900" b="0" i="0">
                <a:solidFill>
                  <a:srgbClr val="595959"/>
                </a:solidFill>
                <a:latin typeface="Calibri"/>
              </a:rPr>
              <a:t>Algorithm Design </a:t>
            </a:r>
            <a:r>
              <a:rPr lang="en-US" sz="900" b="0" i="0">
                <a:solidFill>
                  <a:srgbClr val="595959"/>
                </a:solidFill>
                <a:latin typeface="Calibri"/>
              </a:rPr>
              <a:t>and Analysis </a:t>
            </a:r>
            <a:r>
              <a:rPr sz="900" b="0" i="0">
                <a:solidFill>
                  <a:srgbClr val="595959"/>
                </a:solidFill>
                <a:latin typeface="Calibri"/>
              </a:rPr>
              <a:t> ·  Balanced Binary Search Trees  ·  </a:t>
            </a:r>
            <a:r>
              <a:rPr lang="en-US" sz="900" b="0" i="0">
                <a:solidFill>
                  <a:srgbClr val="595959"/>
                </a:solidFill>
                <a:latin typeface="Calibri"/>
              </a:rPr>
              <a:t>Tanwistha Saha</a:t>
            </a:r>
            <a:endParaRPr sz="900" b="0" i="0">
              <a:solidFill>
                <a:srgbClr val="595959"/>
              </a:solidFill>
              <a:latin typeface="Calibri"/>
            </a:endParaRPr>
          </a:p>
        </p:txBody>
      </p:sp>
      <p:sp>
        <p:nvSpPr>
          <p:cNvPr id="44" name="TextBox 43"/>
          <p:cNvSpPr txBox="1"/>
          <p:nvPr/>
        </p:nvSpPr>
        <p:spPr>
          <a:xfrm>
            <a:off x="10908792" y="6501384"/>
            <a:ext cx="731520" cy="138499"/>
          </a:xfrm>
          <a:prstGeom prst="rect">
            <a:avLst/>
          </a:prstGeom>
          <a:noFill/>
        </p:spPr>
        <p:txBody>
          <a:bodyPr wrap="square" lIns="0" tIns="0" rIns="0" bIns="0" anchor="t">
            <a:spAutoFit/>
          </a:bodyPr>
          <a:lstStyle/>
          <a:p>
            <a:pPr algn="r"/>
            <a:r>
              <a:rPr lang="en-US" sz="900" b="0" i="0">
                <a:solidFill>
                  <a:srgbClr val="595959"/>
                </a:solidFill>
                <a:latin typeface="Calibri"/>
              </a:rPr>
              <a:t>9</a:t>
            </a:r>
            <a:endParaRPr sz="900" b="0" i="0">
              <a:solidFill>
                <a:srgbClr val="595959"/>
              </a:solidFill>
              <a:latin typeface="Calibri"/>
            </a:endParaRPr>
          </a:p>
        </p:txBody>
      </p:sp>
      <p:grpSp>
        <p:nvGrpSpPr>
          <p:cNvPr id="55" name="Group 54">
            <a:extLst>
              <a:ext uri="{FF2B5EF4-FFF2-40B4-BE49-F238E27FC236}">
                <a16:creationId xmlns:a16="http://schemas.microsoft.com/office/drawing/2014/main" id="{0B731692-8AC8-5A14-2C06-08316054BE30}"/>
              </a:ext>
            </a:extLst>
          </p:cNvPr>
          <p:cNvGrpSpPr/>
          <p:nvPr/>
        </p:nvGrpSpPr>
        <p:grpSpPr>
          <a:xfrm>
            <a:off x="2135289" y="2024845"/>
            <a:ext cx="2390991" cy="1102403"/>
            <a:chOff x="2135289" y="2024845"/>
            <a:chExt cx="2390991" cy="1102403"/>
          </a:xfrm>
        </p:grpSpPr>
        <p:sp>
          <p:nvSpPr>
            <p:cNvPr id="34" name="TextBox 33"/>
            <p:cNvSpPr txBox="1"/>
            <p:nvPr/>
          </p:nvSpPr>
          <p:spPr>
            <a:xfrm>
              <a:off x="3337560" y="2514600"/>
              <a:ext cx="1188720" cy="169277"/>
            </a:xfrm>
            <a:prstGeom prst="rect">
              <a:avLst/>
            </a:prstGeom>
            <a:noFill/>
          </p:spPr>
          <p:txBody>
            <a:bodyPr wrap="square" lIns="0" tIns="0" rIns="0" bIns="0" anchor="t">
              <a:spAutoFit/>
            </a:bodyPr>
            <a:lstStyle/>
            <a:p>
              <a:pPr algn="ctr"/>
              <a:r>
                <a:rPr lang="en-US" sz="1100" b="1" i="0" dirty="0">
                  <a:solidFill>
                    <a:srgbClr val="4472C4"/>
                  </a:solidFill>
                  <a:latin typeface="Courier New"/>
                </a:rPr>
                <a:t>LEFTROTATE</a:t>
              </a:r>
              <a:r>
                <a:rPr sz="1100" b="1" i="0" dirty="0">
                  <a:solidFill>
                    <a:srgbClr val="4472C4"/>
                  </a:solidFill>
                  <a:latin typeface="Courier New"/>
                </a:rPr>
                <a:t>(x)</a:t>
              </a:r>
            </a:p>
          </p:txBody>
        </p:sp>
        <p:sp>
          <p:nvSpPr>
            <p:cNvPr id="35" name="Right Arrow 34"/>
            <p:cNvSpPr/>
            <p:nvPr/>
          </p:nvSpPr>
          <p:spPr>
            <a:xfrm>
              <a:off x="3611880" y="2834640"/>
              <a:ext cx="640080" cy="292608"/>
            </a:xfrm>
            <a:prstGeom prst="rightArrow">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Bent Arrow 51">
              <a:extLst>
                <a:ext uri="{FF2B5EF4-FFF2-40B4-BE49-F238E27FC236}">
                  <a16:creationId xmlns:a16="http://schemas.microsoft.com/office/drawing/2014/main" id="{D129ED74-0371-AFB6-37A6-8CBF2F0FBA4C}"/>
                </a:ext>
              </a:extLst>
            </p:cNvPr>
            <p:cNvSpPr/>
            <p:nvPr/>
          </p:nvSpPr>
          <p:spPr>
            <a:xfrm flipH="1">
              <a:off x="2135289" y="2024845"/>
              <a:ext cx="754215" cy="1074971"/>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56" name="Group 55">
            <a:extLst>
              <a:ext uri="{FF2B5EF4-FFF2-40B4-BE49-F238E27FC236}">
                <a16:creationId xmlns:a16="http://schemas.microsoft.com/office/drawing/2014/main" id="{FE564590-DCF6-0C6D-97EC-003BA8BC0EFF}"/>
              </a:ext>
            </a:extLst>
          </p:cNvPr>
          <p:cNvGrpSpPr/>
          <p:nvPr/>
        </p:nvGrpSpPr>
        <p:grpSpPr>
          <a:xfrm>
            <a:off x="3246120" y="2064315"/>
            <a:ext cx="2372371" cy="1808282"/>
            <a:chOff x="3246120" y="2064315"/>
            <a:chExt cx="2372371" cy="1808282"/>
          </a:xfrm>
        </p:grpSpPr>
        <p:sp>
          <p:nvSpPr>
            <p:cNvPr id="36" name="Left Arrow 35"/>
            <p:cNvSpPr/>
            <p:nvPr/>
          </p:nvSpPr>
          <p:spPr>
            <a:xfrm>
              <a:off x="3611880" y="3337560"/>
              <a:ext cx="640080" cy="292608"/>
            </a:xfrm>
            <a:prstGeom prst="leftArrow">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246120" y="3703320"/>
              <a:ext cx="1371600" cy="169277"/>
            </a:xfrm>
            <a:prstGeom prst="rect">
              <a:avLst/>
            </a:prstGeom>
            <a:noFill/>
          </p:spPr>
          <p:txBody>
            <a:bodyPr wrap="square" lIns="0" tIns="0" rIns="0" bIns="0" anchor="t">
              <a:spAutoFit/>
            </a:bodyPr>
            <a:lstStyle/>
            <a:p>
              <a:pPr algn="ctr"/>
              <a:r>
                <a:rPr lang="en-US" sz="1100" b="1" i="0">
                  <a:solidFill>
                    <a:srgbClr val="595959"/>
                  </a:solidFill>
                  <a:latin typeface="Courier New"/>
                </a:rPr>
                <a:t>RIGHTROTATE</a:t>
              </a:r>
              <a:r>
                <a:rPr sz="1100" b="1" i="0">
                  <a:solidFill>
                    <a:srgbClr val="595959"/>
                  </a:solidFill>
                  <a:latin typeface="Courier New"/>
                </a:rPr>
                <a:t>(y)</a:t>
              </a:r>
            </a:p>
          </p:txBody>
        </p:sp>
        <p:sp>
          <p:nvSpPr>
            <p:cNvPr id="53" name="Bent Arrow 52">
              <a:extLst>
                <a:ext uri="{FF2B5EF4-FFF2-40B4-BE49-F238E27FC236}">
                  <a16:creationId xmlns:a16="http://schemas.microsoft.com/office/drawing/2014/main" id="{EFF1721B-0D5F-A4BD-C0DF-237066020757}"/>
                </a:ext>
              </a:extLst>
            </p:cNvPr>
            <p:cNvSpPr/>
            <p:nvPr/>
          </p:nvSpPr>
          <p:spPr>
            <a:xfrm>
              <a:off x="4931038" y="2064315"/>
              <a:ext cx="687453" cy="1042416"/>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54" name="Left-Right Arrow 53">
            <a:extLst>
              <a:ext uri="{FF2B5EF4-FFF2-40B4-BE49-F238E27FC236}">
                <a16:creationId xmlns:a16="http://schemas.microsoft.com/office/drawing/2014/main" id="{D408A3A2-C2F1-DA56-0BB8-655F3F0E083B}"/>
              </a:ext>
            </a:extLst>
          </p:cNvPr>
          <p:cNvSpPr/>
          <p:nvPr/>
        </p:nvSpPr>
        <p:spPr>
          <a:xfrm>
            <a:off x="3246120" y="4490637"/>
            <a:ext cx="1371600" cy="465412"/>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rotate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5"/>
                                        </p:tgtEl>
                                        <p:attrNameLst>
                                          <p:attrName>style.visibility</p:attrName>
                                        </p:attrNameLst>
                                      </p:cBhvr>
                                      <p:to>
                                        <p:strVal val="visible"/>
                                      </p:to>
                                    </p:set>
                                    <p:animEffect transition="in" filter="blinds(horizontal)">
                                      <p:cBhvr>
                                        <p:cTn id="7" dur="500"/>
                                        <p:tgtEl>
                                          <p:spTgt spid="5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6"/>
                                        </p:tgtEl>
                                        <p:attrNameLst>
                                          <p:attrName>style.visibility</p:attrName>
                                        </p:attrNameLst>
                                      </p:cBhvr>
                                      <p:to>
                                        <p:strVal val="visible"/>
                                      </p:to>
                                    </p:set>
                                    <p:animEffect transition="in" filter="blinds(horizontal)">
                                      <p:cBhvr>
                                        <p:cTn id="12"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9144000" cy="320040"/>
          </a:xfrm>
          <a:prstGeom prst="rect">
            <a:avLst/>
          </a:prstGeom>
          <a:noFill/>
        </p:spPr>
        <p:txBody>
          <a:bodyPr wrap="square" lIns="0" tIns="0" rIns="0" bIns="0" anchor="t">
            <a:spAutoFit/>
          </a:bodyPr>
          <a:lstStyle/>
          <a:p>
            <a:pPr algn="l"/>
            <a:r>
              <a:rPr sz="1200" b="1" i="0">
                <a:solidFill>
                  <a:srgbClr val="4472C4"/>
                </a:solidFill>
                <a:latin typeface="Calibri"/>
              </a:rPr>
              <a:t>TREE ROTATION</a:t>
            </a:r>
          </a:p>
        </p:txBody>
      </p:sp>
      <p:sp>
        <p:nvSpPr>
          <p:cNvPr id="3" name="TextBox 2"/>
          <p:cNvSpPr txBox="1"/>
          <p:nvPr/>
        </p:nvSpPr>
        <p:spPr>
          <a:xfrm>
            <a:off x="548640" y="658368"/>
            <a:ext cx="11064240" cy="640080"/>
          </a:xfrm>
          <a:prstGeom prst="rect">
            <a:avLst/>
          </a:prstGeom>
          <a:noFill/>
        </p:spPr>
        <p:txBody>
          <a:bodyPr wrap="square" lIns="0" tIns="0" rIns="0" bIns="0" anchor="t">
            <a:spAutoFit/>
          </a:bodyPr>
          <a:lstStyle/>
          <a:p>
            <a:pPr algn="l"/>
            <a:r>
              <a:rPr sz="2800" b="1" i="0">
                <a:solidFill>
                  <a:srgbClr val="333F50"/>
                </a:solidFill>
                <a:latin typeface="Calibri Light"/>
              </a:rPr>
              <a:t>One or two rotations fix any 3-node chain</a:t>
            </a:r>
          </a:p>
        </p:txBody>
      </p:sp>
      <p:sp>
        <p:nvSpPr>
          <p:cNvPr id="4" name="TextBox 3"/>
          <p:cNvSpPr txBox="1"/>
          <p:nvPr/>
        </p:nvSpPr>
        <p:spPr>
          <a:xfrm>
            <a:off x="548640" y="1197864"/>
            <a:ext cx="11064240" cy="502920"/>
          </a:xfrm>
          <a:prstGeom prst="rect">
            <a:avLst/>
          </a:prstGeom>
          <a:noFill/>
        </p:spPr>
        <p:txBody>
          <a:bodyPr wrap="square" lIns="0" tIns="0" rIns="0" bIns="0" anchor="t">
            <a:spAutoFit/>
          </a:bodyPr>
          <a:lstStyle/>
          <a:p>
            <a:pPr algn="l"/>
            <a:r>
              <a:rPr sz="1400" b="0" i="0">
                <a:solidFill>
                  <a:srgbClr val="595959"/>
                </a:solidFill>
                <a:latin typeface="Calibri"/>
              </a:rPr>
              <a:t>Line shape: rotate once at the top. Zig-zag shape: rotate the middle node first to turn it into a line.</a:t>
            </a:r>
          </a:p>
        </p:txBody>
      </p:sp>
      <p:sp>
        <p:nvSpPr>
          <p:cNvPr id="5" name="Rounded Rectangle 4"/>
          <p:cNvSpPr/>
          <p:nvPr/>
        </p:nvSpPr>
        <p:spPr>
          <a:xfrm>
            <a:off x="548640" y="1874519"/>
            <a:ext cx="4389120" cy="3337560"/>
          </a:xfrm>
          <a:prstGeom prst="roundRect">
            <a:avLst>
              <a:gd name="adj" fmla="val 5000"/>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2057400"/>
            <a:ext cx="3931920" cy="274320"/>
          </a:xfrm>
          <a:prstGeom prst="rect">
            <a:avLst/>
          </a:prstGeom>
          <a:noFill/>
        </p:spPr>
        <p:txBody>
          <a:bodyPr wrap="square" lIns="0" tIns="0" rIns="0" bIns="0" anchor="t">
            <a:spAutoFit/>
          </a:bodyPr>
          <a:lstStyle/>
          <a:p>
            <a:pPr algn="l"/>
            <a:r>
              <a:rPr sz="1100" b="1" i="0">
                <a:solidFill>
                  <a:srgbClr val="4472C4"/>
                </a:solidFill>
                <a:latin typeface="Calibri"/>
              </a:rPr>
              <a:t>LINE:  2 → 5 → 7  (sorted A)</a:t>
            </a:r>
          </a:p>
        </p:txBody>
      </p:sp>
      <p:cxnSp>
        <p:nvCxnSpPr>
          <p:cNvPr id="7" name="Connector 6"/>
          <p:cNvCxnSpPr/>
          <p:nvPr/>
        </p:nvCxnSpPr>
        <p:spPr>
          <a:xfrm>
            <a:off x="1005840" y="2788920"/>
            <a:ext cx="548640" cy="68580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554480" y="3474720"/>
            <a:ext cx="548640" cy="68580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804672" y="2587751"/>
            <a:ext cx="402336" cy="402336"/>
          </a:xfrm>
          <a:prstGeom prst="ellipse">
            <a:avLst/>
          </a:prstGeom>
          <a:solidFill>
            <a:srgbClr val="D6DCE4"/>
          </a:solidFill>
          <a:ln w="22225">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4672" y="2587751"/>
            <a:ext cx="402336" cy="402336"/>
          </a:xfrm>
          <a:prstGeom prst="rect">
            <a:avLst/>
          </a:prstGeom>
          <a:noFill/>
        </p:spPr>
        <p:txBody>
          <a:bodyPr wrap="square" lIns="0" tIns="0" rIns="0" bIns="0" anchor="ctr">
            <a:spAutoFit/>
          </a:bodyPr>
          <a:lstStyle/>
          <a:p>
            <a:pPr algn="ctr"/>
            <a:r>
              <a:rPr sz="1400" b="1" i="0">
                <a:solidFill>
                  <a:srgbClr val="333F50"/>
                </a:solidFill>
                <a:latin typeface="Calibri"/>
              </a:rPr>
              <a:t>2</a:t>
            </a:r>
          </a:p>
        </p:txBody>
      </p:sp>
      <p:sp>
        <p:nvSpPr>
          <p:cNvPr id="11" name="Oval 10"/>
          <p:cNvSpPr/>
          <p:nvPr/>
        </p:nvSpPr>
        <p:spPr>
          <a:xfrm>
            <a:off x="1353312" y="3273551"/>
            <a:ext cx="402336" cy="402336"/>
          </a:xfrm>
          <a:prstGeom prst="ellipse">
            <a:avLst/>
          </a:prstGeom>
          <a:solidFill>
            <a:srgbClr val="FFFFFF"/>
          </a:solidFill>
          <a:ln w="22225">
            <a:solidFill>
              <a:srgbClr val="4454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353312" y="3273551"/>
            <a:ext cx="402336" cy="402336"/>
          </a:xfrm>
          <a:prstGeom prst="rect">
            <a:avLst/>
          </a:prstGeom>
          <a:noFill/>
        </p:spPr>
        <p:txBody>
          <a:bodyPr wrap="square" lIns="0" tIns="0" rIns="0" bIns="0" anchor="ctr">
            <a:spAutoFit/>
          </a:bodyPr>
          <a:lstStyle/>
          <a:p>
            <a:pPr algn="ctr"/>
            <a:r>
              <a:rPr sz="1400" b="1" i="0">
                <a:solidFill>
                  <a:srgbClr val="333F50"/>
                </a:solidFill>
                <a:latin typeface="Calibri"/>
              </a:rPr>
              <a:t>5</a:t>
            </a:r>
          </a:p>
        </p:txBody>
      </p:sp>
      <p:sp>
        <p:nvSpPr>
          <p:cNvPr id="13" name="Oval 12"/>
          <p:cNvSpPr/>
          <p:nvPr/>
        </p:nvSpPr>
        <p:spPr>
          <a:xfrm>
            <a:off x="1901951" y="3959352"/>
            <a:ext cx="402336" cy="402336"/>
          </a:xfrm>
          <a:prstGeom prst="ellipse">
            <a:avLst/>
          </a:prstGeom>
          <a:solidFill>
            <a:srgbClr val="FFFFFF"/>
          </a:solidFill>
          <a:ln w="22225">
            <a:solidFill>
              <a:srgbClr val="4454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901951" y="3959352"/>
            <a:ext cx="402336" cy="402336"/>
          </a:xfrm>
          <a:prstGeom prst="rect">
            <a:avLst/>
          </a:prstGeom>
          <a:noFill/>
        </p:spPr>
        <p:txBody>
          <a:bodyPr wrap="square" lIns="0" tIns="0" rIns="0" bIns="0" anchor="ctr">
            <a:spAutoFit/>
          </a:bodyPr>
          <a:lstStyle/>
          <a:p>
            <a:pPr algn="ctr"/>
            <a:r>
              <a:rPr sz="1400" b="1" i="0">
                <a:solidFill>
                  <a:srgbClr val="333F50"/>
                </a:solidFill>
                <a:latin typeface="Calibri"/>
              </a:rPr>
              <a:t>7</a:t>
            </a:r>
          </a:p>
        </p:txBody>
      </p:sp>
      <p:sp>
        <p:nvSpPr>
          <p:cNvPr id="15" name="Right Arrow 14"/>
          <p:cNvSpPr/>
          <p:nvPr/>
        </p:nvSpPr>
        <p:spPr>
          <a:xfrm>
            <a:off x="2331720" y="3246120"/>
            <a:ext cx="502920" cy="274320"/>
          </a:xfrm>
          <a:prstGeom prst="rightArrow">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057400" y="3611880"/>
            <a:ext cx="1097280" cy="307777"/>
          </a:xfrm>
          <a:prstGeom prst="rect">
            <a:avLst/>
          </a:prstGeom>
          <a:noFill/>
        </p:spPr>
        <p:txBody>
          <a:bodyPr wrap="square" lIns="0" tIns="0" rIns="0" bIns="0" anchor="t">
            <a:spAutoFit/>
          </a:bodyPr>
          <a:lstStyle/>
          <a:p>
            <a:pPr algn="ctr"/>
            <a:r>
              <a:rPr lang="en-US" sz="1000" b="1" i="0">
                <a:solidFill>
                  <a:srgbClr val="4472C4"/>
                </a:solidFill>
                <a:latin typeface="Courier New"/>
              </a:rPr>
              <a:t>LEFTROTATE</a:t>
            </a:r>
            <a:endParaRPr sz="1000" b="1" i="0">
              <a:solidFill>
                <a:srgbClr val="4472C4"/>
              </a:solidFill>
              <a:latin typeface="Courier New"/>
            </a:endParaRPr>
          </a:p>
          <a:p>
            <a:pPr algn="ctr"/>
            <a:r>
              <a:rPr sz="1000" b="1" i="0">
                <a:solidFill>
                  <a:srgbClr val="4472C4"/>
                </a:solidFill>
                <a:latin typeface="Courier New"/>
              </a:rPr>
              <a:t>(2)</a:t>
            </a:r>
          </a:p>
        </p:txBody>
      </p:sp>
      <p:cxnSp>
        <p:nvCxnSpPr>
          <p:cNvPr id="17" name="Connector 16"/>
          <p:cNvCxnSpPr/>
          <p:nvPr/>
        </p:nvCxnSpPr>
        <p:spPr>
          <a:xfrm flipH="1">
            <a:off x="3337560" y="2971800"/>
            <a:ext cx="502920" cy="777239"/>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3840480" y="2971800"/>
            <a:ext cx="502920" cy="777239"/>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3639312" y="2770632"/>
            <a:ext cx="402336" cy="402336"/>
          </a:xfrm>
          <a:prstGeom prst="ellipse">
            <a:avLst/>
          </a:prstGeom>
          <a:solidFill>
            <a:srgbClr val="FFFFFF"/>
          </a:solidFill>
          <a:ln w="22225">
            <a:solidFill>
              <a:srgbClr val="4454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639312" y="2770632"/>
            <a:ext cx="402336" cy="402336"/>
          </a:xfrm>
          <a:prstGeom prst="rect">
            <a:avLst/>
          </a:prstGeom>
          <a:noFill/>
        </p:spPr>
        <p:txBody>
          <a:bodyPr wrap="square" lIns="0" tIns="0" rIns="0" bIns="0" anchor="ctr">
            <a:spAutoFit/>
          </a:bodyPr>
          <a:lstStyle/>
          <a:p>
            <a:pPr algn="ctr"/>
            <a:r>
              <a:rPr sz="1400" b="1" i="0">
                <a:solidFill>
                  <a:srgbClr val="333F50"/>
                </a:solidFill>
                <a:latin typeface="Calibri"/>
              </a:rPr>
              <a:t>5</a:t>
            </a:r>
          </a:p>
        </p:txBody>
      </p:sp>
      <p:sp>
        <p:nvSpPr>
          <p:cNvPr id="21" name="Oval 20"/>
          <p:cNvSpPr/>
          <p:nvPr/>
        </p:nvSpPr>
        <p:spPr>
          <a:xfrm>
            <a:off x="3136391" y="3547871"/>
            <a:ext cx="402336" cy="402336"/>
          </a:xfrm>
          <a:prstGeom prst="ellipse">
            <a:avLst/>
          </a:prstGeom>
          <a:solidFill>
            <a:srgbClr val="FFFFFF"/>
          </a:solidFill>
          <a:ln w="22225">
            <a:solidFill>
              <a:srgbClr val="4454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136391" y="3547871"/>
            <a:ext cx="402336" cy="402336"/>
          </a:xfrm>
          <a:prstGeom prst="rect">
            <a:avLst/>
          </a:prstGeom>
          <a:noFill/>
        </p:spPr>
        <p:txBody>
          <a:bodyPr wrap="square" lIns="0" tIns="0" rIns="0" bIns="0" anchor="ctr">
            <a:spAutoFit/>
          </a:bodyPr>
          <a:lstStyle/>
          <a:p>
            <a:pPr algn="ctr"/>
            <a:r>
              <a:rPr sz="1400" b="1" i="0">
                <a:solidFill>
                  <a:srgbClr val="333F50"/>
                </a:solidFill>
                <a:latin typeface="Calibri"/>
              </a:rPr>
              <a:t>2</a:t>
            </a:r>
          </a:p>
        </p:txBody>
      </p:sp>
      <p:sp>
        <p:nvSpPr>
          <p:cNvPr id="23" name="Oval 22"/>
          <p:cNvSpPr/>
          <p:nvPr/>
        </p:nvSpPr>
        <p:spPr>
          <a:xfrm>
            <a:off x="4142232" y="3547871"/>
            <a:ext cx="402336" cy="402336"/>
          </a:xfrm>
          <a:prstGeom prst="ellipse">
            <a:avLst/>
          </a:prstGeom>
          <a:solidFill>
            <a:srgbClr val="FFFFFF"/>
          </a:solidFill>
          <a:ln w="22225">
            <a:solidFill>
              <a:srgbClr val="4454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142232" y="3547871"/>
            <a:ext cx="402336" cy="402336"/>
          </a:xfrm>
          <a:prstGeom prst="rect">
            <a:avLst/>
          </a:prstGeom>
          <a:noFill/>
        </p:spPr>
        <p:txBody>
          <a:bodyPr wrap="square" lIns="0" tIns="0" rIns="0" bIns="0" anchor="ctr">
            <a:spAutoFit/>
          </a:bodyPr>
          <a:lstStyle/>
          <a:p>
            <a:pPr algn="ctr"/>
            <a:r>
              <a:rPr sz="1400" b="1" i="0">
                <a:solidFill>
                  <a:srgbClr val="333F50"/>
                </a:solidFill>
                <a:latin typeface="Calibri"/>
              </a:rPr>
              <a:t>7</a:t>
            </a:r>
          </a:p>
        </p:txBody>
      </p:sp>
      <p:sp>
        <p:nvSpPr>
          <p:cNvPr id="25" name="TextBox 24"/>
          <p:cNvSpPr txBox="1"/>
          <p:nvPr/>
        </p:nvSpPr>
        <p:spPr>
          <a:xfrm>
            <a:off x="822960" y="4572000"/>
            <a:ext cx="3931920" cy="457200"/>
          </a:xfrm>
          <a:prstGeom prst="rect">
            <a:avLst/>
          </a:prstGeom>
          <a:noFill/>
        </p:spPr>
        <p:txBody>
          <a:bodyPr wrap="square" lIns="0" tIns="0" rIns="0" bIns="0" anchor="t">
            <a:spAutoFit/>
          </a:bodyPr>
          <a:lstStyle/>
          <a:p>
            <a:pPr algn="l"/>
            <a:r>
              <a:rPr sz="1300" b="1" i="0">
                <a:solidFill>
                  <a:srgbClr val="333F50"/>
                </a:solidFill>
                <a:latin typeface="Calibri"/>
              </a:rPr>
              <a:t>1 rotation at the top</a:t>
            </a:r>
          </a:p>
        </p:txBody>
      </p:sp>
      <p:sp>
        <p:nvSpPr>
          <p:cNvPr id="26" name="Rounded Rectangle 25"/>
          <p:cNvSpPr/>
          <p:nvPr/>
        </p:nvSpPr>
        <p:spPr>
          <a:xfrm>
            <a:off x="5166360" y="1874519"/>
            <a:ext cx="6473952" cy="3337560"/>
          </a:xfrm>
          <a:prstGeom prst="roundRect">
            <a:avLst>
              <a:gd name="adj" fmla="val 5000"/>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440680" y="2057400"/>
            <a:ext cx="5943600" cy="274320"/>
          </a:xfrm>
          <a:prstGeom prst="rect">
            <a:avLst/>
          </a:prstGeom>
          <a:noFill/>
        </p:spPr>
        <p:txBody>
          <a:bodyPr wrap="square" lIns="0" tIns="0" rIns="0" bIns="0" anchor="t">
            <a:spAutoFit/>
          </a:bodyPr>
          <a:lstStyle/>
          <a:p>
            <a:pPr algn="l"/>
            <a:r>
              <a:rPr sz="1100" b="1" i="0">
                <a:solidFill>
                  <a:srgbClr val="4472C4"/>
                </a:solidFill>
                <a:latin typeface="Calibri"/>
              </a:rPr>
              <a:t>ZIG-ZAG:  2 → 8 → 5  (inside the BST built from A)</a:t>
            </a:r>
          </a:p>
        </p:txBody>
      </p:sp>
      <p:cxnSp>
        <p:nvCxnSpPr>
          <p:cNvPr id="28" name="Connector 27"/>
          <p:cNvCxnSpPr/>
          <p:nvPr/>
        </p:nvCxnSpPr>
        <p:spPr>
          <a:xfrm>
            <a:off x="5669280" y="2788920"/>
            <a:ext cx="640080" cy="68580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a:off x="5760720" y="3474720"/>
            <a:ext cx="548640" cy="68580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5468112" y="2587751"/>
            <a:ext cx="402336" cy="402336"/>
          </a:xfrm>
          <a:prstGeom prst="ellipse">
            <a:avLst/>
          </a:prstGeom>
          <a:solidFill>
            <a:srgbClr val="FFFFFF"/>
          </a:solidFill>
          <a:ln w="22225">
            <a:solidFill>
              <a:srgbClr val="4454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468112" y="2587751"/>
            <a:ext cx="402336" cy="402336"/>
          </a:xfrm>
          <a:prstGeom prst="rect">
            <a:avLst/>
          </a:prstGeom>
          <a:noFill/>
        </p:spPr>
        <p:txBody>
          <a:bodyPr wrap="square" lIns="0" tIns="0" rIns="0" bIns="0" anchor="ctr">
            <a:spAutoFit/>
          </a:bodyPr>
          <a:lstStyle/>
          <a:p>
            <a:pPr algn="ctr"/>
            <a:r>
              <a:rPr sz="1400" b="1" i="0">
                <a:solidFill>
                  <a:srgbClr val="333F50"/>
                </a:solidFill>
                <a:latin typeface="Calibri"/>
              </a:rPr>
              <a:t>2</a:t>
            </a:r>
          </a:p>
        </p:txBody>
      </p:sp>
      <p:sp>
        <p:nvSpPr>
          <p:cNvPr id="32" name="Oval 31"/>
          <p:cNvSpPr/>
          <p:nvPr/>
        </p:nvSpPr>
        <p:spPr>
          <a:xfrm>
            <a:off x="6108192" y="3273551"/>
            <a:ext cx="402336" cy="402336"/>
          </a:xfrm>
          <a:prstGeom prst="ellipse">
            <a:avLst/>
          </a:prstGeom>
          <a:solidFill>
            <a:srgbClr val="D6DCE4"/>
          </a:solidFill>
          <a:ln w="22225">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108192" y="3273551"/>
            <a:ext cx="402336" cy="402336"/>
          </a:xfrm>
          <a:prstGeom prst="rect">
            <a:avLst/>
          </a:prstGeom>
          <a:noFill/>
        </p:spPr>
        <p:txBody>
          <a:bodyPr wrap="square" lIns="0" tIns="0" rIns="0" bIns="0" anchor="ctr">
            <a:spAutoFit/>
          </a:bodyPr>
          <a:lstStyle/>
          <a:p>
            <a:pPr algn="ctr"/>
            <a:r>
              <a:rPr sz="1400" b="1" i="0">
                <a:solidFill>
                  <a:srgbClr val="333F50"/>
                </a:solidFill>
                <a:latin typeface="Calibri"/>
              </a:rPr>
              <a:t>8</a:t>
            </a:r>
          </a:p>
        </p:txBody>
      </p:sp>
      <p:sp>
        <p:nvSpPr>
          <p:cNvPr id="34" name="Oval 33"/>
          <p:cNvSpPr/>
          <p:nvPr/>
        </p:nvSpPr>
        <p:spPr>
          <a:xfrm>
            <a:off x="5559552" y="3959352"/>
            <a:ext cx="402336" cy="402336"/>
          </a:xfrm>
          <a:prstGeom prst="ellipse">
            <a:avLst/>
          </a:prstGeom>
          <a:solidFill>
            <a:srgbClr val="FFFFFF"/>
          </a:solidFill>
          <a:ln w="22225">
            <a:solidFill>
              <a:srgbClr val="4454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559552" y="3959352"/>
            <a:ext cx="402336" cy="402336"/>
          </a:xfrm>
          <a:prstGeom prst="rect">
            <a:avLst/>
          </a:prstGeom>
          <a:noFill/>
        </p:spPr>
        <p:txBody>
          <a:bodyPr wrap="square" lIns="0" tIns="0" rIns="0" bIns="0" anchor="ctr">
            <a:spAutoFit/>
          </a:bodyPr>
          <a:lstStyle/>
          <a:p>
            <a:pPr algn="ctr"/>
            <a:r>
              <a:rPr sz="1400" b="1" i="0">
                <a:solidFill>
                  <a:srgbClr val="333F50"/>
                </a:solidFill>
                <a:latin typeface="Calibri"/>
              </a:rPr>
              <a:t>5</a:t>
            </a:r>
          </a:p>
        </p:txBody>
      </p:sp>
      <p:sp>
        <p:nvSpPr>
          <p:cNvPr id="36" name="Right Arrow 35"/>
          <p:cNvSpPr/>
          <p:nvPr/>
        </p:nvSpPr>
        <p:spPr>
          <a:xfrm>
            <a:off x="6949440" y="3246120"/>
            <a:ext cx="502920" cy="274320"/>
          </a:xfrm>
          <a:prstGeom prst="rightArrow">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675120" y="3611880"/>
            <a:ext cx="1097280" cy="307777"/>
          </a:xfrm>
          <a:prstGeom prst="rect">
            <a:avLst/>
          </a:prstGeom>
          <a:noFill/>
        </p:spPr>
        <p:txBody>
          <a:bodyPr wrap="square" lIns="0" tIns="0" rIns="0" bIns="0" anchor="t">
            <a:spAutoFit/>
          </a:bodyPr>
          <a:lstStyle/>
          <a:p>
            <a:pPr algn="ctr"/>
            <a:r>
              <a:rPr lang="en-US" sz="1000" b="1" i="0">
                <a:solidFill>
                  <a:srgbClr val="4472C4"/>
                </a:solidFill>
                <a:latin typeface="Courier New"/>
              </a:rPr>
              <a:t>RIGHTROTATE</a:t>
            </a:r>
            <a:endParaRPr sz="1000" b="1" i="0">
              <a:solidFill>
                <a:srgbClr val="4472C4"/>
              </a:solidFill>
              <a:latin typeface="Courier New"/>
            </a:endParaRPr>
          </a:p>
          <a:p>
            <a:pPr algn="ctr"/>
            <a:r>
              <a:rPr sz="1000" b="1" i="0">
                <a:solidFill>
                  <a:srgbClr val="4472C4"/>
                </a:solidFill>
                <a:latin typeface="Courier New"/>
              </a:rPr>
              <a:t>(8)</a:t>
            </a:r>
          </a:p>
        </p:txBody>
      </p:sp>
      <p:cxnSp>
        <p:nvCxnSpPr>
          <p:cNvPr id="38" name="Connector 37"/>
          <p:cNvCxnSpPr/>
          <p:nvPr/>
        </p:nvCxnSpPr>
        <p:spPr>
          <a:xfrm>
            <a:off x="7726680" y="2788920"/>
            <a:ext cx="502920" cy="68580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8229600" y="3474720"/>
            <a:ext cx="502920" cy="68580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sp>
        <p:nvSpPr>
          <p:cNvPr id="40" name="Oval 39"/>
          <p:cNvSpPr/>
          <p:nvPr/>
        </p:nvSpPr>
        <p:spPr>
          <a:xfrm>
            <a:off x="7525512" y="2587751"/>
            <a:ext cx="402336" cy="402336"/>
          </a:xfrm>
          <a:prstGeom prst="ellipse">
            <a:avLst/>
          </a:prstGeom>
          <a:solidFill>
            <a:srgbClr val="D6DCE4"/>
          </a:solidFill>
          <a:ln w="22225">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525512" y="2587751"/>
            <a:ext cx="402336" cy="402336"/>
          </a:xfrm>
          <a:prstGeom prst="rect">
            <a:avLst/>
          </a:prstGeom>
          <a:noFill/>
        </p:spPr>
        <p:txBody>
          <a:bodyPr wrap="square" lIns="0" tIns="0" rIns="0" bIns="0" anchor="ctr">
            <a:spAutoFit/>
          </a:bodyPr>
          <a:lstStyle/>
          <a:p>
            <a:pPr algn="ctr"/>
            <a:r>
              <a:rPr sz="1400" b="1" i="0">
                <a:solidFill>
                  <a:srgbClr val="333F50"/>
                </a:solidFill>
                <a:latin typeface="Calibri"/>
              </a:rPr>
              <a:t>2</a:t>
            </a:r>
          </a:p>
        </p:txBody>
      </p:sp>
      <p:sp>
        <p:nvSpPr>
          <p:cNvPr id="42" name="Oval 41"/>
          <p:cNvSpPr/>
          <p:nvPr/>
        </p:nvSpPr>
        <p:spPr>
          <a:xfrm>
            <a:off x="8028431" y="3273551"/>
            <a:ext cx="402336" cy="402336"/>
          </a:xfrm>
          <a:prstGeom prst="ellipse">
            <a:avLst/>
          </a:prstGeom>
          <a:solidFill>
            <a:srgbClr val="FFFFFF"/>
          </a:solidFill>
          <a:ln w="22225">
            <a:solidFill>
              <a:srgbClr val="4454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028431" y="3273551"/>
            <a:ext cx="402336" cy="402336"/>
          </a:xfrm>
          <a:prstGeom prst="rect">
            <a:avLst/>
          </a:prstGeom>
          <a:noFill/>
        </p:spPr>
        <p:txBody>
          <a:bodyPr wrap="square" lIns="0" tIns="0" rIns="0" bIns="0" anchor="ctr">
            <a:spAutoFit/>
          </a:bodyPr>
          <a:lstStyle/>
          <a:p>
            <a:pPr algn="ctr"/>
            <a:r>
              <a:rPr sz="1400" b="1" i="0">
                <a:solidFill>
                  <a:srgbClr val="333F50"/>
                </a:solidFill>
                <a:latin typeface="Calibri"/>
              </a:rPr>
              <a:t>5</a:t>
            </a:r>
          </a:p>
        </p:txBody>
      </p:sp>
      <p:sp>
        <p:nvSpPr>
          <p:cNvPr id="44" name="Oval 43"/>
          <p:cNvSpPr/>
          <p:nvPr/>
        </p:nvSpPr>
        <p:spPr>
          <a:xfrm>
            <a:off x="8531352" y="3959352"/>
            <a:ext cx="402336" cy="402336"/>
          </a:xfrm>
          <a:prstGeom prst="ellipse">
            <a:avLst/>
          </a:prstGeom>
          <a:solidFill>
            <a:srgbClr val="FFFFFF"/>
          </a:solidFill>
          <a:ln w="22225">
            <a:solidFill>
              <a:srgbClr val="4454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8531352" y="3959352"/>
            <a:ext cx="402336" cy="402336"/>
          </a:xfrm>
          <a:prstGeom prst="rect">
            <a:avLst/>
          </a:prstGeom>
          <a:noFill/>
        </p:spPr>
        <p:txBody>
          <a:bodyPr wrap="square" lIns="0" tIns="0" rIns="0" bIns="0" anchor="ctr">
            <a:spAutoFit/>
          </a:bodyPr>
          <a:lstStyle/>
          <a:p>
            <a:pPr algn="ctr"/>
            <a:r>
              <a:rPr sz="1400" b="1" i="0">
                <a:solidFill>
                  <a:srgbClr val="333F50"/>
                </a:solidFill>
                <a:latin typeface="Calibri"/>
              </a:rPr>
              <a:t>8</a:t>
            </a:r>
          </a:p>
        </p:txBody>
      </p:sp>
      <p:sp>
        <p:nvSpPr>
          <p:cNvPr id="46" name="Right Arrow 45"/>
          <p:cNvSpPr/>
          <p:nvPr/>
        </p:nvSpPr>
        <p:spPr>
          <a:xfrm>
            <a:off x="9006840" y="3246120"/>
            <a:ext cx="502920" cy="274320"/>
          </a:xfrm>
          <a:prstGeom prst="rightArrow">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8732520" y="3611880"/>
            <a:ext cx="1097280" cy="307777"/>
          </a:xfrm>
          <a:prstGeom prst="rect">
            <a:avLst/>
          </a:prstGeom>
          <a:noFill/>
        </p:spPr>
        <p:txBody>
          <a:bodyPr wrap="square" lIns="0" tIns="0" rIns="0" bIns="0" anchor="t">
            <a:spAutoFit/>
          </a:bodyPr>
          <a:lstStyle/>
          <a:p>
            <a:pPr algn="ctr"/>
            <a:r>
              <a:rPr lang="en-US" sz="1000" b="1" i="0">
                <a:solidFill>
                  <a:srgbClr val="4472C4"/>
                </a:solidFill>
                <a:latin typeface="Courier New"/>
              </a:rPr>
              <a:t>LEFTROTATE</a:t>
            </a:r>
            <a:endParaRPr sz="1000" b="1" i="0">
              <a:solidFill>
                <a:srgbClr val="4472C4"/>
              </a:solidFill>
              <a:latin typeface="Courier New"/>
            </a:endParaRPr>
          </a:p>
          <a:p>
            <a:pPr algn="ctr"/>
            <a:r>
              <a:rPr sz="1000" b="1" i="0">
                <a:solidFill>
                  <a:srgbClr val="4472C4"/>
                </a:solidFill>
                <a:latin typeface="Courier New"/>
              </a:rPr>
              <a:t>(2)</a:t>
            </a:r>
          </a:p>
        </p:txBody>
      </p:sp>
      <p:cxnSp>
        <p:nvCxnSpPr>
          <p:cNvPr id="48" name="Connector 47"/>
          <p:cNvCxnSpPr/>
          <p:nvPr/>
        </p:nvCxnSpPr>
        <p:spPr>
          <a:xfrm flipH="1">
            <a:off x="10012680" y="2971800"/>
            <a:ext cx="502920" cy="777239"/>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10515600" y="2971800"/>
            <a:ext cx="502919" cy="777239"/>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sp>
        <p:nvSpPr>
          <p:cNvPr id="50" name="Oval 49"/>
          <p:cNvSpPr/>
          <p:nvPr/>
        </p:nvSpPr>
        <p:spPr>
          <a:xfrm>
            <a:off x="10314432" y="2770632"/>
            <a:ext cx="402336" cy="402336"/>
          </a:xfrm>
          <a:prstGeom prst="ellipse">
            <a:avLst/>
          </a:prstGeom>
          <a:solidFill>
            <a:srgbClr val="FFFFFF"/>
          </a:solidFill>
          <a:ln w="22225">
            <a:solidFill>
              <a:srgbClr val="4454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10314432" y="2770632"/>
            <a:ext cx="402336" cy="402336"/>
          </a:xfrm>
          <a:prstGeom prst="rect">
            <a:avLst/>
          </a:prstGeom>
          <a:noFill/>
        </p:spPr>
        <p:txBody>
          <a:bodyPr wrap="square" lIns="0" tIns="0" rIns="0" bIns="0" anchor="ctr">
            <a:spAutoFit/>
          </a:bodyPr>
          <a:lstStyle/>
          <a:p>
            <a:pPr algn="ctr"/>
            <a:r>
              <a:rPr sz="1400" b="1" i="0">
                <a:solidFill>
                  <a:srgbClr val="333F50"/>
                </a:solidFill>
                <a:latin typeface="Calibri"/>
              </a:rPr>
              <a:t>5</a:t>
            </a:r>
          </a:p>
        </p:txBody>
      </p:sp>
      <p:sp>
        <p:nvSpPr>
          <p:cNvPr id="52" name="Oval 51"/>
          <p:cNvSpPr/>
          <p:nvPr/>
        </p:nvSpPr>
        <p:spPr>
          <a:xfrm>
            <a:off x="9811511" y="3547871"/>
            <a:ext cx="402336" cy="402336"/>
          </a:xfrm>
          <a:prstGeom prst="ellipse">
            <a:avLst/>
          </a:prstGeom>
          <a:solidFill>
            <a:srgbClr val="FFFFFF"/>
          </a:solidFill>
          <a:ln w="22225">
            <a:solidFill>
              <a:srgbClr val="4454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9811511" y="3547871"/>
            <a:ext cx="402336" cy="402336"/>
          </a:xfrm>
          <a:prstGeom prst="rect">
            <a:avLst/>
          </a:prstGeom>
          <a:noFill/>
        </p:spPr>
        <p:txBody>
          <a:bodyPr wrap="square" lIns="0" tIns="0" rIns="0" bIns="0" anchor="ctr">
            <a:spAutoFit/>
          </a:bodyPr>
          <a:lstStyle/>
          <a:p>
            <a:pPr algn="ctr"/>
            <a:r>
              <a:rPr sz="1400" b="1" i="0">
                <a:solidFill>
                  <a:srgbClr val="333F50"/>
                </a:solidFill>
                <a:latin typeface="Calibri"/>
              </a:rPr>
              <a:t>2</a:t>
            </a:r>
          </a:p>
        </p:txBody>
      </p:sp>
      <p:sp>
        <p:nvSpPr>
          <p:cNvPr id="54" name="Oval 53"/>
          <p:cNvSpPr/>
          <p:nvPr/>
        </p:nvSpPr>
        <p:spPr>
          <a:xfrm>
            <a:off x="10817351" y="3547871"/>
            <a:ext cx="402336" cy="402336"/>
          </a:xfrm>
          <a:prstGeom prst="ellipse">
            <a:avLst/>
          </a:prstGeom>
          <a:solidFill>
            <a:srgbClr val="FFFFFF"/>
          </a:solidFill>
          <a:ln w="22225">
            <a:solidFill>
              <a:srgbClr val="4454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10817351" y="3547871"/>
            <a:ext cx="402336" cy="402336"/>
          </a:xfrm>
          <a:prstGeom prst="rect">
            <a:avLst/>
          </a:prstGeom>
          <a:noFill/>
        </p:spPr>
        <p:txBody>
          <a:bodyPr wrap="square" lIns="0" tIns="0" rIns="0" bIns="0" anchor="ctr">
            <a:spAutoFit/>
          </a:bodyPr>
          <a:lstStyle/>
          <a:p>
            <a:pPr algn="ctr"/>
            <a:r>
              <a:rPr sz="1400" b="1" i="0">
                <a:solidFill>
                  <a:srgbClr val="333F50"/>
                </a:solidFill>
                <a:latin typeface="Calibri"/>
              </a:rPr>
              <a:t>8</a:t>
            </a:r>
          </a:p>
        </p:txBody>
      </p:sp>
      <p:sp>
        <p:nvSpPr>
          <p:cNvPr id="56" name="TextBox 55"/>
          <p:cNvSpPr txBox="1"/>
          <p:nvPr/>
        </p:nvSpPr>
        <p:spPr>
          <a:xfrm>
            <a:off x="5440680" y="4572000"/>
            <a:ext cx="5943600" cy="457200"/>
          </a:xfrm>
          <a:prstGeom prst="rect">
            <a:avLst/>
          </a:prstGeom>
          <a:noFill/>
        </p:spPr>
        <p:txBody>
          <a:bodyPr wrap="square" lIns="0" tIns="0" rIns="0" bIns="0" anchor="t">
            <a:spAutoFit/>
          </a:bodyPr>
          <a:lstStyle/>
          <a:p>
            <a:pPr algn="l"/>
            <a:r>
              <a:rPr sz="1300" b="1" i="0">
                <a:solidFill>
                  <a:srgbClr val="333F50"/>
                </a:solidFill>
                <a:latin typeface="Calibri"/>
              </a:rPr>
              <a:t>2 rotations: straighten, then rotate at the top</a:t>
            </a:r>
          </a:p>
        </p:txBody>
      </p:sp>
      <p:sp>
        <p:nvSpPr>
          <p:cNvPr id="57" name="Rounded Rectangle 56"/>
          <p:cNvSpPr/>
          <p:nvPr/>
        </p:nvSpPr>
        <p:spPr>
          <a:xfrm>
            <a:off x="548640" y="5440680"/>
            <a:ext cx="11091672" cy="502920"/>
          </a:xfrm>
          <a:prstGeom prst="roundRect">
            <a:avLst>
              <a:gd name="adj" fmla="val 5000"/>
            </a:avLst>
          </a:prstGeom>
          <a:solidFill>
            <a:srgbClr val="F5F5F5"/>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795528" y="5440680"/>
            <a:ext cx="10607040" cy="502920"/>
          </a:xfrm>
          <a:prstGeom prst="rect">
            <a:avLst/>
          </a:prstGeom>
          <a:noFill/>
        </p:spPr>
        <p:txBody>
          <a:bodyPr wrap="square" lIns="0" tIns="0" rIns="0" bIns="0" anchor="ctr">
            <a:spAutoFit/>
          </a:bodyPr>
          <a:lstStyle/>
          <a:p>
            <a:pPr algn="l"/>
            <a:r>
              <a:rPr sz="1300" b="1" i="0">
                <a:solidFill>
                  <a:srgbClr val="333F50"/>
                </a:solidFill>
                <a:latin typeface="Calibri"/>
              </a:rPr>
              <a:t>Blue node = where the next rotation happens.  </a:t>
            </a:r>
            <a:r>
              <a:rPr sz="1300" b="0" i="0">
                <a:solidFill>
                  <a:srgbClr val="333F50"/>
                </a:solidFill>
                <a:latin typeface="Calibri"/>
              </a:rPr>
              <a:t>Balanced BSTs use exactly this repair step: detect an imbalance, then rotate.</a:t>
            </a:r>
          </a:p>
        </p:txBody>
      </p:sp>
      <p:sp>
        <p:nvSpPr>
          <p:cNvPr id="59" name="TextBox 58"/>
          <p:cNvSpPr txBox="1"/>
          <p:nvPr/>
        </p:nvSpPr>
        <p:spPr>
          <a:xfrm>
            <a:off x="548640" y="6501384"/>
            <a:ext cx="9326880" cy="138499"/>
          </a:xfrm>
          <a:prstGeom prst="rect">
            <a:avLst/>
          </a:prstGeom>
          <a:noFill/>
        </p:spPr>
        <p:txBody>
          <a:bodyPr wrap="square" lIns="0" tIns="0" rIns="0" bIns="0" anchor="t">
            <a:spAutoFit/>
          </a:bodyPr>
          <a:lstStyle/>
          <a:p>
            <a:pPr algn="l"/>
            <a:r>
              <a:rPr lang="en-US" sz="900" b="0" i="0">
                <a:solidFill>
                  <a:srgbClr val="595959"/>
                </a:solidFill>
                <a:latin typeface="Calibri"/>
              </a:rPr>
              <a:t>CS 383 </a:t>
            </a:r>
            <a:r>
              <a:rPr sz="900" b="0" i="0">
                <a:solidFill>
                  <a:srgbClr val="595959"/>
                </a:solidFill>
                <a:latin typeface="Calibri"/>
              </a:rPr>
              <a:t>Algorithm Design </a:t>
            </a:r>
            <a:r>
              <a:rPr lang="en-US" sz="900" b="0" i="0">
                <a:solidFill>
                  <a:srgbClr val="595959"/>
                </a:solidFill>
                <a:latin typeface="Calibri"/>
              </a:rPr>
              <a:t>and Analysis </a:t>
            </a:r>
            <a:r>
              <a:rPr sz="900" b="0" i="0">
                <a:solidFill>
                  <a:srgbClr val="595959"/>
                </a:solidFill>
                <a:latin typeface="Calibri"/>
              </a:rPr>
              <a:t> ·  Balanced Binary Search Trees  ·  </a:t>
            </a:r>
            <a:r>
              <a:rPr lang="en-US" sz="900" b="0" i="0">
                <a:solidFill>
                  <a:srgbClr val="595959"/>
                </a:solidFill>
                <a:latin typeface="Calibri"/>
              </a:rPr>
              <a:t>Tanwistha Saha</a:t>
            </a:r>
            <a:endParaRPr sz="900" b="0" i="0">
              <a:solidFill>
                <a:srgbClr val="595959"/>
              </a:solidFill>
              <a:latin typeface="Calibri"/>
            </a:endParaRPr>
          </a:p>
        </p:txBody>
      </p:sp>
      <p:sp>
        <p:nvSpPr>
          <p:cNvPr id="60" name="TextBox 59"/>
          <p:cNvSpPr txBox="1"/>
          <p:nvPr/>
        </p:nvSpPr>
        <p:spPr>
          <a:xfrm>
            <a:off x="10908792" y="6501384"/>
            <a:ext cx="731520" cy="138499"/>
          </a:xfrm>
          <a:prstGeom prst="rect">
            <a:avLst/>
          </a:prstGeom>
          <a:noFill/>
        </p:spPr>
        <p:txBody>
          <a:bodyPr wrap="square" lIns="0" tIns="0" rIns="0" bIns="0" anchor="t">
            <a:spAutoFit/>
          </a:bodyPr>
          <a:lstStyle/>
          <a:p>
            <a:pPr algn="r"/>
            <a:r>
              <a:rPr lang="en-US" sz="900" b="0" i="0">
                <a:solidFill>
                  <a:srgbClr val="595959"/>
                </a:solidFill>
                <a:latin typeface="Calibri"/>
              </a:rPr>
              <a:t>10</a:t>
            </a:r>
            <a:endParaRPr sz="900" b="0" i="0">
              <a:solidFill>
                <a:srgbClr val="595959"/>
              </a:solidFill>
              <a:latin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1152144"/>
            <a:ext cx="7863840" cy="1499616"/>
          </a:xfrm>
          <a:prstGeom prst="rect">
            <a:avLst/>
          </a:prstGeom>
          <a:noFill/>
        </p:spPr>
        <p:txBody>
          <a:bodyPr wrap="square" lIns="0" tIns="0" rIns="0" bIns="0" anchor="b">
            <a:spAutoFit/>
          </a:bodyPr>
          <a:lstStyle/>
          <a:p>
            <a:pPr algn="l"/>
            <a:r>
              <a:rPr sz="3400" b="1" i="0">
                <a:solidFill>
                  <a:srgbClr val="44546A"/>
                </a:solidFill>
                <a:latin typeface="Calibri Light"/>
              </a:rPr>
              <a:t>Red-Black Trees</a:t>
            </a:r>
          </a:p>
        </p:txBody>
      </p:sp>
      <p:sp>
        <p:nvSpPr>
          <p:cNvPr id="3" name="TextBox 2"/>
          <p:cNvSpPr txBox="1"/>
          <p:nvPr/>
        </p:nvSpPr>
        <p:spPr>
          <a:xfrm>
            <a:off x="548640" y="2816352"/>
            <a:ext cx="6949440" cy="502920"/>
          </a:xfrm>
          <a:prstGeom prst="rect">
            <a:avLst/>
          </a:prstGeom>
          <a:noFill/>
        </p:spPr>
        <p:txBody>
          <a:bodyPr wrap="square" lIns="0" tIns="0" rIns="0" bIns="0" anchor="t">
            <a:spAutoFit/>
          </a:bodyPr>
          <a:lstStyle/>
          <a:p>
            <a:pPr algn="l"/>
            <a:r>
              <a:rPr sz="2600" b="1" i="0">
                <a:solidFill>
                  <a:srgbClr val="ED7D31"/>
                </a:solidFill>
                <a:latin typeface="Calibri"/>
              </a:rPr>
              <a:t>Balanced BSTs, Part 2</a:t>
            </a:r>
          </a:p>
        </p:txBody>
      </p:sp>
      <p:sp>
        <p:nvSpPr>
          <p:cNvPr id="4" name="TextBox 3"/>
          <p:cNvSpPr txBox="1"/>
          <p:nvPr/>
        </p:nvSpPr>
        <p:spPr>
          <a:xfrm>
            <a:off x="548640" y="3419856"/>
            <a:ext cx="7296912" cy="704088"/>
          </a:xfrm>
          <a:prstGeom prst="rect">
            <a:avLst/>
          </a:prstGeom>
          <a:noFill/>
        </p:spPr>
        <p:txBody>
          <a:bodyPr wrap="square" lIns="0" tIns="0" rIns="0" bIns="0" anchor="t">
            <a:spAutoFit/>
          </a:bodyPr>
          <a:lstStyle/>
          <a:p>
            <a:pPr algn="l"/>
            <a:r>
              <a:rPr sz="1600" b="0" i="0">
                <a:solidFill>
                  <a:srgbClr val="595959"/>
                </a:solidFill>
                <a:latin typeface="Calibri"/>
              </a:rPr>
              <a:t>One color bit per node and four simple rules force O(log n) height.</a:t>
            </a:r>
          </a:p>
        </p:txBody>
      </p:sp>
      <p:sp>
        <p:nvSpPr>
          <p:cNvPr id="5" name="TextBox 4"/>
          <p:cNvSpPr txBox="1"/>
          <p:nvPr/>
        </p:nvSpPr>
        <p:spPr>
          <a:xfrm>
            <a:off x="548640" y="4453128"/>
            <a:ext cx="5998464" cy="320040"/>
          </a:xfrm>
          <a:prstGeom prst="rect">
            <a:avLst/>
          </a:prstGeom>
          <a:noFill/>
        </p:spPr>
        <p:txBody>
          <a:bodyPr wrap="square" lIns="0" tIns="0" rIns="0" bIns="0" anchor="t">
            <a:spAutoFit/>
          </a:bodyPr>
          <a:lstStyle/>
          <a:p>
            <a:pPr algn="l"/>
            <a:r>
              <a:rPr sz="1300" b="0" i="0">
                <a:solidFill>
                  <a:srgbClr val="595959"/>
                </a:solidFill>
                <a:latin typeface="Calibri"/>
              </a:rPr>
              <a:t>CS 383 Algorithms Analysis and Design</a:t>
            </a:r>
          </a:p>
        </p:txBody>
      </p:sp>
      <p:sp>
        <p:nvSpPr>
          <p:cNvPr id="6" name="TextBox 5"/>
          <p:cNvSpPr txBox="1"/>
          <p:nvPr/>
        </p:nvSpPr>
        <p:spPr>
          <a:xfrm>
            <a:off x="548640" y="4773168"/>
            <a:ext cx="5998464" cy="320040"/>
          </a:xfrm>
          <a:prstGeom prst="rect">
            <a:avLst/>
          </a:prstGeom>
          <a:noFill/>
        </p:spPr>
        <p:txBody>
          <a:bodyPr wrap="square" lIns="0" tIns="0" rIns="0" bIns="0" anchor="t">
            <a:spAutoFit/>
          </a:bodyPr>
          <a:lstStyle/>
          <a:p>
            <a:pPr algn="l"/>
            <a:r>
              <a:rPr sz="1300" b="0" i="0">
                <a:solidFill>
                  <a:srgbClr val="595959"/>
                </a:solidFill>
                <a:latin typeface="Calibri"/>
              </a:rPr>
              <a:t>Tanwistha Saha</a:t>
            </a:r>
          </a:p>
        </p:txBody>
      </p:sp>
      <p:cxnSp>
        <p:nvCxnSpPr>
          <p:cNvPr id="8" name="Connector 7"/>
          <p:cNvCxnSpPr/>
          <p:nvPr/>
        </p:nvCxnSpPr>
        <p:spPr>
          <a:xfrm flipH="1">
            <a:off x="8732519" y="2971800"/>
            <a:ext cx="868681" cy="59436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9601200" y="2971800"/>
            <a:ext cx="914400" cy="59436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8229600" y="3566160"/>
            <a:ext cx="502919" cy="59436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732519" y="3566160"/>
            <a:ext cx="502921" cy="59436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10058400" y="3566160"/>
            <a:ext cx="457200" cy="59436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515600" y="3566160"/>
            <a:ext cx="457200" cy="59436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8915400" y="4160520"/>
            <a:ext cx="320040" cy="59436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9400032" y="2770632"/>
            <a:ext cx="402336" cy="402336"/>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400032" y="2770632"/>
            <a:ext cx="402336" cy="402336"/>
          </a:xfrm>
          <a:prstGeom prst="rect">
            <a:avLst/>
          </a:prstGeom>
          <a:noFill/>
        </p:spPr>
        <p:txBody>
          <a:bodyPr wrap="square" lIns="0" tIns="0" rIns="0" bIns="0" anchor="ctr">
            <a:spAutoFit/>
          </a:bodyPr>
          <a:lstStyle/>
          <a:p>
            <a:pPr algn="ctr"/>
            <a:r>
              <a:rPr sz="1200" b="1" i="0">
                <a:solidFill>
                  <a:srgbClr val="FFFFFF"/>
                </a:solidFill>
                <a:latin typeface="Calibri"/>
              </a:rPr>
              <a:t>13</a:t>
            </a:r>
          </a:p>
        </p:txBody>
      </p:sp>
      <p:sp>
        <p:nvSpPr>
          <p:cNvPr id="17" name="Oval 16"/>
          <p:cNvSpPr/>
          <p:nvPr/>
        </p:nvSpPr>
        <p:spPr>
          <a:xfrm>
            <a:off x="8531351" y="3364991"/>
            <a:ext cx="402336" cy="402336"/>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531351" y="3364991"/>
            <a:ext cx="402336" cy="402336"/>
          </a:xfrm>
          <a:prstGeom prst="rect">
            <a:avLst/>
          </a:prstGeom>
          <a:noFill/>
        </p:spPr>
        <p:txBody>
          <a:bodyPr wrap="square" lIns="0" tIns="0" rIns="0" bIns="0" anchor="ctr">
            <a:spAutoFit/>
          </a:bodyPr>
          <a:lstStyle/>
          <a:p>
            <a:pPr algn="ctr"/>
            <a:r>
              <a:rPr sz="1200" b="1" i="0">
                <a:solidFill>
                  <a:srgbClr val="FFFFFF"/>
                </a:solidFill>
                <a:latin typeface="Calibri"/>
              </a:rPr>
              <a:t>5</a:t>
            </a:r>
          </a:p>
        </p:txBody>
      </p:sp>
      <p:sp>
        <p:nvSpPr>
          <p:cNvPr id="19" name="Oval 18"/>
          <p:cNvSpPr/>
          <p:nvPr/>
        </p:nvSpPr>
        <p:spPr>
          <a:xfrm>
            <a:off x="10314432" y="3364991"/>
            <a:ext cx="402336" cy="402336"/>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314432" y="3364991"/>
            <a:ext cx="402336" cy="402336"/>
          </a:xfrm>
          <a:prstGeom prst="rect">
            <a:avLst/>
          </a:prstGeom>
          <a:noFill/>
        </p:spPr>
        <p:txBody>
          <a:bodyPr wrap="square" lIns="0" tIns="0" rIns="0" bIns="0" anchor="ctr">
            <a:spAutoFit/>
          </a:bodyPr>
          <a:lstStyle/>
          <a:p>
            <a:pPr algn="ctr"/>
            <a:r>
              <a:rPr sz="1200" b="1" i="0">
                <a:solidFill>
                  <a:srgbClr val="FFFFFF"/>
                </a:solidFill>
                <a:latin typeface="Calibri"/>
              </a:rPr>
              <a:t>20</a:t>
            </a:r>
          </a:p>
        </p:txBody>
      </p:sp>
      <p:sp>
        <p:nvSpPr>
          <p:cNvPr id="21" name="Oval 20"/>
          <p:cNvSpPr/>
          <p:nvPr/>
        </p:nvSpPr>
        <p:spPr>
          <a:xfrm>
            <a:off x="8028431" y="3959352"/>
            <a:ext cx="402336" cy="402336"/>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028431" y="3959352"/>
            <a:ext cx="402336" cy="402336"/>
          </a:xfrm>
          <a:prstGeom prst="rect">
            <a:avLst/>
          </a:prstGeom>
          <a:noFill/>
        </p:spPr>
        <p:txBody>
          <a:bodyPr wrap="square" lIns="0" tIns="0" rIns="0" bIns="0" anchor="ctr">
            <a:spAutoFit/>
          </a:bodyPr>
          <a:lstStyle/>
          <a:p>
            <a:pPr algn="ctr"/>
            <a:r>
              <a:rPr sz="1200" b="1" i="0">
                <a:solidFill>
                  <a:srgbClr val="FFFFFF"/>
                </a:solidFill>
                <a:latin typeface="Calibri"/>
              </a:rPr>
              <a:t>2</a:t>
            </a:r>
          </a:p>
        </p:txBody>
      </p:sp>
      <p:sp>
        <p:nvSpPr>
          <p:cNvPr id="23" name="Oval 22"/>
          <p:cNvSpPr/>
          <p:nvPr/>
        </p:nvSpPr>
        <p:spPr>
          <a:xfrm>
            <a:off x="9034272" y="3959352"/>
            <a:ext cx="402336" cy="402336"/>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034272" y="3959352"/>
            <a:ext cx="402336" cy="402336"/>
          </a:xfrm>
          <a:prstGeom prst="rect">
            <a:avLst/>
          </a:prstGeom>
          <a:noFill/>
        </p:spPr>
        <p:txBody>
          <a:bodyPr wrap="square" lIns="0" tIns="0" rIns="0" bIns="0" anchor="ctr">
            <a:spAutoFit/>
          </a:bodyPr>
          <a:lstStyle/>
          <a:p>
            <a:pPr algn="ctr"/>
            <a:r>
              <a:rPr sz="1200" b="1" i="0">
                <a:solidFill>
                  <a:srgbClr val="FFFFFF"/>
                </a:solidFill>
                <a:latin typeface="Calibri"/>
              </a:rPr>
              <a:t>8</a:t>
            </a:r>
          </a:p>
        </p:txBody>
      </p:sp>
      <p:sp>
        <p:nvSpPr>
          <p:cNvPr id="25" name="Oval 24"/>
          <p:cNvSpPr/>
          <p:nvPr/>
        </p:nvSpPr>
        <p:spPr>
          <a:xfrm>
            <a:off x="9857232" y="3959352"/>
            <a:ext cx="402336" cy="402336"/>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857232" y="3959352"/>
            <a:ext cx="402336" cy="402336"/>
          </a:xfrm>
          <a:prstGeom prst="rect">
            <a:avLst/>
          </a:prstGeom>
          <a:noFill/>
        </p:spPr>
        <p:txBody>
          <a:bodyPr wrap="square" lIns="0" tIns="0" rIns="0" bIns="0" anchor="ctr">
            <a:spAutoFit/>
          </a:bodyPr>
          <a:lstStyle/>
          <a:p>
            <a:pPr algn="ctr"/>
            <a:r>
              <a:rPr sz="1200" b="1" i="0">
                <a:solidFill>
                  <a:srgbClr val="FFFFFF"/>
                </a:solidFill>
                <a:latin typeface="Calibri"/>
              </a:rPr>
              <a:t>17</a:t>
            </a:r>
          </a:p>
        </p:txBody>
      </p:sp>
      <p:sp>
        <p:nvSpPr>
          <p:cNvPr id="27" name="Oval 26"/>
          <p:cNvSpPr/>
          <p:nvPr/>
        </p:nvSpPr>
        <p:spPr>
          <a:xfrm>
            <a:off x="10771632" y="3959352"/>
            <a:ext cx="402336" cy="402336"/>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771632" y="3959352"/>
            <a:ext cx="402336" cy="402336"/>
          </a:xfrm>
          <a:prstGeom prst="rect">
            <a:avLst/>
          </a:prstGeom>
          <a:noFill/>
        </p:spPr>
        <p:txBody>
          <a:bodyPr wrap="square" lIns="0" tIns="0" rIns="0" bIns="0" anchor="ctr">
            <a:spAutoFit/>
          </a:bodyPr>
          <a:lstStyle/>
          <a:p>
            <a:pPr algn="ctr"/>
            <a:r>
              <a:rPr sz="1200" b="1" i="0">
                <a:solidFill>
                  <a:srgbClr val="FFFFFF"/>
                </a:solidFill>
                <a:latin typeface="Calibri"/>
              </a:rPr>
              <a:t>25</a:t>
            </a:r>
          </a:p>
        </p:txBody>
      </p:sp>
      <p:sp>
        <p:nvSpPr>
          <p:cNvPr id="29" name="Oval 28"/>
          <p:cNvSpPr/>
          <p:nvPr/>
        </p:nvSpPr>
        <p:spPr>
          <a:xfrm>
            <a:off x="8714232" y="4553712"/>
            <a:ext cx="402336" cy="402336"/>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714232" y="4553712"/>
            <a:ext cx="402336" cy="402336"/>
          </a:xfrm>
          <a:prstGeom prst="rect">
            <a:avLst/>
          </a:prstGeom>
          <a:noFill/>
        </p:spPr>
        <p:txBody>
          <a:bodyPr wrap="square" lIns="0" tIns="0" rIns="0" bIns="0" anchor="ctr">
            <a:spAutoFit/>
          </a:bodyPr>
          <a:lstStyle/>
          <a:p>
            <a:pPr algn="ctr"/>
            <a:r>
              <a:rPr sz="1200" b="1" i="0">
                <a:solidFill>
                  <a:srgbClr val="FFFFFF"/>
                </a:solidFill>
                <a:latin typeface="Calibri"/>
              </a:rPr>
              <a:t>7</a:t>
            </a:r>
          </a:p>
        </p:txBody>
      </p:sp>
      <p:sp>
        <p:nvSpPr>
          <p:cNvPr id="31" name="TextBox 30"/>
          <p:cNvSpPr txBox="1"/>
          <p:nvPr/>
        </p:nvSpPr>
        <p:spPr>
          <a:xfrm>
            <a:off x="548640" y="6501384"/>
            <a:ext cx="9326880" cy="138499"/>
          </a:xfrm>
          <a:prstGeom prst="rect">
            <a:avLst/>
          </a:prstGeom>
          <a:noFill/>
        </p:spPr>
        <p:txBody>
          <a:bodyPr wrap="square" lIns="0" tIns="0" rIns="0" bIns="0" anchor="t">
            <a:spAutoFit/>
          </a:bodyPr>
          <a:lstStyle/>
          <a:p>
            <a:pPr algn="l"/>
            <a:r>
              <a:rPr lang="en-US" sz="900" b="0" i="0">
                <a:solidFill>
                  <a:srgbClr val="595959"/>
                </a:solidFill>
                <a:latin typeface="Calibri"/>
              </a:rPr>
              <a:t>CS 383 </a:t>
            </a:r>
            <a:r>
              <a:rPr sz="900" b="0" i="0">
                <a:solidFill>
                  <a:srgbClr val="595959"/>
                </a:solidFill>
                <a:latin typeface="Calibri"/>
              </a:rPr>
              <a:t>Algorithm Design </a:t>
            </a:r>
            <a:r>
              <a:rPr lang="en-US" sz="900" b="0" i="0">
                <a:solidFill>
                  <a:srgbClr val="595959"/>
                </a:solidFill>
                <a:latin typeface="Calibri"/>
              </a:rPr>
              <a:t>and Analysis </a:t>
            </a:r>
            <a:r>
              <a:rPr sz="900" b="0" i="0">
                <a:solidFill>
                  <a:srgbClr val="595959"/>
                </a:solidFill>
                <a:latin typeface="Calibri"/>
              </a:rPr>
              <a:t> ·  </a:t>
            </a:r>
            <a:r>
              <a:rPr lang="en-US" sz="900" b="0" i="0">
                <a:solidFill>
                  <a:srgbClr val="595959"/>
                </a:solidFill>
                <a:latin typeface="Calibri"/>
              </a:rPr>
              <a:t>Balanced Binary Search </a:t>
            </a:r>
            <a:r>
              <a:rPr sz="900" b="0" i="0">
                <a:solidFill>
                  <a:srgbClr val="595959"/>
                </a:solidFill>
                <a:latin typeface="Calibri"/>
              </a:rPr>
              <a:t>Trees  ·  </a:t>
            </a:r>
            <a:r>
              <a:rPr lang="en-US" sz="900" b="0" i="0">
                <a:solidFill>
                  <a:srgbClr val="595959"/>
                </a:solidFill>
                <a:latin typeface="Calibri"/>
              </a:rPr>
              <a:t>Tanwistha Saha</a:t>
            </a:r>
            <a:endParaRPr sz="900" b="0" i="0">
              <a:solidFill>
                <a:srgbClr val="595959"/>
              </a:solidFill>
              <a:latin typeface="Calibri"/>
            </a:endParaRPr>
          </a:p>
        </p:txBody>
      </p:sp>
      <p:sp>
        <p:nvSpPr>
          <p:cNvPr id="32" name="TextBox 31"/>
          <p:cNvSpPr txBox="1"/>
          <p:nvPr/>
        </p:nvSpPr>
        <p:spPr>
          <a:xfrm>
            <a:off x="10908792" y="6501384"/>
            <a:ext cx="731520" cy="138499"/>
          </a:xfrm>
          <a:prstGeom prst="rect">
            <a:avLst/>
          </a:prstGeom>
          <a:noFill/>
        </p:spPr>
        <p:txBody>
          <a:bodyPr wrap="square" lIns="0" tIns="0" rIns="0" bIns="0" anchor="t">
            <a:spAutoFit/>
          </a:bodyPr>
          <a:lstStyle/>
          <a:p>
            <a:pPr algn="r"/>
            <a:r>
              <a:rPr lang="en-US" sz="900" b="0" i="0">
                <a:solidFill>
                  <a:srgbClr val="595959"/>
                </a:solidFill>
                <a:latin typeface="Calibri"/>
              </a:rPr>
              <a:t>11</a:t>
            </a:r>
            <a:endParaRPr sz="900" b="0" i="0">
              <a:solidFill>
                <a:srgbClr val="595959"/>
              </a:solidFill>
              <a:latin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9144000" cy="320040"/>
          </a:xfrm>
          <a:prstGeom prst="rect">
            <a:avLst/>
          </a:prstGeom>
          <a:noFill/>
        </p:spPr>
        <p:txBody>
          <a:bodyPr wrap="square" lIns="0" tIns="0" rIns="0" bIns="0" anchor="t">
            <a:spAutoFit/>
          </a:bodyPr>
          <a:lstStyle/>
          <a:p>
            <a:pPr algn="l"/>
            <a:r>
              <a:rPr sz="1200" b="1" i="0">
                <a:solidFill>
                  <a:srgbClr val="4472C4"/>
                </a:solidFill>
                <a:latin typeface="Calibri"/>
              </a:rPr>
              <a:t>RED-BLACK TREES</a:t>
            </a:r>
          </a:p>
        </p:txBody>
      </p:sp>
      <p:sp>
        <p:nvSpPr>
          <p:cNvPr id="3" name="TextBox 2"/>
          <p:cNvSpPr txBox="1"/>
          <p:nvPr/>
        </p:nvSpPr>
        <p:spPr>
          <a:xfrm>
            <a:off x="548640" y="658368"/>
            <a:ext cx="11064240" cy="640080"/>
          </a:xfrm>
          <a:prstGeom prst="rect">
            <a:avLst/>
          </a:prstGeom>
          <a:noFill/>
        </p:spPr>
        <p:txBody>
          <a:bodyPr wrap="square" lIns="0" tIns="0" rIns="0" bIns="0" anchor="t">
            <a:spAutoFit/>
          </a:bodyPr>
          <a:lstStyle/>
          <a:p>
            <a:pPr algn="l"/>
            <a:r>
              <a:rPr sz="2800" b="1" i="0">
                <a:solidFill>
                  <a:srgbClr val="333F50"/>
                </a:solidFill>
                <a:latin typeface="Calibri Light"/>
              </a:rPr>
              <a:t>A BST plus one color bit and four invariants</a:t>
            </a:r>
          </a:p>
        </p:txBody>
      </p:sp>
      <p:sp>
        <p:nvSpPr>
          <p:cNvPr id="4" name="Oval 3"/>
          <p:cNvSpPr/>
          <p:nvPr/>
        </p:nvSpPr>
        <p:spPr>
          <a:xfrm>
            <a:off x="548640" y="1600200"/>
            <a:ext cx="502920" cy="502920"/>
          </a:xfrm>
          <a:prstGeom prst="ellipse">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600200"/>
            <a:ext cx="502920" cy="502920"/>
          </a:xfrm>
          <a:prstGeom prst="rect">
            <a:avLst/>
          </a:prstGeom>
          <a:noFill/>
        </p:spPr>
        <p:txBody>
          <a:bodyPr wrap="square" lIns="0" tIns="0" rIns="0" bIns="0" anchor="ctr">
            <a:spAutoFit/>
          </a:bodyPr>
          <a:lstStyle/>
          <a:p>
            <a:pPr algn="ctr"/>
            <a:r>
              <a:rPr sz="2000" b="1" i="0">
                <a:solidFill>
                  <a:srgbClr val="333F50"/>
                </a:solidFill>
                <a:latin typeface="Calibri"/>
              </a:rPr>
              <a:t>1</a:t>
            </a:r>
          </a:p>
        </p:txBody>
      </p:sp>
      <p:sp>
        <p:nvSpPr>
          <p:cNvPr id="6" name="TextBox 5"/>
          <p:cNvSpPr txBox="1"/>
          <p:nvPr/>
        </p:nvSpPr>
        <p:spPr>
          <a:xfrm>
            <a:off x="1280160" y="1554480"/>
            <a:ext cx="5943600" cy="411480"/>
          </a:xfrm>
          <a:prstGeom prst="rect">
            <a:avLst/>
          </a:prstGeom>
          <a:noFill/>
        </p:spPr>
        <p:txBody>
          <a:bodyPr wrap="square" lIns="0" tIns="0" rIns="0" bIns="0" anchor="t">
            <a:spAutoFit/>
          </a:bodyPr>
          <a:lstStyle/>
          <a:p>
            <a:pPr algn="l"/>
            <a:r>
              <a:rPr sz="1800" b="1" i="0">
                <a:solidFill>
                  <a:srgbClr val="333F50"/>
                </a:solidFill>
                <a:latin typeface="Calibri"/>
              </a:rPr>
              <a:t>Every node is red or black</a:t>
            </a:r>
          </a:p>
        </p:txBody>
      </p:sp>
      <p:sp>
        <p:nvSpPr>
          <p:cNvPr id="7" name="TextBox 6"/>
          <p:cNvSpPr txBox="1"/>
          <p:nvPr/>
        </p:nvSpPr>
        <p:spPr>
          <a:xfrm>
            <a:off x="1280160" y="1965960"/>
            <a:ext cx="5943600" cy="457200"/>
          </a:xfrm>
          <a:prstGeom prst="rect">
            <a:avLst/>
          </a:prstGeom>
          <a:noFill/>
        </p:spPr>
        <p:txBody>
          <a:bodyPr wrap="square" lIns="0" tIns="0" rIns="0" bIns="0" anchor="t">
            <a:spAutoFit/>
          </a:bodyPr>
          <a:lstStyle/>
          <a:p>
            <a:pPr algn="l"/>
            <a:r>
              <a:rPr sz="1400" b="0" i="0">
                <a:solidFill>
                  <a:srgbClr val="595959"/>
                </a:solidFill>
                <a:latin typeface="Calibri"/>
              </a:rPr>
              <a:t>One extra bit of storage per node.</a:t>
            </a:r>
          </a:p>
        </p:txBody>
      </p:sp>
      <p:sp>
        <p:nvSpPr>
          <p:cNvPr id="8" name="Oval 7"/>
          <p:cNvSpPr/>
          <p:nvPr/>
        </p:nvSpPr>
        <p:spPr>
          <a:xfrm>
            <a:off x="548640" y="2697480"/>
            <a:ext cx="502920" cy="502920"/>
          </a:xfrm>
          <a:prstGeom prst="ellipse">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2697480"/>
            <a:ext cx="502920" cy="502920"/>
          </a:xfrm>
          <a:prstGeom prst="rect">
            <a:avLst/>
          </a:prstGeom>
          <a:noFill/>
        </p:spPr>
        <p:txBody>
          <a:bodyPr wrap="square" lIns="0" tIns="0" rIns="0" bIns="0" anchor="ctr">
            <a:spAutoFit/>
          </a:bodyPr>
          <a:lstStyle/>
          <a:p>
            <a:pPr algn="ctr"/>
            <a:r>
              <a:rPr sz="2000" b="1" i="0">
                <a:solidFill>
                  <a:srgbClr val="333F50"/>
                </a:solidFill>
                <a:latin typeface="Calibri"/>
              </a:rPr>
              <a:t>2</a:t>
            </a:r>
          </a:p>
        </p:txBody>
      </p:sp>
      <p:sp>
        <p:nvSpPr>
          <p:cNvPr id="10" name="TextBox 9"/>
          <p:cNvSpPr txBox="1"/>
          <p:nvPr/>
        </p:nvSpPr>
        <p:spPr>
          <a:xfrm>
            <a:off x="1280160" y="2651760"/>
            <a:ext cx="5943600" cy="411480"/>
          </a:xfrm>
          <a:prstGeom prst="rect">
            <a:avLst/>
          </a:prstGeom>
          <a:noFill/>
        </p:spPr>
        <p:txBody>
          <a:bodyPr wrap="square" lIns="0" tIns="0" rIns="0" bIns="0" anchor="t">
            <a:spAutoFit/>
          </a:bodyPr>
          <a:lstStyle/>
          <a:p>
            <a:pPr algn="l"/>
            <a:r>
              <a:rPr sz="1800" b="1" i="0">
                <a:solidFill>
                  <a:srgbClr val="333F50"/>
                </a:solidFill>
                <a:latin typeface="Calibri"/>
              </a:rPr>
              <a:t>The root is black</a:t>
            </a:r>
          </a:p>
        </p:txBody>
      </p:sp>
      <p:sp>
        <p:nvSpPr>
          <p:cNvPr id="11" name="TextBox 10"/>
          <p:cNvSpPr txBox="1"/>
          <p:nvPr/>
        </p:nvSpPr>
        <p:spPr>
          <a:xfrm>
            <a:off x="1280160" y="3063240"/>
            <a:ext cx="5943600" cy="457200"/>
          </a:xfrm>
          <a:prstGeom prst="rect">
            <a:avLst/>
          </a:prstGeom>
          <a:noFill/>
        </p:spPr>
        <p:txBody>
          <a:bodyPr wrap="square" lIns="0" tIns="0" rIns="0" bIns="0" anchor="t">
            <a:spAutoFit/>
          </a:bodyPr>
          <a:lstStyle/>
          <a:p>
            <a:pPr algn="l"/>
            <a:r>
              <a:rPr sz="1400" b="0" i="0">
                <a:solidFill>
                  <a:srgbClr val="595959"/>
                </a:solidFill>
                <a:latin typeface="Calibri"/>
              </a:rPr>
              <a:t>Recoloring the root black never breaks the other rules.</a:t>
            </a:r>
          </a:p>
        </p:txBody>
      </p:sp>
      <p:sp>
        <p:nvSpPr>
          <p:cNvPr id="12" name="Oval 11"/>
          <p:cNvSpPr/>
          <p:nvPr/>
        </p:nvSpPr>
        <p:spPr>
          <a:xfrm>
            <a:off x="548640" y="3794760"/>
            <a:ext cx="502920" cy="502920"/>
          </a:xfrm>
          <a:prstGeom prst="ellipse">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48640" y="3794760"/>
            <a:ext cx="502920" cy="502920"/>
          </a:xfrm>
          <a:prstGeom prst="rect">
            <a:avLst/>
          </a:prstGeom>
          <a:noFill/>
        </p:spPr>
        <p:txBody>
          <a:bodyPr wrap="square" lIns="0" tIns="0" rIns="0" bIns="0" anchor="ctr">
            <a:spAutoFit/>
          </a:bodyPr>
          <a:lstStyle/>
          <a:p>
            <a:pPr algn="ctr"/>
            <a:r>
              <a:rPr sz="2000" b="1" i="0">
                <a:solidFill>
                  <a:srgbClr val="333F50"/>
                </a:solidFill>
                <a:latin typeface="Calibri"/>
              </a:rPr>
              <a:t>3</a:t>
            </a:r>
          </a:p>
        </p:txBody>
      </p:sp>
      <p:sp>
        <p:nvSpPr>
          <p:cNvPr id="14" name="TextBox 13"/>
          <p:cNvSpPr txBox="1"/>
          <p:nvPr/>
        </p:nvSpPr>
        <p:spPr>
          <a:xfrm>
            <a:off x="1280160" y="3749040"/>
            <a:ext cx="5943600" cy="411480"/>
          </a:xfrm>
          <a:prstGeom prst="rect">
            <a:avLst/>
          </a:prstGeom>
          <a:noFill/>
        </p:spPr>
        <p:txBody>
          <a:bodyPr wrap="square" lIns="0" tIns="0" rIns="0" bIns="0" anchor="t">
            <a:spAutoFit/>
          </a:bodyPr>
          <a:lstStyle/>
          <a:p>
            <a:pPr algn="l"/>
            <a:r>
              <a:rPr sz="1800" b="1" i="0">
                <a:solidFill>
                  <a:srgbClr val="333F50"/>
                </a:solidFill>
                <a:latin typeface="Calibri"/>
              </a:rPr>
              <a:t>No two reds in a row</a:t>
            </a:r>
          </a:p>
        </p:txBody>
      </p:sp>
      <p:sp>
        <p:nvSpPr>
          <p:cNvPr id="15" name="TextBox 14"/>
          <p:cNvSpPr txBox="1"/>
          <p:nvPr/>
        </p:nvSpPr>
        <p:spPr>
          <a:xfrm>
            <a:off x="1280160" y="4160520"/>
            <a:ext cx="5943600" cy="457200"/>
          </a:xfrm>
          <a:prstGeom prst="rect">
            <a:avLst/>
          </a:prstGeom>
          <a:noFill/>
        </p:spPr>
        <p:txBody>
          <a:bodyPr wrap="square" lIns="0" tIns="0" rIns="0" bIns="0" anchor="t">
            <a:spAutoFit/>
          </a:bodyPr>
          <a:lstStyle/>
          <a:p>
            <a:pPr algn="l"/>
            <a:r>
              <a:rPr sz="1400" b="0" i="0">
                <a:solidFill>
                  <a:srgbClr val="595959"/>
                </a:solidFill>
                <a:latin typeface="Calibri"/>
              </a:rPr>
              <a:t>A red node's children must be black (NULL children count as black).</a:t>
            </a:r>
          </a:p>
        </p:txBody>
      </p:sp>
      <p:sp>
        <p:nvSpPr>
          <p:cNvPr id="16" name="Oval 15"/>
          <p:cNvSpPr/>
          <p:nvPr/>
        </p:nvSpPr>
        <p:spPr>
          <a:xfrm>
            <a:off x="548640" y="4892040"/>
            <a:ext cx="502920" cy="502920"/>
          </a:xfrm>
          <a:prstGeom prst="ellipse">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48640" y="4892040"/>
            <a:ext cx="502920" cy="502920"/>
          </a:xfrm>
          <a:prstGeom prst="rect">
            <a:avLst/>
          </a:prstGeom>
          <a:noFill/>
        </p:spPr>
        <p:txBody>
          <a:bodyPr wrap="square" lIns="0" tIns="0" rIns="0" bIns="0" anchor="ctr">
            <a:spAutoFit/>
          </a:bodyPr>
          <a:lstStyle/>
          <a:p>
            <a:pPr algn="ctr"/>
            <a:r>
              <a:rPr sz="2000" b="1" i="0">
                <a:solidFill>
                  <a:srgbClr val="333F50"/>
                </a:solidFill>
                <a:latin typeface="Calibri"/>
              </a:rPr>
              <a:t>4</a:t>
            </a:r>
          </a:p>
        </p:txBody>
      </p:sp>
      <p:sp>
        <p:nvSpPr>
          <p:cNvPr id="18" name="TextBox 17"/>
          <p:cNvSpPr txBox="1"/>
          <p:nvPr/>
        </p:nvSpPr>
        <p:spPr>
          <a:xfrm>
            <a:off x="1280160" y="4846320"/>
            <a:ext cx="5943600" cy="411480"/>
          </a:xfrm>
          <a:prstGeom prst="rect">
            <a:avLst/>
          </a:prstGeom>
          <a:noFill/>
        </p:spPr>
        <p:txBody>
          <a:bodyPr wrap="square" lIns="0" tIns="0" rIns="0" bIns="0" anchor="t">
            <a:spAutoFit/>
          </a:bodyPr>
          <a:lstStyle/>
          <a:p>
            <a:pPr algn="l"/>
            <a:r>
              <a:rPr sz="1800" b="1" i="0">
                <a:solidFill>
                  <a:srgbClr val="333F50"/>
                </a:solidFill>
                <a:latin typeface="Calibri"/>
              </a:rPr>
              <a:t>Every root–NULL path has the same number of black nodes</a:t>
            </a:r>
          </a:p>
        </p:txBody>
      </p:sp>
      <p:sp>
        <p:nvSpPr>
          <p:cNvPr id="19" name="TextBox 18"/>
          <p:cNvSpPr txBox="1"/>
          <p:nvPr/>
        </p:nvSpPr>
        <p:spPr>
          <a:xfrm>
            <a:off x="1280160" y="5257800"/>
            <a:ext cx="5943600" cy="457200"/>
          </a:xfrm>
          <a:prstGeom prst="rect">
            <a:avLst/>
          </a:prstGeom>
          <a:noFill/>
        </p:spPr>
        <p:txBody>
          <a:bodyPr wrap="square" lIns="0" tIns="0" rIns="0" bIns="0" anchor="t">
            <a:spAutoFit/>
          </a:bodyPr>
          <a:lstStyle/>
          <a:p>
            <a:pPr algn="l"/>
            <a:r>
              <a:rPr sz="1400" b="0" i="0">
                <a:solidFill>
                  <a:srgbClr val="595959"/>
                </a:solidFill>
                <a:latin typeface="Calibri"/>
              </a:rPr>
              <a:t>That common count is the black-height of the tree.</a:t>
            </a:r>
          </a:p>
        </p:txBody>
      </p:sp>
      <p:sp>
        <p:nvSpPr>
          <p:cNvPr id="20" name="Rounded Rectangle 19"/>
          <p:cNvSpPr/>
          <p:nvPr/>
        </p:nvSpPr>
        <p:spPr>
          <a:xfrm>
            <a:off x="7680960" y="1691640"/>
            <a:ext cx="3959352" cy="4160520"/>
          </a:xfrm>
          <a:prstGeom prst="roundRect">
            <a:avLst>
              <a:gd name="adj" fmla="val 5000"/>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955279" y="1920240"/>
            <a:ext cx="3474720" cy="274320"/>
          </a:xfrm>
          <a:prstGeom prst="rect">
            <a:avLst/>
          </a:prstGeom>
          <a:noFill/>
        </p:spPr>
        <p:txBody>
          <a:bodyPr wrap="square" lIns="0" tIns="0" rIns="0" bIns="0" anchor="t">
            <a:spAutoFit/>
          </a:bodyPr>
          <a:lstStyle/>
          <a:p>
            <a:pPr algn="l"/>
            <a:r>
              <a:rPr sz="1100" b="1" i="0">
                <a:solidFill>
                  <a:srgbClr val="4472C4"/>
                </a:solidFill>
                <a:latin typeface="Calibri"/>
              </a:rPr>
              <a:t>KEY TERM</a:t>
            </a:r>
          </a:p>
        </p:txBody>
      </p:sp>
      <p:sp>
        <p:nvSpPr>
          <p:cNvPr id="22" name="TextBox 21"/>
          <p:cNvSpPr txBox="1"/>
          <p:nvPr/>
        </p:nvSpPr>
        <p:spPr>
          <a:xfrm>
            <a:off x="7955279" y="2240280"/>
            <a:ext cx="3474720" cy="411480"/>
          </a:xfrm>
          <a:prstGeom prst="rect">
            <a:avLst/>
          </a:prstGeom>
          <a:noFill/>
        </p:spPr>
        <p:txBody>
          <a:bodyPr wrap="square" lIns="0" tIns="0" rIns="0" bIns="0" anchor="t">
            <a:spAutoFit/>
          </a:bodyPr>
          <a:lstStyle/>
          <a:p>
            <a:pPr algn="l"/>
            <a:r>
              <a:rPr sz="1600" b="1" i="0">
                <a:solidFill>
                  <a:srgbClr val="333F50"/>
                </a:solidFill>
                <a:latin typeface="Courier New"/>
              </a:rPr>
              <a:t>Root–NULL path</a:t>
            </a:r>
          </a:p>
        </p:txBody>
      </p:sp>
      <p:sp>
        <p:nvSpPr>
          <p:cNvPr id="23" name="TextBox 22"/>
          <p:cNvSpPr txBox="1"/>
          <p:nvPr/>
        </p:nvSpPr>
        <p:spPr>
          <a:xfrm>
            <a:off x="7955279" y="2697480"/>
            <a:ext cx="3474720" cy="1005840"/>
          </a:xfrm>
          <a:prstGeom prst="rect">
            <a:avLst/>
          </a:prstGeom>
          <a:noFill/>
        </p:spPr>
        <p:txBody>
          <a:bodyPr wrap="square" lIns="0" tIns="0" rIns="0" bIns="0" anchor="t">
            <a:spAutoFit/>
          </a:bodyPr>
          <a:lstStyle/>
          <a:p>
            <a:pPr algn="l"/>
            <a:r>
              <a:rPr sz="1300" b="0" i="0">
                <a:solidFill>
                  <a:srgbClr val="333F50"/>
                </a:solidFill>
                <a:latin typeface="Calibri"/>
              </a:rPr>
              <a:t>A path from the root down to a NULL child pointer: exactly what an unsuccessful search walks.</a:t>
            </a:r>
          </a:p>
        </p:txBody>
      </p:sp>
      <p:sp>
        <p:nvSpPr>
          <p:cNvPr id="34" name="TextBox 33"/>
          <p:cNvSpPr txBox="1"/>
          <p:nvPr/>
        </p:nvSpPr>
        <p:spPr>
          <a:xfrm>
            <a:off x="7955279" y="5522976"/>
            <a:ext cx="3474720" cy="169277"/>
          </a:xfrm>
          <a:prstGeom prst="rect">
            <a:avLst/>
          </a:prstGeom>
          <a:noFill/>
        </p:spPr>
        <p:txBody>
          <a:bodyPr wrap="square" lIns="0" tIns="0" rIns="0" bIns="0" anchor="t">
            <a:spAutoFit/>
          </a:bodyPr>
          <a:lstStyle/>
          <a:p>
            <a:pPr algn="l"/>
            <a:r>
              <a:rPr lang="en-US" sz="1100" b="0" i="0">
                <a:solidFill>
                  <a:srgbClr val="595959"/>
                </a:solidFill>
                <a:latin typeface="Calibri"/>
              </a:rPr>
              <a:t>13, 20, 25</a:t>
            </a:r>
            <a:r>
              <a:rPr sz="1100" b="0" i="0">
                <a:solidFill>
                  <a:srgbClr val="595959"/>
                </a:solidFill>
                <a:latin typeface="Calibri"/>
              </a:rPr>
              <a:t>, NULL</a:t>
            </a:r>
            <a:r>
              <a:rPr lang="en-US" sz="1100" b="0" i="0">
                <a:solidFill>
                  <a:srgbClr val="595959"/>
                </a:solidFill>
                <a:latin typeface="Calibri"/>
              </a:rPr>
              <a:t>: black nodes 13 and 25.</a:t>
            </a:r>
            <a:endParaRPr sz="1100" b="0" i="0">
              <a:solidFill>
                <a:srgbClr val="595959"/>
              </a:solidFill>
              <a:latin typeface="Calibri"/>
            </a:endParaRPr>
          </a:p>
        </p:txBody>
      </p:sp>
      <p:sp>
        <p:nvSpPr>
          <p:cNvPr id="35" name="TextBox 34"/>
          <p:cNvSpPr txBox="1"/>
          <p:nvPr/>
        </p:nvSpPr>
        <p:spPr>
          <a:xfrm>
            <a:off x="548640" y="6501384"/>
            <a:ext cx="9326880" cy="138499"/>
          </a:xfrm>
          <a:prstGeom prst="rect">
            <a:avLst/>
          </a:prstGeom>
          <a:noFill/>
        </p:spPr>
        <p:txBody>
          <a:bodyPr wrap="square" lIns="0" tIns="0" rIns="0" bIns="0" anchor="t">
            <a:spAutoFit/>
          </a:bodyPr>
          <a:lstStyle/>
          <a:p>
            <a:pPr algn="l"/>
            <a:r>
              <a:rPr lang="en-US" sz="900" b="0" i="0">
                <a:solidFill>
                  <a:srgbClr val="595959"/>
                </a:solidFill>
                <a:latin typeface="Calibri"/>
              </a:rPr>
              <a:t>CS 383 </a:t>
            </a:r>
            <a:r>
              <a:rPr sz="900" b="0" i="0">
                <a:solidFill>
                  <a:srgbClr val="595959"/>
                </a:solidFill>
                <a:latin typeface="Calibri"/>
              </a:rPr>
              <a:t>Algorithm Design </a:t>
            </a:r>
            <a:r>
              <a:rPr lang="en-US" sz="900" b="0" i="0">
                <a:solidFill>
                  <a:srgbClr val="595959"/>
                </a:solidFill>
                <a:latin typeface="Calibri"/>
              </a:rPr>
              <a:t>and Analysis </a:t>
            </a:r>
            <a:r>
              <a:rPr sz="900" b="0" i="0">
                <a:solidFill>
                  <a:srgbClr val="595959"/>
                </a:solidFill>
                <a:latin typeface="Calibri"/>
              </a:rPr>
              <a:t> ·  </a:t>
            </a:r>
            <a:r>
              <a:rPr lang="en-US" sz="900" b="0" i="0">
                <a:solidFill>
                  <a:srgbClr val="595959"/>
                </a:solidFill>
                <a:latin typeface="Calibri"/>
              </a:rPr>
              <a:t>Balanced Binary Search </a:t>
            </a:r>
            <a:r>
              <a:rPr sz="900" b="0" i="0">
                <a:solidFill>
                  <a:srgbClr val="595959"/>
                </a:solidFill>
                <a:latin typeface="Calibri"/>
              </a:rPr>
              <a:t>Trees  ·  </a:t>
            </a:r>
            <a:r>
              <a:rPr lang="en-US" sz="900" b="0" i="0">
                <a:solidFill>
                  <a:srgbClr val="595959"/>
                </a:solidFill>
                <a:latin typeface="Calibri"/>
              </a:rPr>
              <a:t>Tanwistha Saha</a:t>
            </a:r>
            <a:endParaRPr sz="900" b="0" i="0">
              <a:solidFill>
                <a:srgbClr val="595959"/>
              </a:solidFill>
              <a:latin typeface="Calibri"/>
            </a:endParaRPr>
          </a:p>
        </p:txBody>
      </p:sp>
      <p:sp>
        <p:nvSpPr>
          <p:cNvPr id="36" name="TextBox 35"/>
          <p:cNvSpPr txBox="1"/>
          <p:nvPr/>
        </p:nvSpPr>
        <p:spPr>
          <a:xfrm>
            <a:off x="10908792" y="6501384"/>
            <a:ext cx="731520" cy="138499"/>
          </a:xfrm>
          <a:prstGeom prst="rect">
            <a:avLst/>
          </a:prstGeom>
          <a:noFill/>
        </p:spPr>
        <p:txBody>
          <a:bodyPr wrap="square" lIns="0" tIns="0" rIns="0" bIns="0" anchor="t">
            <a:spAutoFit/>
          </a:bodyPr>
          <a:lstStyle/>
          <a:p>
            <a:pPr algn="r"/>
            <a:r>
              <a:rPr lang="en-US" sz="900" b="0" i="0">
                <a:solidFill>
                  <a:srgbClr val="595959"/>
                </a:solidFill>
                <a:latin typeface="Calibri"/>
              </a:rPr>
              <a:t>12</a:t>
            </a:r>
            <a:endParaRPr sz="900" b="0" i="0">
              <a:solidFill>
                <a:srgbClr val="595959"/>
              </a:solidFill>
              <a:latin typeface="Calibri"/>
            </a:endParaRPr>
          </a:p>
        </p:txBody>
      </p:sp>
      <p:cxnSp>
        <p:nvCxnSpPr>
          <p:cNvPr id="37" name="Running RB tree 37"/>
          <p:cNvCxnSpPr/>
          <p:nvPr/>
        </p:nvCxnSpPr>
        <p:spPr>
          <a:xfrm flipH="1">
            <a:off x="8655710" y="3836821"/>
            <a:ext cx="694944" cy="475488"/>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38" name="Running RB tree 38"/>
          <p:cNvCxnSpPr/>
          <p:nvPr/>
        </p:nvCxnSpPr>
        <p:spPr>
          <a:xfrm>
            <a:off x="9350655" y="3836821"/>
            <a:ext cx="731520" cy="475488"/>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39" name="Running RB tree 39"/>
          <p:cNvCxnSpPr/>
          <p:nvPr/>
        </p:nvCxnSpPr>
        <p:spPr>
          <a:xfrm flipH="1">
            <a:off x="8253375" y="4312309"/>
            <a:ext cx="402335" cy="475488"/>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40" name="Running RB tree 40"/>
          <p:cNvCxnSpPr/>
          <p:nvPr/>
        </p:nvCxnSpPr>
        <p:spPr>
          <a:xfrm>
            <a:off x="8655710" y="4312309"/>
            <a:ext cx="402336" cy="475488"/>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41" name="Running RB tree 41"/>
          <p:cNvCxnSpPr/>
          <p:nvPr/>
        </p:nvCxnSpPr>
        <p:spPr>
          <a:xfrm flipH="1">
            <a:off x="9716415" y="4312309"/>
            <a:ext cx="365760" cy="475488"/>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42" name="Running RB tree 42"/>
          <p:cNvCxnSpPr/>
          <p:nvPr/>
        </p:nvCxnSpPr>
        <p:spPr>
          <a:xfrm>
            <a:off x="10082175" y="4312309"/>
            <a:ext cx="365760" cy="475488"/>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43" name="Running RB tree 43"/>
          <p:cNvCxnSpPr/>
          <p:nvPr/>
        </p:nvCxnSpPr>
        <p:spPr>
          <a:xfrm flipH="1">
            <a:off x="8802015" y="4787797"/>
            <a:ext cx="256032" cy="475488"/>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sp>
        <p:nvSpPr>
          <p:cNvPr id="44" name="Running RB tree 44"/>
          <p:cNvSpPr/>
          <p:nvPr/>
        </p:nvSpPr>
        <p:spPr>
          <a:xfrm>
            <a:off x="9189720" y="3675887"/>
            <a:ext cx="321868" cy="321868"/>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5" name="Running RB tree 45"/>
          <p:cNvSpPr txBox="1"/>
          <p:nvPr/>
        </p:nvSpPr>
        <p:spPr>
          <a:xfrm>
            <a:off x="9189720" y="3675887"/>
            <a:ext cx="321868" cy="321868"/>
          </a:xfrm>
          <a:prstGeom prst="rect">
            <a:avLst/>
          </a:prstGeom>
          <a:noFill/>
        </p:spPr>
        <p:txBody>
          <a:bodyPr wrap="square" lIns="0" tIns="0" rIns="0" bIns="0" anchor="ctr">
            <a:spAutoFit/>
          </a:bodyPr>
          <a:lstStyle/>
          <a:p>
            <a:pPr algn="ctr"/>
            <a:r>
              <a:rPr sz="960" b="1" i="0">
                <a:solidFill>
                  <a:srgbClr val="FFFFFF"/>
                </a:solidFill>
                <a:latin typeface="Calibri"/>
              </a:rPr>
              <a:t>13</a:t>
            </a:r>
          </a:p>
        </p:txBody>
      </p:sp>
      <p:sp>
        <p:nvSpPr>
          <p:cNvPr id="46" name="Running RB tree 46"/>
          <p:cNvSpPr/>
          <p:nvPr/>
        </p:nvSpPr>
        <p:spPr>
          <a:xfrm>
            <a:off x="8494776" y="4151374"/>
            <a:ext cx="321868" cy="321868"/>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7" name="Running RB tree 47"/>
          <p:cNvSpPr txBox="1"/>
          <p:nvPr/>
        </p:nvSpPr>
        <p:spPr>
          <a:xfrm>
            <a:off x="8494776" y="4151374"/>
            <a:ext cx="321868" cy="321868"/>
          </a:xfrm>
          <a:prstGeom prst="rect">
            <a:avLst/>
          </a:prstGeom>
          <a:noFill/>
        </p:spPr>
        <p:txBody>
          <a:bodyPr wrap="square" lIns="0" tIns="0" rIns="0" bIns="0" anchor="ctr">
            <a:spAutoFit/>
          </a:bodyPr>
          <a:lstStyle/>
          <a:p>
            <a:pPr algn="ctr"/>
            <a:r>
              <a:rPr sz="960" b="1" i="0">
                <a:solidFill>
                  <a:srgbClr val="FFFFFF"/>
                </a:solidFill>
                <a:latin typeface="Calibri"/>
              </a:rPr>
              <a:t>5</a:t>
            </a:r>
          </a:p>
        </p:txBody>
      </p:sp>
      <p:sp>
        <p:nvSpPr>
          <p:cNvPr id="48" name="Running RB tree 48"/>
          <p:cNvSpPr/>
          <p:nvPr/>
        </p:nvSpPr>
        <p:spPr>
          <a:xfrm>
            <a:off x="9921240" y="4151374"/>
            <a:ext cx="321868" cy="321868"/>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9" name="Running RB tree 49"/>
          <p:cNvSpPr txBox="1"/>
          <p:nvPr/>
        </p:nvSpPr>
        <p:spPr>
          <a:xfrm>
            <a:off x="9921240" y="4151374"/>
            <a:ext cx="321868" cy="321868"/>
          </a:xfrm>
          <a:prstGeom prst="rect">
            <a:avLst/>
          </a:prstGeom>
          <a:noFill/>
        </p:spPr>
        <p:txBody>
          <a:bodyPr wrap="square" lIns="0" tIns="0" rIns="0" bIns="0" anchor="ctr">
            <a:spAutoFit/>
          </a:bodyPr>
          <a:lstStyle/>
          <a:p>
            <a:pPr algn="ctr"/>
            <a:r>
              <a:rPr sz="960" b="1" i="0">
                <a:solidFill>
                  <a:srgbClr val="FFFFFF"/>
                </a:solidFill>
                <a:latin typeface="Calibri"/>
              </a:rPr>
              <a:t>20</a:t>
            </a:r>
          </a:p>
        </p:txBody>
      </p:sp>
      <p:sp>
        <p:nvSpPr>
          <p:cNvPr id="50" name="Running RB tree 50"/>
          <p:cNvSpPr/>
          <p:nvPr/>
        </p:nvSpPr>
        <p:spPr>
          <a:xfrm>
            <a:off x="8092440" y="4626863"/>
            <a:ext cx="321868" cy="321868"/>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1" name="Running RB tree 51"/>
          <p:cNvSpPr txBox="1"/>
          <p:nvPr/>
        </p:nvSpPr>
        <p:spPr>
          <a:xfrm>
            <a:off x="8092440" y="4626863"/>
            <a:ext cx="321868" cy="321868"/>
          </a:xfrm>
          <a:prstGeom prst="rect">
            <a:avLst/>
          </a:prstGeom>
          <a:noFill/>
        </p:spPr>
        <p:txBody>
          <a:bodyPr wrap="square" lIns="0" tIns="0" rIns="0" bIns="0" anchor="ctr">
            <a:spAutoFit/>
          </a:bodyPr>
          <a:lstStyle/>
          <a:p>
            <a:pPr algn="ctr"/>
            <a:r>
              <a:rPr sz="960" b="1" i="0">
                <a:solidFill>
                  <a:srgbClr val="FFFFFF"/>
                </a:solidFill>
                <a:latin typeface="Calibri"/>
              </a:rPr>
              <a:t>2</a:t>
            </a:r>
          </a:p>
        </p:txBody>
      </p:sp>
      <p:sp>
        <p:nvSpPr>
          <p:cNvPr id="52" name="Running RB tree 52"/>
          <p:cNvSpPr/>
          <p:nvPr/>
        </p:nvSpPr>
        <p:spPr>
          <a:xfrm>
            <a:off x="8897112" y="4626863"/>
            <a:ext cx="321868" cy="321868"/>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3" name="Running RB tree 53"/>
          <p:cNvSpPr txBox="1"/>
          <p:nvPr/>
        </p:nvSpPr>
        <p:spPr>
          <a:xfrm>
            <a:off x="8897112" y="4626863"/>
            <a:ext cx="321868" cy="321868"/>
          </a:xfrm>
          <a:prstGeom prst="rect">
            <a:avLst/>
          </a:prstGeom>
          <a:noFill/>
        </p:spPr>
        <p:txBody>
          <a:bodyPr wrap="square" lIns="0" tIns="0" rIns="0" bIns="0" anchor="ctr">
            <a:spAutoFit/>
          </a:bodyPr>
          <a:lstStyle/>
          <a:p>
            <a:pPr algn="ctr"/>
            <a:r>
              <a:rPr sz="960" b="1" i="0">
                <a:solidFill>
                  <a:srgbClr val="FFFFFF"/>
                </a:solidFill>
                <a:latin typeface="Calibri"/>
              </a:rPr>
              <a:t>8</a:t>
            </a:r>
          </a:p>
        </p:txBody>
      </p:sp>
      <p:sp>
        <p:nvSpPr>
          <p:cNvPr id="54" name="Running RB tree 54"/>
          <p:cNvSpPr/>
          <p:nvPr/>
        </p:nvSpPr>
        <p:spPr>
          <a:xfrm>
            <a:off x="9555480" y="4626863"/>
            <a:ext cx="321868" cy="321868"/>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5" name="Running RB tree 55"/>
          <p:cNvSpPr txBox="1"/>
          <p:nvPr/>
        </p:nvSpPr>
        <p:spPr>
          <a:xfrm>
            <a:off x="9555480" y="4626863"/>
            <a:ext cx="321868" cy="321868"/>
          </a:xfrm>
          <a:prstGeom prst="rect">
            <a:avLst/>
          </a:prstGeom>
          <a:noFill/>
        </p:spPr>
        <p:txBody>
          <a:bodyPr wrap="square" lIns="0" tIns="0" rIns="0" bIns="0" anchor="ctr">
            <a:spAutoFit/>
          </a:bodyPr>
          <a:lstStyle/>
          <a:p>
            <a:pPr algn="ctr"/>
            <a:r>
              <a:rPr sz="960" b="1" i="0">
                <a:solidFill>
                  <a:srgbClr val="FFFFFF"/>
                </a:solidFill>
                <a:latin typeface="Calibri"/>
              </a:rPr>
              <a:t>17</a:t>
            </a:r>
          </a:p>
        </p:txBody>
      </p:sp>
      <p:sp>
        <p:nvSpPr>
          <p:cNvPr id="56" name="Running RB tree 56"/>
          <p:cNvSpPr/>
          <p:nvPr/>
        </p:nvSpPr>
        <p:spPr>
          <a:xfrm>
            <a:off x="10287000" y="4626863"/>
            <a:ext cx="321868" cy="321868"/>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7" name="Running RB tree 57"/>
          <p:cNvSpPr txBox="1"/>
          <p:nvPr/>
        </p:nvSpPr>
        <p:spPr>
          <a:xfrm>
            <a:off x="10287000" y="4626863"/>
            <a:ext cx="321868" cy="321868"/>
          </a:xfrm>
          <a:prstGeom prst="rect">
            <a:avLst/>
          </a:prstGeom>
          <a:noFill/>
        </p:spPr>
        <p:txBody>
          <a:bodyPr wrap="square" lIns="0" tIns="0" rIns="0" bIns="0" anchor="ctr">
            <a:spAutoFit/>
          </a:bodyPr>
          <a:lstStyle/>
          <a:p>
            <a:pPr algn="ctr"/>
            <a:r>
              <a:rPr sz="960" b="1" i="0">
                <a:solidFill>
                  <a:srgbClr val="FFFFFF"/>
                </a:solidFill>
                <a:latin typeface="Calibri"/>
              </a:rPr>
              <a:t>25</a:t>
            </a:r>
          </a:p>
        </p:txBody>
      </p:sp>
      <p:sp>
        <p:nvSpPr>
          <p:cNvPr id="58" name="Running RB tree 58"/>
          <p:cNvSpPr/>
          <p:nvPr/>
        </p:nvSpPr>
        <p:spPr>
          <a:xfrm>
            <a:off x="8641080" y="5102351"/>
            <a:ext cx="321868" cy="321868"/>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9" name="Running RB tree 59"/>
          <p:cNvSpPr txBox="1"/>
          <p:nvPr/>
        </p:nvSpPr>
        <p:spPr>
          <a:xfrm>
            <a:off x="8641080" y="5102351"/>
            <a:ext cx="321868" cy="321868"/>
          </a:xfrm>
          <a:prstGeom prst="rect">
            <a:avLst/>
          </a:prstGeom>
          <a:noFill/>
        </p:spPr>
        <p:txBody>
          <a:bodyPr wrap="square" lIns="0" tIns="0" rIns="0" bIns="0" anchor="ctr">
            <a:spAutoFit/>
          </a:bodyPr>
          <a:lstStyle/>
          <a:p>
            <a:pPr algn="ctr"/>
            <a:r>
              <a:rPr sz="960" b="1" i="0">
                <a:solidFill>
                  <a:srgbClr val="FFFFFF"/>
                </a:solidFill>
                <a:latin typeface="Calibri"/>
              </a:rPr>
              <a:t>7</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9144000" cy="320040"/>
          </a:xfrm>
          <a:prstGeom prst="rect">
            <a:avLst/>
          </a:prstGeom>
          <a:noFill/>
        </p:spPr>
        <p:txBody>
          <a:bodyPr wrap="square" lIns="0" tIns="0" rIns="0" bIns="0" anchor="t">
            <a:spAutoFit/>
          </a:bodyPr>
          <a:lstStyle/>
          <a:p>
            <a:pPr algn="l"/>
            <a:r>
              <a:rPr sz="1200" b="1" i="0">
                <a:solidFill>
                  <a:srgbClr val="4472C4"/>
                </a:solidFill>
                <a:latin typeface="Calibri"/>
              </a:rPr>
              <a:t>RED-BLACK TREES</a:t>
            </a:r>
          </a:p>
        </p:txBody>
      </p:sp>
      <p:sp>
        <p:nvSpPr>
          <p:cNvPr id="3" name="TextBox 2"/>
          <p:cNvSpPr txBox="1"/>
          <p:nvPr/>
        </p:nvSpPr>
        <p:spPr>
          <a:xfrm>
            <a:off x="548640" y="658368"/>
            <a:ext cx="11064240" cy="430887"/>
          </a:xfrm>
          <a:prstGeom prst="rect">
            <a:avLst/>
          </a:prstGeom>
          <a:noFill/>
        </p:spPr>
        <p:txBody>
          <a:bodyPr wrap="square" lIns="0" tIns="0" rIns="0" bIns="0" anchor="t">
            <a:spAutoFit/>
          </a:bodyPr>
          <a:lstStyle/>
          <a:p>
            <a:pPr algn="l"/>
            <a:r>
              <a:rPr sz="2800" b="1" i="0">
                <a:solidFill>
                  <a:srgbClr val="333F50"/>
                </a:solidFill>
                <a:latin typeface="Calibri Light"/>
              </a:rPr>
              <a:t>Checking the </a:t>
            </a:r>
            <a:r>
              <a:rPr lang="en-US" sz="2800" b="1" i="0">
                <a:solidFill>
                  <a:srgbClr val="333F50"/>
                </a:solidFill>
                <a:latin typeface="Calibri Light"/>
              </a:rPr>
              <a:t>running red-black tree rooted at 13</a:t>
            </a:r>
            <a:endParaRPr sz="2800" b="1" i="0">
              <a:solidFill>
                <a:srgbClr val="333F50"/>
              </a:solidFill>
              <a:latin typeface="Calibri Light"/>
            </a:endParaRPr>
          </a:p>
        </p:txBody>
      </p:sp>
      <p:sp>
        <p:nvSpPr>
          <p:cNvPr id="4" name="TextBox 3"/>
          <p:cNvSpPr txBox="1"/>
          <p:nvPr/>
        </p:nvSpPr>
        <p:spPr>
          <a:xfrm>
            <a:off x="548640" y="1197864"/>
            <a:ext cx="11064240" cy="215444"/>
          </a:xfrm>
          <a:prstGeom prst="rect">
            <a:avLst/>
          </a:prstGeom>
          <a:noFill/>
        </p:spPr>
        <p:txBody>
          <a:bodyPr wrap="square" lIns="0" tIns="0" rIns="0" bIns="0" anchor="t">
            <a:spAutoFit/>
          </a:bodyPr>
          <a:lstStyle/>
          <a:p>
            <a:pPr algn="l"/>
            <a:r>
              <a:rPr lang="en-US" sz="1400" b="0" i="0" dirty="0">
                <a:solidFill>
                  <a:srgbClr val="595959"/>
                </a:solidFill>
                <a:latin typeface="Calibri"/>
              </a:rPr>
              <a:t>The final </a:t>
            </a:r>
            <a:r>
              <a:rPr lang="en-US" sz="1400" dirty="0">
                <a:solidFill>
                  <a:srgbClr val="595959"/>
                </a:solidFill>
                <a:latin typeface="Calibri"/>
              </a:rPr>
              <a:t>RB</a:t>
            </a:r>
            <a:r>
              <a:rPr lang="en-US" sz="1400" b="0" i="0" dirty="0">
                <a:solidFill>
                  <a:srgbClr val="595959"/>
                </a:solidFill>
                <a:latin typeface="Calibri"/>
              </a:rPr>
              <a:t> tree for A, also shown on slides 10 and </a:t>
            </a:r>
            <a:r>
              <a:rPr lang="en-US" sz="1400" b="0" i="0">
                <a:solidFill>
                  <a:srgbClr val="595959"/>
                </a:solidFill>
                <a:latin typeface="Calibri"/>
              </a:rPr>
              <a:t>24</a:t>
            </a:r>
            <a:r>
              <a:rPr lang="en-US" sz="1400" b="0" i="0" dirty="0">
                <a:solidFill>
                  <a:srgbClr val="595959"/>
                </a:solidFill>
                <a:latin typeface="Calibri"/>
              </a:rPr>
              <a:t>. Dark = black, red = red. NULLs are black and not drawn.</a:t>
            </a:r>
          </a:p>
        </p:txBody>
      </p:sp>
      <p:sp>
        <p:nvSpPr>
          <p:cNvPr id="5" name="Rounded Rectangle 4"/>
          <p:cNvSpPr/>
          <p:nvPr/>
        </p:nvSpPr>
        <p:spPr>
          <a:xfrm>
            <a:off x="548640" y="1874519"/>
            <a:ext cx="5577840" cy="3337560"/>
          </a:xfrm>
          <a:prstGeom prst="roundRect">
            <a:avLst>
              <a:gd name="adj" fmla="val 5000"/>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flipH="1">
            <a:off x="2057400" y="2514600"/>
            <a:ext cx="1280160" cy="73152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3337560" y="2514600"/>
            <a:ext cx="1280160" cy="73152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1417319" y="3246120"/>
            <a:ext cx="640081" cy="731519"/>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057400" y="3246120"/>
            <a:ext cx="640080" cy="731519"/>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3977639" y="3246120"/>
            <a:ext cx="640081" cy="731519"/>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617720" y="3246120"/>
            <a:ext cx="640080" cy="731519"/>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2194560" y="3977639"/>
            <a:ext cx="502920" cy="731521"/>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3118104" y="2295144"/>
            <a:ext cx="438912" cy="438912"/>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118104" y="2406878"/>
            <a:ext cx="438912" cy="215444"/>
          </a:xfrm>
          <a:prstGeom prst="rect">
            <a:avLst/>
          </a:prstGeom>
          <a:noFill/>
        </p:spPr>
        <p:txBody>
          <a:bodyPr wrap="square" lIns="0" tIns="0" rIns="0" bIns="0" anchor="ctr">
            <a:spAutoFit/>
          </a:bodyPr>
          <a:lstStyle/>
          <a:p>
            <a:pPr algn="ctr"/>
            <a:r>
              <a:rPr lang="en-US" sz="1400" b="1" i="0">
                <a:solidFill>
                  <a:srgbClr val="FFFFFF"/>
                </a:solidFill>
                <a:latin typeface="Calibri"/>
              </a:rPr>
              <a:t>13</a:t>
            </a:r>
            <a:endParaRPr sz="1400" b="1" i="0">
              <a:solidFill>
                <a:srgbClr val="FFFFFF"/>
              </a:solidFill>
              <a:latin typeface="Calibri"/>
            </a:endParaRPr>
          </a:p>
        </p:txBody>
      </p:sp>
      <p:sp>
        <p:nvSpPr>
          <p:cNvPr id="15" name="Oval 14"/>
          <p:cNvSpPr/>
          <p:nvPr/>
        </p:nvSpPr>
        <p:spPr>
          <a:xfrm>
            <a:off x="1837943" y="3026664"/>
            <a:ext cx="438912" cy="438912"/>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837943" y="3026664"/>
            <a:ext cx="438912" cy="438912"/>
          </a:xfrm>
          <a:prstGeom prst="rect">
            <a:avLst/>
          </a:prstGeom>
          <a:noFill/>
        </p:spPr>
        <p:txBody>
          <a:bodyPr wrap="square" lIns="0" tIns="0" rIns="0" bIns="0" anchor="ctr">
            <a:spAutoFit/>
          </a:bodyPr>
          <a:lstStyle/>
          <a:p>
            <a:pPr algn="ctr"/>
            <a:r>
              <a:rPr sz="1400" b="1" i="0">
                <a:solidFill>
                  <a:srgbClr val="FFFFFF"/>
                </a:solidFill>
                <a:latin typeface="Calibri"/>
              </a:rPr>
              <a:t>5</a:t>
            </a:r>
          </a:p>
        </p:txBody>
      </p:sp>
      <p:sp>
        <p:nvSpPr>
          <p:cNvPr id="17" name="Oval 16"/>
          <p:cNvSpPr/>
          <p:nvPr/>
        </p:nvSpPr>
        <p:spPr>
          <a:xfrm>
            <a:off x="4398264" y="3026664"/>
            <a:ext cx="438912" cy="438912"/>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398264" y="3138398"/>
            <a:ext cx="438912" cy="215444"/>
          </a:xfrm>
          <a:prstGeom prst="rect">
            <a:avLst/>
          </a:prstGeom>
          <a:noFill/>
        </p:spPr>
        <p:txBody>
          <a:bodyPr wrap="square" lIns="0" tIns="0" rIns="0" bIns="0" anchor="ctr">
            <a:spAutoFit/>
          </a:bodyPr>
          <a:lstStyle/>
          <a:p>
            <a:pPr algn="ctr"/>
            <a:r>
              <a:rPr lang="en-US" sz="1400" b="1" i="0">
                <a:solidFill>
                  <a:srgbClr val="FFFFFF"/>
                </a:solidFill>
                <a:latin typeface="Calibri"/>
              </a:rPr>
              <a:t>20</a:t>
            </a:r>
            <a:endParaRPr sz="1400" b="1" i="0">
              <a:solidFill>
                <a:srgbClr val="FFFFFF"/>
              </a:solidFill>
              <a:latin typeface="Calibri"/>
            </a:endParaRPr>
          </a:p>
        </p:txBody>
      </p:sp>
      <p:sp>
        <p:nvSpPr>
          <p:cNvPr id="19" name="Oval 18"/>
          <p:cNvSpPr/>
          <p:nvPr/>
        </p:nvSpPr>
        <p:spPr>
          <a:xfrm>
            <a:off x="1197863" y="3758183"/>
            <a:ext cx="438912" cy="438912"/>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197863" y="3758183"/>
            <a:ext cx="438912" cy="438912"/>
          </a:xfrm>
          <a:prstGeom prst="rect">
            <a:avLst/>
          </a:prstGeom>
          <a:noFill/>
        </p:spPr>
        <p:txBody>
          <a:bodyPr wrap="square" lIns="0" tIns="0" rIns="0" bIns="0" anchor="ctr">
            <a:spAutoFit/>
          </a:bodyPr>
          <a:lstStyle/>
          <a:p>
            <a:pPr algn="ctr"/>
            <a:r>
              <a:rPr sz="1400" b="1" i="0">
                <a:solidFill>
                  <a:srgbClr val="FFFFFF"/>
                </a:solidFill>
                <a:latin typeface="Calibri"/>
              </a:rPr>
              <a:t>2</a:t>
            </a:r>
          </a:p>
        </p:txBody>
      </p:sp>
      <p:sp>
        <p:nvSpPr>
          <p:cNvPr id="21" name="Oval 20"/>
          <p:cNvSpPr/>
          <p:nvPr/>
        </p:nvSpPr>
        <p:spPr>
          <a:xfrm>
            <a:off x="2478024" y="3758183"/>
            <a:ext cx="438912" cy="438912"/>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478024" y="3869917"/>
            <a:ext cx="438912" cy="215444"/>
          </a:xfrm>
          <a:prstGeom prst="rect">
            <a:avLst/>
          </a:prstGeom>
          <a:noFill/>
        </p:spPr>
        <p:txBody>
          <a:bodyPr wrap="square" lIns="0" tIns="0" rIns="0" bIns="0" anchor="ctr">
            <a:spAutoFit/>
          </a:bodyPr>
          <a:lstStyle/>
          <a:p>
            <a:pPr algn="ctr"/>
            <a:r>
              <a:rPr lang="en-US" sz="1400" b="1" i="0">
                <a:solidFill>
                  <a:srgbClr val="FFFFFF"/>
                </a:solidFill>
                <a:latin typeface="Calibri"/>
              </a:rPr>
              <a:t>8</a:t>
            </a:r>
            <a:endParaRPr sz="1400" b="1" i="0">
              <a:solidFill>
                <a:srgbClr val="FFFFFF"/>
              </a:solidFill>
              <a:latin typeface="Calibri"/>
            </a:endParaRPr>
          </a:p>
        </p:txBody>
      </p:sp>
      <p:sp>
        <p:nvSpPr>
          <p:cNvPr id="23" name="Oval 22"/>
          <p:cNvSpPr/>
          <p:nvPr/>
        </p:nvSpPr>
        <p:spPr>
          <a:xfrm>
            <a:off x="3758183" y="3758183"/>
            <a:ext cx="438912" cy="438912"/>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758183" y="3869917"/>
            <a:ext cx="438912" cy="215444"/>
          </a:xfrm>
          <a:prstGeom prst="rect">
            <a:avLst/>
          </a:prstGeom>
          <a:noFill/>
        </p:spPr>
        <p:txBody>
          <a:bodyPr wrap="square" lIns="0" tIns="0" rIns="0" bIns="0" anchor="ctr">
            <a:spAutoFit/>
          </a:bodyPr>
          <a:lstStyle/>
          <a:p>
            <a:pPr algn="ctr"/>
            <a:r>
              <a:rPr lang="en-US" sz="1400" b="1" i="0">
                <a:solidFill>
                  <a:srgbClr val="FFFFFF"/>
                </a:solidFill>
                <a:latin typeface="Calibri"/>
              </a:rPr>
              <a:t>17</a:t>
            </a:r>
            <a:endParaRPr sz="1400" b="1" i="0">
              <a:solidFill>
                <a:srgbClr val="FFFFFF"/>
              </a:solidFill>
              <a:latin typeface="Calibri"/>
            </a:endParaRPr>
          </a:p>
        </p:txBody>
      </p:sp>
      <p:sp>
        <p:nvSpPr>
          <p:cNvPr id="25" name="Oval 24"/>
          <p:cNvSpPr/>
          <p:nvPr/>
        </p:nvSpPr>
        <p:spPr>
          <a:xfrm>
            <a:off x="5038344" y="3758183"/>
            <a:ext cx="438912" cy="438912"/>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38344" y="3869917"/>
            <a:ext cx="438912" cy="215444"/>
          </a:xfrm>
          <a:prstGeom prst="rect">
            <a:avLst/>
          </a:prstGeom>
          <a:noFill/>
        </p:spPr>
        <p:txBody>
          <a:bodyPr wrap="square" lIns="0" tIns="0" rIns="0" bIns="0" anchor="ctr">
            <a:spAutoFit/>
          </a:bodyPr>
          <a:lstStyle/>
          <a:p>
            <a:pPr algn="ctr"/>
            <a:r>
              <a:rPr lang="en-US" sz="1400" b="1" i="0">
                <a:solidFill>
                  <a:srgbClr val="FFFFFF"/>
                </a:solidFill>
                <a:latin typeface="Calibri"/>
              </a:rPr>
              <a:t>25</a:t>
            </a:r>
            <a:endParaRPr sz="1400" b="1" i="0">
              <a:solidFill>
                <a:srgbClr val="FFFFFF"/>
              </a:solidFill>
              <a:latin typeface="Calibri"/>
            </a:endParaRPr>
          </a:p>
        </p:txBody>
      </p:sp>
      <p:sp>
        <p:nvSpPr>
          <p:cNvPr id="27" name="Oval 26"/>
          <p:cNvSpPr/>
          <p:nvPr/>
        </p:nvSpPr>
        <p:spPr>
          <a:xfrm>
            <a:off x="1975104" y="4489704"/>
            <a:ext cx="438912" cy="438912"/>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975104" y="4601438"/>
            <a:ext cx="438912" cy="215444"/>
          </a:xfrm>
          <a:prstGeom prst="rect">
            <a:avLst/>
          </a:prstGeom>
          <a:noFill/>
        </p:spPr>
        <p:txBody>
          <a:bodyPr wrap="square" lIns="0" tIns="0" rIns="0" bIns="0" anchor="ctr">
            <a:spAutoFit/>
          </a:bodyPr>
          <a:lstStyle/>
          <a:p>
            <a:pPr algn="ctr"/>
            <a:r>
              <a:rPr lang="en-US" sz="1400" b="1" i="0">
                <a:solidFill>
                  <a:srgbClr val="FFFFFF"/>
                </a:solidFill>
                <a:latin typeface="Calibri"/>
              </a:rPr>
              <a:t>7</a:t>
            </a:r>
            <a:endParaRPr sz="1400" b="1" i="0">
              <a:solidFill>
                <a:srgbClr val="FFFFFF"/>
              </a:solidFill>
              <a:latin typeface="Calibri"/>
            </a:endParaRPr>
          </a:p>
        </p:txBody>
      </p:sp>
      <p:sp>
        <p:nvSpPr>
          <p:cNvPr id="29" name="Rounded Rectangle 28"/>
          <p:cNvSpPr/>
          <p:nvPr/>
        </p:nvSpPr>
        <p:spPr>
          <a:xfrm>
            <a:off x="6400800" y="1874519"/>
            <a:ext cx="5239512" cy="1005840"/>
          </a:xfrm>
          <a:prstGeom prst="roundRect">
            <a:avLst>
              <a:gd name="adj" fmla="val 5000"/>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6629400" y="2130552"/>
            <a:ext cx="457200" cy="457200"/>
          </a:xfrm>
          <a:prstGeom prst="ellipse">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629400" y="2130552"/>
            <a:ext cx="457200" cy="457200"/>
          </a:xfrm>
          <a:prstGeom prst="rect">
            <a:avLst/>
          </a:prstGeom>
          <a:noFill/>
        </p:spPr>
        <p:txBody>
          <a:bodyPr wrap="square" lIns="0" tIns="0" rIns="0" bIns="0" anchor="ctr">
            <a:spAutoFit/>
          </a:bodyPr>
          <a:lstStyle/>
          <a:p>
            <a:pPr algn="ctr"/>
            <a:r>
              <a:rPr sz="1800" b="1" i="0">
                <a:solidFill>
                  <a:srgbClr val="FFFFFF"/>
                </a:solidFill>
                <a:latin typeface="Arial"/>
              </a:rPr>
              <a:t>✓</a:t>
            </a:r>
          </a:p>
        </p:txBody>
      </p:sp>
      <p:sp>
        <p:nvSpPr>
          <p:cNvPr id="32" name="TextBox 31"/>
          <p:cNvSpPr txBox="1"/>
          <p:nvPr/>
        </p:nvSpPr>
        <p:spPr>
          <a:xfrm>
            <a:off x="7269480" y="2011679"/>
            <a:ext cx="4206240" cy="320040"/>
          </a:xfrm>
          <a:prstGeom prst="rect">
            <a:avLst/>
          </a:prstGeom>
          <a:noFill/>
        </p:spPr>
        <p:txBody>
          <a:bodyPr wrap="square" lIns="0" tIns="0" rIns="0" bIns="0" anchor="t">
            <a:spAutoFit/>
          </a:bodyPr>
          <a:lstStyle/>
          <a:p>
            <a:pPr algn="l"/>
            <a:r>
              <a:rPr sz="1400" b="1" i="0">
                <a:solidFill>
                  <a:srgbClr val="333F50"/>
                </a:solidFill>
                <a:latin typeface="Calibri"/>
              </a:rPr>
              <a:t>Invariant 1 &amp; 2</a:t>
            </a:r>
          </a:p>
        </p:txBody>
      </p:sp>
      <p:sp>
        <p:nvSpPr>
          <p:cNvPr id="33" name="TextBox 32"/>
          <p:cNvSpPr txBox="1"/>
          <p:nvPr/>
        </p:nvSpPr>
        <p:spPr>
          <a:xfrm>
            <a:off x="7269480" y="2331720"/>
            <a:ext cx="4206240" cy="200055"/>
          </a:xfrm>
          <a:prstGeom prst="rect">
            <a:avLst/>
          </a:prstGeom>
          <a:noFill/>
        </p:spPr>
        <p:txBody>
          <a:bodyPr wrap="square" lIns="0" tIns="0" rIns="0" bIns="0" anchor="t">
            <a:spAutoFit/>
          </a:bodyPr>
          <a:lstStyle/>
          <a:p>
            <a:pPr algn="l"/>
            <a:r>
              <a:rPr sz="1300" b="0" i="0">
                <a:solidFill>
                  <a:srgbClr val="595959"/>
                </a:solidFill>
                <a:latin typeface="Calibri"/>
              </a:rPr>
              <a:t>Every node is colored, and the root </a:t>
            </a:r>
            <a:r>
              <a:rPr lang="en-US" sz="1300" b="0" i="0">
                <a:solidFill>
                  <a:srgbClr val="595959"/>
                </a:solidFill>
                <a:latin typeface="Calibri"/>
              </a:rPr>
              <a:t>13</a:t>
            </a:r>
            <a:r>
              <a:rPr sz="1300" b="0" i="0">
                <a:solidFill>
                  <a:srgbClr val="595959"/>
                </a:solidFill>
                <a:latin typeface="Calibri"/>
              </a:rPr>
              <a:t> is black.</a:t>
            </a:r>
          </a:p>
        </p:txBody>
      </p:sp>
      <p:sp>
        <p:nvSpPr>
          <p:cNvPr id="34" name="Rounded Rectangle 33"/>
          <p:cNvSpPr/>
          <p:nvPr/>
        </p:nvSpPr>
        <p:spPr>
          <a:xfrm>
            <a:off x="6400800" y="3017520"/>
            <a:ext cx="5239512" cy="1005840"/>
          </a:xfrm>
          <a:prstGeom prst="roundRect">
            <a:avLst>
              <a:gd name="adj" fmla="val 5000"/>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6629400" y="3273552"/>
            <a:ext cx="457200" cy="457200"/>
          </a:xfrm>
          <a:prstGeom prst="ellipse">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629400" y="3273552"/>
            <a:ext cx="457200" cy="457200"/>
          </a:xfrm>
          <a:prstGeom prst="rect">
            <a:avLst/>
          </a:prstGeom>
          <a:noFill/>
        </p:spPr>
        <p:txBody>
          <a:bodyPr wrap="square" lIns="0" tIns="0" rIns="0" bIns="0" anchor="ctr">
            <a:spAutoFit/>
          </a:bodyPr>
          <a:lstStyle/>
          <a:p>
            <a:pPr algn="ctr"/>
            <a:r>
              <a:rPr sz="1800" b="1" i="0">
                <a:solidFill>
                  <a:srgbClr val="FFFFFF"/>
                </a:solidFill>
                <a:latin typeface="Arial"/>
              </a:rPr>
              <a:t>✓</a:t>
            </a:r>
          </a:p>
        </p:txBody>
      </p:sp>
      <p:sp>
        <p:nvSpPr>
          <p:cNvPr id="37" name="TextBox 36"/>
          <p:cNvSpPr txBox="1"/>
          <p:nvPr/>
        </p:nvSpPr>
        <p:spPr>
          <a:xfrm>
            <a:off x="7269480" y="3154679"/>
            <a:ext cx="4206240" cy="320040"/>
          </a:xfrm>
          <a:prstGeom prst="rect">
            <a:avLst/>
          </a:prstGeom>
          <a:noFill/>
        </p:spPr>
        <p:txBody>
          <a:bodyPr wrap="square" lIns="0" tIns="0" rIns="0" bIns="0" anchor="t">
            <a:spAutoFit/>
          </a:bodyPr>
          <a:lstStyle/>
          <a:p>
            <a:pPr algn="l"/>
            <a:r>
              <a:rPr sz="1400" b="1" i="0">
                <a:solidFill>
                  <a:srgbClr val="333F50"/>
                </a:solidFill>
                <a:latin typeface="Calibri"/>
              </a:rPr>
              <a:t>Invariant 3</a:t>
            </a:r>
          </a:p>
        </p:txBody>
      </p:sp>
      <p:sp>
        <p:nvSpPr>
          <p:cNvPr id="38" name="TextBox 37"/>
          <p:cNvSpPr txBox="1"/>
          <p:nvPr/>
        </p:nvSpPr>
        <p:spPr>
          <a:xfrm>
            <a:off x="7269480" y="3474720"/>
            <a:ext cx="4206240" cy="200055"/>
          </a:xfrm>
          <a:prstGeom prst="rect">
            <a:avLst/>
          </a:prstGeom>
          <a:noFill/>
        </p:spPr>
        <p:txBody>
          <a:bodyPr wrap="square" lIns="0" tIns="0" rIns="0" bIns="0" anchor="t">
            <a:spAutoFit/>
          </a:bodyPr>
          <a:lstStyle/>
          <a:p>
            <a:pPr algn="l"/>
            <a:r>
              <a:rPr sz="1300" b="0" i="0">
                <a:solidFill>
                  <a:srgbClr val="595959"/>
                </a:solidFill>
                <a:latin typeface="Calibri"/>
              </a:rPr>
              <a:t>Red nodes </a:t>
            </a:r>
            <a:r>
              <a:rPr lang="en-US" sz="1300" b="0" i="0">
                <a:solidFill>
                  <a:srgbClr val="595959"/>
                </a:solidFill>
                <a:latin typeface="Calibri"/>
              </a:rPr>
              <a:t>5</a:t>
            </a:r>
            <a:r>
              <a:rPr sz="1300" b="0" i="0">
                <a:solidFill>
                  <a:srgbClr val="595959"/>
                </a:solidFill>
                <a:latin typeface="Calibri"/>
              </a:rPr>
              <a:t>, 7</a:t>
            </a:r>
            <a:r>
              <a:rPr lang="en-US" sz="1300" b="0" i="0">
                <a:solidFill>
                  <a:srgbClr val="595959"/>
                </a:solidFill>
                <a:latin typeface="Calibri"/>
              </a:rPr>
              <a:t> and 20</a:t>
            </a:r>
            <a:r>
              <a:rPr sz="1300" b="0" i="0">
                <a:solidFill>
                  <a:srgbClr val="595959"/>
                </a:solidFill>
                <a:latin typeface="Calibri"/>
              </a:rPr>
              <a:t> have only black children or NULLs.</a:t>
            </a:r>
          </a:p>
        </p:txBody>
      </p:sp>
      <p:sp>
        <p:nvSpPr>
          <p:cNvPr id="39" name="Rounded Rectangle 38"/>
          <p:cNvSpPr/>
          <p:nvPr/>
        </p:nvSpPr>
        <p:spPr>
          <a:xfrm>
            <a:off x="6400800" y="4160520"/>
            <a:ext cx="5239512" cy="1005840"/>
          </a:xfrm>
          <a:prstGeom prst="roundRect">
            <a:avLst>
              <a:gd name="adj" fmla="val 5000"/>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6629400" y="4416552"/>
            <a:ext cx="457200" cy="457200"/>
          </a:xfrm>
          <a:prstGeom prst="ellipse">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629400" y="4416552"/>
            <a:ext cx="457200" cy="457200"/>
          </a:xfrm>
          <a:prstGeom prst="rect">
            <a:avLst/>
          </a:prstGeom>
          <a:noFill/>
        </p:spPr>
        <p:txBody>
          <a:bodyPr wrap="square" lIns="0" tIns="0" rIns="0" bIns="0" anchor="ctr">
            <a:spAutoFit/>
          </a:bodyPr>
          <a:lstStyle/>
          <a:p>
            <a:pPr algn="ctr"/>
            <a:r>
              <a:rPr sz="1800" b="1" i="0">
                <a:solidFill>
                  <a:srgbClr val="FFFFFF"/>
                </a:solidFill>
                <a:latin typeface="Arial"/>
              </a:rPr>
              <a:t>✓</a:t>
            </a:r>
          </a:p>
        </p:txBody>
      </p:sp>
      <p:sp>
        <p:nvSpPr>
          <p:cNvPr id="42" name="TextBox 41"/>
          <p:cNvSpPr txBox="1"/>
          <p:nvPr/>
        </p:nvSpPr>
        <p:spPr>
          <a:xfrm>
            <a:off x="7269480" y="4297680"/>
            <a:ext cx="4206240" cy="320040"/>
          </a:xfrm>
          <a:prstGeom prst="rect">
            <a:avLst/>
          </a:prstGeom>
          <a:noFill/>
        </p:spPr>
        <p:txBody>
          <a:bodyPr wrap="square" lIns="0" tIns="0" rIns="0" bIns="0" anchor="t">
            <a:spAutoFit/>
          </a:bodyPr>
          <a:lstStyle/>
          <a:p>
            <a:pPr algn="l"/>
            <a:r>
              <a:rPr sz="1400" b="1" i="0">
                <a:solidFill>
                  <a:srgbClr val="333F50"/>
                </a:solidFill>
                <a:latin typeface="Calibri"/>
              </a:rPr>
              <a:t>Invariant 4</a:t>
            </a:r>
          </a:p>
        </p:txBody>
      </p:sp>
      <p:sp>
        <p:nvSpPr>
          <p:cNvPr id="43" name="TextBox 42"/>
          <p:cNvSpPr txBox="1"/>
          <p:nvPr/>
        </p:nvSpPr>
        <p:spPr>
          <a:xfrm>
            <a:off x="7269480" y="4617720"/>
            <a:ext cx="4206240" cy="200055"/>
          </a:xfrm>
          <a:prstGeom prst="rect">
            <a:avLst/>
          </a:prstGeom>
          <a:noFill/>
        </p:spPr>
        <p:txBody>
          <a:bodyPr wrap="square" lIns="0" tIns="0" rIns="0" bIns="0" anchor="t">
            <a:spAutoFit/>
          </a:bodyPr>
          <a:lstStyle/>
          <a:p>
            <a:pPr algn="l"/>
            <a:r>
              <a:rPr sz="1300" b="0" i="0">
                <a:solidFill>
                  <a:srgbClr val="595959"/>
                </a:solidFill>
                <a:latin typeface="Calibri"/>
              </a:rPr>
              <a:t>Every root–NULL path </a:t>
            </a:r>
            <a:r>
              <a:rPr lang="en-US" sz="1300" b="0" i="0">
                <a:solidFill>
                  <a:srgbClr val="595959"/>
                </a:solidFill>
                <a:latin typeface="Calibri"/>
              </a:rPr>
              <a:t>has </a:t>
            </a:r>
            <a:r>
              <a:rPr sz="1300" b="0" i="0">
                <a:solidFill>
                  <a:srgbClr val="595959"/>
                </a:solidFill>
                <a:latin typeface="Calibri"/>
              </a:rPr>
              <a:t>2 black</a:t>
            </a:r>
            <a:r>
              <a:rPr lang="en-US" sz="1300" b="0" i="0">
                <a:solidFill>
                  <a:srgbClr val="595959"/>
                </a:solidFill>
                <a:latin typeface="Calibri"/>
              </a:rPr>
              <a:t> internal</a:t>
            </a:r>
            <a:r>
              <a:rPr sz="1300" b="0" i="0">
                <a:solidFill>
                  <a:srgbClr val="595959"/>
                </a:solidFill>
                <a:latin typeface="Calibri"/>
              </a:rPr>
              <a:t> nodes.</a:t>
            </a:r>
          </a:p>
        </p:txBody>
      </p:sp>
      <p:sp>
        <p:nvSpPr>
          <p:cNvPr id="44" name="Rounded Rectangle 43"/>
          <p:cNvSpPr/>
          <p:nvPr/>
        </p:nvSpPr>
        <p:spPr>
          <a:xfrm>
            <a:off x="548640" y="5440680"/>
            <a:ext cx="11091672" cy="502920"/>
          </a:xfrm>
          <a:prstGeom prst="roundRect">
            <a:avLst>
              <a:gd name="adj" fmla="val 5000"/>
            </a:avLst>
          </a:prstGeom>
          <a:solidFill>
            <a:srgbClr val="F5F5F5"/>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795528" y="5592112"/>
            <a:ext cx="10607040" cy="200055"/>
          </a:xfrm>
          <a:prstGeom prst="rect">
            <a:avLst/>
          </a:prstGeom>
          <a:noFill/>
        </p:spPr>
        <p:txBody>
          <a:bodyPr wrap="square" lIns="0" tIns="0" rIns="0" bIns="0" anchor="ctr">
            <a:spAutoFit/>
          </a:bodyPr>
          <a:lstStyle/>
          <a:p>
            <a:pPr algn="l"/>
            <a:r>
              <a:rPr sz="1300" b="1" i="0">
                <a:solidFill>
                  <a:srgbClr val="333F50"/>
                </a:solidFill>
                <a:latin typeface="Calibri"/>
              </a:rPr>
              <a:t>Black-height = 2: </a:t>
            </a:r>
            <a:r>
              <a:rPr lang="en-US" sz="1300" b="1" i="0">
                <a:solidFill>
                  <a:srgbClr val="333F50"/>
                </a:solidFill>
                <a:latin typeface="Calibri"/>
              </a:rPr>
              <a:t>paths 13, 5, 2, NULL and 13, 20, 25, NULL each have 2 black internal nodes.</a:t>
            </a:r>
          </a:p>
        </p:txBody>
      </p:sp>
      <p:sp>
        <p:nvSpPr>
          <p:cNvPr id="46" name="TextBox 45"/>
          <p:cNvSpPr txBox="1"/>
          <p:nvPr/>
        </p:nvSpPr>
        <p:spPr>
          <a:xfrm>
            <a:off x="548640" y="6501384"/>
            <a:ext cx="9326880" cy="138499"/>
          </a:xfrm>
          <a:prstGeom prst="rect">
            <a:avLst/>
          </a:prstGeom>
          <a:noFill/>
        </p:spPr>
        <p:txBody>
          <a:bodyPr wrap="square" lIns="0" tIns="0" rIns="0" bIns="0" anchor="t">
            <a:spAutoFit/>
          </a:bodyPr>
          <a:lstStyle/>
          <a:p>
            <a:pPr algn="l"/>
            <a:r>
              <a:rPr lang="en-US" sz="900" b="0" i="0">
                <a:solidFill>
                  <a:srgbClr val="595959"/>
                </a:solidFill>
                <a:latin typeface="Calibri"/>
              </a:rPr>
              <a:t>CS 383 </a:t>
            </a:r>
            <a:r>
              <a:rPr sz="900" b="0" i="0">
                <a:solidFill>
                  <a:srgbClr val="595959"/>
                </a:solidFill>
                <a:latin typeface="Calibri"/>
              </a:rPr>
              <a:t>Algorithm Design </a:t>
            </a:r>
            <a:r>
              <a:rPr lang="en-US" sz="900" b="0" i="0">
                <a:solidFill>
                  <a:srgbClr val="595959"/>
                </a:solidFill>
                <a:latin typeface="Calibri"/>
              </a:rPr>
              <a:t>and Analysis </a:t>
            </a:r>
            <a:r>
              <a:rPr sz="900" b="0" i="0">
                <a:solidFill>
                  <a:srgbClr val="595959"/>
                </a:solidFill>
                <a:latin typeface="Calibri"/>
              </a:rPr>
              <a:t> ·  </a:t>
            </a:r>
            <a:r>
              <a:rPr lang="en-US" sz="900" b="0" i="0">
                <a:solidFill>
                  <a:srgbClr val="595959"/>
                </a:solidFill>
                <a:latin typeface="Calibri"/>
              </a:rPr>
              <a:t>Balanced Binary Search </a:t>
            </a:r>
            <a:r>
              <a:rPr sz="900" b="0" i="0">
                <a:solidFill>
                  <a:srgbClr val="595959"/>
                </a:solidFill>
                <a:latin typeface="Calibri"/>
              </a:rPr>
              <a:t>Trees  ·  </a:t>
            </a:r>
            <a:r>
              <a:rPr lang="en-US" sz="900" b="0" i="0">
                <a:solidFill>
                  <a:srgbClr val="595959"/>
                </a:solidFill>
                <a:latin typeface="Calibri"/>
              </a:rPr>
              <a:t>Tanwistha Saha</a:t>
            </a:r>
            <a:endParaRPr sz="900" b="0" i="0">
              <a:solidFill>
                <a:srgbClr val="595959"/>
              </a:solidFill>
              <a:latin typeface="Calibri"/>
            </a:endParaRPr>
          </a:p>
        </p:txBody>
      </p:sp>
      <p:sp>
        <p:nvSpPr>
          <p:cNvPr id="47" name="TextBox 46"/>
          <p:cNvSpPr txBox="1"/>
          <p:nvPr/>
        </p:nvSpPr>
        <p:spPr>
          <a:xfrm>
            <a:off x="10908792" y="6501384"/>
            <a:ext cx="731520" cy="138499"/>
          </a:xfrm>
          <a:prstGeom prst="rect">
            <a:avLst/>
          </a:prstGeom>
          <a:noFill/>
        </p:spPr>
        <p:txBody>
          <a:bodyPr wrap="square" lIns="0" tIns="0" rIns="0" bIns="0" anchor="t">
            <a:spAutoFit/>
          </a:bodyPr>
          <a:lstStyle/>
          <a:p>
            <a:pPr algn="r"/>
            <a:r>
              <a:rPr lang="en-US" sz="900" b="0" i="0">
                <a:solidFill>
                  <a:srgbClr val="595959"/>
                </a:solidFill>
                <a:latin typeface="Calibri"/>
              </a:rPr>
              <a:t>13</a:t>
            </a:r>
            <a:endParaRPr sz="900" b="0" i="0">
              <a:solidFill>
                <a:srgbClr val="595959"/>
              </a:solidFill>
              <a:latin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9144000" cy="320040"/>
          </a:xfrm>
          <a:prstGeom prst="rect">
            <a:avLst/>
          </a:prstGeom>
          <a:noFill/>
        </p:spPr>
        <p:txBody>
          <a:bodyPr wrap="square" lIns="0" tIns="0" rIns="0" bIns="0" anchor="t">
            <a:spAutoFit/>
          </a:bodyPr>
          <a:lstStyle/>
          <a:p>
            <a:pPr algn="l"/>
            <a:r>
              <a:rPr sz="1200" b="1" i="0">
                <a:solidFill>
                  <a:srgbClr val="4472C4"/>
                </a:solidFill>
                <a:latin typeface="Calibri"/>
              </a:rPr>
              <a:t>CHECK YOUR UNDERSTANDING</a:t>
            </a:r>
          </a:p>
        </p:txBody>
      </p:sp>
      <p:sp>
        <p:nvSpPr>
          <p:cNvPr id="3" name="TextBox 2"/>
          <p:cNvSpPr txBox="1"/>
          <p:nvPr/>
        </p:nvSpPr>
        <p:spPr>
          <a:xfrm>
            <a:off x="548640" y="658368"/>
            <a:ext cx="11064240" cy="640080"/>
          </a:xfrm>
          <a:prstGeom prst="rect">
            <a:avLst/>
          </a:prstGeom>
          <a:noFill/>
        </p:spPr>
        <p:txBody>
          <a:bodyPr wrap="square" lIns="0" tIns="0" rIns="0" bIns="0" anchor="t">
            <a:spAutoFit/>
          </a:bodyPr>
          <a:lstStyle/>
          <a:p>
            <a:pPr algn="l"/>
            <a:r>
              <a:rPr sz="2800" b="1" i="0">
                <a:solidFill>
                  <a:srgbClr val="333F50"/>
                </a:solidFill>
                <a:latin typeface="Calibri Light"/>
              </a:rPr>
              <a:t>Can a 3-node chain be a red-black tree?</a:t>
            </a:r>
          </a:p>
        </p:txBody>
      </p:sp>
      <p:sp>
        <p:nvSpPr>
          <p:cNvPr id="4" name="TextBox 3"/>
          <p:cNvSpPr txBox="1"/>
          <p:nvPr/>
        </p:nvSpPr>
        <p:spPr>
          <a:xfrm>
            <a:off x="548640" y="1197864"/>
            <a:ext cx="11064240" cy="502920"/>
          </a:xfrm>
          <a:prstGeom prst="rect">
            <a:avLst/>
          </a:prstGeom>
          <a:noFill/>
        </p:spPr>
        <p:txBody>
          <a:bodyPr wrap="square" lIns="0" tIns="0" rIns="0" bIns="0" anchor="t">
            <a:spAutoFit/>
          </a:bodyPr>
          <a:lstStyle/>
          <a:p>
            <a:pPr algn="l"/>
            <a:r>
              <a:rPr sz="1400" b="0" i="0">
                <a:solidFill>
                  <a:srgbClr val="595959"/>
                </a:solidFill>
                <a:latin typeface="Calibri"/>
              </a:rPr>
              <a:t>The first three keys of sorted A, inserted into a plain BST. Can nodes 2, 5, 7 be colored so all four invariants hold?</a:t>
            </a:r>
          </a:p>
        </p:txBody>
      </p:sp>
      <p:sp>
        <p:nvSpPr>
          <p:cNvPr id="5" name="Rounded Rectangle 4"/>
          <p:cNvSpPr/>
          <p:nvPr/>
        </p:nvSpPr>
        <p:spPr>
          <a:xfrm>
            <a:off x="548640" y="1874519"/>
            <a:ext cx="3931920" cy="3931920"/>
          </a:xfrm>
          <a:prstGeom prst="roundRect">
            <a:avLst>
              <a:gd name="adj" fmla="val 5000"/>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1371600" y="2606040"/>
            <a:ext cx="1097280" cy="105156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468880" y="3657600"/>
            <a:ext cx="1097280" cy="105156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1097280" y="2331720"/>
            <a:ext cx="548640" cy="548640"/>
          </a:xfrm>
          <a:prstGeom prst="ellipse">
            <a:avLst/>
          </a:prstGeom>
          <a:solidFill>
            <a:srgbClr val="FFFFFF"/>
          </a:solidFill>
          <a:ln w="22225">
            <a:solidFill>
              <a:srgbClr val="4454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97280" y="2331720"/>
            <a:ext cx="548640" cy="548640"/>
          </a:xfrm>
          <a:prstGeom prst="rect">
            <a:avLst/>
          </a:prstGeom>
          <a:noFill/>
        </p:spPr>
        <p:txBody>
          <a:bodyPr wrap="square" lIns="0" tIns="0" rIns="0" bIns="0" anchor="ctr">
            <a:spAutoFit/>
          </a:bodyPr>
          <a:lstStyle/>
          <a:p>
            <a:pPr algn="ctr"/>
            <a:r>
              <a:rPr sz="1600" b="1" i="0">
                <a:solidFill>
                  <a:srgbClr val="333F50"/>
                </a:solidFill>
                <a:latin typeface="Calibri"/>
              </a:rPr>
              <a:t>2</a:t>
            </a:r>
          </a:p>
        </p:txBody>
      </p:sp>
      <p:sp>
        <p:nvSpPr>
          <p:cNvPr id="10" name="Oval 9"/>
          <p:cNvSpPr/>
          <p:nvPr/>
        </p:nvSpPr>
        <p:spPr>
          <a:xfrm>
            <a:off x="2194560" y="3383280"/>
            <a:ext cx="548640" cy="548640"/>
          </a:xfrm>
          <a:prstGeom prst="ellipse">
            <a:avLst/>
          </a:prstGeom>
          <a:solidFill>
            <a:srgbClr val="FFFFFF"/>
          </a:solidFill>
          <a:ln w="22225">
            <a:solidFill>
              <a:srgbClr val="4454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194560" y="3383280"/>
            <a:ext cx="548640" cy="548640"/>
          </a:xfrm>
          <a:prstGeom prst="rect">
            <a:avLst/>
          </a:prstGeom>
          <a:noFill/>
        </p:spPr>
        <p:txBody>
          <a:bodyPr wrap="square" lIns="0" tIns="0" rIns="0" bIns="0" anchor="ctr">
            <a:spAutoFit/>
          </a:bodyPr>
          <a:lstStyle/>
          <a:p>
            <a:pPr algn="ctr"/>
            <a:r>
              <a:rPr sz="1600" b="1" i="0">
                <a:solidFill>
                  <a:srgbClr val="333F50"/>
                </a:solidFill>
                <a:latin typeface="Calibri"/>
              </a:rPr>
              <a:t>5</a:t>
            </a:r>
          </a:p>
        </p:txBody>
      </p:sp>
      <p:sp>
        <p:nvSpPr>
          <p:cNvPr id="12" name="Oval 11"/>
          <p:cNvSpPr/>
          <p:nvPr/>
        </p:nvSpPr>
        <p:spPr>
          <a:xfrm>
            <a:off x="3291840" y="4434840"/>
            <a:ext cx="548640" cy="548640"/>
          </a:xfrm>
          <a:prstGeom prst="ellipse">
            <a:avLst/>
          </a:prstGeom>
          <a:solidFill>
            <a:srgbClr val="FFFFFF"/>
          </a:solidFill>
          <a:ln w="22225">
            <a:solidFill>
              <a:srgbClr val="4454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291840" y="4434840"/>
            <a:ext cx="548640" cy="548640"/>
          </a:xfrm>
          <a:prstGeom prst="rect">
            <a:avLst/>
          </a:prstGeom>
          <a:noFill/>
        </p:spPr>
        <p:txBody>
          <a:bodyPr wrap="square" lIns="0" tIns="0" rIns="0" bIns="0" anchor="ctr">
            <a:spAutoFit/>
          </a:bodyPr>
          <a:lstStyle/>
          <a:p>
            <a:pPr algn="ctr"/>
            <a:r>
              <a:rPr sz="1600" b="1" i="0">
                <a:solidFill>
                  <a:srgbClr val="333F50"/>
                </a:solidFill>
                <a:latin typeface="Calibri"/>
              </a:rPr>
              <a:t>7</a:t>
            </a:r>
          </a:p>
        </p:txBody>
      </p:sp>
      <p:sp>
        <p:nvSpPr>
          <p:cNvPr id="14" name="Rounded Rectangle 13"/>
          <p:cNvSpPr/>
          <p:nvPr/>
        </p:nvSpPr>
        <p:spPr>
          <a:xfrm>
            <a:off x="4754880" y="1874519"/>
            <a:ext cx="6885432" cy="1371600"/>
          </a:xfrm>
          <a:prstGeom prst="roundRect">
            <a:avLst>
              <a:gd name="adj" fmla="val 5000"/>
            </a:avLst>
          </a:prstGeom>
          <a:solidFill>
            <a:srgbClr val="F5F5F5"/>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0" y="2057400"/>
            <a:ext cx="6400800" cy="274320"/>
          </a:xfrm>
          <a:prstGeom prst="rect">
            <a:avLst/>
          </a:prstGeom>
          <a:noFill/>
        </p:spPr>
        <p:txBody>
          <a:bodyPr wrap="square" lIns="0" tIns="0" rIns="0" bIns="0" anchor="t">
            <a:spAutoFit/>
          </a:bodyPr>
          <a:lstStyle/>
          <a:p>
            <a:pPr algn="l"/>
            <a:r>
              <a:rPr sz="1100" b="1" i="0">
                <a:solidFill>
                  <a:srgbClr val="4472C4"/>
                </a:solidFill>
                <a:latin typeface="Calibri"/>
              </a:rPr>
              <a:t>HINT</a:t>
            </a:r>
          </a:p>
        </p:txBody>
      </p:sp>
      <p:sp>
        <p:nvSpPr>
          <p:cNvPr id="16" name="TextBox 15"/>
          <p:cNvSpPr txBox="1"/>
          <p:nvPr/>
        </p:nvSpPr>
        <p:spPr>
          <a:xfrm>
            <a:off x="5029200" y="2377440"/>
            <a:ext cx="6400800" cy="731520"/>
          </a:xfrm>
          <a:prstGeom prst="rect">
            <a:avLst/>
          </a:prstGeom>
          <a:noFill/>
        </p:spPr>
        <p:txBody>
          <a:bodyPr wrap="square" lIns="0" tIns="0" rIns="0" bIns="0" anchor="t">
            <a:spAutoFit/>
          </a:bodyPr>
          <a:lstStyle/>
          <a:p>
            <a:pPr algn="l"/>
            <a:r>
              <a:rPr sz="1500" b="0" i="0">
                <a:solidFill>
                  <a:srgbClr val="333F50"/>
                </a:solidFill>
                <a:latin typeface="Calibri"/>
              </a:rPr>
              <a:t>Look at the root–NULL path that goes LEFT from the root. How many black nodes does it contain?</a:t>
            </a:r>
          </a:p>
        </p:txBody>
      </p:sp>
      <p:sp>
        <p:nvSpPr>
          <p:cNvPr id="18" name="TextBox 17"/>
          <p:cNvSpPr txBox="1"/>
          <p:nvPr/>
        </p:nvSpPr>
        <p:spPr>
          <a:xfrm>
            <a:off x="5029200" y="3657600"/>
            <a:ext cx="6400800" cy="274320"/>
          </a:xfrm>
          <a:prstGeom prst="rect">
            <a:avLst/>
          </a:prstGeom>
          <a:noFill/>
        </p:spPr>
        <p:txBody>
          <a:bodyPr wrap="square" lIns="0" tIns="0" rIns="0" bIns="0" anchor="t">
            <a:spAutoFit/>
          </a:bodyPr>
          <a:lstStyle/>
          <a:p>
            <a:pPr algn="l"/>
            <a:r>
              <a:rPr sz="1100" b="1" i="0">
                <a:solidFill>
                  <a:srgbClr val="4472C4"/>
                </a:solidFill>
                <a:latin typeface="Calibri"/>
              </a:rPr>
              <a:t>ANSWER</a:t>
            </a:r>
          </a:p>
        </p:txBody>
      </p:sp>
      <p:grpSp>
        <p:nvGrpSpPr>
          <p:cNvPr id="23" name="Group 22">
            <a:extLst>
              <a:ext uri="{FF2B5EF4-FFF2-40B4-BE49-F238E27FC236}">
                <a16:creationId xmlns:a16="http://schemas.microsoft.com/office/drawing/2014/main" id="{8B6E1703-6EBA-FB17-A0BD-E6410D8E49B5}"/>
              </a:ext>
            </a:extLst>
          </p:cNvPr>
          <p:cNvGrpSpPr/>
          <p:nvPr/>
        </p:nvGrpSpPr>
        <p:grpSpPr>
          <a:xfrm>
            <a:off x="4754880" y="3474720"/>
            <a:ext cx="6885432" cy="2331720"/>
            <a:chOff x="4754880" y="3474720"/>
            <a:chExt cx="6885432" cy="2331720"/>
          </a:xfrm>
        </p:grpSpPr>
        <p:sp>
          <p:nvSpPr>
            <p:cNvPr id="17" name="Rounded Rectangle 16"/>
            <p:cNvSpPr/>
            <p:nvPr/>
          </p:nvSpPr>
          <p:spPr>
            <a:xfrm>
              <a:off x="4754880" y="3474720"/>
              <a:ext cx="6885432" cy="2331720"/>
            </a:xfrm>
            <a:prstGeom prst="roundRect">
              <a:avLst>
                <a:gd name="adj" fmla="val 5000"/>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029200" y="3977639"/>
              <a:ext cx="6400800" cy="411480"/>
            </a:xfrm>
            <a:prstGeom prst="rect">
              <a:avLst/>
            </a:prstGeom>
            <a:noFill/>
          </p:spPr>
          <p:txBody>
            <a:bodyPr wrap="square" lIns="0" tIns="0" rIns="0" bIns="0" anchor="t">
              <a:spAutoFit/>
            </a:bodyPr>
            <a:lstStyle/>
            <a:p>
              <a:pPr algn="l"/>
              <a:r>
                <a:rPr sz="1800" b="1" i="0">
                  <a:solidFill>
                    <a:srgbClr val="333F50"/>
                  </a:solidFill>
                  <a:latin typeface="Calibri"/>
                </a:rPr>
                <a:t>No.</a:t>
              </a:r>
            </a:p>
          </p:txBody>
        </p:sp>
        <p:sp>
          <p:nvSpPr>
            <p:cNvPr id="20" name="TextBox 19"/>
            <p:cNvSpPr txBox="1"/>
            <p:nvPr/>
          </p:nvSpPr>
          <p:spPr>
            <a:xfrm>
              <a:off x="5029200" y="4389120"/>
              <a:ext cx="6400800" cy="1325880"/>
            </a:xfrm>
            <a:prstGeom prst="rect">
              <a:avLst/>
            </a:prstGeom>
            <a:noFill/>
          </p:spPr>
          <p:txBody>
            <a:bodyPr wrap="square" lIns="0" tIns="0" rIns="0" bIns="0" anchor="t">
              <a:spAutoFit/>
            </a:bodyPr>
            <a:lstStyle/>
            <a:p>
              <a:pPr algn="l"/>
              <a:r>
                <a:rPr sz="1400" b="0" i="0">
                  <a:solidFill>
                    <a:srgbClr val="333F50"/>
                  </a:solidFill>
                  <a:latin typeface="Calibri"/>
                </a:rPr>
                <a:t>Root → left NULL has exactly one black node (the root 2). So 2 → 5 → 7 → NULL may contain only one black node too, forcing 5 and 7 to be red: two reds in a row.</a:t>
              </a:r>
            </a:p>
          </p:txBody>
        </p:sp>
      </p:grpSp>
      <p:sp>
        <p:nvSpPr>
          <p:cNvPr id="21" name="TextBox 20"/>
          <p:cNvSpPr txBox="1"/>
          <p:nvPr/>
        </p:nvSpPr>
        <p:spPr>
          <a:xfrm>
            <a:off x="548640" y="6501384"/>
            <a:ext cx="9326880" cy="138499"/>
          </a:xfrm>
          <a:prstGeom prst="rect">
            <a:avLst/>
          </a:prstGeom>
          <a:noFill/>
        </p:spPr>
        <p:txBody>
          <a:bodyPr wrap="square" lIns="0" tIns="0" rIns="0" bIns="0" anchor="t">
            <a:spAutoFit/>
          </a:bodyPr>
          <a:lstStyle/>
          <a:p>
            <a:pPr algn="l"/>
            <a:r>
              <a:rPr lang="en-US" sz="900" b="0" i="0">
                <a:solidFill>
                  <a:srgbClr val="595959"/>
                </a:solidFill>
                <a:latin typeface="Calibri"/>
              </a:rPr>
              <a:t>CS 383 </a:t>
            </a:r>
            <a:r>
              <a:rPr sz="900" b="0" i="0">
                <a:solidFill>
                  <a:srgbClr val="595959"/>
                </a:solidFill>
                <a:latin typeface="Calibri"/>
              </a:rPr>
              <a:t>Algorithm Design </a:t>
            </a:r>
            <a:r>
              <a:rPr lang="en-US" sz="900" b="0" i="0">
                <a:solidFill>
                  <a:srgbClr val="595959"/>
                </a:solidFill>
                <a:latin typeface="Calibri"/>
              </a:rPr>
              <a:t>and Analysis </a:t>
            </a:r>
            <a:r>
              <a:rPr sz="900" b="0" i="0">
                <a:solidFill>
                  <a:srgbClr val="595959"/>
                </a:solidFill>
                <a:latin typeface="Calibri"/>
              </a:rPr>
              <a:t> ·  </a:t>
            </a:r>
            <a:r>
              <a:rPr lang="en-US" sz="900" b="0" i="0">
                <a:solidFill>
                  <a:srgbClr val="595959"/>
                </a:solidFill>
                <a:latin typeface="Calibri"/>
              </a:rPr>
              <a:t>Balanced Binary Search </a:t>
            </a:r>
            <a:r>
              <a:rPr sz="900" b="0" i="0">
                <a:solidFill>
                  <a:srgbClr val="595959"/>
                </a:solidFill>
                <a:latin typeface="Calibri"/>
              </a:rPr>
              <a:t>Trees  ·  </a:t>
            </a:r>
            <a:r>
              <a:rPr lang="en-US" sz="900" b="0" i="0">
                <a:solidFill>
                  <a:srgbClr val="595959"/>
                </a:solidFill>
                <a:latin typeface="Calibri"/>
              </a:rPr>
              <a:t>Tanwistha Saha</a:t>
            </a:r>
            <a:endParaRPr sz="900" b="0" i="0">
              <a:solidFill>
                <a:srgbClr val="595959"/>
              </a:solidFill>
              <a:latin typeface="Calibri"/>
            </a:endParaRPr>
          </a:p>
        </p:txBody>
      </p:sp>
      <p:sp>
        <p:nvSpPr>
          <p:cNvPr id="22" name="TextBox 21"/>
          <p:cNvSpPr txBox="1"/>
          <p:nvPr/>
        </p:nvSpPr>
        <p:spPr>
          <a:xfrm>
            <a:off x="10908792" y="6501384"/>
            <a:ext cx="731520" cy="138499"/>
          </a:xfrm>
          <a:prstGeom prst="rect">
            <a:avLst/>
          </a:prstGeom>
          <a:noFill/>
        </p:spPr>
        <p:txBody>
          <a:bodyPr wrap="square" lIns="0" tIns="0" rIns="0" bIns="0" anchor="t">
            <a:spAutoFit/>
          </a:bodyPr>
          <a:lstStyle/>
          <a:p>
            <a:pPr algn="r"/>
            <a:r>
              <a:rPr lang="en-US" sz="900" b="0" i="0">
                <a:solidFill>
                  <a:srgbClr val="595959"/>
                </a:solidFill>
                <a:latin typeface="Calibri"/>
              </a:rPr>
              <a:t>14</a:t>
            </a:r>
            <a:endParaRPr sz="900" b="0" i="0">
              <a:solidFill>
                <a:srgbClr val="595959"/>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blinds(horizontal)">
                                      <p:cBhvr>
                                        <p:cTn id="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9144000" cy="320040"/>
          </a:xfrm>
          <a:prstGeom prst="rect">
            <a:avLst/>
          </a:prstGeom>
          <a:noFill/>
        </p:spPr>
        <p:txBody>
          <a:bodyPr wrap="square" lIns="0" tIns="0" rIns="0" bIns="0" anchor="t">
            <a:spAutoFit/>
          </a:bodyPr>
          <a:lstStyle/>
          <a:p>
            <a:pPr algn="l"/>
            <a:r>
              <a:rPr sz="1200" b="1" i="0">
                <a:solidFill>
                  <a:srgbClr val="4472C4"/>
                </a:solidFill>
                <a:latin typeface="Calibri"/>
              </a:rPr>
              <a:t>HEIGHT BOUND · STEP 1</a:t>
            </a:r>
          </a:p>
        </p:txBody>
      </p:sp>
      <p:sp>
        <p:nvSpPr>
          <p:cNvPr id="3" name="TextBox 2"/>
          <p:cNvSpPr txBox="1"/>
          <p:nvPr/>
        </p:nvSpPr>
        <p:spPr>
          <a:xfrm>
            <a:off x="548640" y="658368"/>
            <a:ext cx="11064240" cy="430887"/>
          </a:xfrm>
          <a:prstGeom prst="rect">
            <a:avLst/>
          </a:prstGeom>
          <a:noFill/>
        </p:spPr>
        <p:txBody>
          <a:bodyPr wrap="square" lIns="0" tIns="0" rIns="0" bIns="0" anchor="t">
            <a:spAutoFit/>
          </a:bodyPr>
          <a:lstStyle/>
          <a:p>
            <a:pPr algn="l"/>
            <a:r>
              <a:rPr lang="en-US" sz="2800" b="1" i="0">
                <a:solidFill>
                  <a:srgbClr val="333F50"/>
                </a:solidFill>
                <a:latin typeface="Calibri Light"/>
              </a:rPr>
              <a:t>Why three levels need at least seven nodes</a:t>
            </a:r>
            <a:endParaRPr sz="2800" b="1" i="0">
              <a:solidFill>
                <a:srgbClr val="333F50"/>
              </a:solidFill>
              <a:latin typeface="Calibri Light"/>
            </a:endParaRPr>
          </a:p>
        </p:txBody>
      </p:sp>
      <p:sp>
        <p:nvSpPr>
          <p:cNvPr id="4" name="TextBox 3"/>
          <p:cNvSpPr txBox="1"/>
          <p:nvPr/>
        </p:nvSpPr>
        <p:spPr>
          <a:xfrm>
            <a:off x="548640" y="1197864"/>
            <a:ext cx="11064240" cy="215444"/>
          </a:xfrm>
          <a:prstGeom prst="rect">
            <a:avLst/>
          </a:prstGeom>
          <a:noFill/>
        </p:spPr>
        <p:txBody>
          <a:bodyPr wrap="square" lIns="0" tIns="0" rIns="0" bIns="0" anchor="t">
            <a:spAutoFit/>
          </a:bodyPr>
          <a:lstStyle/>
          <a:p>
            <a:pPr algn="l"/>
            <a:r>
              <a:rPr lang="en-US" sz="1400" b="0" i="0">
                <a:solidFill>
                  <a:srgbClr val="595959"/>
                </a:solidFill>
                <a:latin typeface="Calibri"/>
              </a:rPr>
              <a:t>NULL means a missing child. A route stops when it reaches NULL. Count the root, but do not count NULL.</a:t>
            </a:r>
          </a:p>
        </p:txBody>
      </p:sp>
      <p:sp>
        <p:nvSpPr>
          <p:cNvPr id="5" name="Rounded Rectangle 4"/>
          <p:cNvSpPr/>
          <p:nvPr/>
        </p:nvSpPr>
        <p:spPr>
          <a:xfrm>
            <a:off x="548640" y="1874519"/>
            <a:ext cx="6035040" cy="1097280"/>
          </a:xfrm>
          <a:prstGeom prst="roundRect">
            <a:avLst>
              <a:gd name="adj" fmla="val 5000"/>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2199799"/>
            <a:ext cx="5577840" cy="492443"/>
          </a:xfrm>
          <a:prstGeom prst="rect">
            <a:avLst/>
          </a:prstGeom>
          <a:noFill/>
        </p:spPr>
        <p:txBody>
          <a:bodyPr wrap="square" lIns="0" tIns="0" rIns="0" bIns="0" anchor="ctr">
            <a:spAutoFit/>
          </a:bodyPr>
          <a:lstStyle/>
          <a:p>
            <a:pPr algn="l"/>
            <a:r>
              <a:rPr lang="en-US" sz="1600" b="1" i="0">
                <a:solidFill>
                  <a:srgbClr val="333F50"/>
                </a:solidFill>
                <a:latin typeface="Calibri"/>
              </a:rPr>
              <a:t>Example: Every route from the root to NULL must visit at least 3 nodes.</a:t>
            </a:r>
          </a:p>
        </p:txBody>
      </p:sp>
      <p:sp>
        <p:nvSpPr>
          <p:cNvPr id="7" name="Oval 6"/>
          <p:cNvSpPr/>
          <p:nvPr/>
        </p:nvSpPr>
        <p:spPr>
          <a:xfrm>
            <a:off x="548640" y="3246120"/>
            <a:ext cx="502920" cy="502920"/>
          </a:xfrm>
          <a:prstGeom prst="ellipse">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3246120"/>
            <a:ext cx="502920" cy="502920"/>
          </a:xfrm>
          <a:prstGeom prst="rect">
            <a:avLst/>
          </a:prstGeom>
          <a:noFill/>
        </p:spPr>
        <p:txBody>
          <a:bodyPr wrap="square" lIns="0" tIns="0" rIns="0" bIns="0" anchor="ctr">
            <a:spAutoFit/>
          </a:bodyPr>
          <a:lstStyle/>
          <a:p>
            <a:pPr algn="ctr"/>
            <a:r>
              <a:rPr sz="2000" b="1" i="0">
                <a:solidFill>
                  <a:srgbClr val="333F50"/>
                </a:solidFill>
                <a:latin typeface="Calibri"/>
              </a:rPr>
              <a:t>1</a:t>
            </a:r>
          </a:p>
        </p:txBody>
      </p:sp>
      <p:sp>
        <p:nvSpPr>
          <p:cNvPr id="9" name="TextBox 8"/>
          <p:cNvSpPr txBox="1"/>
          <p:nvPr/>
        </p:nvSpPr>
        <p:spPr>
          <a:xfrm>
            <a:off x="1280160" y="3200400"/>
            <a:ext cx="5303520" cy="246221"/>
          </a:xfrm>
          <a:prstGeom prst="rect">
            <a:avLst/>
          </a:prstGeom>
          <a:noFill/>
        </p:spPr>
        <p:txBody>
          <a:bodyPr wrap="square" lIns="0" tIns="0" rIns="0" bIns="0" anchor="t">
            <a:spAutoFit/>
          </a:bodyPr>
          <a:lstStyle/>
          <a:p>
            <a:pPr algn="l"/>
            <a:r>
              <a:rPr lang="en-US" sz="1600" b="1" i="0">
                <a:solidFill>
                  <a:srgbClr val="333F50"/>
                </a:solidFill>
                <a:latin typeface="Calibri"/>
              </a:rPr>
              <a:t>The root must have both children</a:t>
            </a:r>
            <a:endParaRPr sz="1600" b="1" i="0">
              <a:solidFill>
                <a:srgbClr val="333F50"/>
              </a:solidFill>
              <a:latin typeface="Calibri"/>
            </a:endParaRPr>
          </a:p>
        </p:txBody>
      </p:sp>
      <p:sp>
        <p:nvSpPr>
          <p:cNvPr id="10" name="TextBox 9"/>
          <p:cNvSpPr txBox="1"/>
          <p:nvPr/>
        </p:nvSpPr>
        <p:spPr>
          <a:xfrm>
            <a:off x="1280160" y="3611879"/>
            <a:ext cx="5303520" cy="430887"/>
          </a:xfrm>
          <a:prstGeom prst="rect">
            <a:avLst/>
          </a:prstGeom>
          <a:noFill/>
        </p:spPr>
        <p:txBody>
          <a:bodyPr wrap="square" lIns="0" tIns="0" rIns="0" bIns="0" anchor="t">
            <a:spAutoFit/>
          </a:bodyPr>
          <a:lstStyle/>
          <a:p>
            <a:pPr algn="l"/>
            <a:r>
              <a:rPr lang="en-US" sz="1400" b="0" i="0">
                <a:solidFill>
                  <a:srgbClr val="595959"/>
                </a:solidFill>
                <a:latin typeface="Calibri"/>
              </a:rPr>
              <a:t>If one child were missing, that route would stop after just 1 node: the root. So we need 2 children.</a:t>
            </a:r>
          </a:p>
        </p:txBody>
      </p:sp>
      <p:sp>
        <p:nvSpPr>
          <p:cNvPr id="11" name="Oval 10"/>
          <p:cNvSpPr/>
          <p:nvPr/>
        </p:nvSpPr>
        <p:spPr>
          <a:xfrm>
            <a:off x="548640" y="4480560"/>
            <a:ext cx="502920" cy="502920"/>
          </a:xfrm>
          <a:prstGeom prst="ellipse">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48640" y="4480560"/>
            <a:ext cx="502920" cy="502920"/>
          </a:xfrm>
          <a:prstGeom prst="rect">
            <a:avLst/>
          </a:prstGeom>
          <a:noFill/>
        </p:spPr>
        <p:txBody>
          <a:bodyPr wrap="square" lIns="0" tIns="0" rIns="0" bIns="0" anchor="ctr">
            <a:spAutoFit/>
          </a:bodyPr>
          <a:lstStyle/>
          <a:p>
            <a:pPr algn="ctr"/>
            <a:r>
              <a:rPr sz="2000" b="1" i="0">
                <a:solidFill>
                  <a:srgbClr val="333F50"/>
                </a:solidFill>
                <a:latin typeface="Calibri"/>
              </a:rPr>
              <a:t>2</a:t>
            </a:r>
          </a:p>
        </p:txBody>
      </p:sp>
      <p:sp>
        <p:nvSpPr>
          <p:cNvPr id="13" name="TextBox 12"/>
          <p:cNvSpPr txBox="1"/>
          <p:nvPr/>
        </p:nvSpPr>
        <p:spPr>
          <a:xfrm>
            <a:off x="1280160" y="4434840"/>
            <a:ext cx="5303520" cy="246221"/>
          </a:xfrm>
          <a:prstGeom prst="rect">
            <a:avLst/>
          </a:prstGeom>
          <a:noFill/>
        </p:spPr>
        <p:txBody>
          <a:bodyPr wrap="square" lIns="0" tIns="0" rIns="0" bIns="0" anchor="t">
            <a:spAutoFit/>
          </a:bodyPr>
          <a:lstStyle/>
          <a:p>
            <a:pPr algn="l"/>
            <a:r>
              <a:rPr lang="en-US" sz="1600" b="1" i="0">
                <a:solidFill>
                  <a:srgbClr val="333F50"/>
                </a:solidFill>
                <a:latin typeface="Calibri"/>
              </a:rPr>
              <a:t>Each child must have both children</a:t>
            </a:r>
            <a:endParaRPr sz="1600" b="1" i="0">
              <a:solidFill>
                <a:srgbClr val="333F50"/>
              </a:solidFill>
              <a:latin typeface="Calibri"/>
            </a:endParaRPr>
          </a:p>
        </p:txBody>
      </p:sp>
      <p:sp>
        <p:nvSpPr>
          <p:cNvPr id="14" name="TextBox 13"/>
          <p:cNvSpPr txBox="1"/>
          <p:nvPr/>
        </p:nvSpPr>
        <p:spPr>
          <a:xfrm>
            <a:off x="1280160" y="4846320"/>
            <a:ext cx="5303520" cy="646331"/>
          </a:xfrm>
          <a:prstGeom prst="rect">
            <a:avLst/>
          </a:prstGeom>
          <a:noFill/>
        </p:spPr>
        <p:txBody>
          <a:bodyPr wrap="square" lIns="0" tIns="0" rIns="0" bIns="0" anchor="t">
            <a:spAutoFit/>
          </a:bodyPr>
          <a:lstStyle/>
          <a:p>
            <a:pPr algn="l"/>
            <a:r>
              <a:rPr lang="en-US" sz="1400" b="0" i="0">
                <a:solidFill>
                  <a:srgbClr val="595959"/>
                </a:solidFill>
                <a:latin typeface="Calibri"/>
              </a:rPr>
              <a:t>A missing grandchild would let us stop after only 2 nodes. So we need 4 grandchildren.
Total: 1 root + 2 children + 4 grandchildren = 7.</a:t>
            </a:r>
          </a:p>
        </p:txBody>
      </p:sp>
      <p:sp>
        <p:nvSpPr>
          <p:cNvPr id="15" name="Rounded Rectangle 14"/>
          <p:cNvSpPr/>
          <p:nvPr/>
        </p:nvSpPr>
        <p:spPr>
          <a:xfrm>
            <a:off x="6858000" y="1874519"/>
            <a:ext cx="4782312" cy="4023360"/>
          </a:xfrm>
          <a:prstGeom prst="roundRect">
            <a:avLst>
              <a:gd name="adj" fmla="val 5000"/>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132320" y="2057400"/>
            <a:ext cx="4297680" cy="169277"/>
          </a:xfrm>
          <a:prstGeom prst="rect">
            <a:avLst/>
          </a:prstGeom>
          <a:noFill/>
        </p:spPr>
        <p:txBody>
          <a:bodyPr wrap="square" lIns="0" tIns="0" rIns="0" bIns="0" anchor="t">
            <a:spAutoFit/>
          </a:bodyPr>
          <a:lstStyle/>
          <a:p>
            <a:pPr algn="l"/>
            <a:r>
              <a:rPr lang="en-US" sz="1100" b="1" i="0">
                <a:solidFill>
                  <a:srgbClr val="4472C4"/>
                </a:solidFill>
                <a:latin typeface="Calibri"/>
              </a:rPr>
              <a:t>THE SMALLEST TREE THAT WORKS</a:t>
            </a:r>
            <a:endParaRPr sz="1100" b="1" i="0">
              <a:solidFill>
                <a:srgbClr val="4472C4"/>
              </a:solidFill>
              <a:latin typeface="Calibri"/>
            </a:endParaRPr>
          </a:p>
        </p:txBody>
      </p:sp>
      <p:cxnSp>
        <p:nvCxnSpPr>
          <p:cNvPr id="17" name="Connector 16"/>
          <p:cNvCxnSpPr/>
          <p:nvPr/>
        </p:nvCxnSpPr>
        <p:spPr>
          <a:xfrm flipH="1">
            <a:off x="7909560" y="2697480"/>
            <a:ext cx="914400" cy="82296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8823960" y="2697480"/>
            <a:ext cx="914400" cy="82296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7452360" y="3520440"/>
            <a:ext cx="457200" cy="82296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7909560" y="3520440"/>
            <a:ext cx="457200" cy="82296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9281160" y="3520440"/>
            <a:ext cx="457200" cy="82296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9738360" y="3520440"/>
            <a:ext cx="457200" cy="82296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8622792" y="2496312"/>
            <a:ext cx="402336" cy="402336"/>
          </a:xfrm>
          <a:prstGeom prst="ellipse">
            <a:avLst/>
          </a:prstGeom>
          <a:solidFill>
            <a:srgbClr val="D6DCE4"/>
          </a:solidFill>
          <a:ln w="22225">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622792" y="2496312"/>
            <a:ext cx="402336" cy="402336"/>
          </a:xfrm>
          <a:prstGeom prst="rect">
            <a:avLst/>
          </a:prstGeom>
          <a:noFill/>
        </p:spPr>
        <p:txBody>
          <a:bodyPr wrap="square" lIns="0" tIns="0" rIns="0" bIns="0" anchor="ctr">
            <a:spAutoFit/>
          </a:bodyPr>
          <a:lstStyle/>
          <a:p>
            <a:pPr algn="ctr"/>
            <a:endParaRPr/>
          </a:p>
        </p:txBody>
      </p:sp>
      <p:sp>
        <p:nvSpPr>
          <p:cNvPr id="27" name="Oval 26"/>
          <p:cNvSpPr/>
          <p:nvPr/>
        </p:nvSpPr>
        <p:spPr>
          <a:xfrm>
            <a:off x="7708392" y="3319272"/>
            <a:ext cx="402336" cy="402336"/>
          </a:xfrm>
          <a:prstGeom prst="ellipse">
            <a:avLst/>
          </a:prstGeom>
          <a:solidFill>
            <a:srgbClr val="D6DCE4"/>
          </a:solidFill>
          <a:ln w="22225">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708392" y="3319272"/>
            <a:ext cx="402336" cy="402336"/>
          </a:xfrm>
          <a:prstGeom prst="rect">
            <a:avLst/>
          </a:prstGeom>
          <a:noFill/>
        </p:spPr>
        <p:txBody>
          <a:bodyPr wrap="square" lIns="0" tIns="0" rIns="0" bIns="0" anchor="ctr">
            <a:spAutoFit/>
          </a:bodyPr>
          <a:lstStyle/>
          <a:p>
            <a:pPr algn="ctr"/>
            <a:endParaRPr/>
          </a:p>
        </p:txBody>
      </p:sp>
      <p:sp>
        <p:nvSpPr>
          <p:cNvPr id="29" name="Oval 28"/>
          <p:cNvSpPr/>
          <p:nvPr/>
        </p:nvSpPr>
        <p:spPr>
          <a:xfrm>
            <a:off x="9537192" y="3319272"/>
            <a:ext cx="402336" cy="402336"/>
          </a:xfrm>
          <a:prstGeom prst="ellipse">
            <a:avLst/>
          </a:prstGeom>
          <a:solidFill>
            <a:srgbClr val="D6DCE4"/>
          </a:solidFill>
          <a:ln w="22225">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537192" y="3319272"/>
            <a:ext cx="402336" cy="402336"/>
          </a:xfrm>
          <a:prstGeom prst="rect">
            <a:avLst/>
          </a:prstGeom>
          <a:noFill/>
        </p:spPr>
        <p:txBody>
          <a:bodyPr wrap="square" lIns="0" tIns="0" rIns="0" bIns="0" anchor="ctr">
            <a:spAutoFit/>
          </a:bodyPr>
          <a:lstStyle/>
          <a:p>
            <a:pPr algn="ctr"/>
            <a:endParaRPr/>
          </a:p>
        </p:txBody>
      </p:sp>
      <p:sp>
        <p:nvSpPr>
          <p:cNvPr id="31" name="Oval 30"/>
          <p:cNvSpPr/>
          <p:nvPr/>
        </p:nvSpPr>
        <p:spPr>
          <a:xfrm>
            <a:off x="7251192" y="4142232"/>
            <a:ext cx="402336" cy="402336"/>
          </a:xfrm>
          <a:prstGeom prst="ellipse">
            <a:avLst/>
          </a:prstGeom>
          <a:solidFill>
            <a:srgbClr val="D6DCE4"/>
          </a:solidFill>
          <a:ln w="22225">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251192" y="4142232"/>
            <a:ext cx="402336" cy="402336"/>
          </a:xfrm>
          <a:prstGeom prst="rect">
            <a:avLst/>
          </a:prstGeom>
          <a:noFill/>
        </p:spPr>
        <p:txBody>
          <a:bodyPr wrap="square" lIns="0" tIns="0" rIns="0" bIns="0" anchor="ctr">
            <a:spAutoFit/>
          </a:bodyPr>
          <a:lstStyle/>
          <a:p>
            <a:pPr algn="ctr"/>
            <a:endParaRPr/>
          </a:p>
        </p:txBody>
      </p:sp>
      <p:sp>
        <p:nvSpPr>
          <p:cNvPr id="33" name="Oval 32"/>
          <p:cNvSpPr/>
          <p:nvPr/>
        </p:nvSpPr>
        <p:spPr>
          <a:xfrm>
            <a:off x="8165592" y="4142232"/>
            <a:ext cx="402336" cy="402336"/>
          </a:xfrm>
          <a:prstGeom prst="ellipse">
            <a:avLst/>
          </a:prstGeom>
          <a:solidFill>
            <a:srgbClr val="D6DCE4"/>
          </a:solidFill>
          <a:ln w="22225">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165592" y="4142232"/>
            <a:ext cx="402336" cy="402336"/>
          </a:xfrm>
          <a:prstGeom prst="rect">
            <a:avLst/>
          </a:prstGeom>
          <a:noFill/>
        </p:spPr>
        <p:txBody>
          <a:bodyPr wrap="square" lIns="0" tIns="0" rIns="0" bIns="0" anchor="ctr">
            <a:spAutoFit/>
          </a:bodyPr>
          <a:lstStyle/>
          <a:p>
            <a:pPr algn="ctr"/>
            <a:endParaRPr/>
          </a:p>
        </p:txBody>
      </p:sp>
      <p:sp>
        <p:nvSpPr>
          <p:cNvPr id="35" name="Oval 34"/>
          <p:cNvSpPr/>
          <p:nvPr/>
        </p:nvSpPr>
        <p:spPr>
          <a:xfrm>
            <a:off x="9079992" y="4142232"/>
            <a:ext cx="402336" cy="402336"/>
          </a:xfrm>
          <a:prstGeom prst="ellipse">
            <a:avLst/>
          </a:prstGeom>
          <a:solidFill>
            <a:srgbClr val="D6DCE4"/>
          </a:solidFill>
          <a:ln w="22225">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9079992" y="4142232"/>
            <a:ext cx="402336" cy="402336"/>
          </a:xfrm>
          <a:prstGeom prst="rect">
            <a:avLst/>
          </a:prstGeom>
          <a:noFill/>
        </p:spPr>
        <p:txBody>
          <a:bodyPr wrap="square" lIns="0" tIns="0" rIns="0" bIns="0" anchor="ctr">
            <a:spAutoFit/>
          </a:bodyPr>
          <a:lstStyle/>
          <a:p>
            <a:pPr algn="ctr"/>
            <a:endParaRPr/>
          </a:p>
        </p:txBody>
      </p:sp>
      <p:sp>
        <p:nvSpPr>
          <p:cNvPr id="37" name="Oval 36"/>
          <p:cNvSpPr/>
          <p:nvPr/>
        </p:nvSpPr>
        <p:spPr>
          <a:xfrm>
            <a:off x="9994392" y="4142232"/>
            <a:ext cx="402336" cy="402336"/>
          </a:xfrm>
          <a:prstGeom prst="ellipse">
            <a:avLst/>
          </a:prstGeom>
          <a:solidFill>
            <a:srgbClr val="D6DCE4"/>
          </a:solidFill>
          <a:ln w="22225">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994392" y="4142232"/>
            <a:ext cx="402336" cy="402336"/>
          </a:xfrm>
          <a:prstGeom prst="rect">
            <a:avLst/>
          </a:prstGeom>
          <a:noFill/>
        </p:spPr>
        <p:txBody>
          <a:bodyPr wrap="square" lIns="0" tIns="0" rIns="0" bIns="0" anchor="ctr">
            <a:spAutoFit/>
          </a:bodyPr>
          <a:lstStyle/>
          <a:p>
            <a:pPr algn="ctr"/>
            <a:endParaRPr/>
          </a:p>
        </p:txBody>
      </p:sp>
      <p:sp>
        <p:nvSpPr>
          <p:cNvPr id="43" name="TextBox 42"/>
          <p:cNvSpPr txBox="1"/>
          <p:nvPr/>
        </p:nvSpPr>
        <p:spPr>
          <a:xfrm>
            <a:off x="10652760" y="2560320"/>
            <a:ext cx="914400" cy="169277"/>
          </a:xfrm>
          <a:prstGeom prst="rect">
            <a:avLst/>
          </a:prstGeom>
          <a:noFill/>
        </p:spPr>
        <p:txBody>
          <a:bodyPr wrap="square" lIns="0" tIns="0" rIns="0" bIns="0" anchor="t">
            <a:spAutoFit/>
          </a:bodyPr>
          <a:lstStyle/>
          <a:p>
            <a:pPr algn="l"/>
            <a:r>
              <a:rPr sz="1100" b="1" i="0">
                <a:solidFill>
                  <a:srgbClr val="4472C4"/>
                </a:solidFill>
                <a:latin typeface="Calibri"/>
              </a:rPr>
              <a:t>1</a:t>
            </a:r>
            <a:r>
              <a:rPr lang="en-US" sz="1100" b="1" i="0">
                <a:solidFill>
                  <a:srgbClr val="4472C4"/>
                </a:solidFill>
                <a:latin typeface="Calibri"/>
              </a:rPr>
              <a:t> root</a:t>
            </a:r>
            <a:endParaRPr sz="1100" b="1" i="0">
              <a:solidFill>
                <a:srgbClr val="4472C4"/>
              </a:solidFill>
              <a:latin typeface="Calibri"/>
            </a:endParaRPr>
          </a:p>
        </p:txBody>
      </p:sp>
      <p:sp>
        <p:nvSpPr>
          <p:cNvPr id="44" name="TextBox 43"/>
          <p:cNvSpPr txBox="1"/>
          <p:nvPr/>
        </p:nvSpPr>
        <p:spPr>
          <a:xfrm>
            <a:off x="10652760" y="3383279"/>
            <a:ext cx="914400" cy="169277"/>
          </a:xfrm>
          <a:prstGeom prst="rect">
            <a:avLst/>
          </a:prstGeom>
          <a:noFill/>
        </p:spPr>
        <p:txBody>
          <a:bodyPr wrap="square" lIns="0" tIns="0" rIns="0" bIns="0" anchor="t">
            <a:spAutoFit/>
          </a:bodyPr>
          <a:lstStyle/>
          <a:p>
            <a:pPr algn="l"/>
            <a:r>
              <a:rPr sz="1100" b="1" i="0">
                <a:solidFill>
                  <a:srgbClr val="4472C4"/>
                </a:solidFill>
                <a:latin typeface="Calibri"/>
              </a:rPr>
              <a:t>2</a:t>
            </a:r>
            <a:r>
              <a:rPr lang="en-US" sz="1100" b="1" i="0">
                <a:solidFill>
                  <a:srgbClr val="4472C4"/>
                </a:solidFill>
                <a:latin typeface="Calibri"/>
              </a:rPr>
              <a:t> children</a:t>
            </a:r>
            <a:endParaRPr sz="1100" b="1" i="0">
              <a:solidFill>
                <a:srgbClr val="4472C4"/>
              </a:solidFill>
              <a:latin typeface="Calibri"/>
            </a:endParaRPr>
          </a:p>
        </p:txBody>
      </p:sp>
      <p:sp>
        <p:nvSpPr>
          <p:cNvPr id="45" name="TextBox 44"/>
          <p:cNvSpPr txBox="1"/>
          <p:nvPr/>
        </p:nvSpPr>
        <p:spPr>
          <a:xfrm>
            <a:off x="10652760" y="4206240"/>
            <a:ext cx="914400" cy="169277"/>
          </a:xfrm>
          <a:prstGeom prst="rect">
            <a:avLst/>
          </a:prstGeom>
          <a:noFill/>
        </p:spPr>
        <p:txBody>
          <a:bodyPr wrap="square" lIns="0" tIns="0" rIns="0" bIns="0" anchor="t">
            <a:spAutoFit/>
          </a:bodyPr>
          <a:lstStyle/>
          <a:p>
            <a:pPr algn="l"/>
            <a:r>
              <a:rPr sz="1100" b="1" i="0">
                <a:solidFill>
                  <a:srgbClr val="4472C4"/>
                </a:solidFill>
                <a:latin typeface="Calibri"/>
              </a:rPr>
              <a:t>4</a:t>
            </a:r>
            <a:r>
              <a:rPr lang="en-US" sz="1100" b="1" i="0">
                <a:solidFill>
                  <a:srgbClr val="4472C4"/>
                </a:solidFill>
                <a:latin typeface="Calibri"/>
              </a:rPr>
              <a:t> below</a:t>
            </a:r>
            <a:endParaRPr sz="1100" b="1" i="0">
              <a:solidFill>
                <a:srgbClr val="4472C4"/>
              </a:solidFill>
              <a:latin typeface="Calibri"/>
            </a:endParaRPr>
          </a:p>
        </p:txBody>
      </p:sp>
      <p:sp>
        <p:nvSpPr>
          <p:cNvPr id="46" name="TextBox 45"/>
          <p:cNvSpPr txBox="1"/>
          <p:nvPr/>
        </p:nvSpPr>
        <p:spPr>
          <a:xfrm>
            <a:off x="7132320" y="5029200"/>
            <a:ext cx="4297680" cy="169277"/>
          </a:xfrm>
          <a:prstGeom prst="rect">
            <a:avLst/>
          </a:prstGeom>
          <a:noFill/>
        </p:spPr>
        <p:txBody>
          <a:bodyPr wrap="square" lIns="0" tIns="0" rIns="0" bIns="0" anchor="t">
            <a:spAutoFit/>
          </a:bodyPr>
          <a:lstStyle/>
          <a:p>
            <a:pPr algn="l"/>
            <a:r>
              <a:rPr lang="en-US" sz="1100" b="0" i="0">
                <a:solidFill>
                  <a:srgbClr val="595959"/>
                </a:solidFill>
                <a:latin typeface="Calibri"/>
              </a:rPr>
              <a:t>1 + 2 + 4 = 7 nodes. Extra nodes are allowed.</a:t>
            </a:r>
            <a:endParaRPr sz="1100" b="0" i="0">
              <a:solidFill>
                <a:srgbClr val="595959"/>
              </a:solidFill>
              <a:latin typeface="Calibri"/>
            </a:endParaRPr>
          </a:p>
        </p:txBody>
      </p:sp>
      <p:sp>
        <p:nvSpPr>
          <p:cNvPr id="47" name="TextBox 46"/>
          <p:cNvSpPr txBox="1"/>
          <p:nvPr/>
        </p:nvSpPr>
        <p:spPr>
          <a:xfrm>
            <a:off x="548640" y="6501384"/>
            <a:ext cx="9326880" cy="138499"/>
          </a:xfrm>
          <a:prstGeom prst="rect">
            <a:avLst/>
          </a:prstGeom>
          <a:noFill/>
        </p:spPr>
        <p:txBody>
          <a:bodyPr wrap="square" lIns="0" tIns="0" rIns="0" bIns="0" anchor="t">
            <a:spAutoFit/>
          </a:bodyPr>
          <a:lstStyle/>
          <a:p>
            <a:pPr algn="l"/>
            <a:r>
              <a:rPr lang="en-US" sz="900" b="0" i="0">
                <a:solidFill>
                  <a:srgbClr val="595959"/>
                </a:solidFill>
                <a:latin typeface="Calibri"/>
              </a:rPr>
              <a:t>CS 383 </a:t>
            </a:r>
            <a:r>
              <a:rPr sz="900" b="0" i="0">
                <a:solidFill>
                  <a:srgbClr val="595959"/>
                </a:solidFill>
                <a:latin typeface="Calibri"/>
              </a:rPr>
              <a:t>Algorithm Design </a:t>
            </a:r>
            <a:r>
              <a:rPr lang="en-US" sz="900" b="0" i="0">
                <a:solidFill>
                  <a:srgbClr val="595959"/>
                </a:solidFill>
                <a:latin typeface="Calibri"/>
              </a:rPr>
              <a:t>and Analysis </a:t>
            </a:r>
            <a:r>
              <a:rPr sz="900" b="0" i="0">
                <a:solidFill>
                  <a:srgbClr val="595959"/>
                </a:solidFill>
                <a:latin typeface="Calibri"/>
              </a:rPr>
              <a:t> ·  </a:t>
            </a:r>
            <a:r>
              <a:rPr lang="en-US" sz="900" b="0" i="0">
                <a:solidFill>
                  <a:srgbClr val="595959"/>
                </a:solidFill>
                <a:latin typeface="Calibri"/>
              </a:rPr>
              <a:t>Balanced Binary Search </a:t>
            </a:r>
            <a:r>
              <a:rPr sz="900" b="0" i="0">
                <a:solidFill>
                  <a:srgbClr val="595959"/>
                </a:solidFill>
                <a:latin typeface="Calibri"/>
              </a:rPr>
              <a:t>Trees  ·  </a:t>
            </a:r>
            <a:r>
              <a:rPr lang="en-US" sz="900" b="0" i="0">
                <a:solidFill>
                  <a:srgbClr val="595959"/>
                </a:solidFill>
                <a:latin typeface="Calibri"/>
              </a:rPr>
              <a:t>Tanwistha Saha</a:t>
            </a:r>
            <a:endParaRPr sz="900" b="0" i="0">
              <a:solidFill>
                <a:srgbClr val="595959"/>
              </a:solidFill>
              <a:latin typeface="Calibri"/>
            </a:endParaRPr>
          </a:p>
        </p:txBody>
      </p:sp>
      <p:sp>
        <p:nvSpPr>
          <p:cNvPr id="48" name="TextBox 47"/>
          <p:cNvSpPr txBox="1"/>
          <p:nvPr/>
        </p:nvSpPr>
        <p:spPr>
          <a:xfrm>
            <a:off x="10908792" y="6501384"/>
            <a:ext cx="731520" cy="138499"/>
          </a:xfrm>
          <a:prstGeom prst="rect">
            <a:avLst/>
          </a:prstGeom>
          <a:noFill/>
        </p:spPr>
        <p:txBody>
          <a:bodyPr wrap="square" lIns="0" tIns="0" rIns="0" bIns="0" anchor="t">
            <a:spAutoFit/>
          </a:bodyPr>
          <a:lstStyle/>
          <a:p>
            <a:pPr algn="r"/>
            <a:r>
              <a:rPr lang="en-US" sz="900" b="0" i="0">
                <a:solidFill>
                  <a:srgbClr val="595959"/>
                </a:solidFill>
                <a:latin typeface="Calibri"/>
              </a:rPr>
              <a:t>15</a:t>
            </a:r>
            <a:endParaRPr sz="900" b="0" i="0">
              <a:solidFill>
                <a:srgbClr val="595959"/>
              </a:solidFill>
              <a:latin typeface="Calibri"/>
            </a:endParaRPr>
          </a:p>
        </p:txBody>
      </p:sp>
      <p:sp>
        <p:nvSpPr>
          <p:cNvPr id="49" name="General counting rule"/>
          <p:cNvSpPr txBox="1"/>
          <p:nvPr/>
        </p:nvSpPr>
        <p:spPr>
          <a:xfrm>
            <a:off x="548640" y="5897880"/>
            <a:ext cx="11064240" cy="430887"/>
          </a:xfrm>
          <a:prstGeom prst="rect">
            <a:avLst/>
          </a:prstGeom>
          <a:noFill/>
        </p:spPr>
        <p:txBody>
          <a:bodyPr wrap="square" lIns="0" tIns="0" rIns="0" bIns="0" anchor="t">
            <a:spAutoFit/>
          </a:bodyPr>
          <a:lstStyle/>
          <a:p>
            <a:pPr algn="l"/>
            <a:r>
              <a:rPr lang="en-US" sz="1400" b="0" i="0" dirty="0">
                <a:solidFill>
                  <a:srgbClr val="595959"/>
                </a:solidFill>
                <a:latin typeface="Calibri"/>
              </a:rPr>
              <a:t>For k nodes (k &gt;=1) on every route, the first k levels must be full. Let n = the total number of nodes in the tree.
n ≥ 1 + 2 + 4 + … + 2ᵏ⁻¹ = 2ᵏ − 1, so k ≤ log₂(n + 1).</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9144000" cy="320040"/>
          </a:xfrm>
          <a:prstGeom prst="rect">
            <a:avLst/>
          </a:prstGeom>
          <a:noFill/>
        </p:spPr>
        <p:txBody>
          <a:bodyPr wrap="square" lIns="0" tIns="0" rIns="0" bIns="0" anchor="t">
            <a:spAutoFit/>
          </a:bodyPr>
          <a:lstStyle/>
          <a:p>
            <a:pPr algn="l"/>
            <a:r>
              <a:rPr sz="1200" b="1" i="0">
                <a:solidFill>
                  <a:srgbClr val="4472C4"/>
                </a:solidFill>
                <a:latin typeface="Calibri"/>
              </a:rPr>
              <a:t>HEIGHT BOUND · STEPS 2–3</a:t>
            </a:r>
          </a:p>
        </p:txBody>
      </p:sp>
      <p:sp>
        <p:nvSpPr>
          <p:cNvPr id="3" name="TextBox 2"/>
          <p:cNvSpPr txBox="1"/>
          <p:nvPr/>
        </p:nvSpPr>
        <p:spPr>
          <a:xfrm>
            <a:off x="548640" y="658368"/>
            <a:ext cx="11064240" cy="640080"/>
          </a:xfrm>
          <a:prstGeom prst="rect">
            <a:avLst/>
          </a:prstGeom>
          <a:noFill/>
        </p:spPr>
        <p:txBody>
          <a:bodyPr wrap="square" lIns="0" tIns="0" rIns="0" bIns="0" anchor="t">
            <a:spAutoFit/>
          </a:bodyPr>
          <a:lstStyle/>
          <a:p>
            <a:pPr algn="l"/>
            <a:r>
              <a:rPr sz="2800" b="1" i="0">
                <a:solidFill>
                  <a:srgbClr val="333F50"/>
                </a:solidFill>
                <a:latin typeface="Calibri Light"/>
              </a:rPr>
              <a:t>Theorem: a red-black tree has height ≤ 2 log₂(n + 1)</a:t>
            </a:r>
          </a:p>
        </p:txBody>
      </p:sp>
      <p:sp>
        <p:nvSpPr>
          <p:cNvPr id="4" name="TextBox 3"/>
          <p:cNvSpPr txBox="1"/>
          <p:nvPr/>
        </p:nvSpPr>
        <p:spPr>
          <a:xfrm>
            <a:off x="548640" y="1197864"/>
            <a:ext cx="11064240" cy="502920"/>
          </a:xfrm>
          <a:prstGeom prst="rect">
            <a:avLst/>
          </a:prstGeom>
          <a:noFill/>
        </p:spPr>
        <p:txBody>
          <a:bodyPr wrap="square" lIns="0" tIns="0" rIns="0" bIns="0" anchor="t">
            <a:spAutoFit/>
          </a:bodyPr>
          <a:lstStyle/>
          <a:p>
            <a:pPr algn="l"/>
            <a:r>
              <a:rPr sz="1400" b="0" i="0">
                <a:solidFill>
                  <a:srgbClr val="595959"/>
                </a:solidFill>
                <a:latin typeface="Calibri"/>
              </a:rPr>
              <a:t>Let k = the black-height: the number of black nodes on every root–NULL path (invariant 4).</a:t>
            </a:r>
          </a:p>
        </p:txBody>
      </p:sp>
      <p:sp>
        <p:nvSpPr>
          <p:cNvPr id="5" name="Rounded Rectangle 4"/>
          <p:cNvSpPr/>
          <p:nvPr/>
        </p:nvSpPr>
        <p:spPr>
          <a:xfrm>
            <a:off x="548640" y="1874519"/>
            <a:ext cx="5422392" cy="2788920"/>
          </a:xfrm>
          <a:prstGeom prst="roundRect">
            <a:avLst>
              <a:gd name="adj" fmla="val 5000"/>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59" y="2057400"/>
            <a:ext cx="4846320" cy="274320"/>
          </a:xfrm>
          <a:prstGeom prst="rect">
            <a:avLst/>
          </a:prstGeom>
          <a:noFill/>
        </p:spPr>
        <p:txBody>
          <a:bodyPr wrap="square" lIns="0" tIns="0" rIns="0" bIns="0" anchor="t">
            <a:spAutoFit/>
          </a:bodyPr>
          <a:lstStyle/>
          <a:p>
            <a:pPr algn="l"/>
            <a:r>
              <a:rPr sz="1100" b="1" i="0">
                <a:solidFill>
                  <a:srgbClr val="4472C4"/>
                </a:solidFill>
                <a:latin typeface="Calibri"/>
              </a:rPr>
              <a:t>STEP 2 · INVARIANT 4</a:t>
            </a:r>
          </a:p>
        </p:txBody>
      </p:sp>
      <p:sp>
        <p:nvSpPr>
          <p:cNvPr id="7" name="TextBox 6"/>
          <p:cNvSpPr txBox="1"/>
          <p:nvPr/>
        </p:nvSpPr>
        <p:spPr>
          <a:xfrm>
            <a:off x="822959" y="2377440"/>
            <a:ext cx="4846320" cy="411480"/>
          </a:xfrm>
          <a:prstGeom prst="rect">
            <a:avLst/>
          </a:prstGeom>
          <a:noFill/>
        </p:spPr>
        <p:txBody>
          <a:bodyPr wrap="square" lIns="0" tIns="0" rIns="0" bIns="0" anchor="t">
            <a:spAutoFit/>
          </a:bodyPr>
          <a:lstStyle/>
          <a:p>
            <a:pPr algn="l"/>
            <a:r>
              <a:rPr sz="1700" b="1" i="0">
                <a:solidFill>
                  <a:srgbClr val="333F50"/>
                </a:solidFill>
                <a:latin typeface="Calibri"/>
              </a:rPr>
              <a:t>Black nodes alone fill k levels</a:t>
            </a:r>
          </a:p>
        </p:txBody>
      </p:sp>
      <p:sp>
        <p:nvSpPr>
          <p:cNvPr id="8" name="TextBox 7"/>
          <p:cNvSpPr txBox="1"/>
          <p:nvPr/>
        </p:nvSpPr>
        <p:spPr>
          <a:xfrm>
            <a:off x="822959" y="2834640"/>
            <a:ext cx="4846320" cy="914400"/>
          </a:xfrm>
          <a:prstGeom prst="rect">
            <a:avLst/>
          </a:prstGeom>
          <a:noFill/>
        </p:spPr>
        <p:txBody>
          <a:bodyPr wrap="square" lIns="0" tIns="0" rIns="0" bIns="0" anchor="t">
            <a:spAutoFit/>
          </a:bodyPr>
          <a:lstStyle/>
          <a:p>
            <a:pPr algn="l"/>
            <a:r>
              <a:rPr sz="1350" b="0" i="0">
                <a:solidFill>
                  <a:srgbClr val="333F50"/>
                </a:solidFill>
                <a:latin typeface="Calibri"/>
              </a:rPr>
              <a:t>Every root–NULL path contains its k black nodes, so it has at least k nodes. By the lemma, n ≥ 2ᵏ − 1, so k ≤ log₂(n + 1).</a:t>
            </a:r>
          </a:p>
        </p:txBody>
      </p:sp>
      <p:sp>
        <p:nvSpPr>
          <p:cNvPr id="9" name="Rounded Rectangle 8"/>
          <p:cNvSpPr/>
          <p:nvPr/>
        </p:nvSpPr>
        <p:spPr>
          <a:xfrm>
            <a:off x="6217920" y="1874519"/>
            <a:ext cx="5422392" cy="2788920"/>
          </a:xfrm>
          <a:prstGeom prst="roundRect">
            <a:avLst>
              <a:gd name="adj" fmla="val 5000"/>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92240" y="2057400"/>
            <a:ext cx="4846320" cy="274320"/>
          </a:xfrm>
          <a:prstGeom prst="rect">
            <a:avLst/>
          </a:prstGeom>
          <a:noFill/>
        </p:spPr>
        <p:txBody>
          <a:bodyPr wrap="square" lIns="0" tIns="0" rIns="0" bIns="0" anchor="t">
            <a:spAutoFit/>
          </a:bodyPr>
          <a:lstStyle/>
          <a:p>
            <a:pPr algn="l"/>
            <a:r>
              <a:rPr sz="1100" b="1" i="0">
                <a:solidFill>
                  <a:srgbClr val="4472C4"/>
                </a:solidFill>
                <a:latin typeface="Calibri"/>
              </a:rPr>
              <a:t>STEP 3 · INVARIANTS 2 &amp; 3</a:t>
            </a:r>
          </a:p>
        </p:txBody>
      </p:sp>
      <p:sp>
        <p:nvSpPr>
          <p:cNvPr id="11" name="TextBox 10"/>
          <p:cNvSpPr txBox="1"/>
          <p:nvPr/>
        </p:nvSpPr>
        <p:spPr>
          <a:xfrm>
            <a:off x="6492240" y="2377440"/>
            <a:ext cx="4846320" cy="411480"/>
          </a:xfrm>
          <a:prstGeom prst="rect">
            <a:avLst/>
          </a:prstGeom>
          <a:noFill/>
        </p:spPr>
        <p:txBody>
          <a:bodyPr wrap="square" lIns="0" tIns="0" rIns="0" bIns="0" anchor="t">
            <a:spAutoFit/>
          </a:bodyPr>
          <a:lstStyle/>
          <a:p>
            <a:pPr algn="l"/>
            <a:r>
              <a:rPr sz="1700" b="1" i="0">
                <a:solidFill>
                  <a:srgbClr val="333F50"/>
                </a:solidFill>
                <a:latin typeface="Calibri"/>
              </a:rPr>
              <a:t>Red nodes at most double a path</a:t>
            </a:r>
          </a:p>
        </p:txBody>
      </p:sp>
      <p:sp>
        <p:nvSpPr>
          <p:cNvPr id="12" name="TextBox 11"/>
          <p:cNvSpPr txBox="1"/>
          <p:nvPr/>
        </p:nvSpPr>
        <p:spPr>
          <a:xfrm>
            <a:off x="6492240" y="2834640"/>
            <a:ext cx="4846320" cy="914400"/>
          </a:xfrm>
          <a:prstGeom prst="rect">
            <a:avLst/>
          </a:prstGeom>
          <a:noFill/>
        </p:spPr>
        <p:txBody>
          <a:bodyPr wrap="square" lIns="0" tIns="0" rIns="0" bIns="0" anchor="t">
            <a:spAutoFit/>
          </a:bodyPr>
          <a:lstStyle/>
          <a:p>
            <a:pPr algn="l"/>
            <a:r>
              <a:rPr sz="1350" b="0" i="0">
                <a:solidFill>
                  <a:srgbClr val="333F50"/>
                </a:solidFill>
                <a:latin typeface="Calibri"/>
              </a:rPr>
              <a:t>The root is black and a red's parent is black, so pair each red with the black just above it: at most k reds, at most 2k nodes.</a:t>
            </a:r>
          </a:p>
        </p:txBody>
      </p:sp>
      <p:cxnSp>
        <p:nvCxnSpPr>
          <p:cNvPr id="13" name="Connector 12"/>
          <p:cNvCxnSpPr/>
          <p:nvPr/>
        </p:nvCxnSpPr>
        <p:spPr>
          <a:xfrm>
            <a:off x="1143000" y="4206240"/>
            <a:ext cx="594360" cy="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737360" y="4206240"/>
            <a:ext cx="594360" cy="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941832" y="4005072"/>
            <a:ext cx="402336" cy="402336"/>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41832" y="4113907"/>
            <a:ext cx="402336" cy="184666"/>
          </a:xfrm>
          <a:prstGeom prst="rect">
            <a:avLst/>
          </a:prstGeom>
          <a:noFill/>
        </p:spPr>
        <p:txBody>
          <a:bodyPr wrap="square" lIns="0" tIns="0" rIns="0" bIns="0" anchor="ctr">
            <a:spAutoFit/>
          </a:bodyPr>
          <a:lstStyle/>
          <a:p>
            <a:pPr algn="ctr"/>
            <a:r>
              <a:rPr lang="en-US" sz="1200" b="1" i="0">
                <a:solidFill>
                  <a:srgbClr val="FFFFFF"/>
                </a:solidFill>
                <a:latin typeface="Calibri"/>
              </a:rPr>
              <a:t>13</a:t>
            </a:r>
            <a:endParaRPr sz="1200" b="1" i="0">
              <a:solidFill>
                <a:srgbClr val="FFFFFF"/>
              </a:solidFill>
              <a:latin typeface="Calibri"/>
            </a:endParaRPr>
          </a:p>
        </p:txBody>
      </p:sp>
      <p:sp>
        <p:nvSpPr>
          <p:cNvPr id="17" name="Oval 16"/>
          <p:cNvSpPr/>
          <p:nvPr/>
        </p:nvSpPr>
        <p:spPr>
          <a:xfrm>
            <a:off x="1536192" y="4005072"/>
            <a:ext cx="402336" cy="402336"/>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536192" y="4005072"/>
            <a:ext cx="402336" cy="402336"/>
          </a:xfrm>
          <a:prstGeom prst="rect">
            <a:avLst/>
          </a:prstGeom>
          <a:noFill/>
        </p:spPr>
        <p:txBody>
          <a:bodyPr wrap="square" lIns="0" tIns="0" rIns="0" bIns="0" anchor="ctr">
            <a:spAutoFit/>
          </a:bodyPr>
          <a:lstStyle/>
          <a:p>
            <a:pPr algn="ctr"/>
            <a:r>
              <a:rPr sz="1200" b="1" i="0">
                <a:solidFill>
                  <a:srgbClr val="FFFFFF"/>
                </a:solidFill>
                <a:latin typeface="Calibri"/>
              </a:rPr>
              <a:t>5</a:t>
            </a:r>
          </a:p>
        </p:txBody>
      </p:sp>
      <p:sp>
        <p:nvSpPr>
          <p:cNvPr id="19" name="Oval 18"/>
          <p:cNvSpPr/>
          <p:nvPr/>
        </p:nvSpPr>
        <p:spPr>
          <a:xfrm>
            <a:off x="2130551" y="4005072"/>
            <a:ext cx="402336" cy="402336"/>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130551" y="4005072"/>
            <a:ext cx="402336" cy="402336"/>
          </a:xfrm>
          <a:prstGeom prst="rect">
            <a:avLst/>
          </a:prstGeom>
          <a:noFill/>
        </p:spPr>
        <p:txBody>
          <a:bodyPr wrap="square" lIns="0" tIns="0" rIns="0" bIns="0" anchor="ctr">
            <a:spAutoFit/>
          </a:bodyPr>
          <a:lstStyle/>
          <a:p>
            <a:pPr algn="ctr"/>
            <a:r>
              <a:rPr sz="1200" b="1" i="0">
                <a:solidFill>
                  <a:srgbClr val="FFFFFF"/>
                </a:solidFill>
                <a:latin typeface="Calibri"/>
              </a:rPr>
              <a:t>2</a:t>
            </a:r>
          </a:p>
        </p:txBody>
      </p:sp>
      <p:sp>
        <p:nvSpPr>
          <p:cNvPr id="21" name="TextBox 20"/>
          <p:cNvSpPr txBox="1"/>
          <p:nvPr/>
        </p:nvSpPr>
        <p:spPr>
          <a:xfrm>
            <a:off x="2743200" y="4041648"/>
            <a:ext cx="3017520" cy="365760"/>
          </a:xfrm>
          <a:prstGeom prst="rect">
            <a:avLst/>
          </a:prstGeom>
          <a:noFill/>
        </p:spPr>
        <p:txBody>
          <a:bodyPr wrap="square" lIns="0" tIns="0" rIns="0" bIns="0" anchor="t">
            <a:spAutoFit/>
          </a:bodyPr>
          <a:lstStyle/>
          <a:p>
            <a:pPr algn="l"/>
            <a:r>
              <a:rPr sz="1200" b="1" i="0">
                <a:solidFill>
                  <a:srgbClr val="595959"/>
                </a:solidFill>
                <a:latin typeface="Courier New"/>
              </a:rPr>
              <a:t>k = 2,  n = 8 ≥ 2² − 1</a:t>
            </a:r>
          </a:p>
        </p:txBody>
      </p:sp>
      <p:cxnSp>
        <p:nvCxnSpPr>
          <p:cNvPr id="22" name="Connector 21"/>
          <p:cNvCxnSpPr/>
          <p:nvPr/>
        </p:nvCxnSpPr>
        <p:spPr>
          <a:xfrm>
            <a:off x="6720840" y="4206240"/>
            <a:ext cx="566928" cy="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287768" y="4206240"/>
            <a:ext cx="566928" cy="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854696" y="4206240"/>
            <a:ext cx="566928" cy="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421624" y="4206240"/>
            <a:ext cx="566928" cy="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988552" y="4206240"/>
            <a:ext cx="566928" cy="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9555480" y="4206240"/>
            <a:ext cx="566928" cy="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0122408" y="4206240"/>
            <a:ext cx="566928" cy="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6537959" y="4023360"/>
            <a:ext cx="365760" cy="365760"/>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537959" y="4023360"/>
            <a:ext cx="365760" cy="365760"/>
          </a:xfrm>
          <a:prstGeom prst="rect">
            <a:avLst/>
          </a:prstGeom>
          <a:noFill/>
        </p:spPr>
        <p:txBody>
          <a:bodyPr wrap="square" lIns="0" tIns="0" rIns="0" bIns="0" anchor="ctr">
            <a:spAutoFit/>
          </a:bodyPr>
          <a:lstStyle/>
          <a:p>
            <a:pPr algn="ctr"/>
            <a:endParaRPr/>
          </a:p>
        </p:txBody>
      </p:sp>
      <p:sp>
        <p:nvSpPr>
          <p:cNvPr id="31" name="Oval 30"/>
          <p:cNvSpPr/>
          <p:nvPr/>
        </p:nvSpPr>
        <p:spPr>
          <a:xfrm>
            <a:off x="7104888" y="4023360"/>
            <a:ext cx="365760" cy="36576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104888" y="4023360"/>
            <a:ext cx="365760" cy="365760"/>
          </a:xfrm>
          <a:prstGeom prst="rect">
            <a:avLst/>
          </a:prstGeom>
          <a:noFill/>
        </p:spPr>
        <p:txBody>
          <a:bodyPr wrap="square" lIns="0" tIns="0" rIns="0" bIns="0" anchor="ctr">
            <a:spAutoFit/>
          </a:bodyPr>
          <a:lstStyle/>
          <a:p>
            <a:pPr algn="ctr"/>
            <a:endParaRPr/>
          </a:p>
        </p:txBody>
      </p:sp>
      <p:sp>
        <p:nvSpPr>
          <p:cNvPr id="33" name="Oval 32"/>
          <p:cNvSpPr/>
          <p:nvPr/>
        </p:nvSpPr>
        <p:spPr>
          <a:xfrm>
            <a:off x="7671816" y="4023360"/>
            <a:ext cx="365760" cy="365760"/>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671816" y="4023360"/>
            <a:ext cx="365760" cy="365760"/>
          </a:xfrm>
          <a:prstGeom prst="rect">
            <a:avLst/>
          </a:prstGeom>
          <a:noFill/>
        </p:spPr>
        <p:txBody>
          <a:bodyPr wrap="square" lIns="0" tIns="0" rIns="0" bIns="0" anchor="ctr">
            <a:spAutoFit/>
          </a:bodyPr>
          <a:lstStyle/>
          <a:p>
            <a:pPr algn="ctr"/>
            <a:endParaRPr/>
          </a:p>
        </p:txBody>
      </p:sp>
      <p:sp>
        <p:nvSpPr>
          <p:cNvPr id="35" name="Oval 34"/>
          <p:cNvSpPr/>
          <p:nvPr/>
        </p:nvSpPr>
        <p:spPr>
          <a:xfrm>
            <a:off x="8238744" y="4023360"/>
            <a:ext cx="365760" cy="36576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238744" y="4023360"/>
            <a:ext cx="365760" cy="365760"/>
          </a:xfrm>
          <a:prstGeom prst="rect">
            <a:avLst/>
          </a:prstGeom>
          <a:noFill/>
        </p:spPr>
        <p:txBody>
          <a:bodyPr wrap="square" lIns="0" tIns="0" rIns="0" bIns="0" anchor="ctr">
            <a:spAutoFit/>
          </a:bodyPr>
          <a:lstStyle/>
          <a:p>
            <a:pPr algn="ctr"/>
            <a:endParaRPr/>
          </a:p>
        </p:txBody>
      </p:sp>
      <p:sp>
        <p:nvSpPr>
          <p:cNvPr id="37" name="Oval 36"/>
          <p:cNvSpPr/>
          <p:nvPr/>
        </p:nvSpPr>
        <p:spPr>
          <a:xfrm>
            <a:off x="8805672" y="4023360"/>
            <a:ext cx="365760" cy="365760"/>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805672" y="4023360"/>
            <a:ext cx="365760" cy="365760"/>
          </a:xfrm>
          <a:prstGeom prst="rect">
            <a:avLst/>
          </a:prstGeom>
          <a:noFill/>
        </p:spPr>
        <p:txBody>
          <a:bodyPr wrap="square" lIns="0" tIns="0" rIns="0" bIns="0" anchor="ctr">
            <a:spAutoFit/>
          </a:bodyPr>
          <a:lstStyle/>
          <a:p>
            <a:pPr algn="ctr"/>
            <a:endParaRPr/>
          </a:p>
        </p:txBody>
      </p:sp>
      <p:sp>
        <p:nvSpPr>
          <p:cNvPr id="39" name="Oval 38"/>
          <p:cNvSpPr/>
          <p:nvPr/>
        </p:nvSpPr>
        <p:spPr>
          <a:xfrm>
            <a:off x="9372600" y="4023360"/>
            <a:ext cx="365760" cy="36576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9372600" y="4023360"/>
            <a:ext cx="365760" cy="365760"/>
          </a:xfrm>
          <a:prstGeom prst="rect">
            <a:avLst/>
          </a:prstGeom>
          <a:noFill/>
        </p:spPr>
        <p:txBody>
          <a:bodyPr wrap="square" lIns="0" tIns="0" rIns="0" bIns="0" anchor="ctr">
            <a:spAutoFit/>
          </a:bodyPr>
          <a:lstStyle/>
          <a:p>
            <a:pPr algn="ctr"/>
            <a:endParaRPr/>
          </a:p>
        </p:txBody>
      </p:sp>
      <p:sp>
        <p:nvSpPr>
          <p:cNvPr id="41" name="Oval 40"/>
          <p:cNvSpPr/>
          <p:nvPr/>
        </p:nvSpPr>
        <p:spPr>
          <a:xfrm>
            <a:off x="9939528" y="4023360"/>
            <a:ext cx="365760" cy="365760"/>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9939528" y="4023360"/>
            <a:ext cx="365760" cy="365760"/>
          </a:xfrm>
          <a:prstGeom prst="rect">
            <a:avLst/>
          </a:prstGeom>
          <a:noFill/>
        </p:spPr>
        <p:txBody>
          <a:bodyPr wrap="square" lIns="0" tIns="0" rIns="0" bIns="0" anchor="ctr">
            <a:spAutoFit/>
          </a:bodyPr>
          <a:lstStyle/>
          <a:p>
            <a:pPr algn="ctr"/>
            <a:endParaRPr/>
          </a:p>
        </p:txBody>
      </p:sp>
      <p:sp>
        <p:nvSpPr>
          <p:cNvPr id="43" name="Oval 42"/>
          <p:cNvSpPr/>
          <p:nvPr/>
        </p:nvSpPr>
        <p:spPr>
          <a:xfrm>
            <a:off x="10506456" y="4023360"/>
            <a:ext cx="365760" cy="36576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10506456" y="4023360"/>
            <a:ext cx="365760" cy="365760"/>
          </a:xfrm>
          <a:prstGeom prst="rect">
            <a:avLst/>
          </a:prstGeom>
          <a:noFill/>
        </p:spPr>
        <p:txBody>
          <a:bodyPr wrap="square" lIns="0" tIns="0" rIns="0" bIns="0" anchor="ctr">
            <a:spAutoFit/>
          </a:bodyPr>
          <a:lstStyle/>
          <a:p>
            <a:pPr algn="ctr"/>
            <a:endParaRPr/>
          </a:p>
        </p:txBody>
      </p:sp>
      <p:sp>
        <p:nvSpPr>
          <p:cNvPr id="45" name="Rounded Rectangle 44"/>
          <p:cNvSpPr/>
          <p:nvPr/>
        </p:nvSpPr>
        <p:spPr>
          <a:xfrm>
            <a:off x="548640" y="4892040"/>
            <a:ext cx="11091672" cy="640080"/>
          </a:xfrm>
          <a:prstGeom prst="roundRect">
            <a:avLst>
              <a:gd name="adj" fmla="val 5000"/>
            </a:avLst>
          </a:prstGeom>
          <a:solidFill>
            <a:srgbClr val="F5F5F5"/>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795528" y="4892040"/>
            <a:ext cx="10607040" cy="640080"/>
          </a:xfrm>
          <a:prstGeom prst="rect">
            <a:avLst/>
          </a:prstGeom>
          <a:noFill/>
        </p:spPr>
        <p:txBody>
          <a:bodyPr wrap="square" lIns="0" tIns="0" rIns="0" bIns="0" anchor="ctr">
            <a:spAutoFit/>
          </a:bodyPr>
          <a:lstStyle/>
          <a:p>
            <a:pPr algn="l"/>
            <a:r>
              <a:rPr sz="1600" b="1" i="0" dirty="0">
                <a:solidFill>
                  <a:srgbClr val="333F50"/>
                </a:solidFill>
                <a:latin typeface="Courier New"/>
              </a:rPr>
              <a:t>height  ≤  2k  ≤  2 · log₂(n + 1)  =  O(log n)    ∎</a:t>
            </a:r>
          </a:p>
        </p:txBody>
      </p:sp>
      <p:sp>
        <p:nvSpPr>
          <p:cNvPr id="47" name="TextBox 46"/>
          <p:cNvSpPr txBox="1"/>
          <p:nvPr/>
        </p:nvSpPr>
        <p:spPr>
          <a:xfrm>
            <a:off x="548640" y="5669280"/>
            <a:ext cx="11064240" cy="200055"/>
          </a:xfrm>
          <a:prstGeom prst="rect">
            <a:avLst/>
          </a:prstGeom>
          <a:noFill/>
        </p:spPr>
        <p:txBody>
          <a:bodyPr wrap="square" lIns="0" tIns="0" rIns="0" bIns="0" anchor="t">
            <a:spAutoFit/>
          </a:bodyPr>
          <a:lstStyle/>
          <a:p>
            <a:pPr algn="l"/>
            <a:r>
              <a:rPr sz="1300" b="0" i="0" dirty="0">
                <a:solidFill>
                  <a:srgbClr val="595959"/>
                </a:solidFill>
                <a:latin typeface="Calibri"/>
              </a:rPr>
              <a:t>So Search, Insert, Delete, Min, Max, Predecessor and Successor all run in </a:t>
            </a:r>
            <a:r>
              <a:rPr sz="1300" b="1" i="0" u="sng" dirty="0">
                <a:solidFill>
                  <a:srgbClr val="595959"/>
                </a:solidFill>
                <a:latin typeface="Calibri"/>
              </a:rPr>
              <a:t>O(log n) time </a:t>
            </a:r>
            <a:r>
              <a:rPr sz="1300" b="0" i="0" dirty="0">
                <a:solidFill>
                  <a:srgbClr val="595959"/>
                </a:solidFill>
                <a:latin typeface="Calibri"/>
              </a:rPr>
              <a:t>in a red-black tree.</a:t>
            </a:r>
          </a:p>
        </p:txBody>
      </p:sp>
      <p:sp>
        <p:nvSpPr>
          <p:cNvPr id="48" name="TextBox 47"/>
          <p:cNvSpPr txBox="1"/>
          <p:nvPr/>
        </p:nvSpPr>
        <p:spPr>
          <a:xfrm>
            <a:off x="548640" y="6501384"/>
            <a:ext cx="9326880" cy="138499"/>
          </a:xfrm>
          <a:prstGeom prst="rect">
            <a:avLst/>
          </a:prstGeom>
          <a:noFill/>
        </p:spPr>
        <p:txBody>
          <a:bodyPr wrap="square" lIns="0" tIns="0" rIns="0" bIns="0" anchor="t">
            <a:spAutoFit/>
          </a:bodyPr>
          <a:lstStyle/>
          <a:p>
            <a:pPr algn="l"/>
            <a:r>
              <a:rPr lang="en-US" sz="900" b="0" i="0">
                <a:solidFill>
                  <a:srgbClr val="595959"/>
                </a:solidFill>
                <a:latin typeface="Calibri"/>
              </a:rPr>
              <a:t>CS 383 </a:t>
            </a:r>
            <a:r>
              <a:rPr sz="900" b="0" i="0">
                <a:solidFill>
                  <a:srgbClr val="595959"/>
                </a:solidFill>
                <a:latin typeface="Calibri"/>
              </a:rPr>
              <a:t>Algorithm Design </a:t>
            </a:r>
            <a:r>
              <a:rPr lang="en-US" sz="900" b="0" i="0">
                <a:solidFill>
                  <a:srgbClr val="595959"/>
                </a:solidFill>
                <a:latin typeface="Calibri"/>
              </a:rPr>
              <a:t>and Analysis </a:t>
            </a:r>
            <a:r>
              <a:rPr sz="900" b="0" i="0">
                <a:solidFill>
                  <a:srgbClr val="595959"/>
                </a:solidFill>
                <a:latin typeface="Calibri"/>
              </a:rPr>
              <a:t> ·  </a:t>
            </a:r>
            <a:r>
              <a:rPr lang="en-US" sz="900" b="0" i="0">
                <a:solidFill>
                  <a:srgbClr val="595959"/>
                </a:solidFill>
                <a:latin typeface="Calibri"/>
              </a:rPr>
              <a:t>Balanced Binary Search </a:t>
            </a:r>
            <a:r>
              <a:rPr sz="900" b="0" i="0">
                <a:solidFill>
                  <a:srgbClr val="595959"/>
                </a:solidFill>
                <a:latin typeface="Calibri"/>
              </a:rPr>
              <a:t>Trees  ·  </a:t>
            </a:r>
            <a:r>
              <a:rPr lang="en-US" sz="900" b="0" i="0">
                <a:solidFill>
                  <a:srgbClr val="595959"/>
                </a:solidFill>
                <a:latin typeface="Calibri"/>
              </a:rPr>
              <a:t>Tanwistha Saha</a:t>
            </a:r>
            <a:endParaRPr sz="900" b="0" i="0">
              <a:solidFill>
                <a:srgbClr val="595959"/>
              </a:solidFill>
              <a:latin typeface="Calibri"/>
            </a:endParaRPr>
          </a:p>
        </p:txBody>
      </p:sp>
      <p:sp>
        <p:nvSpPr>
          <p:cNvPr id="49" name="TextBox 48"/>
          <p:cNvSpPr txBox="1"/>
          <p:nvPr/>
        </p:nvSpPr>
        <p:spPr>
          <a:xfrm>
            <a:off x="10908792" y="6501384"/>
            <a:ext cx="731520" cy="138499"/>
          </a:xfrm>
          <a:prstGeom prst="rect">
            <a:avLst/>
          </a:prstGeom>
          <a:noFill/>
        </p:spPr>
        <p:txBody>
          <a:bodyPr wrap="square" lIns="0" tIns="0" rIns="0" bIns="0" anchor="t">
            <a:spAutoFit/>
          </a:bodyPr>
          <a:lstStyle/>
          <a:p>
            <a:pPr algn="r"/>
            <a:r>
              <a:rPr lang="en-US" sz="900" b="0" i="0">
                <a:solidFill>
                  <a:srgbClr val="595959"/>
                </a:solidFill>
                <a:latin typeface="Calibri"/>
              </a:rPr>
              <a:t>16</a:t>
            </a:r>
            <a:endParaRPr sz="900" b="0" i="0">
              <a:solidFill>
                <a:srgbClr val="595959"/>
              </a:solidFill>
              <a:latin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9144000" cy="320040"/>
          </a:xfrm>
          <a:prstGeom prst="rect">
            <a:avLst/>
          </a:prstGeom>
          <a:noFill/>
        </p:spPr>
        <p:txBody>
          <a:bodyPr wrap="square" lIns="0" tIns="0" rIns="0" bIns="0" anchor="t">
            <a:spAutoFit/>
          </a:bodyPr>
          <a:lstStyle/>
          <a:p>
            <a:pPr algn="l"/>
            <a:r>
              <a:rPr sz="1200" b="1" i="0">
                <a:solidFill>
                  <a:srgbClr val="4472C4"/>
                </a:solidFill>
                <a:latin typeface="Calibri"/>
              </a:rPr>
              <a:t>RED-BLACK INSERTION</a:t>
            </a:r>
          </a:p>
        </p:txBody>
      </p:sp>
      <p:sp>
        <p:nvSpPr>
          <p:cNvPr id="3" name="TextBox 2"/>
          <p:cNvSpPr txBox="1"/>
          <p:nvPr/>
        </p:nvSpPr>
        <p:spPr>
          <a:xfrm>
            <a:off x="548640" y="658368"/>
            <a:ext cx="11064240" cy="640080"/>
          </a:xfrm>
          <a:prstGeom prst="rect">
            <a:avLst/>
          </a:prstGeom>
          <a:noFill/>
        </p:spPr>
        <p:txBody>
          <a:bodyPr wrap="square" lIns="0" tIns="0" rIns="0" bIns="0" anchor="t">
            <a:spAutoFit/>
          </a:bodyPr>
          <a:lstStyle/>
          <a:p>
            <a:pPr algn="l"/>
            <a:r>
              <a:rPr sz="2800" b="1" i="0">
                <a:solidFill>
                  <a:srgbClr val="333F50"/>
                </a:solidFill>
                <a:latin typeface="Calibri Light"/>
              </a:rPr>
              <a:t>Insert like a BST, color it red, then repair</a:t>
            </a:r>
          </a:p>
        </p:txBody>
      </p:sp>
      <p:sp>
        <p:nvSpPr>
          <p:cNvPr id="4" name="TextBox 3"/>
          <p:cNvSpPr txBox="1"/>
          <p:nvPr/>
        </p:nvSpPr>
        <p:spPr>
          <a:xfrm>
            <a:off x="548640" y="1197864"/>
            <a:ext cx="11064240" cy="502920"/>
          </a:xfrm>
          <a:prstGeom prst="rect">
            <a:avLst/>
          </a:prstGeom>
          <a:noFill/>
        </p:spPr>
        <p:txBody>
          <a:bodyPr wrap="square" lIns="0" tIns="0" rIns="0" bIns="0" anchor="t">
            <a:spAutoFit/>
          </a:bodyPr>
          <a:lstStyle/>
          <a:p>
            <a:pPr algn="l"/>
            <a:r>
              <a:rPr sz="1400" b="0" i="0">
                <a:solidFill>
                  <a:srgbClr val="595959"/>
                </a:solidFill>
                <a:latin typeface="Calibri"/>
              </a:rPr>
              <a:t>Insertion reuses ordinary BST insertion and adds a fix-up pass along the path just walked.</a:t>
            </a:r>
          </a:p>
        </p:txBody>
      </p:sp>
      <p:sp>
        <p:nvSpPr>
          <p:cNvPr id="5" name="Oval 4"/>
          <p:cNvSpPr/>
          <p:nvPr/>
        </p:nvSpPr>
        <p:spPr>
          <a:xfrm>
            <a:off x="548640" y="1874519"/>
            <a:ext cx="502920" cy="502920"/>
          </a:xfrm>
          <a:prstGeom prst="ellipse">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874519"/>
            <a:ext cx="502920" cy="502920"/>
          </a:xfrm>
          <a:prstGeom prst="rect">
            <a:avLst/>
          </a:prstGeom>
          <a:noFill/>
        </p:spPr>
        <p:txBody>
          <a:bodyPr wrap="square" lIns="0" tIns="0" rIns="0" bIns="0" anchor="ctr">
            <a:spAutoFit/>
          </a:bodyPr>
          <a:lstStyle/>
          <a:p>
            <a:pPr algn="ctr"/>
            <a:r>
              <a:rPr sz="2000" b="1" i="0">
                <a:solidFill>
                  <a:srgbClr val="333F50"/>
                </a:solidFill>
                <a:latin typeface="Calibri"/>
              </a:rPr>
              <a:t>1</a:t>
            </a:r>
          </a:p>
        </p:txBody>
      </p:sp>
      <p:sp>
        <p:nvSpPr>
          <p:cNvPr id="7" name="TextBox 6"/>
          <p:cNvSpPr txBox="1"/>
          <p:nvPr/>
        </p:nvSpPr>
        <p:spPr>
          <a:xfrm>
            <a:off x="1280160" y="1828799"/>
            <a:ext cx="5943600" cy="411480"/>
          </a:xfrm>
          <a:prstGeom prst="rect">
            <a:avLst/>
          </a:prstGeom>
          <a:noFill/>
        </p:spPr>
        <p:txBody>
          <a:bodyPr wrap="square" lIns="0" tIns="0" rIns="0" bIns="0" anchor="t">
            <a:spAutoFit/>
          </a:bodyPr>
          <a:lstStyle/>
          <a:p>
            <a:pPr algn="l"/>
            <a:r>
              <a:rPr sz="1800" b="1" i="0">
                <a:solidFill>
                  <a:srgbClr val="333F50"/>
                </a:solidFill>
                <a:latin typeface="Calibri"/>
              </a:rPr>
              <a:t>Insert x as in an ordinary BST</a:t>
            </a:r>
          </a:p>
        </p:txBody>
      </p:sp>
      <p:sp>
        <p:nvSpPr>
          <p:cNvPr id="8" name="TextBox 7"/>
          <p:cNvSpPr txBox="1"/>
          <p:nvPr/>
        </p:nvSpPr>
        <p:spPr>
          <a:xfrm>
            <a:off x="1280160" y="2240279"/>
            <a:ext cx="5943600" cy="640080"/>
          </a:xfrm>
          <a:prstGeom prst="rect">
            <a:avLst/>
          </a:prstGeom>
          <a:noFill/>
        </p:spPr>
        <p:txBody>
          <a:bodyPr wrap="square" lIns="0" tIns="0" rIns="0" bIns="0" anchor="t">
            <a:spAutoFit/>
          </a:bodyPr>
          <a:lstStyle/>
          <a:p>
            <a:pPr algn="l"/>
            <a:r>
              <a:rPr sz="1400" b="0" i="0">
                <a:solidFill>
                  <a:srgbClr val="595959"/>
                </a:solidFill>
                <a:latin typeface="Calibri"/>
              </a:rPr>
              <a:t>x becomes a new leaf: O(h) = O(log n) time.</a:t>
            </a:r>
          </a:p>
        </p:txBody>
      </p:sp>
      <p:sp>
        <p:nvSpPr>
          <p:cNvPr id="9" name="Oval 8"/>
          <p:cNvSpPr/>
          <p:nvPr/>
        </p:nvSpPr>
        <p:spPr>
          <a:xfrm>
            <a:off x="548640" y="3063239"/>
            <a:ext cx="502920" cy="502920"/>
          </a:xfrm>
          <a:prstGeom prst="ellipse">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8640" y="3063239"/>
            <a:ext cx="502920" cy="502920"/>
          </a:xfrm>
          <a:prstGeom prst="rect">
            <a:avLst/>
          </a:prstGeom>
          <a:noFill/>
        </p:spPr>
        <p:txBody>
          <a:bodyPr wrap="square" lIns="0" tIns="0" rIns="0" bIns="0" anchor="ctr">
            <a:spAutoFit/>
          </a:bodyPr>
          <a:lstStyle/>
          <a:p>
            <a:pPr algn="ctr"/>
            <a:r>
              <a:rPr sz="2000" b="1" i="0">
                <a:solidFill>
                  <a:srgbClr val="333F50"/>
                </a:solidFill>
                <a:latin typeface="Calibri"/>
              </a:rPr>
              <a:t>2</a:t>
            </a:r>
          </a:p>
        </p:txBody>
      </p:sp>
      <p:sp>
        <p:nvSpPr>
          <p:cNvPr id="11" name="TextBox 10"/>
          <p:cNvSpPr txBox="1"/>
          <p:nvPr/>
        </p:nvSpPr>
        <p:spPr>
          <a:xfrm>
            <a:off x="1280160" y="3017520"/>
            <a:ext cx="5943600" cy="411480"/>
          </a:xfrm>
          <a:prstGeom prst="rect">
            <a:avLst/>
          </a:prstGeom>
          <a:noFill/>
        </p:spPr>
        <p:txBody>
          <a:bodyPr wrap="square" lIns="0" tIns="0" rIns="0" bIns="0" anchor="t">
            <a:spAutoFit/>
          </a:bodyPr>
          <a:lstStyle/>
          <a:p>
            <a:pPr algn="l"/>
            <a:r>
              <a:rPr sz="1800" b="1" i="0">
                <a:solidFill>
                  <a:srgbClr val="333F50"/>
                </a:solidFill>
                <a:latin typeface="Calibri"/>
              </a:rPr>
              <a:t>Color x red</a:t>
            </a:r>
          </a:p>
        </p:txBody>
      </p:sp>
      <p:sp>
        <p:nvSpPr>
          <p:cNvPr id="12" name="TextBox 11"/>
          <p:cNvSpPr txBox="1"/>
          <p:nvPr/>
        </p:nvSpPr>
        <p:spPr>
          <a:xfrm>
            <a:off x="1280160" y="3428999"/>
            <a:ext cx="5943600" cy="640080"/>
          </a:xfrm>
          <a:prstGeom prst="rect">
            <a:avLst/>
          </a:prstGeom>
          <a:noFill/>
        </p:spPr>
        <p:txBody>
          <a:bodyPr wrap="square" lIns="0" tIns="0" rIns="0" bIns="0" anchor="t">
            <a:spAutoFit/>
          </a:bodyPr>
          <a:lstStyle/>
          <a:p>
            <a:pPr algn="l"/>
            <a:r>
              <a:rPr sz="1400" b="0" i="0">
                <a:solidFill>
                  <a:srgbClr val="595959"/>
                </a:solidFill>
                <a:latin typeface="Calibri"/>
              </a:rPr>
              <a:t>A red node adds no black to any path, so invariant 4 still holds. (If x is the root, color it black.)</a:t>
            </a:r>
          </a:p>
        </p:txBody>
      </p:sp>
      <p:sp>
        <p:nvSpPr>
          <p:cNvPr id="13" name="Oval 12"/>
          <p:cNvSpPr/>
          <p:nvPr/>
        </p:nvSpPr>
        <p:spPr>
          <a:xfrm>
            <a:off x="548640" y="4251960"/>
            <a:ext cx="502920" cy="502920"/>
          </a:xfrm>
          <a:prstGeom prst="ellipse">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48640" y="4251960"/>
            <a:ext cx="502920" cy="502920"/>
          </a:xfrm>
          <a:prstGeom prst="rect">
            <a:avLst/>
          </a:prstGeom>
          <a:noFill/>
        </p:spPr>
        <p:txBody>
          <a:bodyPr wrap="square" lIns="0" tIns="0" rIns="0" bIns="0" anchor="ctr">
            <a:spAutoFit/>
          </a:bodyPr>
          <a:lstStyle/>
          <a:p>
            <a:pPr algn="ctr"/>
            <a:r>
              <a:rPr sz="2000" b="1" i="0">
                <a:solidFill>
                  <a:srgbClr val="333F50"/>
                </a:solidFill>
                <a:latin typeface="Calibri"/>
              </a:rPr>
              <a:t>3</a:t>
            </a:r>
          </a:p>
        </p:txBody>
      </p:sp>
      <p:sp>
        <p:nvSpPr>
          <p:cNvPr id="15" name="TextBox 14"/>
          <p:cNvSpPr txBox="1"/>
          <p:nvPr/>
        </p:nvSpPr>
        <p:spPr>
          <a:xfrm>
            <a:off x="1280160" y="4206240"/>
            <a:ext cx="5943600" cy="411480"/>
          </a:xfrm>
          <a:prstGeom prst="rect">
            <a:avLst/>
          </a:prstGeom>
          <a:noFill/>
        </p:spPr>
        <p:txBody>
          <a:bodyPr wrap="square" lIns="0" tIns="0" rIns="0" bIns="0" anchor="t">
            <a:spAutoFit/>
          </a:bodyPr>
          <a:lstStyle/>
          <a:p>
            <a:pPr algn="l"/>
            <a:r>
              <a:rPr sz="1800" b="1" i="0">
                <a:solidFill>
                  <a:srgbClr val="333F50"/>
                </a:solidFill>
                <a:latin typeface="Calibri"/>
              </a:rPr>
              <a:t>Only invariant 3 can break</a:t>
            </a:r>
          </a:p>
        </p:txBody>
      </p:sp>
      <p:sp>
        <p:nvSpPr>
          <p:cNvPr id="16" name="TextBox 15"/>
          <p:cNvSpPr txBox="1"/>
          <p:nvPr/>
        </p:nvSpPr>
        <p:spPr>
          <a:xfrm>
            <a:off x="1280160" y="4617720"/>
            <a:ext cx="5943600" cy="640080"/>
          </a:xfrm>
          <a:prstGeom prst="rect">
            <a:avLst/>
          </a:prstGeom>
          <a:noFill/>
        </p:spPr>
        <p:txBody>
          <a:bodyPr wrap="square" lIns="0" tIns="0" rIns="0" bIns="0" anchor="t">
            <a:spAutoFit/>
          </a:bodyPr>
          <a:lstStyle/>
          <a:p>
            <a:pPr algn="l"/>
            <a:r>
              <a:rPr sz="1400" b="0" i="0">
                <a:solidFill>
                  <a:srgbClr val="595959"/>
                </a:solidFill>
                <a:latin typeface="Calibri"/>
              </a:rPr>
              <a:t>If x's parent p is also red, there is a red–red violation to repair.</a:t>
            </a:r>
          </a:p>
        </p:txBody>
      </p:sp>
      <p:sp>
        <p:nvSpPr>
          <p:cNvPr id="17" name="Rounded Rectangle 16"/>
          <p:cNvSpPr/>
          <p:nvPr/>
        </p:nvSpPr>
        <p:spPr>
          <a:xfrm>
            <a:off x="7589520" y="1874519"/>
            <a:ext cx="4050791" cy="3520440"/>
          </a:xfrm>
          <a:prstGeom prst="roundRect">
            <a:avLst>
              <a:gd name="adj" fmla="val 5000"/>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863840" y="2057400"/>
            <a:ext cx="3566160" cy="274320"/>
          </a:xfrm>
          <a:prstGeom prst="rect">
            <a:avLst/>
          </a:prstGeom>
          <a:noFill/>
        </p:spPr>
        <p:txBody>
          <a:bodyPr wrap="square" lIns="0" tIns="0" rIns="0" bIns="0" anchor="t">
            <a:spAutoFit/>
          </a:bodyPr>
          <a:lstStyle/>
          <a:p>
            <a:pPr algn="l"/>
            <a:r>
              <a:rPr sz="1100" b="1" i="0">
                <a:solidFill>
                  <a:srgbClr val="4472C4"/>
                </a:solidFill>
                <a:latin typeface="Calibri"/>
              </a:rPr>
              <a:t>THE CAST</a:t>
            </a:r>
          </a:p>
        </p:txBody>
      </p:sp>
      <p:cxnSp>
        <p:nvCxnSpPr>
          <p:cNvPr id="19" name="Connector 18"/>
          <p:cNvCxnSpPr/>
          <p:nvPr/>
        </p:nvCxnSpPr>
        <p:spPr>
          <a:xfrm flipH="1">
            <a:off x="8732520" y="2743200"/>
            <a:ext cx="868680" cy="86868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9601200" y="2743200"/>
            <a:ext cx="868680" cy="86868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8229600" y="3611880"/>
            <a:ext cx="502920" cy="86868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9363456" y="2505456"/>
            <a:ext cx="475488" cy="475488"/>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363456" y="2505456"/>
            <a:ext cx="475488" cy="475488"/>
          </a:xfrm>
          <a:prstGeom prst="rect">
            <a:avLst/>
          </a:prstGeom>
          <a:noFill/>
        </p:spPr>
        <p:txBody>
          <a:bodyPr wrap="square" lIns="0" tIns="0" rIns="0" bIns="0" anchor="ctr">
            <a:spAutoFit/>
          </a:bodyPr>
          <a:lstStyle/>
          <a:p>
            <a:pPr algn="ctr"/>
            <a:r>
              <a:rPr sz="1400" b="1" i="0">
                <a:solidFill>
                  <a:srgbClr val="FFFFFF"/>
                </a:solidFill>
                <a:latin typeface="Calibri"/>
              </a:rPr>
              <a:t>g</a:t>
            </a:r>
          </a:p>
        </p:txBody>
      </p:sp>
      <p:sp>
        <p:nvSpPr>
          <p:cNvPr id="24" name="Oval 23"/>
          <p:cNvSpPr/>
          <p:nvPr/>
        </p:nvSpPr>
        <p:spPr>
          <a:xfrm>
            <a:off x="8494776" y="3374136"/>
            <a:ext cx="475488" cy="475488"/>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494776" y="3374136"/>
            <a:ext cx="475488" cy="475488"/>
          </a:xfrm>
          <a:prstGeom prst="rect">
            <a:avLst/>
          </a:prstGeom>
          <a:noFill/>
        </p:spPr>
        <p:txBody>
          <a:bodyPr wrap="square" lIns="0" tIns="0" rIns="0" bIns="0" anchor="ctr">
            <a:spAutoFit/>
          </a:bodyPr>
          <a:lstStyle/>
          <a:p>
            <a:pPr algn="ctr"/>
            <a:r>
              <a:rPr sz="1400" b="1" i="0">
                <a:solidFill>
                  <a:srgbClr val="FFFFFF"/>
                </a:solidFill>
                <a:latin typeface="Calibri"/>
              </a:rPr>
              <a:t>p</a:t>
            </a:r>
          </a:p>
        </p:txBody>
      </p:sp>
      <p:sp>
        <p:nvSpPr>
          <p:cNvPr id="26" name="Oval 25"/>
          <p:cNvSpPr/>
          <p:nvPr/>
        </p:nvSpPr>
        <p:spPr>
          <a:xfrm>
            <a:off x="10232136" y="3374136"/>
            <a:ext cx="475488" cy="475488"/>
          </a:xfrm>
          <a:prstGeom prst="ellipse">
            <a:avLst/>
          </a:prstGeom>
          <a:solidFill>
            <a:srgbClr val="FFFFFF"/>
          </a:solidFill>
          <a:ln w="22225">
            <a:solidFill>
              <a:srgbClr val="4454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0232136" y="3374136"/>
            <a:ext cx="475488" cy="475488"/>
          </a:xfrm>
          <a:prstGeom prst="rect">
            <a:avLst/>
          </a:prstGeom>
          <a:noFill/>
        </p:spPr>
        <p:txBody>
          <a:bodyPr wrap="square" lIns="0" tIns="0" rIns="0" bIns="0" anchor="ctr">
            <a:spAutoFit/>
          </a:bodyPr>
          <a:lstStyle/>
          <a:p>
            <a:pPr algn="ctr"/>
            <a:r>
              <a:rPr sz="1400" b="1" i="0">
                <a:solidFill>
                  <a:srgbClr val="333F50"/>
                </a:solidFill>
                <a:latin typeface="Calibri"/>
              </a:rPr>
              <a:t>u</a:t>
            </a:r>
          </a:p>
        </p:txBody>
      </p:sp>
      <p:sp>
        <p:nvSpPr>
          <p:cNvPr id="28" name="Oval 27"/>
          <p:cNvSpPr/>
          <p:nvPr/>
        </p:nvSpPr>
        <p:spPr>
          <a:xfrm>
            <a:off x="7991856" y="4242816"/>
            <a:ext cx="475488" cy="475488"/>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991856" y="4242816"/>
            <a:ext cx="475488" cy="475488"/>
          </a:xfrm>
          <a:prstGeom prst="rect">
            <a:avLst/>
          </a:prstGeom>
          <a:noFill/>
        </p:spPr>
        <p:txBody>
          <a:bodyPr wrap="square" lIns="0" tIns="0" rIns="0" bIns="0" anchor="ctr">
            <a:spAutoFit/>
          </a:bodyPr>
          <a:lstStyle/>
          <a:p>
            <a:pPr algn="ctr"/>
            <a:r>
              <a:rPr sz="1400" b="1" i="0">
                <a:solidFill>
                  <a:srgbClr val="FFFFFF"/>
                </a:solidFill>
                <a:latin typeface="Calibri"/>
              </a:rPr>
              <a:t>x</a:t>
            </a:r>
          </a:p>
        </p:txBody>
      </p:sp>
      <p:sp>
        <p:nvSpPr>
          <p:cNvPr id="30" name="TextBox 29"/>
          <p:cNvSpPr txBox="1"/>
          <p:nvPr/>
        </p:nvSpPr>
        <p:spPr>
          <a:xfrm>
            <a:off x="7863840" y="4846320"/>
            <a:ext cx="3566160" cy="457200"/>
          </a:xfrm>
          <a:prstGeom prst="rect">
            <a:avLst/>
          </a:prstGeom>
          <a:noFill/>
        </p:spPr>
        <p:txBody>
          <a:bodyPr wrap="square" lIns="0" tIns="0" rIns="0" bIns="0" anchor="t">
            <a:spAutoFit/>
          </a:bodyPr>
          <a:lstStyle/>
          <a:p>
            <a:pPr algn="l"/>
            <a:r>
              <a:rPr sz="1200" b="1" i="0">
                <a:solidFill>
                  <a:srgbClr val="333F50"/>
                </a:solidFill>
                <a:latin typeface="Calibri"/>
              </a:rPr>
              <a:t>x</a:t>
            </a:r>
            <a:r>
              <a:rPr sz="1200" b="0" i="0">
                <a:solidFill>
                  <a:srgbClr val="333F50"/>
                </a:solidFill>
                <a:latin typeface="Calibri"/>
              </a:rPr>
              <a:t> new node   </a:t>
            </a:r>
            <a:r>
              <a:rPr sz="1200" b="1" i="0">
                <a:solidFill>
                  <a:srgbClr val="333F50"/>
                </a:solidFill>
                <a:latin typeface="Calibri"/>
              </a:rPr>
              <a:t>p</a:t>
            </a:r>
            <a:r>
              <a:rPr sz="1200" b="0" i="0">
                <a:solidFill>
                  <a:srgbClr val="333F50"/>
                </a:solidFill>
                <a:latin typeface="Calibri"/>
              </a:rPr>
              <a:t> parent   </a:t>
            </a:r>
            <a:r>
              <a:rPr sz="1200" b="1" i="0">
                <a:solidFill>
                  <a:srgbClr val="333F50"/>
                </a:solidFill>
                <a:latin typeface="Calibri"/>
              </a:rPr>
              <a:t>g</a:t>
            </a:r>
            <a:r>
              <a:rPr sz="1200" b="0" i="0">
                <a:solidFill>
                  <a:srgbClr val="333F50"/>
                </a:solidFill>
                <a:latin typeface="Calibri"/>
              </a:rPr>
              <a:t> grandparent   </a:t>
            </a:r>
            <a:r>
              <a:rPr sz="1200" b="1" i="0">
                <a:solidFill>
                  <a:srgbClr val="333F50"/>
                </a:solidFill>
                <a:latin typeface="Calibri"/>
              </a:rPr>
              <a:t>u</a:t>
            </a:r>
            <a:r>
              <a:rPr sz="1200" b="0" i="0">
                <a:solidFill>
                  <a:srgbClr val="333F50"/>
                </a:solidFill>
                <a:latin typeface="Calibri"/>
              </a:rPr>
              <a:t> uncle</a:t>
            </a:r>
          </a:p>
        </p:txBody>
      </p:sp>
      <p:sp>
        <p:nvSpPr>
          <p:cNvPr id="31" name="Rounded Rectangle 30"/>
          <p:cNvSpPr/>
          <p:nvPr/>
        </p:nvSpPr>
        <p:spPr>
          <a:xfrm>
            <a:off x="548640" y="5577840"/>
            <a:ext cx="11091672" cy="502920"/>
          </a:xfrm>
          <a:prstGeom prst="roundRect">
            <a:avLst>
              <a:gd name="adj" fmla="val 5000"/>
            </a:avLst>
          </a:prstGeom>
          <a:solidFill>
            <a:srgbClr val="F5F5F5"/>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95528" y="5577840"/>
            <a:ext cx="10607040" cy="502920"/>
          </a:xfrm>
          <a:prstGeom prst="rect">
            <a:avLst/>
          </a:prstGeom>
          <a:noFill/>
        </p:spPr>
        <p:txBody>
          <a:bodyPr wrap="square" lIns="0" tIns="0" rIns="0" bIns="0" anchor="ctr">
            <a:spAutoFit/>
          </a:bodyPr>
          <a:lstStyle/>
          <a:p>
            <a:pPr algn="l"/>
            <a:r>
              <a:rPr sz="1300" b="1" i="0">
                <a:solidFill>
                  <a:srgbClr val="333F50"/>
                </a:solidFill>
                <a:latin typeface="Calibri"/>
              </a:rPr>
              <a:t>Look at the uncle u:  </a:t>
            </a:r>
            <a:r>
              <a:rPr sz="1300" b="0" i="0">
                <a:solidFill>
                  <a:srgbClr val="333F50"/>
                </a:solidFill>
                <a:latin typeface="Calibri"/>
              </a:rPr>
              <a:t>red uncle → recolor (Case 1)    ·    black uncle → rotate (Case 2)</a:t>
            </a:r>
          </a:p>
        </p:txBody>
      </p:sp>
      <p:sp>
        <p:nvSpPr>
          <p:cNvPr id="33" name="TextBox 32"/>
          <p:cNvSpPr txBox="1"/>
          <p:nvPr/>
        </p:nvSpPr>
        <p:spPr>
          <a:xfrm>
            <a:off x="548640" y="6501384"/>
            <a:ext cx="9326880" cy="138499"/>
          </a:xfrm>
          <a:prstGeom prst="rect">
            <a:avLst/>
          </a:prstGeom>
          <a:noFill/>
        </p:spPr>
        <p:txBody>
          <a:bodyPr wrap="square" lIns="0" tIns="0" rIns="0" bIns="0" anchor="t">
            <a:spAutoFit/>
          </a:bodyPr>
          <a:lstStyle/>
          <a:p>
            <a:pPr algn="l"/>
            <a:r>
              <a:rPr lang="en-US" sz="900" b="0" i="0">
                <a:solidFill>
                  <a:srgbClr val="595959"/>
                </a:solidFill>
                <a:latin typeface="Calibri"/>
              </a:rPr>
              <a:t>CS 383 </a:t>
            </a:r>
            <a:r>
              <a:rPr sz="900" b="0" i="0">
                <a:solidFill>
                  <a:srgbClr val="595959"/>
                </a:solidFill>
                <a:latin typeface="Calibri"/>
              </a:rPr>
              <a:t>Algorithm Design </a:t>
            </a:r>
            <a:r>
              <a:rPr lang="en-US" sz="900" b="0" i="0">
                <a:solidFill>
                  <a:srgbClr val="595959"/>
                </a:solidFill>
                <a:latin typeface="Calibri"/>
              </a:rPr>
              <a:t>and Analysis </a:t>
            </a:r>
            <a:r>
              <a:rPr sz="900" b="0" i="0">
                <a:solidFill>
                  <a:srgbClr val="595959"/>
                </a:solidFill>
                <a:latin typeface="Calibri"/>
              </a:rPr>
              <a:t> ·  </a:t>
            </a:r>
            <a:r>
              <a:rPr lang="en-US" sz="900" b="0" i="0">
                <a:solidFill>
                  <a:srgbClr val="595959"/>
                </a:solidFill>
                <a:latin typeface="Calibri"/>
              </a:rPr>
              <a:t>Balanced Binary Search </a:t>
            </a:r>
            <a:r>
              <a:rPr sz="900" b="0" i="0">
                <a:solidFill>
                  <a:srgbClr val="595959"/>
                </a:solidFill>
                <a:latin typeface="Calibri"/>
              </a:rPr>
              <a:t>Trees  ·  </a:t>
            </a:r>
            <a:r>
              <a:rPr lang="en-US" sz="900" b="0" i="0">
                <a:solidFill>
                  <a:srgbClr val="595959"/>
                </a:solidFill>
                <a:latin typeface="Calibri"/>
              </a:rPr>
              <a:t>Tanwistha Saha</a:t>
            </a:r>
            <a:endParaRPr sz="900" b="0" i="0">
              <a:solidFill>
                <a:srgbClr val="595959"/>
              </a:solidFill>
              <a:latin typeface="Calibri"/>
            </a:endParaRPr>
          </a:p>
        </p:txBody>
      </p:sp>
      <p:sp>
        <p:nvSpPr>
          <p:cNvPr id="34" name="TextBox 33"/>
          <p:cNvSpPr txBox="1"/>
          <p:nvPr/>
        </p:nvSpPr>
        <p:spPr>
          <a:xfrm>
            <a:off x="10908792" y="6501384"/>
            <a:ext cx="731520" cy="138499"/>
          </a:xfrm>
          <a:prstGeom prst="rect">
            <a:avLst/>
          </a:prstGeom>
          <a:noFill/>
        </p:spPr>
        <p:txBody>
          <a:bodyPr wrap="square" lIns="0" tIns="0" rIns="0" bIns="0" anchor="t">
            <a:spAutoFit/>
          </a:bodyPr>
          <a:lstStyle/>
          <a:p>
            <a:pPr algn="r"/>
            <a:r>
              <a:rPr lang="en-US" sz="900" b="0" i="0">
                <a:solidFill>
                  <a:srgbClr val="595959"/>
                </a:solidFill>
                <a:latin typeface="Calibri"/>
              </a:rPr>
              <a:t>17</a:t>
            </a:r>
            <a:endParaRPr sz="900" b="0" i="0">
              <a:solidFill>
                <a:srgbClr val="595959"/>
              </a:solidFill>
              <a:latin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9144000" cy="320040"/>
          </a:xfrm>
          <a:prstGeom prst="rect">
            <a:avLst/>
          </a:prstGeom>
          <a:noFill/>
        </p:spPr>
        <p:txBody>
          <a:bodyPr wrap="square" lIns="0" tIns="0" rIns="0" bIns="0" anchor="t">
            <a:spAutoFit/>
          </a:bodyPr>
          <a:lstStyle/>
          <a:p>
            <a:pPr algn="l"/>
            <a:r>
              <a:rPr sz="1200" b="1" i="0">
                <a:solidFill>
                  <a:srgbClr val="4472C4"/>
                </a:solidFill>
                <a:latin typeface="Calibri"/>
              </a:rPr>
              <a:t>INSERTION FIX-UP · CASE 1</a:t>
            </a:r>
          </a:p>
        </p:txBody>
      </p:sp>
      <p:sp>
        <p:nvSpPr>
          <p:cNvPr id="3" name="TextBox 2"/>
          <p:cNvSpPr txBox="1"/>
          <p:nvPr/>
        </p:nvSpPr>
        <p:spPr>
          <a:xfrm>
            <a:off x="548640" y="658368"/>
            <a:ext cx="11064240" cy="640080"/>
          </a:xfrm>
          <a:prstGeom prst="rect">
            <a:avLst/>
          </a:prstGeom>
          <a:noFill/>
        </p:spPr>
        <p:txBody>
          <a:bodyPr wrap="square" lIns="0" tIns="0" rIns="0" bIns="0" anchor="t">
            <a:spAutoFit/>
          </a:bodyPr>
          <a:lstStyle/>
          <a:p>
            <a:pPr algn="l"/>
            <a:r>
              <a:rPr sz="2800" b="1" i="0">
                <a:solidFill>
                  <a:srgbClr val="333F50"/>
                </a:solidFill>
                <a:latin typeface="Calibri Light"/>
              </a:rPr>
              <a:t>Uncle is red: recolor and move up</a:t>
            </a:r>
          </a:p>
        </p:txBody>
      </p:sp>
      <p:sp>
        <p:nvSpPr>
          <p:cNvPr id="4" name="TextBox 3"/>
          <p:cNvSpPr txBox="1"/>
          <p:nvPr/>
        </p:nvSpPr>
        <p:spPr>
          <a:xfrm>
            <a:off x="548640" y="1197864"/>
            <a:ext cx="11064240" cy="215444"/>
          </a:xfrm>
          <a:prstGeom prst="rect">
            <a:avLst/>
          </a:prstGeom>
          <a:noFill/>
        </p:spPr>
        <p:txBody>
          <a:bodyPr wrap="square" lIns="0" tIns="0" rIns="0" bIns="0" anchor="t">
            <a:spAutoFit/>
          </a:bodyPr>
          <a:lstStyle/>
          <a:p>
            <a:pPr algn="l"/>
            <a:r>
              <a:rPr lang="en-US" sz="1400" b="0" i="0">
                <a:solidFill>
                  <a:srgbClr val="595959"/>
                </a:solidFill>
                <a:latin typeface="Calibri"/>
              </a:rPr>
              <a:t>If p and u are red, the repair is </a:t>
            </a:r>
            <a:r>
              <a:rPr sz="1400" b="0" i="0">
                <a:solidFill>
                  <a:srgbClr val="595959"/>
                </a:solidFill>
                <a:latin typeface="Calibri"/>
              </a:rPr>
              <a:t>the </a:t>
            </a:r>
            <a:r>
              <a:rPr lang="en-US" sz="1400" b="0" i="0">
                <a:solidFill>
                  <a:srgbClr val="595959"/>
                </a:solidFill>
                <a:latin typeface="Calibri"/>
              </a:rPr>
              <a:t>same whether x is a left or right child</a:t>
            </a:r>
            <a:r>
              <a:rPr sz="1400" b="0" i="0">
                <a:solidFill>
                  <a:srgbClr val="595959"/>
                </a:solidFill>
                <a:latin typeface="Calibri"/>
              </a:rPr>
              <a:t>, and </a:t>
            </a:r>
            <a:r>
              <a:rPr lang="en-US" sz="1400" b="0" i="0">
                <a:solidFill>
                  <a:srgbClr val="595959"/>
                </a:solidFill>
                <a:latin typeface="Calibri"/>
              </a:rPr>
              <a:t>whether p is left or right of g</a:t>
            </a:r>
            <a:r>
              <a:rPr sz="1400" b="0" i="0">
                <a:solidFill>
                  <a:srgbClr val="595959"/>
                </a:solidFill>
                <a:latin typeface="Calibri"/>
              </a:rPr>
              <a:t>.</a:t>
            </a:r>
          </a:p>
        </p:txBody>
      </p:sp>
      <p:sp>
        <p:nvSpPr>
          <p:cNvPr id="5" name="Rounded Rectangle 4"/>
          <p:cNvSpPr/>
          <p:nvPr/>
        </p:nvSpPr>
        <p:spPr>
          <a:xfrm>
            <a:off x="548640" y="1874519"/>
            <a:ext cx="11091672" cy="2788920"/>
          </a:xfrm>
          <a:prstGeom prst="roundRect">
            <a:avLst>
              <a:gd name="adj" fmla="val 5000"/>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flipH="1">
            <a:off x="2194560" y="2286000"/>
            <a:ext cx="731520" cy="86868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926080" y="2286000"/>
            <a:ext cx="731520" cy="86868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1783080" y="3154680"/>
            <a:ext cx="411480" cy="86868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2688336" y="2048256"/>
            <a:ext cx="475488" cy="475488"/>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688336" y="2048256"/>
            <a:ext cx="475488" cy="475488"/>
          </a:xfrm>
          <a:prstGeom prst="rect">
            <a:avLst/>
          </a:prstGeom>
          <a:noFill/>
        </p:spPr>
        <p:txBody>
          <a:bodyPr wrap="square" lIns="0" tIns="0" rIns="0" bIns="0" anchor="ctr">
            <a:spAutoFit/>
          </a:bodyPr>
          <a:lstStyle/>
          <a:p>
            <a:pPr algn="ctr"/>
            <a:r>
              <a:rPr sz="1400" b="1" i="0">
                <a:solidFill>
                  <a:srgbClr val="FFFFFF"/>
                </a:solidFill>
                <a:latin typeface="Calibri"/>
              </a:rPr>
              <a:t>g</a:t>
            </a:r>
          </a:p>
        </p:txBody>
      </p:sp>
      <p:sp>
        <p:nvSpPr>
          <p:cNvPr id="11" name="Oval 10"/>
          <p:cNvSpPr/>
          <p:nvPr/>
        </p:nvSpPr>
        <p:spPr>
          <a:xfrm>
            <a:off x="1956816" y="2916936"/>
            <a:ext cx="475488" cy="475488"/>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956816" y="2916936"/>
            <a:ext cx="475488" cy="475488"/>
          </a:xfrm>
          <a:prstGeom prst="rect">
            <a:avLst/>
          </a:prstGeom>
          <a:noFill/>
        </p:spPr>
        <p:txBody>
          <a:bodyPr wrap="square" lIns="0" tIns="0" rIns="0" bIns="0" anchor="ctr">
            <a:spAutoFit/>
          </a:bodyPr>
          <a:lstStyle/>
          <a:p>
            <a:pPr algn="ctr"/>
            <a:r>
              <a:rPr sz="1400" b="1" i="0">
                <a:solidFill>
                  <a:srgbClr val="FFFFFF"/>
                </a:solidFill>
                <a:latin typeface="Calibri"/>
              </a:rPr>
              <a:t>p</a:t>
            </a:r>
          </a:p>
        </p:txBody>
      </p:sp>
      <p:sp>
        <p:nvSpPr>
          <p:cNvPr id="13" name="Oval 12"/>
          <p:cNvSpPr/>
          <p:nvPr/>
        </p:nvSpPr>
        <p:spPr>
          <a:xfrm>
            <a:off x="3419856" y="2916936"/>
            <a:ext cx="475488" cy="475488"/>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19856" y="2916936"/>
            <a:ext cx="475488" cy="475488"/>
          </a:xfrm>
          <a:prstGeom prst="rect">
            <a:avLst/>
          </a:prstGeom>
          <a:noFill/>
        </p:spPr>
        <p:txBody>
          <a:bodyPr wrap="square" lIns="0" tIns="0" rIns="0" bIns="0" anchor="ctr">
            <a:spAutoFit/>
          </a:bodyPr>
          <a:lstStyle/>
          <a:p>
            <a:pPr algn="ctr"/>
            <a:r>
              <a:rPr sz="1400" b="1" i="0">
                <a:solidFill>
                  <a:srgbClr val="FFFFFF"/>
                </a:solidFill>
                <a:latin typeface="Calibri"/>
              </a:rPr>
              <a:t>u</a:t>
            </a:r>
          </a:p>
        </p:txBody>
      </p:sp>
      <p:sp>
        <p:nvSpPr>
          <p:cNvPr id="15" name="Oval 14"/>
          <p:cNvSpPr/>
          <p:nvPr/>
        </p:nvSpPr>
        <p:spPr>
          <a:xfrm>
            <a:off x="1545336" y="3785616"/>
            <a:ext cx="475488" cy="475488"/>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545336" y="3785616"/>
            <a:ext cx="475488" cy="475488"/>
          </a:xfrm>
          <a:prstGeom prst="rect">
            <a:avLst/>
          </a:prstGeom>
          <a:noFill/>
        </p:spPr>
        <p:txBody>
          <a:bodyPr wrap="square" lIns="0" tIns="0" rIns="0" bIns="0" anchor="ctr">
            <a:spAutoFit/>
          </a:bodyPr>
          <a:lstStyle/>
          <a:p>
            <a:pPr algn="ctr"/>
            <a:r>
              <a:rPr sz="1400" b="1" i="0">
                <a:solidFill>
                  <a:srgbClr val="FFFFFF"/>
                </a:solidFill>
                <a:latin typeface="Calibri"/>
              </a:rPr>
              <a:t>x</a:t>
            </a:r>
          </a:p>
        </p:txBody>
      </p:sp>
      <p:sp>
        <p:nvSpPr>
          <p:cNvPr id="17" name="TextBox 16"/>
          <p:cNvSpPr txBox="1"/>
          <p:nvPr/>
        </p:nvSpPr>
        <p:spPr>
          <a:xfrm>
            <a:off x="1097280" y="4343400"/>
            <a:ext cx="3291840" cy="274320"/>
          </a:xfrm>
          <a:prstGeom prst="rect">
            <a:avLst/>
          </a:prstGeom>
          <a:noFill/>
        </p:spPr>
        <p:txBody>
          <a:bodyPr wrap="square" lIns="0" tIns="0" rIns="0" bIns="0" anchor="t">
            <a:spAutoFit/>
          </a:bodyPr>
          <a:lstStyle/>
          <a:p>
            <a:pPr algn="ctr"/>
            <a:r>
              <a:rPr sz="1200" b="0" i="0">
                <a:solidFill>
                  <a:srgbClr val="595959"/>
                </a:solidFill>
                <a:latin typeface="Calibri"/>
              </a:rPr>
              <a:t>Before: p and x both red</a:t>
            </a:r>
          </a:p>
        </p:txBody>
      </p:sp>
      <p:sp>
        <p:nvSpPr>
          <p:cNvPr id="18" name="TextBox 17"/>
          <p:cNvSpPr txBox="1"/>
          <p:nvPr/>
        </p:nvSpPr>
        <p:spPr>
          <a:xfrm>
            <a:off x="4846320" y="2743200"/>
            <a:ext cx="2194560" cy="274320"/>
          </a:xfrm>
          <a:prstGeom prst="rect">
            <a:avLst/>
          </a:prstGeom>
          <a:noFill/>
        </p:spPr>
        <p:txBody>
          <a:bodyPr wrap="square" lIns="0" tIns="0" rIns="0" bIns="0" anchor="t">
            <a:spAutoFit/>
          </a:bodyPr>
          <a:lstStyle/>
          <a:p>
            <a:pPr algn="ctr"/>
            <a:r>
              <a:rPr sz="1200" b="1" i="0">
                <a:solidFill>
                  <a:srgbClr val="4472C4"/>
                </a:solidFill>
                <a:latin typeface="Courier New"/>
              </a:rPr>
              <a:t>recolor g, p, u</a:t>
            </a:r>
          </a:p>
        </p:txBody>
      </p:sp>
      <p:sp>
        <p:nvSpPr>
          <p:cNvPr id="19" name="Right Arrow 18"/>
          <p:cNvSpPr/>
          <p:nvPr/>
        </p:nvSpPr>
        <p:spPr>
          <a:xfrm>
            <a:off x="5577840" y="3108960"/>
            <a:ext cx="731520" cy="329184"/>
          </a:xfrm>
          <a:prstGeom prst="rightArrow">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0" name="Connector 19"/>
          <p:cNvCxnSpPr/>
          <p:nvPr/>
        </p:nvCxnSpPr>
        <p:spPr>
          <a:xfrm flipH="1">
            <a:off x="8412480" y="2286000"/>
            <a:ext cx="731520" cy="86868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9144000" y="2286000"/>
            <a:ext cx="731520" cy="86868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8001000" y="3154680"/>
            <a:ext cx="411480" cy="86868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8906256" y="2048256"/>
            <a:ext cx="475488" cy="475488"/>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906256" y="2048256"/>
            <a:ext cx="475488" cy="475488"/>
          </a:xfrm>
          <a:prstGeom prst="rect">
            <a:avLst/>
          </a:prstGeom>
          <a:noFill/>
        </p:spPr>
        <p:txBody>
          <a:bodyPr wrap="square" lIns="0" tIns="0" rIns="0" bIns="0" anchor="ctr">
            <a:spAutoFit/>
          </a:bodyPr>
          <a:lstStyle/>
          <a:p>
            <a:pPr algn="ctr"/>
            <a:r>
              <a:rPr sz="1400" b="1" i="0">
                <a:solidFill>
                  <a:srgbClr val="FFFFFF"/>
                </a:solidFill>
                <a:latin typeface="Calibri"/>
              </a:rPr>
              <a:t>g</a:t>
            </a:r>
          </a:p>
        </p:txBody>
      </p:sp>
      <p:sp>
        <p:nvSpPr>
          <p:cNvPr id="25" name="Oval 24"/>
          <p:cNvSpPr/>
          <p:nvPr/>
        </p:nvSpPr>
        <p:spPr>
          <a:xfrm>
            <a:off x="8174736" y="2916936"/>
            <a:ext cx="475488" cy="475488"/>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174736" y="2916936"/>
            <a:ext cx="475488" cy="475488"/>
          </a:xfrm>
          <a:prstGeom prst="rect">
            <a:avLst/>
          </a:prstGeom>
          <a:noFill/>
        </p:spPr>
        <p:txBody>
          <a:bodyPr wrap="square" lIns="0" tIns="0" rIns="0" bIns="0" anchor="ctr">
            <a:spAutoFit/>
          </a:bodyPr>
          <a:lstStyle/>
          <a:p>
            <a:pPr algn="ctr"/>
            <a:r>
              <a:rPr sz="1400" b="1" i="0">
                <a:solidFill>
                  <a:srgbClr val="FFFFFF"/>
                </a:solidFill>
                <a:latin typeface="Calibri"/>
              </a:rPr>
              <a:t>p</a:t>
            </a:r>
          </a:p>
        </p:txBody>
      </p:sp>
      <p:sp>
        <p:nvSpPr>
          <p:cNvPr id="27" name="Oval 26"/>
          <p:cNvSpPr/>
          <p:nvPr/>
        </p:nvSpPr>
        <p:spPr>
          <a:xfrm>
            <a:off x="9637776" y="2916936"/>
            <a:ext cx="475488" cy="475488"/>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637776" y="2916936"/>
            <a:ext cx="475488" cy="475488"/>
          </a:xfrm>
          <a:prstGeom prst="rect">
            <a:avLst/>
          </a:prstGeom>
          <a:noFill/>
        </p:spPr>
        <p:txBody>
          <a:bodyPr wrap="square" lIns="0" tIns="0" rIns="0" bIns="0" anchor="ctr">
            <a:spAutoFit/>
          </a:bodyPr>
          <a:lstStyle/>
          <a:p>
            <a:pPr algn="ctr"/>
            <a:r>
              <a:rPr sz="1400" b="1" i="0">
                <a:solidFill>
                  <a:srgbClr val="FFFFFF"/>
                </a:solidFill>
                <a:latin typeface="Calibri"/>
              </a:rPr>
              <a:t>u</a:t>
            </a:r>
          </a:p>
        </p:txBody>
      </p:sp>
      <p:sp>
        <p:nvSpPr>
          <p:cNvPr id="29" name="Oval 28"/>
          <p:cNvSpPr/>
          <p:nvPr/>
        </p:nvSpPr>
        <p:spPr>
          <a:xfrm>
            <a:off x="7763256" y="3785616"/>
            <a:ext cx="475488" cy="475488"/>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763256" y="3785616"/>
            <a:ext cx="475488" cy="475488"/>
          </a:xfrm>
          <a:prstGeom prst="rect">
            <a:avLst/>
          </a:prstGeom>
          <a:noFill/>
        </p:spPr>
        <p:txBody>
          <a:bodyPr wrap="square" lIns="0" tIns="0" rIns="0" bIns="0" anchor="ctr">
            <a:spAutoFit/>
          </a:bodyPr>
          <a:lstStyle/>
          <a:p>
            <a:pPr algn="ctr"/>
            <a:r>
              <a:rPr sz="1400" b="1" i="0">
                <a:solidFill>
                  <a:srgbClr val="FFFFFF"/>
                </a:solidFill>
                <a:latin typeface="Calibri"/>
              </a:rPr>
              <a:t>x</a:t>
            </a:r>
          </a:p>
        </p:txBody>
      </p:sp>
      <p:sp>
        <p:nvSpPr>
          <p:cNvPr id="31" name="TextBox 30"/>
          <p:cNvSpPr txBox="1"/>
          <p:nvPr/>
        </p:nvSpPr>
        <p:spPr>
          <a:xfrm>
            <a:off x="7315200" y="4343400"/>
            <a:ext cx="3291840" cy="274320"/>
          </a:xfrm>
          <a:prstGeom prst="rect">
            <a:avLst/>
          </a:prstGeom>
          <a:noFill/>
        </p:spPr>
        <p:txBody>
          <a:bodyPr wrap="square" lIns="0" tIns="0" rIns="0" bIns="0" anchor="t">
            <a:spAutoFit/>
          </a:bodyPr>
          <a:lstStyle/>
          <a:p>
            <a:pPr algn="ctr"/>
            <a:r>
              <a:rPr sz="1200" b="0" i="0">
                <a:solidFill>
                  <a:srgbClr val="595959"/>
                </a:solidFill>
                <a:latin typeface="Calibri"/>
              </a:rPr>
              <a:t>After: p, u black · g red</a:t>
            </a:r>
          </a:p>
        </p:txBody>
      </p:sp>
      <p:sp>
        <p:nvSpPr>
          <p:cNvPr id="32" name="Rounded Rectangle 31"/>
          <p:cNvSpPr/>
          <p:nvPr/>
        </p:nvSpPr>
        <p:spPr>
          <a:xfrm>
            <a:off x="548640" y="4846320"/>
            <a:ext cx="5422392" cy="1371600"/>
          </a:xfrm>
          <a:prstGeom prst="roundRect">
            <a:avLst>
              <a:gd name="adj" fmla="val 5000"/>
            </a:avLst>
          </a:prstGeom>
          <a:solidFill>
            <a:srgbClr val="F5F5F5"/>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22959" y="4983480"/>
            <a:ext cx="4846320" cy="215444"/>
          </a:xfrm>
          <a:prstGeom prst="rect">
            <a:avLst/>
          </a:prstGeom>
          <a:noFill/>
        </p:spPr>
        <p:txBody>
          <a:bodyPr wrap="square" lIns="0" tIns="0" rIns="0" bIns="0" anchor="t">
            <a:spAutoFit/>
          </a:bodyPr>
          <a:lstStyle/>
          <a:p>
            <a:pPr algn="l"/>
            <a:r>
              <a:rPr lang="en-US" sz="1400" b="1" i="0">
                <a:solidFill>
                  <a:srgbClr val="333F50"/>
                </a:solidFill>
                <a:latin typeface="Calibri"/>
              </a:rPr>
              <a:t>Same repair in all four positions</a:t>
            </a:r>
            <a:endParaRPr sz="1400" b="1" i="0">
              <a:solidFill>
                <a:srgbClr val="333F50"/>
              </a:solidFill>
              <a:latin typeface="Calibri"/>
            </a:endParaRPr>
          </a:p>
        </p:txBody>
      </p:sp>
      <p:sp>
        <p:nvSpPr>
          <p:cNvPr id="34" name="TextBox 33"/>
          <p:cNvSpPr txBox="1"/>
          <p:nvPr/>
        </p:nvSpPr>
        <p:spPr>
          <a:xfrm>
            <a:off x="822959" y="5349240"/>
            <a:ext cx="4846320" cy="400110"/>
          </a:xfrm>
          <a:prstGeom prst="rect">
            <a:avLst/>
          </a:prstGeom>
          <a:noFill/>
        </p:spPr>
        <p:txBody>
          <a:bodyPr wrap="square" lIns="0" tIns="0" rIns="0" bIns="0" anchor="t">
            <a:spAutoFit/>
          </a:bodyPr>
          <a:lstStyle/>
          <a:p>
            <a:pPr algn="l"/>
            <a:r>
              <a:rPr lang="en-US" sz="1300" b="0" i="0">
                <a:solidFill>
                  <a:srgbClr val="595959"/>
                </a:solidFill>
                <a:latin typeface="Calibri"/>
              </a:rPr>
              <a:t>Color p and u black, and g red. Keep x red and all links unchanged. </a:t>
            </a:r>
            <a:r>
              <a:rPr sz="1300" b="0" i="0">
                <a:solidFill>
                  <a:srgbClr val="595959"/>
                </a:solidFill>
                <a:latin typeface="Calibri"/>
              </a:rPr>
              <a:t>Every path through g </a:t>
            </a:r>
            <a:r>
              <a:rPr lang="en-US" sz="1300" b="0" i="0">
                <a:solidFill>
                  <a:srgbClr val="595959"/>
                </a:solidFill>
                <a:latin typeface="Calibri"/>
              </a:rPr>
              <a:t>keeps the same </a:t>
            </a:r>
            <a:r>
              <a:rPr sz="1300" b="0" i="0">
                <a:solidFill>
                  <a:srgbClr val="595959"/>
                </a:solidFill>
                <a:latin typeface="Calibri"/>
              </a:rPr>
              <a:t>black </a:t>
            </a:r>
            <a:r>
              <a:rPr lang="en-US" sz="1300" b="0" i="0">
                <a:solidFill>
                  <a:srgbClr val="595959"/>
                </a:solidFill>
                <a:latin typeface="Calibri"/>
              </a:rPr>
              <a:t>count</a:t>
            </a:r>
            <a:r>
              <a:rPr sz="1300" b="0" i="0">
                <a:solidFill>
                  <a:srgbClr val="595959"/>
                </a:solidFill>
                <a:latin typeface="Calibri"/>
              </a:rPr>
              <a:t>.</a:t>
            </a:r>
          </a:p>
        </p:txBody>
      </p:sp>
      <p:sp>
        <p:nvSpPr>
          <p:cNvPr id="35" name="Rounded Rectangle 34"/>
          <p:cNvSpPr/>
          <p:nvPr/>
        </p:nvSpPr>
        <p:spPr>
          <a:xfrm>
            <a:off x="6217920" y="4846320"/>
            <a:ext cx="5422392" cy="1371600"/>
          </a:xfrm>
          <a:prstGeom prst="roundRect">
            <a:avLst>
              <a:gd name="adj" fmla="val 5000"/>
            </a:avLst>
          </a:prstGeom>
          <a:solidFill>
            <a:srgbClr val="F5F5F5"/>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492240" y="4983480"/>
            <a:ext cx="4846320" cy="320040"/>
          </a:xfrm>
          <a:prstGeom prst="rect">
            <a:avLst/>
          </a:prstGeom>
          <a:noFill/>
        </p:spPr>
        <p:txBody>
          <a:bodyPr wrap="square" lIns="0" tIns="0" rIns="0" bIns="0" anchor="t">
            <a:spAutoFit/>
          </a:bodyPr>
          <a:lstStyle/>
          <a:p>
            <a:pPr algn="l"/>
            <a:r>
              <a:rPr sz="1400" b="1" i="0">
                <a:solidFill>
                  <a:srgbClr val="333F50"/>
                </a:solidFill>
                <a:latin typeface="Calibri"/>
              </a:rPr>
              <a:t>The problem may move up</a:t>
            </a:r>
          </a:p>
        </p:txBody>
      </p:sp>
      <p:sp>
        <p:nvSpPr>
          <p:cNvPr id="37" name="TextBox 36"/>
          <p:cNvSpPr txBox="1"/>
          <p:nvPr/>
        </p:nvSpPr>
        <p:spPr>
          <a:xfrm>
            <a:off x="6492240" y="5349240"/>
            <a:ext cx="4846320" cy="777240"/>
          </a:xfrm>
          <a:prstGeom prst="rect">
            <a:avLst/>
          </a:prstGeom>
          <a:noFill/>
        </p:spPr>
        <p:txBody>
          <a:bodyPr wrap="square" lIns="0" tIns="0" rIns="0" bIns="0" anchor="t">
            <a:spAutoFit/>
          </a:bodyPr>
          <a:lstStyle/>
          <a:p>
            <a:pPr algn="l"/>
            <a:r>
              <a:rPr sz="1300" b="0" i="0">
                <a:solidFill>
                  <a:srgbClr val="595959"/>
                </a:solidFill>
                <a:latin typeface="Calibri"/>
              </a:rPr>
              <a:t>If g's parent is red, repeat with x ← g. Two levels per round: O(log n) rounds. If g is the root, color it black.</a:t>
            </a:r>
          </a:p>
        </p:txBody>
      </p:sp>
      <p:sp>
        <p:nvSpPr>
          <p:cNvPr id="38" name="TextBox 37"/>
          <p:cNvSpPr txBox="1"/>
          <p:nvPr/>
        </p:nvSpPr>
        <p:spPr>
          <a:xfrm>
            <a:off x="548640" y="6501384"/>
            <a:ext cx="9326880" cy="138499"/>
          </a:xfrm>
          <a:prstGeom prst="rect">
            <a:avLst/>
          </a:prstGeom>
          <a:noFill/>
        </p:spPr>
        <p:txBody>
          <a:bodyPr wrap="square" lIns="0" tIns="0" rIns="0" bIns="0" anchor="t">
            <a:spAutoFit/>
          </a:bodyPr>
          <a:lstStyle/>
          <a:p>
            <a:pPr algn="l"/>
            <a:r>
              <a:rPr lang="en-US" sz="900" b="0" i="0">
                <a:solidFill>
                  <a:srgbClr val="595959"/>
                </a:solidFill>
                <a:latin typeface="Calibri"/>
              </a:rPr>
              <a:t>CS 383 </a:t>
            </a:r>
            <a:r>
              <a:rPr sz="900" b="0" i="0">
                <a:solidFill>
                  <a:srgbClr val="595959"/>
                </a:solidFill>
                <a:latin typeface="Calibri"/>
              </a:rPr>
              <a:t>Algorithm Design </a:t>
            </a:r>
            <a:r>
              <a:rPr lang="en-US" sz="900" b="0" i="0">
                <a:solidFill>
                  <a:srgbClr val="595959"/>
                </a:solidFill>
                <a:latin typeface="Calibri"/>
              </a:rPr>
              <a:t>and Analysis </a:t>
            </a:r>
            <a:r>
              <a:rPr sz="900" b="0" i="0">
                <a:solidFill>
                  <a:srgbClr val="595959"/>
                </a:solidFill>
                <a:latin typeface="Calibri"/>
              </a:rPr>
              <a:t> ·  </a:t>
            </a:r>
            <a:r>
              <a:rPr lang="en-US" sz="900" b="0" i="0">
                <a:solidFill>
                  <a:srgbClr val="595959"/>
                </a:solidFill>
                <a:latin typeface="Calibri"/>
              </a:rPr>
              <a:t>Balanced Binary Search </a:t>
            </a:r>
            <a:r>
              <a:rPr sz="900" b="0" i="0">
                <a:solidFill>
                  <a:srgbClr val="595959"/>
                </a:solidFill>
                <a:latin typeface="Calibri"/>
              </a:rPr>
              <a:t>Trees  ·  </a:t>
            </a:r>
            <a:r>
              <a:rPr lang="en-US" sz="900" b="0" i="0">
                <a:solidFill>
                  <a:srgbClr val="595959"/>
                </a:solidFill>
                <a:latin typeface="Calibri"/>
              </a:rPr>
              <a:t>Tanwistha Saha</a:t>
            </a:r>
            <a:endParaRPr sz="900" b="0" i="0">
              <a:solidFill>
                <a:srgbClr val="595959"/>
              </a:solidFill>
              <a:latin typeface="Calibri"/>
            </a:endParaRPr>
          </a:p>
        </p:txBody>
      </p:sp>
      <p:sp>
        <p:nvSpPr>
          <p:cNvPr id="39" name="TextBox 38"/>
          <p:cNvSpPr txBox="1"/>
          <p:nvPr/>
        </p:nvSpPr>
        <p:spPr>
          <a:xfrm>
            <a:off x="10908792" y="6501384"/>
            <a:ext cx="731520" cy="138499"/>
          </a:xfrm>
          <a:prstGeom prst="rect">
            <a:avLst/>
          </a:prstGeom>
          <a:noFill/>
        </p:spPr>
        <p:txBody>
          <a:bodyPr wrap="square" lIns="0" tIns="0" rIns="0" bIns="0" anchor="t">
            <a:spAutoFit/>
          </a:bodyPr>
          <a:lstStyle/>
          <a:p>
            <a:pPr algn="r"/>
            <a:r>
              <a:rPr lang="en-US" sz="900" b="0" i="0">
                <a:solidFill>
                  <a:srgbClr val="595959"/>
                </a:solidFill>
                <a:latin typeface="Calibri"/>
              </a:rPr>
              <a:t>18</a:t>
            </a:r>
            <a:endParaRPr sz="900" b="0" i="0">
              <a:solidFill>
                <a:srgbClr val="595959"/>
              </a:solidFill>
              <a:latin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9144000" cy="320040"/>
          </a:xfrm>
          <a:prstGeom prst="rect">
            <a:avLst/>
          </a:prstGeom>
          <a:noFill/>
        </p:spPr>
        <p:txBody>
          <a:bodyPr wrap="square" lIns="0" tIns="0" rIns="0" bIns="0" anchor="t">
            <a:spAutoFit/>
          </a:bodyPr>
          <a:lstStyle/>
          <a:p>
            <a:pPr algn="l"/>
            <a:r>
              <a:rPr sz="1200" b="1" i="0">
                <a:solidFill>
                  <a:srgbClr val="4472C4"/>
                </a:solidFill>
                <a:latin typeface="Calibri"/>
              </a:rPr>
              <a:t>INSERTION FIX-UP · CASE 2</a:t>
            </a:r>
          </a:p>
        </p:txBody>
      </p:sp>
      <p:sp>
        <p:nvSpPr>
          <p:cNvPr id="3" name="TextBox 2"/>
          <p:cNvSpPr txBox="1"/>
          <p:nvPr/>
        </p:nvSpPr>
        <p:spPr>
          <a:xfrm>
            <a:off x="548640" y="658368"/>
            <a:ext cx="11064240" cy="430887"/>
          </a:xfrm>
          <a:prstGeom prst="rect">
            <a:avLst/>
          </a:prstGeom>
          <a:noFill/>
        </p:spPr>
        <p:txBody>
          <a:bodyPr wrap="square" lIns="0" tIns="0" rIns="0" bIns="0" anchor="t">
            <a:spAutoFit/>
          </a:bodyPr>
          <a:lstStyle/>
          <a:p>
            <a:pPr algn="l"/>
            <a:r>
              <a:rPr lang="en-US" sz="2800" b="1" i="0">
                <a:solidFill>
                  <a:srgbClr val="333F50"/>
                </a:solidFill>
                <a:latin typeface="Calibri Light"/>
              </a:rPr>
              <a:t>Black uncle</a:t>
            </a:r>
            <a:r>
              <a:rPr sz="2800" b="1" i="0">
                <a:solidFill>
                  <a:srgbClr val="333F50"/>
                </a:solidFill>
                <a:latin typeface="Calibri Light"/>
              </a:rPr>
              <a:t>: </a:t>
            </a:r>
            <a:r>
              <a:rPr lang="en-US" sz="2800" b="1" i="0">
                <a:solidFill>
                  <a:srgbClr val="333F50"/>
                </a:solidFill>
                <a:latin typeface="Calibri Light"/>
              </a:rPr>
              <a:t>the left-left (LL) case</a:t>
            </a:r>
            <a:endParaRPr sz="2800" b="1" i="0">
              <a:solidFill>
                <a:srgbClr val="333F50"/>
              </a:solidFill>
              <a:latin typeface="Calibri Light"/>
            </a:endParaRPr>
          </a:p>
        </p:txBody>
      </p:sp>
      <p:sp>
        <p:nvSpPr>
          <p:cNvPr id="4" name="TextBox 3"/>
          <p:cNvSpPr txBox="1"/>
          <p:nvPr/>
        </p:nvSpPr>
        <p:spPr>
          <a:xfrm>
            <a:off x="548640" y="1197864"/>
            <a:ext cx="11064240" cy="215444"/>
          </a:xfrm>
          <a:prstGeom prst="rect">
            <a:avLst/>
          </a:prstGeom>
          <a:noFill/>
        </p:spPr>
        <p:txBody>
          <a:bodyPr wrap="square" lIns="0" tIns="0" rIns="0" bIns="0" anchor="t">
            <a:spAutoFit/>
          </a:bodyPr>
          <a:lstStyle/>
          <a:p>
            <a:pPr algn="l"/>
            <a:r>
              <a:rPr lang="en-US" sz="1400" b="0" i="0">
                <a:solidFill>
                  <a:srgbClr val="595959"/>
                </a:solidFill>
                <a:latin typeface="Calibri"/>
              </a:rPr>
              <a:t>Read the path </a:t>
            </a:r>
            <a:r>
              <a:rPr sz="1400" b="0" i="0">
                <a:solidFill>
                  <a:srgbClr val="595959"/>
                </a:solidFill>
                <a:latin typeface="Calibri"/>
              </a:rPr>
              <a:t>from </a:t>
            </a:r>
            <a:r>
              <a:rPr lang="en-US" sz="1400" b="0" i="0">
                <a:solidFill>
                  <a:srgbClr val="595959"/>
                </a:solidFill>
                <a:latin typeface="Calibri"/>
              </a:rPr>
              <a:t>g to p to x</a:t>
            </a:r>
            <a:r>
              <a:rPr sz="1400" b="0" i="0">
                <a:solidFill>
                  <a:srgbClr val="595959"/>
                </a:solidFill>
                <a:latin typeface="Calibri"/>
              </a:rPr>
              <a:t>: </a:t>
            </a:r>
            <a:r>
              <a:rPr lang="en-US" sz="1400" b="0" i="0">
                <a:solidFill>
                  <a:srgbClr val="595959"/>
                </a:solidFill>
                <a:latin typeface="Calibri"/>
              </a:rPr>
              <a:t>left, </a:t>
            </a:r>
            <a:r>
              <a:rPr sz="1400" b="0" i="0">
                <a:solidFill>
                  <a:srgbClr val="595959"/>
                </a:solidFill>
                <a:latin typeface="Calibri"/>
              </a:rPr>
              <a:t>then </a:t>
            </a:r>
            <a:r>
              <a:rPr lang="en-US" sz="1400" b="0" i="0">
                <a:solidFill>
                  <a:srgbClr val="595959"/>
                </a:solidFill>
                <a:latin typeface="Calibri"/>
              </a:rPr>
              <a:t>left. Both p and x are red. A missing uncle </a:t>
            </a:r>
            <a:r>
              <a:rPr sz="1400" b="0" i="0">
                <a:solidFill>
                  <a:srgbClr val="595959"/>
                </a:solidFill>
                <a:latin typeface="Calibri"/>
              </a:rPr>
              <a:t>(</a:t>
            </a:r>
            <a:r>
              <a:rPr lang="en-US" sz="1400" b="0" i="0">
                <a:solidFill>
                  <a:srgbClr val="595959"/>
                </a:solidFill>
                <a:latin typeface="Calibri"/>
              </a:rPr>
              <a:t>NULL) counts as black.</a:t>
            </a:r>
            <a:endParaRPr sz="1400" b="0" i="0">
              <a:solidFill>
                <a:srgbClr val="595959"/>
              </a:solidFill>
              <a:latin typeface="Calibri"/>
            </a:endParaRPr>
          </a:p>
        </p:txBody>
      </p:sp>
      <p:sp>
        <p:nvSpPr>
          <p:cNvPr id="5" name="Rounded Rectangle 4"/>
          <p:cNvSpPr/>
          <p:nvPr/>
        </p:nvSpPr>
        <p:spPr>
          <a:xfrm>
            <a:off x="548640" y="1874519"/>
            <a:ext cx="11091672" cy="2788920"/>
          </a:xfrm>
          <a:prstGeom prst="roundRect">
            <a:avLst>
              <a:gd name="adj" fmla="val 5000"/>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flipH="1">
            <a:off x="2011680" y="2286000"/>
            <a:ext cx="731520" cy="86868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743200" y="2286000"/>
            <a:ext cx="731520" cy="86868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1600200" y="3154680"/>
            <a:ext cx="411480" cy="86868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2505456" y="2048256"/>
            <a:ext cx="475488" cy="475488"/>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505456" y="2048256"/>
            <a:ext cx="475488" cy="475488"/>
          </a:xfrm>
          <a:prstGeom prst="rect">
            <a:avLst/>
          </a:prstGeom>
          <a:noFill/>
        </p:spPr>
        <p:txBody>
          <a:bodyPr wrap="square" lIns="0" tIns="0" rIns="0" bIns="0" anchor="ctr">
            <a:spAutoFit/>
          </a:bodyPr>
          <a:lstStyle/>
          <a:p>
            <a:pPr algn="ctr"/>
            <a:r>
              <a:rPr sz="1400" b="1" i="0">
                <a:solidFill>
                  <a:srgbClr val="FFFFFF"/>
                </a:solidFill>
                <a:latin typeface="Calibri"/>
              </a:rPr>
              <a:t>g</a:t>
            </a:r>
          </a:p>
        </p:txBody>
      </p:sp>
      <p:sp>
        <p:nvSpPr>
          <p:cNvPr id="11" name="Oval 10"/>
          <p:cNvSpPr/>
          <p:nvPr/>
        </p:nvSpPr>
        <p:spPr>
          <a:xfrm>
            <a:off x="1773936" y="2916936"/>
            <a:ext cx="475488" cy="475488"/>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773936" y="2916936"/>
            <a:ext cx="475488" cy="475488"/>
          </a:xfrm>
          <a:prstGeom prst="rect">
            <a:avLst/>
          </a:prstGeom>
          <a:noFill/>
        </p:spPr>
        <p:txBody>
          <a:bodyPr wrap="square" lIns="0" tIns="0" rIns="0" bIns="0" anchor="ctr">
            <a:spAutoFit/>
          </a:bodyPr>
          <a:lstStyle/>
          <a:p>
            <a:pPr algn="ctr"/>
            <a:r>
              <a:rPr sz="1400" b="1" i="0">
                <a:solidFill>
                  <a:srgbClr val="FFFFFF"/>
                </a:solidFill>
                <a:latin typeface="Calibri"/>
              </a:rPr>
              <a:t>p</a:t>
            </a:r>
          </a:p>
        </p:txBody>
      </p:sp>
      <p:sp>
        <p:nvSpPr>
          <p:cNvPr id="13" name="Oval 12"/>
          <p:cNvSpPr/>
          <p:nvPr/>
        </p:nvSpPr>
        <p:spPr>
          <a:xfrm>
            <a:off x="3236976" y="2916936"/>
            <a:ext cx="475488" cy="475488"/>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236976" y="2916936"/>
            <a:ext cx="475488" cy="475488"/>
          </a:xfrm>
          <a:prstGeom prst="rect">
            <a:avLst/>
          </a:prstGeom>
          <a:noFill/>
        </p:spPr>
        <p:txBody>
          <a:bodyPr wrap="square" lIns="0" tIns="0" rIns="0" bIns="0" anchor="ctr">
            <a:spAutoFit/>
          </a:bodyPr>
          <a:lstStyle/>
          <a:p>
            <a:pPr algn="ctr"/>
            <a:r>
              <a:rPr sz="1400" b="1" i="0">
                <a:solidFill>
                  <a:srgbClr val="FFFFFF"/>
                </a:solidFill>
                <a:latin typeface="Calibri"/>
              </a:rPr>
              <a:t>u</a:t>
            </a:r>
          </a:p>
        </p:txBody>
      </p:sp>
      <p:sp>
        <p:nvSpPr>
          <p:cNvPr id="15" name="Oval 14"/>
          <p:cNvSpPr/>
          <p:nvPr/>
        </p:nvSpPr>
        <p:spPr>
          <a:xfrm>
            <a:off x="1362456" y="3785616"/>
            <a:ext cx="475488" cy="475488"/>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362456" y="3785616"/>
            <a:ext cx="475488" cy="475488"/>
          </a:xfrm>
          <a:prstGeom prst="rect">
            <a:avLst/>
          </a:prstGeom>
          <a:noFill/>
        </p:spPr>
        <p:txBody>
          <a:bodyPr wrap="square" lIns="0" tIns="0" rIns="0" bIns="0" anchor="ctr">
            <a:spAutoFit/>
          </a:bodyPr>
          <a:lstStyle/>
          <a:p>
            <a:pPr algn="ctr"/>
            <a:r>
              <a:rPr sz="1400" b="1" i="0">
                <a:solidFill>
                  <a:srgbClr val="FFFFFF"/>
                </a:solidFill>
                <a:latin typeface="Calibri"/>
              </a:rPr>
              <a:t>x</a:t>
            </a:r>
          </a:p>
        </p:txBody>
      </p:sp>
      <p:sp>
        <p:nvSpPr>
          <p:cNvPr id="17" name="TextBox 16"/>
          <p:cNvSpPr txBox="1"/>
          <p:nvPr/>
        </p:nvSpPr>
        <p:spPr>
          <a:xfrm>
            <a:off x="914400" y="4343400"/>
            <a:ext cx="3291840" cy="274320"/>
          </a:xfrm>
          <a:prstGeom prst="rect">
            <a:avLst/>
          </a:prstGeom>
          <a:noFill/>
        </p:spPr>
        <p:txBody>
          <a:bodyPr wrap="square" lIns="0" tIns="0" rIns="0" bIns="0" anchor="t">
            <a:spAutoFit/>
          </a:bodyPr>
          <a:lstStyle/>
          <a:p>
            <a:pPr algn="ctr"/>
            <a:r>
              <a:rPr sz="1200" b="0" i="0">
                <a:solidFill>
                  <a:srgbClr val="595959"/>
                </a:solidFill>
                <a:latin typeface="Calibri"/>
              </a:rPr>
              <a:t>Before: x, p, g in a line</a:t>
            </a:r>
          </a:p>
        </p:txBody>
      </p:sp>
      <p:sp>
        <p:nvSpPr>
          <p:cNvPr id="18" name="TextBox 17"/>
          <p:cNvSpPr txBox="1"/>
          <p:nvPr/>
        </p:nvSpPr>
        <p:spPr>
          <a:xfrm>
            <a:off x="4572000" y="2606040"/>
            <a:ext cx="2651760" cy="369332"/>
          </a:xfrm>
          <a:prstGeom prst="rect">
            <a:avLst/>
          </a:prstGeom>
          <a:noFill/>
        </p:spPr>
        <p:txBody>
          <a:bodyPr wrap="square" lIns="0" tIns="0" rIns="0" bIns="0" anchor="t">
            <a:spAutoFit/>
          </a:bodyPr>
          <a:lstStyle/>
          <a:p>
            <a:pPr algn="ctr"/>
            <a:r>
              <a:rPr lang="en-US" sz="1200" b="1" i="0">
                <a:solidFill>
                  <a:srgbClr val="4472C4"/>
                </a:solidFill>
                <a:latin typeface="Courier New"/>
              </a:rPr>
              <a:t>RIGHTROTATE</a:t>
            </a:r>
            <a:r>
              <a:rPr sz="1200" b="1" i="0">
                <a:solidFill>
                  <a:srgbClr val="4472C4"/>
                </a:solidFill>
                <a:latin typeface="Courier New"/>
              </a:rPr>
              <a:t>(g)</a:t>
            </a:r>
          </a:p>
          <a:p>
            <a:pPr algn="ctr"/>
            <a:r>
              <a:rPr sz="1200" b="1" i="0">
                <a:solidFill>
                  <a:srgbClr val="4472C4"/>
                </a:solidFill>
                <a:latin typeface="Courier New"/>
              </a:rPr>
              <a:t>swap colors of p, g</a:t>
            </a:r>
          </a:p>
        </p:txBody>
      </p:sp>
      <p:sp>
        <p:nvSpPr>
          <p:cNvPr id="19" name="Right Arrow 18"/>
          <p:cNvSpPr/>
          <p:nvPr/>
        </p:nvSpPr>
        <p:spPr>
          <a:xfrm>
            <a:off x="5532120" y="3246120"/>
            <a:ext cx="731520" cy="329184"/>
          </a:xfrm>
          <a:prstGeom prst="rightArrow">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0" name="Connector 19"/>
          <p:cNvCxnSpPr/>
          <p:nvPr/>
        </p:nvCxnSpPr>
        <p:spPr>
          <a:xfrm flipH="1">
            <a:off x="8138160" y="2286000"/>
            <a:ext cx="731520" cy="86868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8869680" y="2286000"/>
            <a:ext cx="731520" cy="86868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9601200" y="3154680"/>
            <a:ext cx="457200" cy="86868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8631936" y="2048256"/>
            <a:ext cx="475488" cy="475488"/>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631936" y="2048256"/>
            <a:ext cx="475488" cy="475488"/>
          </a:xfrm>
          <a:prstGeom prst="rect">
            <a:avLst/>
          </a:prstGeom>
          <a:noFill/>
        </p:spPr>
        <p:txBody>
          <a:bodyPr wrap="square" lIns="0" tIns="0" rIns="0" bIns="0" anchor="ctr">
            <a:spAutoFit/>
          </a:bodyPr>
          <a:lstStyle/>
          <a:p>
            <a:pPr algn="ctr"/>
            <a:r>
              <a:rPr sz="1400" b="1" i="0">
                <a:solidFill>
                  <a:srgbClr val="FFFFFF"/>
                </a:solidFill>
                <a:latin typeface="Calibri"/>
              </a:rPr>
              <a:t>p</a:t>
            </a:r>
          </a:p>
        </p:txBody>
      </p:sp>
      <p:sp>
        <p:nvSpPr>
          <p:cNvPr id="25" name="Oval 24"/>
          <p:cNvSpPr/>
          <p:nvPr/>
        </p:nvSpPr>
        <p:spPr>
          <a:xfrm>
            <a:off x="7900416" y="2916936"/>
            <a:ext cx="475488" cy="475488"/>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900416" y="2916936"/>
            <a:ext cx="475488" cy="475488"/>
          </a:xfrm>
          <a:prstGeom prst="rect">
            <a:avLst/>
          </a:prstGeom>
          <a:noFill/>
        </p:spPr>
        <p:txBody>
          <a:bodyPr wrap="square" lIns="0" tIns="0" rIns="0" bIns="0" anchor="ctr">
            <a:spAutoFit/>
          </a:bodyPr>
          <a:lstStyle/>
          <a:p>
            <a:pPr algn="ctr"/>
            <a:r>
              <a:rPr sz="1400" b="1" i="0">
                <a:solidFill>
                  <a:srgbClr val="FFFFFF"/>
                </a:solidFill>
                <a:latin typeface="Calibri"/>
              </a:rPr>
              <a:t>x</a:t>
            </a:r>
          </a:p>
        </p:txBody>
      </p:sp>
      <p:sp>
        <p:nvSpPr>
          <p:cNvPr id="27" name="Oval 26"/>
          <p:cNvSpPr/>
          <p:nvPr/>
        </p:nvSpPr>
        <p:spPr>
          <a:xfrm>
            <a:off x="9363456" y="2916936"/>
            <a:ext cx="475488" cy="475488"/>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363456" y="2916936"/>
            <a:ext cx="475488" cy="475488"/>
          </a:xfrm>
          <a:prstGeom prst="rect">
            <a:avLst/>
          </a:prstGeom>
          <a:noFill/>
        </p:spPr>
        <p:txBody>
          <a:bodyPr wrap="square" lIns="0" tIns="0" rIns="0" bIns="0" anchor="ctr">
            <a:spAutoFit/>
          </a:bodyPr>
          <a:lstStyle/>
          <a:p>
            <a:pPr algn="ctr"/>
            <a:r>
              <a:rPr sz="1400" b="1" i="0">
                <a:solidFill>
                  <a:srgbClr val="FFFFFF"/>
                </a:solidFill>
                <a:latin typeface="Calibri"/>
              </a:rPr>
              <a:t>g</a:t>
            </a:r>
          </a:p>
        </p:txBody>
      </p:sp>
      <p:sp>
        <p:nvSpPr>
          <p:cNvPr id="29" name="Oval 28"/>
          <p:cNvSpPr/>
          <p:nvPr/>
        </p:nvSpPr>
        <p:spPr>
          <a:xfrm>
            <a:off x="9820656" y="3785616"/>
            <a:ext cx="475488" cy="475488"/>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820656" y="3785616"/>
            <a:ext cx="475488" cy="475488"/>
          </a:xfrm>
          <a:prstGeom prst="rect">
            <a:avLst/>
          </a:prstGeom>
          <a:noFill/>
        </p:spPr>
        <p:txBody>
          <a:bodyPr wrap="square" lIns="0" tIns="0" rIns="0" bIns="0" anchor="ctr">
            <a:spAutoFit/>
          </a:bodyPr>
          <a:lstStyle/>
          <a:p>
            <a:pPr algn="ctr"/>
            <a:r>
              <a:rPr sz="1400" b="1" i="0">
                <a:solidFill>
                  <a:srgbClr val="FFFFFF"/>
                </a:solidFill>
                <a:latin typeface="Calibri"/>
              </a:rPr>
              <a:t>u</a:t>
            </a:r>
          </a:p>
        </p:txBody>
      </p:sp>
      <p:sp>
        <p:nvSpPr>
          <p:cNvPr id="31" name="TextBox 30"/>
          <p:cNvSpPr txBox="1"/>
          <p:nvPr/>
        </p:nvSpPr>
        <p:spPr>
          <a:xfrm>
            <a:off x="7223760" y="4343400"/>
            <a:ext cx="3291840" cy="274320"/>
          </a:xfrm>
          <a:prstGeom prst="rect">
            <a:avLst/>
          </a:prstGeom>
          <a:noFill/>
        </p:spPr>
        <p:txBody>
          <a:bodyPr wrap="square" lIns="0" tIns="0" rIns="0" bIns="0" anchor="t">
            <a:spAutoFit/>
          </a:bodyPr>
          <a:lstStyle/>
          <a:p>
            <a:pPr algn="ctr"/>
            <a:r>
              <a:rPr sz="1200" b="0" i="0">
                <a:solidFill>
                  <a:srgbClr val="595959"/>
                </a:solidFill>
                <a:latin typeface="Calibri"/>
              </a:rPr>
              <a:t>After: no red–red pair, stop</a:t>
            </a:r>
          </a:p>
        </p:txBody>
      </p:sp>
      <p:sp>
        <p:nvSpPr>
          <p:cNvPr id="32" name="Rounded Rectangle 31"/>
          <p:cNvSpPr/>
          <p:nvPr/>
        </p:nvSpPr>
        <p:spPr>
          <a:xfrm>
            <a:off x="548640" y="4846320"/>
            <a:ext cx="5422392" cy="1371600"/>
          </a:xfrm>
          <a:prstGeom prst="roundRect">
            <a:avLst>
              <a:gd name="adj" fmla="val 5000"/>
            </a:avLst>
          </a:prstGeom>
          <a:solidFill>
            <a:srgbClr val="F5F5F5"/>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22959" y="4983480"/>
            <a:ext cx="4846320" cy="215444"/>
          </a:xfrm>
          <a:prstGeom prst="rect">
            <a:avLst/>
          </a:prstGeom>
          <a:noFill/>
        </p:spPr>
        <p:txBody>
          <a:bodyPr wrap="square" lIns="0" tIns="0" rIns="0" bIns="0" anchor="t">
            <a:spAutoFit/>
          </a:bodyPr>
          <a:lstStyle/>
          <a:p>
            <a:pPr algn="l"/>
            <a:r>
              <a:rPr lang="en-US" sz="1400" b="1" i="0">
                <a:solidFill>
                  <a:srgbClr val="333F50"/>
                </a:solidFill>
                <a:latin typeface="Calibri"/>
              </a:rPr>
              <a:t>One right rotation at g</a:t>
            </a:r>
            <a:endParaRPr sz="1400" b="1" i="0">
              <a:solidFill>
                <a:srgbClr val="333F50"/>
              </a:solidFill>
              <a:latin typeface="Calibri"/>
            </a:endParaRPr>
          </a:p>
        </p:txBody>
      </p:sp>
      <p:sp>
        <p:nvSpPr>
          <p:cNvPr id="34" name="TextBox 33"/>
          <p:cNvSpPr txBox="1"/>
          <p:nvPr/>
        </p:nvSpPr>
        <p:spPr>
          <a:xfrm>
            <a:off x="822959" y="5349240"/>
            <a:ext cx="4846320" cy="400110"/>
          </a:xfrm>
          <a:prstGeom prst="rect">
            <a:avLst/>
          </a:prstGeom>
          <a:noFill/>
        </p:spPr>
        <p:txBody>
          <a:bodyPr wrap="square" lIns="0" tIns="0" rIns="0" bIns="0" anchor="t">
            <a:spAutoFit/>
          </a:bodyPr>
          <a:lstStyle/>
          <a:p>
            <a:pPr algn="l"/>
            <a:r>
              <a:rPr lang="en-US" sz="1300" b="0" i="0">
                <a:solidFill>
                  <a:srgbClr val="595959"/>
                </a:solidFill>
                <a:latin typeface="Calibri"/>
              </a:rPr>
              <a:t>Promote p. Move </a:t>
            </a:r>
            <a:r>
              <a:rPr sz="1300" b="0" i="0">
                <a:solidFill>
                  <a:srgbClr val="595959"/>
                </a:solidFill>
                <a:latin typeface="Calibri"/>
              </a:rPr>
              <a:t>g</a:t>
            </a:r>
            <a:r>
              <a:rPr lang="en-US" sz="1300" b="0" i="0">
                <a:solidFill>
                  <a:srgbClr val="595959"/>
                </a:solidFill>
                <a:latin typeface="Calibri"/>
              </a:rPr>
              <a:t> down to </a:t>
            </a:r>
            <a:r>
              <a:rPr sz="1300" b="0" i="0">
                <a:solidFill>
                  <a:srgbClr val="595959"/>
                </a:solidFill>
                <a:latin typeface="Calibri"/>
              </a:rPr>
              <a:t>the </a:t>
            </a:r>
            <a:r>
              <a:rPr lang="en-US" sz="1300" b="0" i="0">
                <a:solidFill>
                  <a:srgbClr val="595959"/>
                </a:solidFill>
                <a:latin typeface="Calibri"/>
              </a:rPr>
              <a:t>right </a:t>
            </a:r>
            <a:r>
              <a:rPr sz="1300" b="0" i="0">
                <a:solidFill>
                  <a:srgbClr val="595959"/>
                </a:solidFill>
                <a:latin typeface="Calibri"/>
              </a:rPr>
              <a:t>of p</a:t>
            </a:r>
            <a:r>
              <a:rPr lang="en-US" sz="1300" b="0" i="0">
                <a:solidFill>
                  <a:srgbClr val="595959"/>
                </a:solidFill>
                <a:latin typeface="Calibri"/>
              </a:rPr>
              <a:t>. Color p black</a:t>
            </a:r>
            <a:r>
              <a:rPr sz="1300" b="0" i="0">
                <a:solidFill>
                  <a:srgbClr val="595959"/>
                </a:solidFill>
                <a:latin typeface="Calibri"/>
              </a:rPr>
              <a:t> and g</a:t>
            </a:r>
            <a:r>
              <a:rPr lang="en-US" sz="1300" b="0" i="0">
                <a:solidFill>
                  <a:srgbClr val="595959"/>
                </a:solidFill>
                <a:latin typeface="Calibri"/>
              </a:rPr>
              <a:t> red. x stays red</a:t>
            </a:r>
            <a:r>
              <a:rPr sz="1300" b="0" i="0">
                <a:solidFill>
                  <a:srgbClr val="595959"/>
                </a:solidFill>
                <a:latin typeface="Calibri"/>
              </a:rPr>
              <a:t>. </a:t>
            </a:r>
            <a:r>
              <a:rPr lang="en-US" sz="1300" b="0" i="0">
                <a:solidFill>
                  <a:srgbClr val="595959"/>
                </a:solidFill>
                <a:latin typeface="Calibri"/>
              </a:rPr>
              <a:t>The red–red pair is gone</a:t>
            </a:r>
            <a:r>
              <a:rPr sz="1300" b="0" i="0">
                <a:solidFill>
                  <a:srgbClr val="595959"/>
                </a:solidFill>
                <a:latin typeface="Calibri"/>
              </a:rPr>
              <a:t>.</a:t>
            </a:r>
          </a:p>
        </p:txBody>
      </p:sp>
      <p:sp>
        <p:nvSpPr>
          <p:cNvPr id="35" name="Rounded Rectangle 34"/>
          <p:cNvSpPr/>
          <p:nvPr/>
        </p:nvSpPr>
        <p:spPr>
          <a:xfrm>
            <a:off x="6217920" y="4846320"/>
            <a:ext cx="5422392" cy="1371600"/>
          </a:xfrm>
          <a:prstGeom prst="roundRect">
            <a:avLst>
              <a:gd name="adj" fmla="val 5000"/>
            </a:avLst>
          </a:prstGeom>
          <a:solidFill>
            <a:srgbClr val="F5F5F5"/>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492240" y="4983480"/>
            <a:ext cx="4846320" cy="215444"/>
          </a:xfrm>
          <a:prstGeom prst="rect">
            <a:avLst/>
          </a:prstGeom>
          <a:noFill/>
        </p:spPr>
        <p:txBody>
          <a:bodyPr wrap="square" lIns="0" tIns="0" rIns="0" bIns="0" anchor="t">
            <a:spAutoFit/>
          </a:bodyPr>
          <a:lstStyle/>
          <a:p>
            <a:pPr algn="l"/>
            <a:r>
              <a:rPr lang="en-US" sz="1400" b="1" i="0">
                <a:solidFill>
                  <a:srgbClr val="333F50"/>
                </a:solidFill>
                <a:latin typeface="Calibri"/>
              </a:rPr>
              <a:t>What if x is a right child?</a:t>
            </a:r>
            <a:endParaRPr sz="1400" b="1" i="0">
              <a:solidFill>
                <a:srgbClr val="333F50"/>
              </a:solidFill>
              <a:latin typeface="Calibri"/>
            </a:endParaRPr>
          </a:p>
        </p:txBody>
      </p:sp>
      <p:sp>
        <p:nvSpPr>
          <p:cNvPr id="37" name="TextBox 36"/>
          <p:cNvSpPr txBox="1"/>
          <p:nvPr/>
        </p:nvSpPr>
        <p:spPr>
          <a:xfrm>
            <a:off x="6492240" y="5349240"/>
            <a:ext cx="4846320" cy="400110"/>
          </a:xfrm>
          <a:prstGeom prst="rect">
            <a:avLst/>
          </a:prstGeom>
          <a:noFill/>
        </p:spPr>
        <p:txBody>
          <a:bodyPr wrap="square" lIns="0" tIns="0" rIns="0" bIns="0" anchor="t">
            <a:spAutoFit/>
          </a:bodyPr>
          <a:lstStyle/>
          <a:p>
            <a:pPr algn="l"/>
            <a:r>
              <a:rPr lang="en-US" sz="1300" b="0" i="0">
                <a:solidFill>
                  <a:srgbClr val="595959"/>
                </a:solidFill>
                <a:latin typeface="Calibri"/>
              </a:rPr>
              <a:t>With </a:t>
            </a:r>
            <a:r>
              <a:rPr sz="1300" b="0" i="0">
                <a:solidFill>
                  <a:srgbClr val="595959"/>
                </a:solidFill>
                <a:latin typeface="Calibri"/>
              </a:rPr>
              <a:t>p </a:t>
            </a:r>
            <a:r>
              <a:rPr lang="en-US" sz="1300" b="0" i="0">
                <a:solidFill>
                  <a:srgbClr val="595959"/>
                </a:solidFill>
                <a:latin typeface="Calibri"/>
              </a:rPr>
              <a:t>on the left</a:t>
            </a:r>
            <a:r>
              <a:rPr sz="1300" b="0" i="0">
                <a:solidFill>
                  <a:srgbClr val="595959"/>
                </a:solidFill>
                <a:latin typeface="Calibri"/>
              </a:rPr>
              <a:t>, </a:t>
            </a:r>
            <a:r>
              <a:rPr lang="en-US" sz="1300" b="0" i="0">
                <a:solidFill>
                  <a:srgbClr val="595959"/>
                </a:solidFill>
                <a:latin typeface="Calibri"/>
              </a:rPr>
              <a:t>that is left-right (LR): two rotations</a:t>
            </a:r>
            <a:r>
              <a:rPr sz="1300" b="0" i="0">
                <a:solidFill>
                  <a:srgbClr val="595959"/>
                </a:solidFill>
                <a:latin typeface="Calibri"/>
              </a:rPr>
              <a:t>. </a:t>
            </a:r>
            <a:r>
              <a:rPr lang="en-US" sz="1300" b="0" i="0">
                <a:solidFill>
                  <a:srgbClr val="595959"/>
                </a:solidFill>
                <a:latin typeface="Calibri"/>
              </a:rPr>
              <a:t>With p on the right, it is right-right (RR): one left rotation</a:t>
            </a:r>
            <a:r>
              <a:rPr sz="1300" b="0" i="0">
                <a:solidFill>
                  <a:srgbClr val="595959"/>
                </a:solidFill>
                <a:latin typeface="Calibri"/>
              </a:rPr>
              <a:t>.</a:t>
            </a:r>
          </a:p>
        </p:txBody>
      </p:sp>
      <p:sp>
        <p:nvSpPr>
          <p:cNvPr id="38" name="TextBox 37"/>
          <p:cNvSpPr txBox="1"/>
          <p:nvPr/>
        </p:nvSpPr>
        <p:spPr>
          <a:xfrm>
            <a:off x="548640" y="6501384"/>
            <a:ext cx="9326880" cy="138499"/>
          </a:xfrm>
          <a:prstGeom prst="rect">
            <a:avLst/>
          </a:prstGeom>
          <a:noFill/>
        </p:spPr>
        <p:txBody>
          <a:bodyPr wrap="square" lIns="0" tIns="0" rIns="0" bIns="0" anchor="t">
            <a:spAutoFit/>
          </a:bodyPr>
          <a:lstStyle/>
          <a:p>
            <a:pPr algn="l"/>
            <a:r>
              <a:rPr lang="en-US" sz="900" b="0" i="0">
                <a:solidFill>
                  <a:srgbClr val="595959"/>
                </a:solidFill>
                <a:latin typeface="Calibri"/>
              </a:rPr>
              <a:t>CS 383 </a:t>
            </a:r>
            <a:r>
              <a:rPr sz="900" b="0" i="0">
                <a:solidFill>
                  <a:srgbClr val="595959"/>
                </a:solidFill>
                <a:latin typeface="Calibri"/>
              </a:rPr>
              <a:t>Algorithm Design </a:t>
            </a:r>
            <a:r>
              <a:rPr lang="en-US" sz="900" b="0" i="0">
                <a:solidFill>
                  <a:srgbClr val="595959"/>
                </a:solidFill>
                <a:latin typeface="Calibri"/>
              </a:rPr>
              <a:t>and Analysis </a:t>
            </a:r>
            <a:r>
              <a:rPr sz="900" b="0" i="0">
                <a:solidFill>
                  <a:srgbClr val="595959"/>
                </a:solidFill>
                <a:latin typeface="Calibri"/>
              </a:rPr>
              <a:t> ·  </a:t>
            </a:r>
            <a:r>
              <a:rPr lang="en-US" sz="900" b="0" i="0">
                <a:solidFill>
                  <a:srgbClr val="595959"/>
                </a:solidFill>
                <a:latin typeface="Calibri"/>
              </a:rPr>
              <a:t>Balanced Binary Search </a:t>
            </a:r>
            <a:r>
              <a:rPr sz="900" b="0" i="0">
                <a:solidFill>
                  <a:srgbClr val="595959"/>
                </a:solidFill>
                <a:latin typeface="Calibri"/>
              </a:rPr>
              <a:t>Trees  ·  </a:t>
            </a:r>
            <a:r>
              <a:rPr lang="en-US" sz="900" b="0" i="0">
                <a:solidFill>
                  <a:srgbClr val="595959"/>
                </a:solidFill>
                <a:latin typeface="Calibri"/>
              </a:rPr>
              <a:t>Tanwistha Saha</a:t>
            </a:r>
            <a:endParaRPr sz="900" b="0" i="0">
              <a:solidFill>
                <a:srgbClr val="595959"/>
              </a:solidFill>
              <a:latin typeface="Calibri"/>
            </a:endParaRPr>
          </a:p>
        </p:txBody>
      </p:sp>
      <p:sp>
        <p:nvSpPr>
          <p:cNvPr id="39" name="TextBox 38"/>
          <p:cNvSpPr txBox="1"/>
          <p:nvPr/>
        </p:nvSpPr>
        <p:spPr>
          <a:xfrm>
            <a:off x="10908792" y="6501384"/>
            <a:ext cx="731520" cy="138499"/>
          </a:xfrm>
          <a:prstGeom prst="rect">
            <a:avLst/>
          </a:prstGeom>
          <a:noFill/>
        </p:spPr>
        <p:txBody>
          <a:bodyPr wrap="square" lIns="0" tIns="0" rIns="0" bIns="0" anchor="t">
            <a:spAutoFit/>
          </a:bodyPr>
          <a:lstStyle/>
          <a:p>
            <a:pPr algn="r"/>
            <a:r>
              <a:rPr lang="en-US" sz="900" b="0" i="0">
                <a:solidFill>
                  <a:srgbClr val="595959"/>
                </a:solidFill>
                <a:latin typeface="Calibri"/>
              </a:rPr>
              <a:t>19</a:t>
            </a:r>
            <a:endParaRPr sz="900" b="0" i="0">
              <a:solidFill>
                <a:srgbClr val="595959"/>
              </a:solidFill>
              <a:latin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9144000" cy="320040"/>
          </a:xfrm>
          <a:prstGeom prst="rect">
            <a:avLst/>
          </a:prstGeom>
          <a:noFill/>
        </p:spPr>
        <p:txBody>
          <a:bodyPr wrap="square" lIns="0" tIns="0" rIns="0" bIns="0" anchor="t">
            <a:spAutoFit/>
          </a:bodyPr>
          <a:lstStyle/>
          <a:p>
            <a:pPr algn="l"/>
            <a:r>
              <a:rPr sz="1200" b="1" i="0">
                <a:solidFill>
                  <a:srgbClr val="4472C4"/>
                </a:solidFill>
                <a:latin typeface="Calibri"/>
              </a:rPr>
              <a:t>INSERTION FIX-UP · CASE 2 · LEFT-RIGHT</a:t>
            </a:r>
          </a:p>
        </p:txBody>
      </p:sp>
      <p:sp>
        <p:nvSpPr>
          <p:cNvPr id="3" name="TextBox 2"/>
          <p:cNvSpPr txBox="1"/>
          <p:nvPr/>
        </p:nvSpPr>
        <p:spPr>
          <a:xfrm>
            <a:off x="548640" y="658368"/>
            <a:ext cx="11064240" cy="640080"/>
          </a:xfrm>
          <a:prstGeom prst="rect">
            <a:avLst/>
          </a:prstGeom>
          <a:noFill/>
        </p:spPr>
        <p:txBody>
          <a:bodyPr wrap="square" lIns="0" tIns="0" rIns="0" bIns="0" anchor="t">
            <a:spAutoFit/>
          </a:bodyPr>
          <a:lstStyle/>
          <a:p>
            <a:pPr algn="l"/>
            <a:r>
              <a:rPr sz="2800" b="1" i="0">
                <a:solidFill>
                  <a:srgbClr val="333F50"/>
                </a:solidFill>
                <a:latin typeface="Calibri Light"/>
              </a:rPr>
              <a:t>x on the inside: the left-right (LR) case</a:t>
            </a:r>
          </a:p>
        </p:txBody>
      </p:sp>
      <p:sp>
        <p:nvSpPr>
          <p:cNvPr id="4" name="TextBox 3"/>
          <p:cNvSpPr txBox="1"/>
          <p:nvPr/>
        </p:nvSpPr>
        <p:spPr>
          <a:xfrm>
            <a:off x="548640" y="1197864"/>
            <a:ext cx="11064240" cy="502920"/>
          </a:xfrm>
          <a:prstGeom prst="rect">
            <a:avLst/>
          </a:prstGeom>
          <a:noFill/>
        </p:spPr>
        <p:txBody>
          <a:bodyPr wrap="square" lIns="0" tIns="0" rIns="0" bIns="0" anchor="t">
            <a:spAutoFit/>
          </a:bodyPr>
          <a:lstStyle/>
          <a:p>
            <a:pPr algn="l"/>
            <a:r>
              <a:rPr sz="1400" b="0" i="0">
                <a:solidFill>
                  <a:srgbClr val="595959"/>
                </a:solidFill>
                <a:latin typeface="Calibri"/>
              </a:rPr>
              <a:t>p is the left child of g, but x is the right child of p. Example: g = 30, p = 10, x = 20. Uncle u is NULL (black).</a:t>
            </a:r>
          </a:p>
        </p:txBody>
      </p:sp>
      <p:sp>
        <p:nvSpPr>
          <p:cNvPr id="5" name="Rounded Rectangle 4"/>
          <p:cNvSpPr/>
          <p:nvPr/>
        </p:nvSpPr>
        <p:spPr>
          <a:xfrm>
            <a:off x="548640" y="1874519"/>
            <a:ext cx="11091672" cy="2788920"/>
          </a:xfrm>
          <a:prstGeom prst="roundRect">
            <a:avLst>
              <a:gd name="adj" fmla="val 5000"/>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548640" y="4846320"/>
            <a:ext cx="5422392" cy="1371600"/>
          </a:xfrm>
          <a:prstGeom prst="roundRect">
            <a:avLst>
              <a:gd name="adj" fmla="val 5000"/>
            </a:avLst>
          </a:prstGeom>
          <a:solidFill>
            <a:srgbClr val="F5F5F5"/>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22959" y="4983480"/>
            <a:ext cx="4846320" cy="320040"/>
          </a:xfrm>
          <a:prstGeom prst="rect">
            <a:avLst/>
          </a:prstGeom>
          <a:noFill/>
        </p:spPr>
        <p:txBody>
          <a:bodyPr wrap="square" lIns="0" tIns="0" rIns="0" bIns="0" anchor="t">
            <a:spAutoFit/>
          </a:bodyPr>
          <a:lstStyle/>
          <a:p>
            <a:pPr algn="l"/>
            <a:r>
              <a:rPr sz="1400" b="1" i="0">
                <a:solidFill>
                  <a:srgbClr val="333F50"/>
                </a:solidFill>
                <a:latin typeface="Calibri"/>
              </a:rPr>
              <a:t>First, straighten the bend</a:t>
            </a:r>
          </a:p>
        </p:txBody>
      </p:sp>
      <p:sp>
        <p:nvSpPr>
          <p:cNvPr id="34" name="TextBox 33"/>
          <p:cNvSpPr txBox="1"/>
          <p:nvPr/>
        </p:nvSpPr>
        <p:spPr>
          <a:xfrm>
            <a:off x="822959" y="5349240"/>
            <a:ext cx="4846320" cy="777240"/>
          </a:xfrm>
          <a:prstGeom prst="rect">
            <a:avLst/>
          </a:prstGeom>
          <a:noFill/>
        </p:spPr>
        <p:txBody>
          <a:bodyPr wrap="square" lIns="0" tIns="0" rIns="0" bIns="0" anchor="t">
            <a:spAutoFit/>
          </a:bodyPr>
          <a:lstStyle/>
          <a:p>
            <a:pPr algn="l"/>
            <a:r>
              <a:rPr sz="1300" b="0" i="0">
                <a:solidFill>
                  <a:srgbClr val="595959"/>
                </a:solidFill>
                <a:latin typeface="Calibri"/>
              </a:rPr>
              <a:t>Rotate left at p: x moves up and p becomes its left child. Keep all colors unchanged during this first rotation.</a:t>
            </a:r>
          </a:p>
        </p:txBody>
      </p:sp>
      <p:sp>
        <p:nvSpPr>
          <p:cNvPr id="35" name="Rounded Rectangle 34"/>
          <p:cNvSpPr/>
          <p:nvPr/>
        </p:nvSpPr>
        <p:spPr>
          <a:xfrm>
            <a:off x="6217920" y="4846320"/>
            <a:ext cx="5422392" cy="1371600"/>
          </a:xfrm>
          <a:prstGeom prst="roundRect">
            <a:avLst>
              <a:gd name="adj" fmla="val 5000"/>
            </a:avLst>
          </a:prstGeom>
          <a:solidFill>
            <a:srgbClr val="F5F5F5"/>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492240" y="4983480"/>
            <a:ext cx="4846320" cy="320040"/>
          </a:xfrm>
          <a:prstGeom prst="rect">
            <a:avLst/>
          </a:prstGeom>
          <a:noFill/>
        </p:spPr>
        <p:txBody>
          <a:bodyPr wrap="square" lIns="0" tIns="0" rIns="0" bIns="0" anchor="t">
            <a:spAutoFit/>
          </a:bodyPr>
          <a:lstStyle/>
          <a:p>
            <a:pPr algn="l"/>
            <a:r>
              <a:rPr sz="1400" b="1" i="0">
                <a:solidFill>
                  <a:srgbClr val="333F50"/>
                </a:solidFill>
                <a:latin typeface="Calibri"/>
              </a:rPr>
              <a:t>Then, finish like the LL case</a:t>
            </a:r>
          </a:p>
        </p:txBody>
      </p:sp>
      <p:sp>
        <p:nvSpPr>
          <p:cNvPr id="37" name="TextBox 36"/>
          <p:cNvSpPr txBox="1"/>
          <p:nvPr/>
        </p:nvSpPr>
        <p:spPr>
          <a:xfrm>
            <a:off x="6492240" y="5349240"/>
            <a:ext cx="4846320" cy="777240"/>
          </a:xfrm>
          <a:prstGeom prst="rect">
            <a:avLst/>
          </a:prstGeom>
          <a:noFill/>
        </p:spPr>
        <p:txBody>
          <a:bodyPr wrap="square" lIns="0" tIns="0" rIns="0" bIns="0" anchor="t">
            <a:spAutoFit/>
          </a:bodyPr>
          <a:lstStyle/>
          <a:p>
            <a:pPr algn="l"/>
            <a:r>
              <a:rPr sz="1300" b="0" i="0">
                <a:solidFill>
                  <a:srgbClr val="595959"/>
                </a:solidFill>
                <a:latin typeface="Calibri"/>
              </a:rPr>
              <a:t>Rotate right at g. Color the new subtree root x black and g red. The labels stay with the original nodes throughout.</a:t>
            </a:r>
          </a:p>
        </p:txBody>
      </p:sp>
      <p:sp>
        <p:nvSpPr>
          <p:cNvPr id="38" name="TextBox 37"/>
          <p:cNvSpPr txBox="1"/>
          <p:nvPr/>
        </p:nvSpPr>
        <p:spPr>
          <a:xfrm>
            <a:off x="548640" y="6501384"/>
            <a:ext cx="9326880" cy="138499"/>
          </a:xfrm>
          <a:prstGeom prst="rect">
            <a:avLst/>
          </a:prstGeom>
          <a:noFill/>
        </p:spPr>
        <p:txBody>
          <a:bodyPr wrap="square" lIns="0" tIns="0" rIns="0" bIns="0" anchor="t">
            <a:spAutoFit/>
          </a:bodyPr>
          <a:lstStyle/>
          <a:p>
            <a:pPr algn="l"/>
            <a:r>
              <a:rPr lang="en-US" sz="900" b="0" i="0">
                <a:solidFill>
                  <a:srgbClr val="595959"/>
                </a:solidFill>
                <a:latin typeface="Calibri"/>
              </a:rPr>
              <a:t>CS 383 </a:t>
            </a:r>
            <a:r>
              <a:rPr sz="900" b="0" i="0">
                <a:solidFill>
                  <a:srgbClr val="595959"/>
                </a:solidFill>
                <a:latin typeface="Calibri"/>
              </a:rPr>
              <a:t>Algorithm Design </a:t>
            </a:r>
            <a:r>
              <a:rPr lang="en-US" sz="900" b="0" i="0">
                <a:solidFill>
                  <a:srgbClr val="595959"/>
                </a:solidFill>
                <a:latin typeface="Calibri"/>
              </a:rPr>
              <a:t>and Analysis </a:t>
            </a:r>
            <a:r>
              <a:rPr sz="900" b="0" i="0">
                <a:solidFill>
                  <a:srgbClr val="595959"/>
                </a:solidFill>
                <a:latin typeface="Calibri"/>
              </a:rPr>
              <a:t> ·  </a:t>
            </a:r>
            <a:r>
              <a:rPr lang="en-US" sz="900" b="0" i="0">
                <a:solidFill>
                  <a:srgbClr val="595959"/>
                </a:solidFill>
                <a:latin typeface="Calibri"/>
              </a:rPr>
              <a:t>Balanced Binary Search </a:t>
            </a:r>
            <a:r>
              <a:rPr sz="900" b="0" i="0">
                <a:solidFill>
                  <a:srgbClr val="595959"/>
                </a:solidFill>
                <a:latin typeface="Calibri"/>
              </a:rPr>
              <a:t>Trees  ·  </a:t>
            </a:r>
            <a:r>
              <a:rPr lang="en-US" sz="900" b="0" i="0">
                <a:solidFill>
                  <a:srgbClr val="595959"/>
                </a:solidFill>
                <a:latin typeface="Calibri"/>
              </a:rPr>
              <a:t>Tanwistha Saha</a:t>
            </a:r>
            <a:endParaRPr sz="900" b="0" i="0">
              <a:solidFill>
                <a:srgbClr val="595959"/>
              </a:solidFill>
              <a:latin typeface="Calibri"/>
            </a:endParaRPr>
          </a:p>
        </p:txBody>
      </p:sp>
      <p:sp>
        <p:nvSpPr>
          <p:cNvPr id="39" name="TextBox 38"/>
          <p:cNvSpPr txBox="1"/>
          <p:nvPr/>
        </p:nvSpPr>
        <p:spPr>
          <a:xfrm>
            <a:off x="10908792" y="6501384"/>
            <a:ext cx="731520" cy="138499"/>
          </a:xfrm>
          <a:prstGeom prst="rect">
            <a:avLst/>
          </a:prstGeom>
          <a:noFill/>
        </p:spPr>
        <p:txBody>
          <a:bodyPr wrap="square" lIns="0" tIns="0" rIns="0" bIns="0" anchor="t">
            <a:spAutoFit/>
          </a:bodyPr>
          <a:lstStyle/>
          <a:p>
            <a:pPr algn="r"/>
            <a:r>
              <a:rPr lang="en-US" sz="900" b="0" i="0">
                <a:solidFill>
                  <a:srgbClr val="595959"/>
                </a:solidFill>
                <a:latin typeface="Calibri"/>
              </a:rPr>
              <a:t>20</a:t>
            </a:r>
            <a:endParaRPr sz="900" b="0" i="0">
              <a:solidFill>
                <a:srgbClr val="595959"/>
              </a:solidFill>
              <a:latin typeface="Calibri"/>
            </a:endParaRPr>
          </a:p>
        </p:txBody>
      </p:sp>
      <p:sp>
        <p:nvSpPr>
          <p:cNvPr id="40" name="TextBox 39"/>
          <p:cNvSpPr txBox="1"/>
          <p:nvPr/>
        </p:nvSpPr>
        <p:spPr>
          <a:xfrm>
            <a:off x="868680" y="2011680"/>
            <a:ext cx="2926080" cy="365760"/>
          </a:xfrm>
          <a:prstGeom prst="rect">
            <a:avLst/>
          </a:prstGeom>
          <a:noFill/>
        </p:spPr>
        <p:txBody>
          <a:bodyPr wrap="square" lIns="0" tIns="0" rIns="0" bIns="0">
            <a:spAutoFit/>
          </a:bodyPr>
          <a:lstStyle/>
          <a:p>
            <a:pPr algn="l"/>
            <a:r>
              <a:rPr sz="1400" b="1">
                <a:solidFill>
                  <a:srgbClr val="333F50"/>
                </a:solidFill>
                <a:latin typeface="Calibri"/>
              </a:rPr>
              <a:t>1. Before: a bend</a:t>
            </a:r>
          </a:p>
        </p:txBody>
      </p:sp>
      <p:sp>
        <p:nvSpPr>
          <p:cNvPr id="41" name="TextBox 40"/>
          <p:cNvSpPr txBox="1"/>
          <p:nvPr/>
        </p:nvSpPr>
        <p:spPr>
          <a:xfrm>
            <a:off x="4617720" y="2011680"/>
            <a:ext cx="2926080" cy="365760"/>
          </a:xfrm>
          <a:prstGeom prst="rect">
            <a:avLst/>
          </a:prstGeom>
          <a:noFill/>
        </p:spPr>
        <p:txBody>
          <a:bodyPr wrap="square" lIns="0" tIns="0" rIns="0" bIns="0">
            <a:spAutoFit/>
          </a:bodyPr>
          <a:lstStyle/>
          <a:p>
            <a:pPr algn="l"/>
            <a:r>
              <a:rPr sz="1400" b="1">
                <a:solidFill>
                  <a:srgbClr val="333F50"/>
                </a:solidFill>
                <a:latin typeface="Calibri"/>
              </a:rPr>
              <a:t>2. LEFTROTATE(p)</a:t>
            </a:r>
          </a:p>
        </p:txBody>
      </p:sp>
      <p:sp>
        <p:nvSpPr>
          <p:cNvPr id="42" name="TextBox 41"/>
          <p:cNvSpPr txBox="1"/>
          <p:nvPr/>
        </p:nvSpPr>
        <p:spPr>
          <a:xfrm>
            <a:off x="8366760" y="2011680"/>
            <a:ext cx="2926080" cy="365760"/>
          </a:xfrm>
          <a:prstGeom prst="rect">
            <a:avLst/>
          </a:prstGeom>
          <a:noFill/>
        </p:spPr>
        <p:txBody>
          <a:bodyPr wrap="square" lIns="0" tIns="0" rIns="0" bIns="0">
            <a:spAutoFit/>
          </a:bodyPr>
          <a:lstStyle/>
          <a:p>
            <a:pPr algn="l"/>
            <a:r>
              <a:rPr sz="1400" b="1">
                <a:solidFill>
                  <a:srgbClr val="333F50"/>
                </a:solidFill>
                <a:latin typeface="Calibri"/>
              </a:rPr>
              <a:t>3. RIGHTROTATE(g)</a:t>
            </a:r>
          </a:p>
        </p:txBody>
      </p:sp>
      <p:cxnSp>
        <p:nvCxnSpPr>
          <p:cNvPr id="43" name="Connector 42"/>
          <p:cNvCxnSpPr/>
          <p:nvPr/>
        </p:nvCxnSpPr>
        <p:spPr>
          <a:xfrm flipH="1">
            <a:off x="1828800" y="2697480"/>
            <a:ext cx="822960" cy="685800"/>
          </a:xfrm>
          <a:prstGeom prst="line">
            <a:avLst/>
          </a:prstGeom>
          <a:ln w="19050">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1828800" y="3383280"/>
            <a:ext cx="548640" cy="685800"/>
          </a:xfrm>
          <a:prstGeom prst="line">
            <a:avLst/>
          </a:prstGeom>
          <a:ln w="19050">
            <a:solidFill>
              <a:srgbClr val="A6A6A6"/>
            </a:solidFill>
          </a:ln>
        </p:spPr>
        <p:style>
          <a:lnRef idx="2">
            <a:schemeClr val="accent1"/>
          </a:lnRef>
          <a:fillRef idx="0">
            <a:schemeClr val="accent1"/>
          </a:fillRef>
          <a:effectRef idx="1">
            <a:schemeClr val="accent1"/>
          </a:effectRef>
          <a:fontRef idx="minor">
            <a:schemeClr val="tx1"/>
          </a:fontRef>
        </p:style>
      </p:cxnSp>
      <p:sp>
        <p:nvSpPr>
          <p:cNvPr id="45" name="Oval 44"/>
          <p:cNvSpPr/>
          <p:nvPr/>
        </p:nvSpPr>
        <p:spPr>
          <a:xfrm>
            <a:off x="2414015" y="2459736"/>
            <a:ext cx="475488" cy="475488"/>
          </a:xfrm>
          <a:prstGeom prst="ellipse">
            <a:avLst/>
          </a:prstGeom>
          <a:solidFill>
            <a:srgbClr val="262626"/>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Calibri"/>
              </a:rPr>
              <a:t>g</a:t>
            </a:r>
          </a:p>
        </p:txBody>
      </p:sp>
      <p:sp>
        <p:nvSpPr>
          <p:cNvPr id="46" name="Oval 45"/>
          <p:cNvSpPr/>
          <p:nvPr/>
        </p:nvSpPr>
        <p:spPr>
          <a:xfrm>
            <a:off x="1591056" y="3145536"/>
            <a:ext cx="475488" cy="475488"/>
          </a:xfrm>
          <a:prstGeom prst="ellipse">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Calibri"/>
              </a:rPr>
              <a:t>p</a:t>
            </a:r>
          </a:p>
        </p:txBody>
      </p:sp>
      <p:sp>
        <p:nvSpPr>
          <p:cNvPr id="47" name="Oval 46"/>
          <p:cNvSpPr/>
          <p:nvPr/>
        </p:nvSpPr>
        <p:spPr>
          <a:xfrm>
            <a:off x="2139696" y="3831336"/>
            <a:ext cx="475488" cy="475488"/>
          </a:xfrm>
          <a:prstGeom prst="ellipse">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Calibri"/>
              </a:rPr>
              <a:t>x</a:t>
            </a:r>
          </a:p>
        </p:txBody>
      </p:sp>
      <p:cxnSp>
        <p:nvCxnSpPr>
          <p:cNvPr id="48" name="Connector 47"/>
          <p:cNvCxnSpPr/>
          <p:nvPr/>
        </p:nvCxnSpPr>
        <p:spPr>
          <a:xfrm flipH="1">
            <a:off x="5852159" y="2697480"/>
            <a:ext cx="640081" cy="685800"/>
          </a:xfrm>
          <a:prstGeom prst="line">
            <a:avLst/>
          </a:prstGeom>
          <a:ln w="19050">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a:off x="5212079" y="3383280"/>
            <a:ext cx="640080" cy="685800"/>
          </a:xfrm>
          <a:prstGeom prst="line">
            <a:avLst/>
          </a:prstGeom>
          <a:ln w="19050">
            <a:solidFill>
              <a:srgbClr val="A6A6A6"/>
            </a:solidFill>
          </a:ln>
        </p:spPr>
        <p:style>
          <a:lnRef idx="2">
            <a:schemeClr val="accent1"/>
          </a:lnRef>
          <a:fillRef idx="0">
            <a:schemeClr val="accent1"/>
          </a:fillRef>
          <a:effectRef idx="1">
            <a:schemeClr val="accent1"/>
          </a:effectRef>
          <a:fontRef idx="minor">
            <a:schemeClr val="tx1"/>
          </a:fontRef>
        </p:style>
      </p:cxnSp>
      <p:sp>
        <p:nvSpPr>
          <p:cNvPr id="50" name="Oval 49"/>
          <p:cNvSpPr/>
          <p:nvPr/>
        </p:nvSpPr>
        <p:spPr>
          <a:xfrm>
            <a:off x="6254496" y="2459736"/>
            <a:ext cx="475488" cy="475488"/>
          </a:xfrm>
          <a:prstGeom prst="ellipse">
            <a:avLst/>
          </a:prstGeom>
          <a:solidFill>
            <a:srgbClr val="262626"/>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Calibri"/>
              </a:rPr>
              <a:t>g</a:t>
            </a:r>
          </a:p>
        </p:txBody>
      </p:sp>
      <p:sp>
        <p:nvSpPr>
          <p:cNvPr id="51" name="Oval 50"/>
          <p:cNvSpPr/>
          <p:nvPr/>
        </p:nvSpPr>
        <p:spPr>
          <a:xfrm>
            <a:off x="5614416" y="3145536"/>
            <a:ext cx="475488" cy="475488"/>
          </a:xfrm>
          <a:prstGeom prst="ellipse">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Calibri"/>
              </a:rPr>
              <a:t>x</a:t>
            </a:r>
          </a:p>
        </p:txBody>
      </p:sp>
      <p:sp>
        <p:nvSpPr>
          <p:cNvPr id="52" name="Oval 51"/>
          <p:cNvSpPr/>
          <p:nvPr/>
        </p:nvSpPr>
        <p:spPr>
          <a:xfrm>
            <a:off x="4974336" y="3831336"/>
            <a:ext cx="475488" cy="475488"/>
          </a:xfrm>
          <a:prstGeom prst="ellipse">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Calibri"/>
              </a:rPr>
              <a:t>p</a:t>
            </a:r>
          </a:p>
        </p:txBody>
      </p:sp>
      <p:cxnSp>
        <p:nvCxnSpPr>
          <p:cNvPr id="53" name="Connector 52"/>
          <p:cNvCxnSpPr/>
          <p:nvPr/>
        </p:nvCxnSpPr>
        <p:spPr>
          <a:xfrm flipH="1">
            <a:off x="8961119" y="2697480"/>
            <a:ext cx="731521" cy="868680"/>
          </a:xfrm>
          <a:prstGeom prst="line">
            <a:avLst/>
          </a:prstGeom>
          <a:ln w="19050">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9692640" y="2697480"/>
            <a:ext cx="731520" cy="868680"/>
          </a:xfrm>
          <a:prstGeom prst="line">
            <a:avLst/>
          </a:prstGeom>
          <a:ln w="19050">
            <a:solidFill>
              <a:srgbClr val="A6A6A6"/>
            </a:solidFill>
          </a:ln>
        </p:spPr>
        <p:style>
          <a:lnRef idx="2">
            <a:schemeClr val="accent1"/>
          </a:lnRef>
          <a:fillRef idx="0">
            <a:schemeClr val="accent1"/>
          </a:fillRef>
          <a:effectRef idx="1">
            <a:schemeClr val="accent1"/>
          </a:effectRef>
          <a:fontRef idx="minor">
            <a:schemeClr val="tx1"/>
          </a:fontRef>
        </p:style>
      </p:cxnSp>
      <p:sp>
        <p:nvSpPr>
          <p:cNvPr id="55" name="Oval 54"/>
          <p:cNvSpPr/>
          <p:nvPr/>
        </p:nvSpPr>
        <p:spPr>
          <a:xfrm>
            <a:off x="9454896" y="2459736"/>
            <a:ext cx="475488" cy="475488"/>
          </a:xfrm>
          <a:prstGeom prst="ellipse">
            <a:avLst/>
          </a:prstGeom>
          <a:solidFill>
            <a:srgbClr val="262626"/>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Calibri"/>
              </a:rPr>
              <a:t>x</a:t>
            </a:r>
          </a:p>
        </p:txBody>
      </p:sp>
      <p:sp>
        <p:nvSpPr>
          <p:cNvPr id="56" name="Oval 55"/>
          <p:cNvSpPr/>
          <p:nvPr/>
        </p:nvSpPr>
        <p:spPr>
          <a:xfrm>
            <a:off x="8723376" y="3328415"/>
            <a:ext cx="475488" cy="475488"/>
          </a:xfrm>
          <a:prstGeom prst="ellipse">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Calibri"/>
              </a:rPr>
              <a:t>p</a:t>
            </a:r>
          </a:p>
        </p:txBody>
      </p:sp>
      <p:sp>
        <p:nvSpPr>
          <p:cNvPr id="57" name="Oval 56"/>
          <p:cNvSpPr/>
          <p:nvPr/>
        </p:nvSpPr>
        <p:spPr>
          <a:xfrm>
            <a:off x="10186416" y="3328415"/>
            <a:ext cx="475488" cy="475488"/>
          </a:xfrm>
          <a:prstGeom prst="ellipse">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Calibri"/>
              </a:rPr>
              <a:t>g</a:t>
            </a:r>
          </a:p>
        </p:txBody>
      </p:sp>
      <p:sp>
        <p:nvSpPr>
          <p:cNvPr id="58" name="TextBox 57"/>
          <p:cNvSpPr txBox="1"/>
          <p:nvPr/>
        </p:nvSpPr>
        <p:spPr>
          <a:xfrm>
            <a:off x="868680" y="4370832"/>
            <a:ext cx="2926080" cy="228600"/>
          </a:xfrm>
          <a:prstGeom prst="rect">
            <a:avLst/>
          </a:prstGeom>
          <a:noFill/>
        </p:spPr>
        <p:txBody>
          <a:bodyPr wrap="square" lIns="0" tIns="0" rIns="0" bIns="0">
            <a:spAutoFit/>
          </a:bodyPr>
          <a:lstStyle/>
          <a:p>
            <a:pPr algn="ctr"/>
            <a:r>
              <a:rPr sz="1200" b="0">
                <a:solidFill>
                  <a:srgbClr val="595959"/>
                </a:solidFill>
                <a:latin typeface="Calibri"/>
              </a:rPr>
              <a:t>x is p’s right child</a:t>
            </a:r>
          </a:p>
        </p:txBody>
      </p:sp>
      <p:sp>
        <p:nvSpPr>
          <p:cNvPr id="59" name="TextBox 58"/>
          <p:cNvSpPr txBox="1"/>
          <p:nvPr/>
        </p:nvSpPr>
        <p:spPr>
          <a:xfrm>
            <a:off x="4617720" y="4370832"/>
            <a:ext cx="2926080" cy="228600"/>
          </a:xfrm>
          <a:prstGeom prst="rect">
            <a:avLst/>
          </a:prstGeom>
          <a:noFill/>
        </p:spPr>
        <p:txBody>
          <a:bodyPr wrap="square" lIns="0" tIns="0" rIns="0" bIns="0">
            <a:spAutoFit/>
          </a:bodyPr>
          <a:lstStyle/>
          <a:p>
            <a:pPr algn="ctr"/>
            <a:r>
              <a:rPr sz="1200" b="0">
                <a:solidFill>
                  <a:srgbClr val="595959"/>
                </a:solidFill>
                <a:latin typeface="Calibri"/>
              </a:rPr>
              <a:t>x moves above p. Now a line.</a:t>
            </a:r>
          </a:p>
        </p:txBody>
      </p:sp>
      <p:sp>
        <p:nvSpPr>
          <p:cNvPr id="60" name="TextBox 59"/>
          <p:cNvSpPr txBox="1"/>
          <p:nvPr/>
        </p:nvSpPr>
        <p:spPr>
          <a:xfrm>
            <a:off x="8366760" y="4370832"/>
            <a:ext cx="2926080" cy="228600"/>
          </a:xfrm>
          <a:prstGeom prst="rect">
            <a:avLst/>
          </a:prstGeom>
          <a:noFill/>
        </p:spPr>
        <p:txBody>
          <a:bodyPr wrap="square" lIns="0" tIns="0" rIns="0" bIns="0">
            <a:spAutoFit/>
          </a:bodyPr>
          <a:lstStyle/>
          <a:p>
            <a:pPr algn="ctr"/>
            <a:r>
              <a:rPr sz="1200" b="0">
                <a:solidFill>
                  <a:srgbClr val="595959"/>
                </a:solidFill>
                <a:latin typeface="Calibri"/>
              </a:rPr>
              <a:t>x black, g red. p stays red.</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9144000" cy="320040"/>
          </a:xfrm>
          <a:prstGeom prst="rect">
            <a:avLst/>
          </a:prstGeom>
          <a:noFill/>
        </p:spPr>
        <p:txBody>
          <a:bodyPr wrap="square" lIns="0" tIns="0" rIns="0" bIns="0" anchor="t">
            <a:spAutoFit/>
          </a:bodyPr>
          <a:lstStyle/>
          <a:p>
            <a:pPr algn="l"/>
            <a:r>
              <a:rPr sz="1200" b="1" i="0">
                <a:solidFill>
                  <a:srgbClr val="4472C4"/>
                </a:solidFill>
                <a:latin typeface="Calibri"/>
              </a:rPr>
              <a:t>INSERTION FIX-UP · CASE 2 · RIGHT-RIGHT</a:t>
            </a:r>
          </a:p>
        </p:txBody>
      </p:sp>
      <p:sp>
        <p:nvSpPr>
          <p:cNvPr id="3" name="TextBox 2"/>
          <p:cNvSpPr txBox="1"/>
          <p:nvPr/>
        </p:nvSpPr>
        <p:spPr>
          <a:xfrm>
            <a:off x="548640" y="658368"/>
            <a:ext cx="11064240" cy="640080"/>
          </a:xfrm>
          <a:prstGeom prst="rect">
            <a:avLst/>
          </a:prstGeom>
          <a:noFill/>
        </p:spPr>
        <p:txBody>
          <a:bodyPr wrap="square" lIns="0" tIns="0" rIns="0" bIns="0" anchor="t">
            <a:spAutoFit/>
          </a:bodyPr>
          <a:lstStyle/>
          <a:p>
            <a:pPr algn="l"/>
            <a:r>
              <a:rPr sz="2800" b="1" i="0">
                <a:solidFill>
                  <a:srgbClr val="333F50"/>
                </a:solidFill>
                <a:latin typeface="Calibri Light"/>
              </a:rPr>
              <a:t>x on the outside: the right-right (RR) case</a:t>
            </a:r>
          </a:p>
        </p:txBody>
      </p:sp>
      <p:sp>
        <p:nvSpPr>
          <p:cNvPr id="4" name="TextBox 3"/>
          <p:cNvSpPr txBox="1"/>
          <p:nvPr/>
        </p:nvSpPr>
        <p:spPr>
          <a:xfrm>
            <a:off x="548640" y="1197864"/>
            <a:ext cx="11064240" cy="502920"/>
          </a:xfrm>
          <a:prstGeom prst="rect">
            <a:avLst/>
          </a:prstGeom>
          <a:noFill/>
        </p:spPr>
        <p:txBody>
          <a:bodyPr wrap="square" lIns="0" tIns="0" rIns="0" bIns="0" anchor="t">
            <a:spAutoFit/>
          </a:bodyPr>
          <a:lstStyle/>
          <a:p>
            <a:pPr algn="l"/>
            <a:r>
              <a:rPr sz="1400" b="0" i="0">
                <a:solidFill>
                  <a:srgbClr val="595959"/>
                </a:solidFill>
                <a:latin typeface="Calibri"/>
              </a:rPr>
              <a:t>p is the right child of g, and x is the right child of p. Example: g = 10, p = 20, x = 30. Uncle u is NULL (black).</a:t>
            </a:r>
          </a:p>
        </p:txBody>
      </p:sp>
      <p:sp>
        <p:nvSpPr>
          <p:cNvPr id="5" name="Rounded Rectangle 4"/>
          <p:cNvSpPr/>
          <p:nvPr/>
        </p:nvSpPr>
        <p:spPr>
          <a:xfrm>
            <a:off x="548640" y="1874519"/>
            <a:ext cx="11091672" cy="2788920"/>
          </a:xfrm>
          <a:prstGeom prst="roundRect">
            <a:avLst>
              <a:gd name="adj" fmla="val 5000"/>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548640" y="4846320"/>
            <a:ext cx="5422392" cy="1371600"/>
          </a:xfrm>
          <a:prstGeom prst="roundRect">
            <a:avLst>
              <a:gd name="adj" fmla="val 5000"/>
            </a:avLst>
          </a:prstGeom>
          <a:solidFill>
            <a:srgbClr val="F5F5F5"/>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22959" y="4983480"/>
            <a:ext cx="4846320" cy="320040"/>
          </a:xfrm>
          <a:prstGeom prst="rect">
            <a:avLst/>
          </a:prstGeom>
          <a:noFill/>
        </p:spPr>
        <p:txBody>
          <a:bodyPr wrap="square" lIns="0" tIns="0" rIns="0" bIns="0" anchor="t">
            <a:spAutoFit/>
          </a:bodyPr>
          <a:lstStyle/>
          <a:p>
            <a:pPr algn="l"/>
            <a:r>
              <a:rPr sz="1400" b="1" i="0">
                <a:solidFill>
                  <a:srgbClr val="333F50"/>
                </a:solidFill>
                <a:latin typeface="Calibri"/>
              </a:rPr>
              <a:t>The mirror of left-left</a:t>
            </a:r>
          </a:p>
        </p:txBody>
      </p:sp>
      <p:sp>
        <p:nvSpPr>
          <p:cNvPr id="34" name="TextBox 33"/>
          <p:cNvSpPr txBox="1"/>
          <p:nvPr/>
        </p:nvSpPr>
        <p:spPr>
          <a:xfrm>
            <a:off x="822959" y="5349240"/>
            <a:ext cx="4846320" cy="777240"/>
          </a:xfrm>
          <a:prstGeom prst="rect">
            <a:avLst/>
          </a:prstGeom>
          <a:noFill/>
        </p:spPr>
        <p:txBody>
          <a:bodyPr wrap="square" lIns="0" tIns="0" rIns="0" bIns="0" anchor="t">
            <a:spAutoFit/>
          </a:bodyPr>
          <a:lstStyle/>
          <a:p>
            <a:pPr algn="l"/>
            <a:r>
              <a:rPr sz="1300" b="0" i="0">
                <a:solidFill>
                  <a:srgbClr val="595959"/>
                </a:solidFill>
                <a:latin typeface="Calibri"/>
              </a:rPr>
              <a:t>LL needs a right rotation at g. RR needs a left rotation at g. In both, p becomes the black root of this subtree.</a:t>
            </a:r>
          </a:p>
        </p:txBody>
      </p:sp>
      <p:sp>
        <p:nvSpPr>
          <p:cNvPr id="35" name="Rounded Rectangle 34"/>
          <p:cNvSpPr/>
          <p:nvPr/>
        </p:nvSpPr>
        <p:spPr>
          <a:xfrm>
            <a:off x="6217920" y="4846320"/>
            <a:ext cx="5422392" cy="1371600"/>
          </a:xfrm>
          <a:prstGeom prst="roundRect">
            <a:avLst>
              <a:gd name="adj" fmla="val 5000"/>
            </a:avLst>
          </a:prstGeom>
          <a:solidFill>
            <a:srgbClr val="F5F5F5"/>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492240" y="4983480"/>
            <a:ext cx="4846320" cy="320040"/>
          </a:xfrm>
          <a:prstGeom prst="rect">
            <a:avLst/>
          </a:prstGeom>
          <a:noFill/>
        </p:spPr>
        <p:txBody>
          <a:bodyPr wrap="square" lIns="0" tIns="0" rIns="0" bIns="0" anchor="t">
            <a:spAutoFit/>
          </a:bodyPr>
          <a:lstStyle/>
          <a:p>
            <a:pPr algn="l"/>
            <a:r>
              <a:rPr sz="1400" b="1" i="0">
                <a:solidFill>
                  <a:srgbClr val="333F50"/>
                </a:solidFill>
                <a:latin typeface="Calibri"/>
              </a:rPr>
              <a:t>One rotation, then recoloring</a:t>
            </a:r>
          </a:p>
        </p:txBody>
      </p:sp>
      <p:sp>
        <p:nvSpPr>
          <p:cNvPr id="37" name="TextBox 36"/>
          <p:cNvSpPr txBox="1"/>
          <p:nvPr/>
        </p:nvSpPr>
        <p:spPr>
          <a:xfrm>
            <a:off x="6492240" y="5349240"/>
            <a:ext cx="4846320" cy="777240"/>
          </a:xfrm>
          <a:prstGeom prst="rect">
            <a:avLst/>
          </a:prstGeom>
          <a:noFill/>
        </p:spPr>
        <p:txBody>
          <a:bodyPr wrap="square" lIns="0" tIns="0" rIns="0" bIns="0" anchor="t">
            <a:spAutoFit/>
          </a:bodyPr>
          <a:lstStyle/>
          <a:p>
            <a:pPr algn="l"/>
            <a:r>
              <a:rPr sz="1300" b="0" i="0">
                <a:solidFill>
                  <a:srgbClr val="595959"/>
                </a:solidFill>
                <a:latin typeface="Calibri"/>
              </a:rPr>
              <a:t>The middle picture is an intermediate step. After recoloring, p is black with red children. Black counts match again.</a:t>
            </a:r>
          </a:p>
        </p:txBody>
      </p:sp>
      <p:sp>
        <p:nvSpPr>
          <p:cNvPr id="38" name="TextBox 37"/>
          <p:cNvSpPr txBox="1"/>
          <p:nvPr/>
        </p:nvSpPr>
        <p:spPr>
          <a:xfrm>
            <a:off x="548640" y="6501384"/>
            <a:ext cx="9326880" cy="138499"/>
          </a:xfrm>
          <a:prstGeom prst="rect">
            <a:avLst/>
          </a:prstGeom>
          <a:noFill/>
        </p:spPr>
        <p:txBody>
          <a:bodyPr wrap="square" lIns="0" tIns="0" rIns="0" bIns="0" anchor="t">
            <a:spAutoFit/>
          </a:bodyPr>
          <a:lstStyle/>
          <a:p>
            <a:pPr algn="l"/>
            <a:r>
              <a:rPr lang="en-US" sz="900" b="0" i="0">
                <a:solidFill>
                  <a:srgbClr val="595959"/>
                </a:solidFill>
                <a:latin typeface="Calibri"/>
              </a:rPr>
              <a:t>CS 383 </a:t>
            </a:r>
            <a:r>
              <a:rPr sz="900" b="0" i="0">
                <a:solidFill>
                  <a:srgbClr val="595959"/>
                </a:solidFill>
                <a:latin typeface="Calibri"/>
              </a:rPr>
              <a:t>Algorithm Design </a:t>
            </a:r>
            <a:r>
              <a:rPr lang="en-US" sz="900" b="0" i="0">
                <a:solidFill>
                  <a:srgbClr val="595959"/>
                </a:solidFill>
                <a:latin typeface="Calibri"/>
              </a:rPr>
              <a:t>and Analysis </a:t>
            </a:r>
            <a:r>
              <a:rPr sz="900" b="0" i="0">
                <a:solidFill>
                  <a:srgbClr val="595959"/>
                </a:solidFill>
                <a:latin typeface="Calibri"/>
              </a:rPr>
              <a:t> ·  </a:t>
            </a:r>
            <a:r>
              <a:rPr lang="en-US" sz="900" b="0" i="0">
                <a:solidFill>
                  <a:srgbClr val="595959"/>
                </a:solidFill>
                <a:latin typeface="Calibri"/>
              </a:rPr>
              <a:t>Balanced Binary Search </a:t>
            </a:r>
            <a:r>
              <a:rPr sz="900" b="0" i="0">
                <a:solidFill>
                  <a:srgbClr val="595959"/>
                </a:solidFill>
                <a:latin typeface="Calibri"/>
              </a:rPr>
              <a:t>Trees  ·  </a:t>
            </a:r>
            <a:r>
              <a:rPr lang="en-US" sz="900" b="0" i="0">
                <a:solidFill>
                  <a:srgbClr val="595959"/>
                </a:solidFill>
                <a:latin typeface="Calibri"/>
              </a:rPr>
              <a:t>Tanwistha Saha</a:t>
            </a:r>
            <a:endParaRPr sz="900" b="0" i="0">
              <a:solidFill>
                <a:srgbClr val="595959"/>
              </a:solidFill>
              <a:latin typeface="Calibri"/>
            </a:endParaRPr>
          </a:p>
        </p:txBody>
      </p:sp>
      <p:sp>
        <p:nvSpPr>
          <p:cNvPr id="39" name="TextBox 38"/>
          <p:cNvSpPr txBox="1"/>
          <p:nvPr/>
        </p:nvSpPr>
        <p:spPr>
          <a:xfrm>
            <a:off x="10908792" y="6501384"/>
            <a:ext cx="731520" cy="138499"/>
          </a:xfrm>
          <a:prstGeom prst="rect">
            <a:avLst/>
          </a:prstGeom>
          <a:noFill/>
        </p:spPr>
        <p:txBody>
          <a:bodyPr wrap="square" lIns="0" tIns="0" rIns="0" bIns="0" anchor="t">
            <a:spAutoFit/>
          </a:bodyPr>
          <a:lstStyle/>
          <a:p>
            <a:pPr algn="r"/>
            <a:r>
              <a:rPr lang="en-US" sz="900" b="0" i="0">
                <a:solidFill>
                  <a:srgbClr val="595959"/>
                </a:solidFill>
                <a:latin typeface="Calibri"/>
              </a:rPr>
              <a:t>21</a:t>
            </a:r>
            <a:endParaRPr sz="900" b="0" i="0">
              <a:solidFill>
                <a:srgbClr val="595959"/>
              </a:solidFill>
              <a:latin typeface="Calibri"/>
            </a:endParaRPr>
          </a:p>
        </p:txBody>
      </p:sp>
      <p:sp>
        <p:nvSpPr>
          <p:cNvPr id="40" name="TextBox 39"/>
          <p:cNvSpPr txBox="1"/>
          <p:nvPr/>
        </p:nvSpPr>
        <p:spPr>
          <a:xfrm>
            <a:off x="868680" y="2011680"/>
            <a:ext cx="2926080" cy="365760"/>
          </a:xfrm>
          <a:prstGeom prst="rect">
            <a:avLst/>
          </a:prstGeom>
          <a:noFill/>
        </p:spPr>
        <p:txBody>
          <a:bodyPr wrap="square" lIns="0" tIns="0" rIns="0" bIns="0">
            <a:spAutoFit/>
          </a:bodyPr>
          <a:lstStyle/>
          <a:p>
            <a:pPr algn="l"/>
            <a:r>
              <a:rPr sz="1400" b="1">
                <a:solidFill>
                  <a:srgbClr val="333F50"/>
                </a:solidFill>
                <a:latin typeface="Calibri"/>
              </a:rPr>
              <a:t>1. Before: a line</a:t>
            </a:r>
          </a:p>
        </p:txBody>
      </p:sp>
      <p:sp>
        <p:nvSpPr>
          <p:cNvPr id="41" name="TextBox 40"/>
          <p:cNvSpPr txBox="1"/>
          <p:nvPr/>
        </p:nvSpPr>
        <p:spPr>
          <a:xfrm>
            <a:off x="4617720" y="2011680"/>
            <a:ext cx="2926080" cy="365760"/>
          </a:xfrm>
          <a:prstGeom prst="rect">
            <a:avLst/>
          </a:prstGeom>
          <a:noFill/>
        </p:spPr>
        <p:txBody>
          <a:bodyPr wrap="square" lIns="0" tIns="0" rIns="0" bIns="0">
            <a:spAutoFit/>
          </a:bodyPr>
          <a:lstStyle/>
          <a:p>
            <a:pPr algn="l"/>
            <a:r>
              <a:rPr sz="1400" b="1">
                <a:solidFill>
                  <a:srgbClr val="333F50"/>
                </a:solidFill>
                <a:latin typeface="Calibri"/>
              </a:rPr>
              <a:t>2. LEFTROTATE(g)</a:t>
            </a:r>
          </a:p>
        </p:txBody>
      </p:sp>
      <p:sp>
        <p:nvSpPr>
          <p:cNvPr id="42" name="TextBox 41"/>
          <p:cNvSpPr txBox="1"/>
          <p:nvPr/>
        </p:nvSpPr>
        <p:spPr>
          <a:xfrm>
            <a:off x="8366760" y="2011680"/>
            <a:ext cx="2926080" cy="365760"/>
          </a:xfrm>
          <a:prstGeom prst="rect">
            <a:avLst/>
          </a:prstGeom>
          <a:noFill/>
        </p:spPr>
        <p:txBody>
          <a:bodyPr wrap="square" lIns="0" tIns="0" rIns="0" bIns="0">
            <a:spAutoFit/>
          </a:bodyPr>
          <a:lstStyle/>
          <a:p>
            <a:pPr algn="l"/>
            <a:r>
              <a:rPr sz="1400" b="1">
                <a:solidFill>
                  <a:srgbClr val="333F50"/>
                </a:solidFill>
                <a:latin typeface="Calibri"/>
              </a:rPr>
              <a:t>3. Recolor and stop</a:t>
            </a:r>
          </a:p>
        </p:txBody>
      </p:sp>
      <p:cxnSp>
        <p:nvCxnSpPr>
          <p:cNvPr id="43" name="Connector 42"/>
          <p:cNvCxnSpPr/>
          <p:nvPr/>
        </p:nvCxnSpPr>
        <p:spPr>
          <a:xfrm>
            <a:off x="1554480" y="2697480"/>
            <a:ext cx="640080" cy="685800"/>
          </a:xfrm>
          <a:prstGeom prst="line">
            <a:avLst/>
          </a:prstGeom>
          <a:ln w="19050">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2194560" y="3383280"/>
            <a:ext cx="640079" cy="685800"/>
          </a:xfrm>
          <a:prstGeom prst="line">
            <a:avLst/>
          </a:prstGeom>
          <a:ln w="19050">
            <a:solidFill>
              <a:srgbClr val="A6A6A6"/>
            </a:solidFill>
          </a:ln>
        </p:spPr>
        <p:style>
          <a:lnRef idx="2">
            <a:schemeClr val="accent1"/>
          </a:lnRef>
          <a:fillRef idx="0">
            <a:schemeClr val="accent1"/>
          </a:fillRef>
          <a:effectRef idx="1">
            <a:schemeClr val="accent1"/>
          </a:effectRef>
          <a:fontRef idx="minor">
            <a:schemeClr val="tx1"/>
          </a:fontRef>
        </p:style>
      </p:cxnSp>
      <p:sp>
        <p:nvSpPr>
          <p:cNvPr id="45" name="Oval 44"/>
          <p:cNvSpPr/>
          <p:nvPr/>
        </p:nvSpPr>
        <p:spPr>
          <a:xfrm>
            <a:off x="1316736" y="2459736"/>
            <a:ext cx="475488" cy="475488"/>
          </a:xfrm>
          <a:prstGeom prst="ellipse">
            <a:avLst/>
          </a:prstGeom>
          <a:solidFill>
            <a:srgbClr val="262626"/>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Calibri"/>
              </a:rPr>
              <a:t>g</a:t>
            </a:r>
          </a:p>
        </p:txBody>
      </p:sp>
      <p:sp>
        <p:nvSpPr>
          <p:cNvPr id="46" name="Oval 45"/>
          <p:cNvSpPr/>
          <p:nvPr/>
        </p:nvSpPr>
        <p:spPr>
          <a:xfrm>
            <a:off x="1956815" y="3145536"/>
            <a:ext cx="475488" cy="475488"/>
          </a:xfrm>
          <a:prstGeom prst="ellipse">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Calibri"/>
              </a:rPr>
              <a:t>p</a:t>
            </a:r>
          </a:p>
        </p:txBody>
      </p:sp>
      <p:sp>
        <p:nvSpPr>
          <p:cNvPr id="47" name="Oval 46"/>
          <p:cNvSpPr/>
          <p:nvPr/>
        </p:nvSpPr>
        <p:spPr>
          <a:xfrm>
            <a:off x="2596896" y="3831336"/>
            <a:ext cx="475488" cy="475488"/>
          </a:xfrm>
          <a:prstGeom prst="ellipse">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Calibri"/>
              </a:rPr>
              <a:t>x</a:t>
            </a:r>
          </a:p>
        </p:txBody>
      </p:sp>
      <p:cxnSp>
        <p:nvCxnSpPr>
          <p:cNvPr id="48" name="Connector 47"/>
          <p:cNvCxnSpPr/>
          <p:nvPr/>
        </p:nvCxnSpPr>
        <p:spPr>
          <a:xfrm flipH="1">
            <a:off x="5303520" y="2697480"/>
            <a:ext cx="731520" cy="868680"/>
          </a:xfrm>
          <a:prstGeom prst="line">
            <a:avLst/>
          </a:prstGeom>
          <a:ln w="19050">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6035040" y="2697480"/>
            <a:ext cx="731519" cy="868680"/>
          </a:xfrm>
          <a:prstGeom prst="line">
            <a:avLst/>
          </a:prstGeom>
          <a:ln w="19050">
            <a:solidFill>
              <a:srgbClr val="A6A6A6"/>
            </a:solidFill>
          </a:ln>
        </p:spPr>
        <p:style>
          <a:lnRef idx="2">
            <a:schemeClr val="accent1"/>
          </a:lnRef>
          <a:fillRef idx="0">
            <a:schemeClr val="accent1"/>
          </a:fillRef>
          <a:effectRef idx="1">
            <a:schemeClr val="accent1"/>
          </a:effectRef>
          <a:fontRef idx="minor">
            <a:schemeClr val="tx1"/>
          </a:fontRef>
        </p:style>
      </p:cxnSp>
      <p:sp>
        <p:nvSpPr>
          <p:cNvPr id="50" name="Oval 49"/>
          <p:cNvSpPr/>
          <p:nvPr/>
        </p:nvSpPr>
        <p:spPr>
          <a:xfrm>
            <a:off x="5797296" y="2459736"/>
            <a:ext cx="475488" cy="475488"/>
          </a:xfrm>
          <a:prstGeom prst="ellipse">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Calibri"/>
              </a:rPr>
              <a:t>p</a:t>
            </a:r>
          </a:p>
        </p:txBody>
      </p:sp>
      <p:sp>
        <p:nvSpPr>
          <p:cNvPr id="51" name="Oval 50"/>
          <p:cNvSpPr/>
          <p:nvPr/>
        </p:nvSpPr>
        <p:spPr>
          <a:xfrm>
            <a:off x="5065776" y="3328415"/>
            <a:ext cx="475488" cy="475488"/>
          </a:xfrm>
          <a:prstGeom prst="ellipse">
            <a:avLst/>
          </a:prstGeom>
          <a:solidFill>
            <a:srgbClr val="262626"/>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Calibri"/>
              </a:rPr>
              <a:t>g</a:t>
            </a:r>
          </a:p>
        </p:txBody>
      </p:sp>
      <p:sp>
        <p:nvSpPr>
          <p:cNvPr id="52" name="Oval 51"/>
          <p:cNvSpPr/>
          <p:nvPr/>
        </p:nvSpPr>
        <p:spPr>
          <a:xfrm>
            <a:off x="6528816" y="3328415"/>
            <a:ext cx="475488" cy="475488"/>
          </a:xfrm>
          <a:prstGeom prst="ellipse">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Calibri"/>
              </a:rPr>
              <a:t>x</a:t>
            </a:r>
          </a:p>
        </p:txBody>
      </p:sp>
      <p:cxnSp>
        <p:nvCxnSpPr>
          <p:cNvPr id="53" name="Connector 52"/>
          <p:cNvCxnSpPr/>
          <p:nvPr/>
        </p:nvCxnSpPr>
        <p:spPr>
          <a:xfrm flipH="1">
            <a:off x="8961119" y="2697480"/>
            <a:ext cx="731521" cy="868680"/>
          </a:xfrm>
          <a:prstGeom prst="line">
            <a:avLst/>
          </a:prstGeom>
          <a:ln w="19050">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9692640" y="2697480"/>
            <a:ext cx="731520" cy="868680"/>
          </a:xfrm>
          <a:prstGeom prst="line">
            <a:avLst/>
          </a:prstGeom>
          <a:ln w="19050">
            <a:solidFill>
              <a:srgbClr val="A6A6A6"/>
            </a:solidFill>
          </a:ln>
        </p:spPr>
        <p:style>
          <a:lnRef idx="2">
            <a:schemeClr val="accent1"/>
          </a:lnRef>
          <a:fillRef idx="0">
            <a:schemeClr val="accent1"/>
          </a:fillRef>
          <a:effectRef idx="1">
            <a:schemeClr val="accent1"/>
          </a:effectRef>
          <a:fontRef idx="minor">
            <a:schemeClr val="tx1"/>
          </a:fontRef>
        </p:style>
      </p:cxnSp>
      <p:sp>
        <p:nvSpPr>
          <p:cNvPr id="55" name="Oval 54"/>
          <p:cNvSpPr/>
          <p:nvPr/>
        </p:nvSpPr>
        <p:spPr>
          <a:xfrm>
            <a:off x="9454896" y="2459736"/>
            <a:ext cx="475488" cy="475488"/>
          </a:xfrm>
          <a:prstGeom prst="ellipse">
            <a:avLst/>
          </a:prstGeom>
          <a:solidFill>
            <a:srgbClr val="262626"/>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Calibri"/>
              </a:rPr>
              <a:t>p</a:t>
            </a:r>
          </a:p>
        </p:txBody>
      </p:sp>
      <p:sp>
        <p:nvSpPr>
          <p:cNvPr id="56" name="Oval 55"/>
          <p:cNvSpPr/>
          <p:nvPr/>
        </p:nvSpPr>
        <p:spPr>
          <a:xfrm>
            <a:off x="8723376" y="3328415"/>
            <a:ext cx="475488" cy="475488"/>
          </a:xfrm>
          <a:prstGeom prst="ellipse">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Calibri"/>
              </a:rPr>
              <a:t>g</a:t>
            </a:r>
          </a:p>
        </p:txBody>
      </p:sp>
      <p:sp>
        <p:nvSpPr>
          <p:cNvPr id="57" name="Oval 56"/>
          <p:cNvSpPr/>
          <p:nvPr/>
        </p:nvSpPr>
        <p:spPr>
          <a:xfrm>
            <a:off x="10186416" y="3328415"/>
            <a:ext cx="475488" cy="475488"/>
          </a:xfrm>
          <a:prstGeom prst="ellipse">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Calibri"/>
              </a:rPr>
              <a:t>x</a:t>
            </a:r>
          </a:p>
        </p:txBody>
      </p:sp>
      <p:sp>
        <p:nvSpPr>
          <p:cNvPr id="58" name="TextBox 57"/>
          <p:cNvSpPr txBox="1"/>
          <p:nvPr/>
        </p:nvSpPr>
        <p:spPr>
          <a:xfrm>
            <a:off x="868680" y="4370832"/>
            <a:ext cx="2926080" cy="228600"/>
          </a:xfrm>
          <a:prstGeom prst="rect">
            <a:avLst/>
          </a:prstGeom>
          <a:noFill/>
        </p:spPr>
        <p:txBody>
          <a:bodyPr wrap="square" lIns="0" tIns="0" rIns="0" bIns="0">
            <a:spAutoFit/>
          </a:bodyPr>
          <a:lstStyle/>
          <a:p>
            <a:pPr algn="ctr"/>
            <a:r>
              <a:rPr sz="1200" b="0">
                <a:solidFill>
                  <a:srgbClr val="595959"/>
                </a:solidFill>
                <a:latin typeface="Calibri"/>
              </a:rPr>
              <a:t>Right, then right</a:t>
            </a:r>
          </a:p>
        </p:txBody>
      </p:sp>
      <p:sp>
        <p:nvSpPr>
          <p:cNvPr id="59" name="TextBox 58"/>
          <p:cNvSpPr txBox="1"/>
          <p:nvPr/>
        </p:nvSpPr>
        <p:spPr>
          <a:xfrm>
            <a:off x="4617720" y="4370832"/>
            <a:ext cx="2926080" cy="228600"/>
          </a:xfrm>
          <a:prstGeom prst="rect">
            <a:avLst/>
          </a:prstGeom>
          <a:noFill/>
        </p:spPr>
        <p:txBody>
          <a:bodyPr wrap="square" lIns="0" tIns="0" rIns="0" bIns="0">
            <a:spAutoFit/>
          </a:bodyPr>
          <a:lstStyle/>
          <a:p>
            <a:pPr algn="ctr"/>
            <a:r>
              <a:rPr sz="1200" b="0">
                <a:solidFill>
                  <a:srgbClr val="595959"/>
                </a:solidFill>
                <a:latin typeface="Calibri"/>
              </a:rPr>
              <a:t>p moves above g</a:t>
            </a:r>
          </a:p>
        </p:txBody>
      </p:sp>
      <p:sp>
        <p:nvSpPr>
          <p:cNvPr id="60" name="TextBox 59"/>
          <p:cNvSpPr txBox="1"/>
          <p:nvPr/>
        </p:nvSpPr>
        <p:spPr>
          <a:xfrm>
            <a:off x="8366760" y="4370832"/>
            <a:ext cx="2926080" cy="228600"/>
          </a:xfrm>
          <a:prstGeom prst="rect">
            <a:avLst/>
          </a:prstGeom>
          <a:noFill/>
        </p:spPr>
        <p:txBody>
          <a:bodyPr wrap="square" lIns="0" tIns="0" rIns="0" bIns="0">
            <a:spAutoFit/>
          </a:bodyPr>
          <a:lstStyle/>
          <a:p>
            <a:pPr algn="ctr"/>
            <a:r>
              <a:rPr sz="1200" b="0">
                <a:solidFill>
                  <a:srgbClr val="595959"/>
                </a:solidFill>
                <a:latin typeface="Calibri"/>
              </a:rPr>
              <a:t>p black, g red. x stays red.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9144000" cy="320040"/>
          </a:xfrm>
          <a:prstGeom prst="rect">
            <a:avLst/>
          </a:prstGeom>
          <a:noFill/>
        </p:spPr>
        <p:txBody>
          <a:bodyPr wrap="square" lIns="0" tIns="0" rIns="0" bIns="0" anchor="t">
            <a:spAutoFit/>
          </a:bodyPr>
          <a:lstStyle/>
          <a:p>
            <a:pPr algn="l"/>
            <a:r>
              <a:rPr sz="1200" b="1" i="0">
                <a:solidFill>
                  <a:srgbClr val="4472C4"/>
                </a:solidFill>
                <a:latin typeface="Calibri"/>
              </a:rPr>
              <a:t>INSERTION FIX-UP · CASE 2 · RIGHT-LEFT</a:t>
            </a:r>
          </a:p>
        </p:txBody>
      </p:sp>
      <p:sp>
        <p:nvSpPr>
          <p:cNvPr id="3" name="TextBox 2"/>
          <p:cNvSpPr txBox="1"/>
          <p:nvPr/>
        </p:nvSpPr>
        <p:spPr>
          <a:xfrm>
            <a:off x="548640" y="658368"/>
            <a:ext cx="11064240" cy="640080"/>
          </a:xfrm>
          <a:prstGeom prst="rect">
            <a:avLst/>
          </a:prstGeom>
          <a:noFill/>
        </p:spPr>
        <p:txBody>
          <a:bodyPr wrap="square" lIns="0" tIns="0" rIns="0" bIns="0" anchor="t">
            <a:spAutoFit/>
          </a:bodyPr>
          <a:lstStyle/>
          <a:p>
            <a:pPr algn="l"/>
            <a:r>
              <a:rPr sz="2800" b="1" i="0">
                <a:solidFill>
                  <a:srgbClr val="333F50"/>
                </a:solidFill>
                <a:latin typeface="Calibri Light"/>
              </a:rPr>
              <a:t>x on the inside: the right-left (RL) case</a:t>
            </a:r>
          </a:p>
        </p:txBody>
      </p:sp>
      <p:sp>
        <p:nvSpPr>
          <p:cNvPr id="4" name="TextBox 3"/>
          <p:cNvSpPr txBox="1"/>
          <p:nvPr/>
        </p:nvSpPr>
        <p:spPr>
          <a:xfrm>
            <a:off x="548640" y="1197864"/>
            <a:ext cx="11064240" cy="502920"/>
          </a:xfrm>
          <a:prstGeom prst="rect">
            <a:avLst/>
          </a:prstGeom>
          <a:noFill/>
        </p:spPr>
        <p:txBody>
          <a:bodyPr wrap="square" lIns="0" tIns="0" rIns="0" bIns="0" anchor="t">
            <a:spAutoFit/>
          </a:bodyPr>
          <a:lstStyle/>
          <a:p>
            <a:pPr algn="l"/>
            <a:r>
              <a:rPr sz="1400" b="0" i="0">
                <a:solidFill>
                  <a:srgbClr val="595959"/>
                </a:solidFill>
                <a:latin typeface="Calibri"/>
              </a:rPr>
              <a:t>p is the right child of g, but x is the left child of p. Example: g = 10, p = 30, x = 20. Uncle u is NULL (black).</a:t>
            </a:r>
          </a:p>
        </p:txBody>
      </p:sp>
      <p:sp>
        <p:nvSpPr>
          <p:cNvPr id="5" name="Rounded Rectangle 4"/>
          <p:cNvSpPr/>
          <p:nvPr/>
        </p:nvSpPr>
        <p:spPr>
          <a:xfrm>
            <a:off x="548640" y="1874519"/>
            <a:ext cx="11091672" cy="2788920"/>
          </a:xfrm>
          <a:prstGeom prst="roundRect">
            <a:avLst>
              <a:gd name="adj" fmla="val 5000"/>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548640" y="4846320"/>
            <a:ext cx="5422392" cy="1371600"/>
          </a:xfrm>
          <a:prstGeom prst="roundRect">
            <a:avLst>
              <a:gd name="adj" fmla="val 5000"/>
            </a:avLst>
          </a:prstGeom>
          <a:solidFill>
            <a:srgbClr val="F5F5F5"/>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22959" y="4983480"/>
            <a:ext cx="4846320" cy="320040"/>
          </a:xfrm>
          <a:prstGeom prst="rect">
            <a:avLst/>
          </a:prstGeom>
          <a:noFill/>
        </p:spPr>
        <p:txBody>
          <a:bodyPr wrap="square" lIns="0" tIns="0" rIns="0" bIns="0" anchor="t">
            <a:spAutoFit/>
          </a:bodyPr>
          <a:lstStyle/>
          <a:p>
            <a:pPr algn="l"/>
            <a:r>
              <a:rPr sz="1400" b="1" i="0">
                <a:solidFill>
                  <a:srgbClr val="333F50"/>
                </a:solidFill>
                <a:latin typeface="Calibri"/>
              </a:rPr>
              <a:t>First right, then left</a:t>
            </a:r>
          </a:p>
        </p:txBody>
      </p:sp>
      <p:sp>
        <p:nvSpPr>
          <p:cNvPr id="34" name="TextBox 33"/>
          <p:cNvSpPr txBox="1"/>
          <p:nvPr/>
        </p:nvSpPr>
        <p:spPr>
          <a:xfrm>
            <a:off x="822959" y="5349240"/>
            <a:ext cx="4846320" cy="777240"/>
          </a:xfrm>
          <a:prstGeom prst="rect">
            <a:avLst/>
          </a:prstGeom>
          <a:noFill/>
        </p:spPr>
        <p:txBody>
          <a:bodyPr wrap="square" lIns="0" tIns="0" rIns="0" bIns="0" anchor="t">
            <a:spAutoFit/>
          </a:bodyPr>
          <a:lstStyle/>
          <a:p>
            <a:pPr algn="l"/>
            <a:r>
              <a:rPr sz="1300" b="0" i="0">
                <a:solidFill>
                  <a:srgbClr val="595959"/>
                </a:solidFill>
                <a:latin typeface="Calibri"/>
              </a:rPr>
              <a:t>Rotate right at p without recoloring. Then rotate left at g. Color x black and g red. This mirrors the LR case.</a:t>
            </a:r>
          </a:p>
        </p:txBody>
      </p:sp>
      <p:sp>
        <p:nvSpPr>
          <p:cNvPr id="35" name="Rounded Rectangle 34"/>
          <p:cNvSpPr/>
          <p:nvPr/>
        </p:nvSpPr>
        <p:spPr>
          <a:xfrm>
            <a:off x="6217920" y="4846320"/>
            <a:ext cx="5422392" cy="1371600"/>
          </a:xfrm>
          <a:prstGeom prst="roundRect">
            <a:avLst>
              <a:gd name="adj" fmla="val 5000"/>
            </a:avLst>
          </a:prstGeom>
          <a:solidFill>
            <a:srgbClr val="F5F5F5"/>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492240" y="4983480"/>
            <a:ext cx="4846320" cy="320040"/>
          </a:xfrm>
          <a:prstGeom prst="rect">
            <a:avLst/>
          </a:prstGeom>
          <a:noFill/>
        </p:spPr>
        <p:txBody>
          <a:bodyPr wrap="square" lIns="0" tIns="0" rIns="0" bIns="0" anchor="t">
            <a:spAutoFit/>
          </a:bodyPr>
          <a:lstStyle/>
          <a:p>
            <a:pPr algn="l"/>
            <a:r>
              <a:rPr sz="1400" b="1" i="0">
                <a:solidFill>
                  <a:srgbClr val="333F50"/>
                </a:solidFill>
                <a:latin typeface="Calibri"/>
              </a:rPr>
              <a:t>Quick rule for all four shapes</a:t>
            </a:r>
          </a:p>
        </p:txBody>
      </p:sp>
      <p:sp>
        <p:nvSpPr>
          <p:cNvPr id="37" name="TextBox 36"/>
          <p:cNvSpPr txBox="1"/>
          <p:nvPr/>
        </p:nvSpPr>
        <p:spPr>
          <a:xfrm>
            <a:off x="6492240" y="5349240"/>
            <a:ext cx="4846320" cy="777240"/>
          </a:xfrm>
          <a:prstGeom prst="rect">
            <a:avLst/>
          </a:prstGeom>
          <a:noFill/>
        </p:spPr>
        <p:txBody>
          <a:bodyPr wrap="square" lIns="0" tIns="0" rIns="0" bIns="0" anchor="t">
            <a:spAutoFit/>
          </a:bodyPr>
          <a:lstStyle/>
          <a:p>
            <a:pPr algn="l"/>
            <a:r>
              <a:rPr sz="1300" b="0" i="0">
                <a:solidFill>
                  <a:srgbClr val="595959"/>
                </a:solidFill>
                <a:latin typeface="Calibri"/>
              </a:rPr>
              <a:t>Read g, p, x: LL or RR is a line (one rotation). LR or RL is a bend (two). Always check the uncle’s color first.</a:t>
            </a:r>
          </a:p>
        </p:txBody>
      </p:sp>
      <p:sp>
        <p:nvSpPr>
          <p:cNvPr id="38" name="TextBox 37"/>
          <p:cNvSpPr txBox="1"/>
          <p:nvPr/>
        </p:nvSpPr>
        <p:spPr>
          <a:xfrm>
            <a:off x="548640" y="6501384"/>
            <a:ext cx="9326880" cy="138499"/>
          </a:xfrm>
          <a:prstGeom prst="rect">
            <a:avLst/>
          </a:prstGeom>
          <a:noFill/>
        </p:spPr>
        <p:txBody>
          <a:bodyPr wrap="square" lIns="0" tIns="0" rIns="0" bIns="0" anchor="t">
            <a:spAutoFit/>
          </a:bodyPr>
          <a:lstStyle/>
          <a:p>
            <a:pPr algn="l"/>
            <a:r>
              <a:rPr lang="en-US" sz="900" b="0" i="0">
                <a:solidFill>
                  <a:srgbClr val="595959"/>
                </a:solidFill>
                <a:latin typeface="Calibri"/>
              </a:rPr>
              <a:t>CS 383 </a:t>
            </a:r>
            <a:r>
              <a:rPr sz="900" b="0" i="0">
                <a:solidFill>
                  <a:srgbClr val="595959"/>
                </a:solidFill>
                <a:latin typeface="Calibri"/>
              </a:rPr>
              <a:t>Algorithm Design </a:t>
            </a:r>
            <a:r>
              <a:rPr lang="en-US" sz="900" b="0" i="0">
                <a:solidFill>
                  <a:srgbClr val="595959"/>
                </a:solidFill>
                <a:latin typeface="Calibri"/>
              </a:rPr>
              <a:t>and Analysis </a:t>
            </a:r>
            <a:r>
              <a:rPr sz="900" b="0" i="0">
                <a:solidFill>
                  <a:srgbClr val="595959"/>
                </a:solidFill>
                <a:latin typeface="Calibri"/>
              </a:rPr>
              <a:t> ·  </a:t>
            </a:r>
            <a:r>
              <a:rPr lang="en-US" sz="900" b="0" i="0">
                <a:solidFill>
                  <a:srgbClr val="595959"/>
                </a:solidFill>
                <a:latin typeface="Calibri"/>
              </a:rPr>
              <a:t>Balanced Binary Search </a:t>
            </a:r>
            <a:r>
              <a:rPr sz="900" b="0" i="0">
                <a:solidFill>
                  <a:srgbClr val="595959"/>
                </a:solidFill>
                <a:latin typeface="Calibri"/>
              </a:rPr>
              <a:t>Trees  ·  </a:t>
            </a:r>
            <a:r>
              <a:rPr lang="en-US" sz="900" b="0" i="0">
                <a:solidFill>
                  <a:srgbClr val="595959"/>
                </a:solidFill>
                <a:latin typeface="Calibri"/>
              </a:rPr>
              <a:t>Tanwistha Saha</a:t>
            </a:r>
            <a:endParaRPr sz="900" b="0" i="0">
              <a:solidFill>
                <a:srgbClr val="595959"/>
              </a:solidFill>
              <a:latin typeface="Calibri"/>
            </a:endParaRPr>
          </a:p>
        </p:txBody>
      </p:sp>
      <p:sp>
        <p:nvSpPr>
          <p:cNvPr id="39" name="TextBox 38"/>
          <p:cNvSpPr txBox="1"/>
          <p:nvPr/>
        </p:nvSpPr>
        <p:spPr>
          <a:xfrm>
            <a:off x="10908792" y="6501384"/>
            <a:ext cx="731520" cy="138499"/>
          </a:xfrm>
          <a:prstGeom prst="rect">
            <a:avLst/>
          </a:prstGeom>
          <a:noFill/>
        </p:spPr>
        <p:txBody>
          <a:bodyPr wrap="square" lIns="0" tIns="0" rIns="0" bIns="0" anchor="t">
            <a:spAutoFit/>
          </a:bodyPr>
          <a:lstStyle/>
          <a:p>
            <a:pPr algn="r"/>
            <a:r>
              <a:rPr lang="en-US" sz="900" b="0" i="0">
                <a:solidFill>
                  <a:srgbClr val="595959"/>
                </a:solidFill>
                <a:latin typeface="Calibri"/>
              </a:rPr>
              <a:t>22</a:t>
            </a:r>
            <a:endParaRPr sz="900" b="0" i="0">
              <a:solidFill>
                <a:srgbClr val="595959"/>
              </a:solidFill>
              <a:latin typeface="Calibri"/>
            </a:endParaRPr>
          </a:p>
        </p:txBody>
      </p:sp>
      <p:sp>
        <p:nvSpPr>
          <p:cNvPr id="40" name="TextBox 39"/>
          <p:cNvSpPr txBox="1"/>
          <p:nvPr/>
        </p:nvSpPr>
        <p:spPr>
          <a:xfrm>
            <a:off x="868680" y="2011680"/>
            <a:ext cx="2926080" cy="365760"/>
          </a:xfrm>
          <a:prstGeom prst="rect">
            <a:avLst/>
          </a:prstGeom>
          <a:noFill/>
        </p:spPr>
        <p:txBody>
          <a:bodyPr wrap="square" lIns="0" tIns="0" rIns="0" bIns="0">
            <a:spAutoFit/>
          </a:bodyPr>
          <a:lstStyle/>
          <a:p>
            <a:pPr algn="l"/>
            <a:r>
              <a:rPr sz="1400" b="1">
                <a:solidFill>
                  <a:srgbClr val="333F50"/>
                </a:solidFill>
                <a:latin typeface="Calibri"/>
              </a:rPr>
              <a:t>1. Before: a bend</a:t>
            </a:r>
          </a:p>
        </p:txBody>
      </p:sp>
      <p:sp>
        <p:nvSpPr>
          <p:cNvPr id="41" name="TextBox 40"/>
          <p:cNvSpPr txBox="1"/>
          <p:nvPr/>
        </p:nvSpPr>
        <p:spPr>
          <a:xfrm>
            <a:off x="4617720" y="2011680"/>
            <a:ext cx="2926080" cy="365760"/>
          </a:xfrm>
          <a:prstGeom prst="rect">
            <a:avLst/>
          </a:prstGeom>
          <a:noFill/>
        </p:spPr>
        <p:txBody>
          <a:bodyPr wrap="square" lIns="0" tIns="0" rIns="0" bIns="0">
            <a:spAutoFit/>
          </a:bodyPr>
          <a:lstStyle/>
          <a:p>
            <a:pPr algn="l"/>
            <a:r>
              <a:rPr sz="1400" b="1">
                <a:solidFill>
                  <a:srgbClr val="333F50"/>
                </a:solidFill>
                <a:latin typeface="Calibri"/>
              </a:rPr>
              <a:t>2. RIGHTROTATE(p)</a:t>
            </a:r>
          </a:p>
        </p:txBody>
      </p:sp>
      <p:sp>
        <p:nvSpPr>
          <p:cNvPr id="42" name="TextBox 41"/>
          <p:cNvSpPr txBox="1"/>
          <p:nvPr/>
        </p:nvSpPr>
        <p:spPr>
          <a:xfrm>
            <a:off x="8366760" y="2011680"/>
            <a:ext cx="2926080" cy="365760"/>
          </a:xfrm>
          <a:prstGeom prst="rect">
            <a:avLst/>
          </a:prstGeom>
          <a:noFill/>
        </p:spPr>
        <p:txBody>
          <a:bodyPr wrap="square" lIns="0" tIns="0" rIns="0" bIns="0">
            <a:spAutoFit/>
          </a:bodyPr>
          <a:lstStyle/>
          <a:p>
            <a:pPr algn="l"/>
            <a:r>
              <a:rPr sz="1400" b="1">
                <a:solidFill>
                  <a:srgbClr val="333F50"/>
                </a:solidFill>
                <a:latin typeface="Calibri"/>
              </a:rPr>
              <a:t>3. LEFTROTATE(g)</a:t>
            </a:r>
          </a:p>
        </p:txBody>
      </p:sp>
      <p:cxnSp>
        <p:nvCxnSpPr>
          <p:cNvPr id="43" name="Connector 42"/>
          <p:cNvCxnSpPr/>
          <p:nvPr/>
        </p:nvCxnSpPr>
        <p:spPr>
          <a:xfrm>
            <a:off x="1737360" y="2697480"/>
            <a:ext cx="822960" cy="685800"/>
          </a:xfrm>
          <a:prstGeom prst="line">
            <a:avLst/>
          </a:prstGeom>
          <a:ln w="19050">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a:off x="2011679" y="3383280"/>
            <a:ext cx="548641" cy="685800"/>
          </a:xfrm>
          <a:prstGeom prst="line">
            <a:avLst/>
          </a:prstGeom>
          <a:ln w="19050">
            <a:solidFill>
              <a:srgbClr val="A6A6A6"/>
            </a:solidFill>
          </a:ln>
        </p:spPr>
        <p:style>
          <a:lnRef idx="2">
            <a:schemeClr val="accent1"/>
          </a:lnRef>
          <a:fillRef idx="0">
            <a:schemeClr val="accent1"/>
          </a:fillRef>
          <a:effectRef idx="1">
            <a:schemeClr val="accent1"/>
          </a:effectRef>
          <a:fontRef idx="minor">
            <a:schemeClr val="tx1"/>
          </a:fontRef>
        </p:style>
      </p:cxnSp>
      <p:sp>
        <p:nvSpPr>
          <p:cNvPr id="45" name="Oval 44"/>
          <p:cNvSpPr/>
          <p:nvPr/>
        </p:nvSpPr>
        <p:spPr>
          <a:xfrm>
            <a:off x="1499616" y="2459736"/>
            <a:ext cx="475488" cy="475488"/>
          </a:xfrm>
          <a:prstGeom prst="ellipse">
            <a:avLst/>
          </a:prstGeom>
          <a:solidFill>
            <a:srgbClr val="262626"/>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Calibri"/>
              </a:rPr>
              <a:t>g</a:t>
            </a:r>
          </a:p>
        </p:txBody>
      </p:sp>
      <p:sp>
        <p:nvSpPr>
          <p:cNvPr id="46" name="Oval 45"/>
          <p:cNvSpPr/>
          <p:nvPr/>
        </p:nvSpPr>
        <p:spPr>
          <a:xfrm>
            <a:off x="2322576" y="3145536"/>
            <a:ext cx="475488" cy="475488"/>
          </a:xfrm>
          <a:prstGeom prst="ellipse">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Calibri"/>
              </a:rPr>
              <a:t>p</a:t>
            </a:r>
          </a:p>
        </p:txBody>
      </p:sp>
      <p:sp>
        <p:nvSpPr>
          <p:cNvPr id="47" name="Oval 46"/>
          <p:cNvSpPr/>
          <p:nvPr/>
        </p:nvSpPr>
        <p:spPr>
          <a:xfrm>
            <a:off x="1773935" y="3831336"/>
            <a:ext cx="475488" cy="475488"/>
          </a:xfrm>
          <a:prstGeom prst="ellipse">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Calibri"/>
              </a:rPr>
              <a:t>x</a:t>
            </a:r>
          </a:p>
        </p:txBody>
      </p:sp>
      <p:cxnSp>
        <p:nvCxnSpPr>
          <p:cNvPr id="48" name="Connector 47"/>
          <p:cNvCxnSpPr/>
          <p:nvPr/>
        </p:nvCxnSpPr>
        <p:spPr>
          <a:xfrm>
            <a:off x="5577840" y="2697480"/>
            <a:ext cx="640080" cy="685800"/>
          </a:xfrm>
          <a:prstGeom prst="line">
            <a:avLst/>
          </a:prstGeom>
          <a:ln w="19050">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6217920" y="3383280"/>
            <a:ext cx="640080" cy="685800"/>
          </a:xfrm>
          <a:prstGeom prst="line">
            <a:avLst/>
          </a:prstGeom>
          <a:ln w="19050">
            <a:solidFill>
              <a:srgbClr val="A6A6A6"/>
            </a:solidFill>
          </a:ln>
        </p:spPr>
        <p:style>
          <a:lnRef idx="2">
            <a:schemeClr val="accent1"/>
          </a:lnRef>
          <a:fillRef idx="0">
            <a:schemeClr val="accent1"/>
          </a:fillRef>
          <a:effectRef idx="1">
            <a:schemeClr val="accent1"/>
          </a:effectRef>
          <a:fontRef idx="minor">
            <a:schemeClr val="tx1"/>
          </a:fontRef>
        </p:style>
      </p:cxnSp>
      <p:sp>
        <p:nvSpPr>
          <p:cNvPr id="50" name="Oval 49"/>
          <p:cNvSpPr/>
          <p:nvPr/>
        </p:nvSpPr>
        <p:spPr>
          <a:xfrm>
            <a:off x="5340096" y="2459736"/>
            <a:ext cx="475488" cy="475488"/>
          </a:xfrm>
          <a:prstGeom prst="ellipse">
            <a:avLst/>
          </a:prstGeom>
          <a:solidFill>
            <a:srgbClr val="262626"/>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Calibri"/>
              </a:rPr>
              <a:t>g</a:t>
            </a:r>
          </a:p>
        </p:txBody>
      </p:sp>
      <p:sp>
        <p:nvSpPr>
          <p:cNvPr id="51" name="Oval 50"/>
          <p:cNvSpPr/>
          <p:nvPr/>
        </p:nvSpPr>
        <p:spPr>
          <a:xfrm>
            <a:off x="5980176" y="3145536"/>
            <a:ext cx="475488" cy="475488"/>
          </a:xfrm>
          <a:prstGeom prst="ellipse">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Calibri"/>
              </a:rPr>
              <a:t>x</a:t>
            </a:r>
          </a:p>
        </p:txBody>
      </p:sp>
      <p:sp>
        <p:nvSpPr>
          <p:cNvPr id="52" name="Oval 51"/>
          <p:cNvSpPr/>
          <p:nvPr/>
        </p:nvSpPr>
        <p:spPr>
          <a:xfrm>
            <a:off x="6620256" y="3831336"/>
            <a:ext cx="475488" cy="475488"/>
          </a:xfrm>
          <a:prstGeom prst="ellipse">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Calibri"/>
              </a:rPr>
              <a:t>p</a:t>
            </a:r>
          </a:p>
        </p:txBody>
      </p:sp>
      <p:cxnSp>
        <p:nvCxnSpPr>
          <p:cNvPr id="53" name="Connector 52"/>
          <p:cNvCxnSpPr/>
          <p:nvPr/>
        </p:nvCxnSpPr>
        <p:spPr>
          <a:xfrm flipH="1">
            <a:off x="8961119" y="2697480"/>
            <a:ext cx="731521" cy="868680"/>
          </a:xfrm>
          <a:prstGeom prst="line">
            <a:avLst/>
          </a:prstGeom>
          <a:ln w="19050">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9692640" y="2697480"/>
            <a:ext cx="731520" cy="868680"/>
          </a:xfrm>
          <a:prstGeom prst="line">
            <a:avLst/>
          </a:prstGeom>
          <a:ln w="19050">
            <a:solidFill>
              <a:srgbClr val="A6A6A6"/>
            </a:solidFill>
          </a:ln>
        </p:spPr>
        <p:style>
          <a:lnRef idx="2">
            <a:schemeClr val="accent1"/>
          </a:lnRef>
          <a:fillRef idx="0">
            <a:schemeClr val="accent1"/>
          </a:fillRef>
          <a:effectRef idx="1">
            <a:schemeClr val="accent1"/>
          </a:effectRef>
          <a:fontRef idx="minor">
            <a:schemeClr val="tx1"/>
          </a:fontRef>
        </p:style>
      </p:cxnSp>
      <p:sp>
        <p:nvSpPr>
          <p:cNvPr id="55" name="Oval 54"/>
          <p:cNvSpPr/>
          <p:nvPr/>
        </p:nvSpPr>
        <p:spPr>
          <a:xfrm>
            <a:off x="9454896" y="2459736"/>
            <a:ext cx="475488" cy="475488"/>
          </a:xfrm>
          <a:prstGeom prst="ellipse">
            <a:avLst/>
          </a:prstGeom>
          <a:solidFill>
            <a:srgbClr val="262626"/>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Calibri"/>
              </a:rPr>
              <a:t>x</a:t>
            </a:r>
          </a:p>
        </p:txBody>
      </p:sp>
      <p:sp>
        <p:nvSpPr>
          <p:cNvPr id="56" name="Oval 55"/>
          <p:cNvSpPr/>
          <p:nvPr/>
        </p:nvSpPr>
        <p:spPr>
          <a:xfrm>
            <a:off x="8723376" y="3328415"/>
            <a:ext cx="475488" cy="475488"/>
          </a:xfrm>
          <a:prstGeom prst="ellipse">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Calibri"/>
              </a:rPr>
              <a:t>g</a:t>
            </a:r>
          </a:p>
        </p:txBody>
      </p:sp>
      <p:sp>
        <p:nvSpPr>
          <p:cNvPr id="57" name="Oval 56"/>
          <p:cNvSpPr/>
          <p:nvPr/>
        </p:nvSpPr>
        <p:spPr>
          <a:xfrm>
            <a:off x="10186416" y="3328415"/>
            <a:ext cx="475488" cy="475488"/>
          </a:xfrm>
          <a:prstGeom prst="ellipse">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Calibri"/>
              </a:rPr>
              <a:t>p</a:t>
            </a:r>
          </a:p>
        </p:txBody>
      </p:sp>
      <p:sp>
        <p:nvSpPr>
          <p:cNvPr id="58" name="TextBox 57"/>
          <p:cNvSpPr txBox="1"/>
          <p:nvPr/>
        </p:nvSpPr>
        <p:spPr>
          <a:xfrm>
            <a:off x="868680" y="4370832"/>
            <a:ext cx="2926080" cy="228600"/>
          </a:xfrm>
          <a:prstGeom prst="rect">
            <a:avLst/>
          </a:prstGeom>
          <a:noFill/>
        </p:spPr>
        <p:txBody>
          <a:bodyPr wrap="square" lIns="0" tIns="0" rIns="0" bIns="0">
            <a:spAutoFit/>
          </a:bodyPr>
          <a:lstStyle/>
          <a:p>
            <a:pPr algn="ctr"/>
            <a:r>
              <a:rPr sz="1200" b="0">
                <a:solidFill>
                  <a:srgbClr val="595959"/>
                </a:solidFill>
                <a:latin typeface="Calibri"/>
              </a:rPr>
              <a:t>x is p’s left child</a:t>
            </a:r>
          </a:p>
        </p:txBody>
      </p:sp>
      <p:sp>
        <p:nvSpPr>
          <p:cNvPr id="59" name="TextBox 58"/>
          <p:cNvSpPr txBox="1"/>
          <p:nvPr/>
        </p:nvSpPr>
        <p:spPr>
          <a:xfrm>
            <a:off x="4617720" y="4370832"/>
            <a:ext cx="2926080" cy="228600"/>
          </a:xfrm>
          <a:prstGeom prst="rect">
            <a:avLst/>
          </a:prstGeom>
          <a:noFill/>
        </p:spPr>
        <p:txBody>
          <a:bodyPr wrap="square" lIns="0" tIns="0" rIns="0" bIns="0">
            <a:spAutoFit/>
          </a:bodyPr>
          <a:lstStyle/>
          <a:p>
            <a:pPr algn="ctr"/>
            <a:r>
              <a:rPr sz="1200" b="0">
                <a:solidFill>
                  <a:srgbClr val="595959"/>
                </a:solidFill>
                <a:latin typeface="Calibri"/>
              </a:rPr>
              <a:t>x moves above p. Now a line.</a:t>
            </a:r>
          </a:p>
        </p:txBody>
      </p:sp>
      <p:sp>
        <p:nvSpPr>
          <p:cNvPr id="60" name="TextBox 59"/>
          <p:cNvSpPr txBox="1"/>
          <p:nvPr/>
        </p:nvSpPr>
        <p:spPr>
          <a:xfrm>
            <a:off x="8366760" y="4370832"/>
            <a:ext cx="2926080" cy="228600"/>
          </a:xfrm>
          <a:prstGeom prst="rect">
            <a:avLst/>
          </a:prstGeom>
          <a:noFill/>
        </p:spPr>
        <p:txBody>
          <a:bodyPr wrap="square" lIns="0" tIns="0" rIns="0" bIns="0">
            <a:spAutoFit/>
          </a:bodyPr>
          <a:lstStyle/>
          <a:p>
            <a:pPr algn="ctr"/>
            <a:r>
              <a:rPr sz="1200" b="0">
                <a:solidFill>
                  <a:srgbClr val="595959"/>
                </a:solidFill>
                <a:latin typeface="Calibri"/>
              </a:rPr>
              <a:t>x black, g red. p stays red.</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9144000" cy="320040"/>
          </a:xfrm>
          <a:prstGeom prst="rect">
            <a:avLst/>
          </a:prstGeom>
          <a:noFill/>
        </p:spPr>
        <p:txBody>
          <a:bodyPr wrap="square" lIns="0" tIns="0" rIns="0" bIns="0" anchor="t">
            <a:spAutoFit/>
          </a:bodyPr>
          <a:lstStyle/>
          <a:p>
            <a:pPr algn="l"/>
            <a:r>
              <a:rPr sz="1200" b="1" i="0">
                <a:solidFill>
                  <a:srgbClr val="4472C4"/>
                </a:solidFill>
                <a:latin typeface="Calibri"/>
              </a:rPr>
              <a:t>WORKED EXAMPLE · PART 1 OF 2</a:t>
            </a:r>
          </a:p>
        </p:txBody>
      </p:sp>
      <p:sp>
        <p:nvSpPr>
          <p:cNvPr id="3" name="TextBox 2"/>
          <p:cNvSpPr txBox="1"/>
          <p:nvPr/>
        </p:nvSpPr>
        <p:spPr>
          <a:xfrm>
            <a:off x="548640" y="658368"/>
            <a:ext cx="11064240" cy="640080"/>
          </a:xfrm>
          <a:prstGeom prst="rect">
            <a:avLst/>
          </a:prstGeom>
          <a:noFill/>
        </p:spPr>
        <p:txBody>
          <a:bodyPr wrap="square" lIns="0" tIns="0" rIns="0" bIns="0" anchor="t">
            <a:spAutoFit/>
          </a:bodyPr>
          <a:lstStyle/>
          <a:p>
            <a:pPr algn="l"/>
            <a:r>
              <a:rPr sz="2800" b="1" i="0">
                <a:solidFill>
                  <a:srgbClr val="333F50"/>
                </a:solidFill>
                <a:latin typeface="Calibri Light"/>
              </a:rPr>
              <a:t>Inserting A into a red-black tree</a:t>
            </a:r>
          </a:p>
        </p:txBody>
      </p:sp>
      <p:sp>
        <p:nvSpPr>
          <p:cNvPr id="4" name="TextBox 3"/>
          <p:cNvSpPr txBox="1"/>
          <p:nvPr/>
        </p:nvSpPr>
        <p:spPr>
          <a:xfrm>
            <a:off x="548640" y="1197864"/>
            <a:ext cx="11064240" cy="502920"/>
          </a:xfrm>
          <a:prstGeom prst="rect">
            <a:avLst/>
          </a:prstGeom>
          <a:noFill/>
        </p:spPr>
        <p:txBody>
          <a:bodyPr wrap="square" lIns="0" tIns="0" rIns="0" bIns="0" anchor="t">
            <a:spAutoFit/>
          </a:bodyPr>
          <a:lstStyle/>
          <a:p>
            <a:pPr algn="l"/>
            <a:r>
              <a:rPr sz="1400" b="0" i="0">
                <a:solidFill>
                  <a:srgbClr val="595959"/>
                </a:solidFill>
                <a:latin typeface="Calibri"/>
              </a:rPr>
              <a:t>A = 20, 13, 25, 2, 17, 8, 5, 7: insert in this order and fix up after each step.</a:t>
            </a:r>
          </a:p>
        </p:txBody>
      </p:sp>
      <p:sp>
        <p:nvSpPr>
          <p:cNvPr id="5" name="Rounded Rectangle 4"/>
          <p:cNvSpPr/>
          <p:nvPr/>
        </p:nvSpPr>
        <p:spPr>
          <a:xfrm>
            <a:off x="548640" y="1874519"/>
            <a:ext cx="2635758" cy="3749039"/>
          </a:xfrm>
          <a:prstGeom prst="roundRect">
            <a:avLst>
              <a:gd name="adj" fmla="val 5000"/>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2011680"/>
            <a:ext cx="2269998" cy="274320"/>
          </a:xfrm>
          <a:prstGeom prst="rect">
            <a:avLst/>
          </a:prstGeom>
          <a:noFill/>
        </p:spPr>
        <p:txBody>
          <a:bodyPr wrap="square" lIns="0" tIns="0" rIns="0" bIns="0" anchor="t">
            <a:spAutoFit/>
          </a:bodyPr>
          <a:lstStyle/>
          <a:p>
            <a:pPr algn="l"/>
            <a:r>
              <a:rPr sz="1100" b="1" i="0">
                <a:solidFill>
                  <a:srgbClr val="4472C4"/>
                </a:solidFill>
                <a:latin typeface="Calibri"/>
              </a:rPr>
              <a:t>INSERT 20, 13, 25</a:t>
            </a:r>
          </a:p>
        </p:txBody>
      </p:sp>
      <p:cxnSp>
        <p:nvCxnSpPr>
          <p:cNvPr id="7" name="Connector 6"/>
          <p:cNvCxnSpPr/>
          <p:nvPr/>
        </p:nvCxnSpPr>
        <p:spPr>
          <a:xfrm flipH="1">
            <a:off x="1316736" y="2651760"/>
            <a:ext cx="548640" cy="54864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865376" y="2651760"/>
            <a:ext cx="548640" cy="54864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1682496" y="2468879"/>
            <a:ext cx="365760" cy="365760"/>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682496" y="2468879"/>
            <a:ext cx="365760" cy="365760"/>
          </a:xfrm>
          <a:prstGeom prst="rect">
            <a:avLst/>
          </a:prstGeom>
          <a:noFill/>
        </p:spPr>
        <p:txBody>
          <a:bodyPr wrap="square" lIns="0" tIns="0" rIns="0" bIns="0" anchor="ctr">
            <a:spAutoFit/>
          </a:bodyPr>
          <a:lstStyle/>
          <a:p>
            <a:pPr algn="ctr"/>
            <a:r>
              <a:rPr sz="1100" b="1" i="0">
                <a:solidFill>
                  <a:srgbClr val="FFFFFF"/>
                </a:solidFill>
                <a:latin typeface="Calibri"/>
              </a:rPr>
              <a:t>20</a:t>
            </a:r>
          </a:p>
        </p:txBody>
      </p:sp>
      <p:sp>
        <p:nvSpPr>
          <p:cNvPr id="11" name="Oval 10"/>
          <p:cNvSpPr/>
          <p:nvPr/>
        </p:nvSpPr>
        <p:spPr>
          <a:xfrm>
            <a:off x="1133856" y="3017520"/>
            <a:ext cx="365760" cy="36576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133856" y="3017520"/>
            <a:ext cx="365760" cy="365760"/>
          </a:xfrm>
          <a:prstGeom prst="rect">
            <a:avLst/>
          </a:prstGeom>
          <a:noFill/>
        </p:spPr>
        <p:txBody>
          <a:bodyPr wrap="square" lIns="0" tIns="0" rIns="0" bIns="0" anchor="ctr">
            <a:spAutoFit/>
          </a:bodyPr>
          <a:lstStyle/>
          <a:p>
            <a:pPr algn="ctr"/>
            <a:r>
              <a:rPr sz="1100" b="1" i="0">
                <a:solidFill>
                  <a:srgbClr val="FFFFFF"/>
                </a:solidFill>
                <a:latin typeface="Calibri"/>
              </a:rPr>
              <a:t>13</a:t>
            </a:r>
          </a:p>
        </p:txBody>
      </p:sp>
      <p:sp>
        <p:nvSpPr>
          <p:cNvPr id="13" name="Oval 12"/>
          <p:cNvSpPr/>
          <p:nvPr/>
        </p:nvSpPr>
        <p:spPr>
          <a:xfrm>
            <a:off x="2231136" y="3017520"/>
            <a:ext cx="365760" cy="36576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231136" y="3017520"/>
            <a:ext cx="365760" cy="365760"/>
          </a:xfrm>
          <a:prstGeom prst="rect">
            <a:avLst/>
          </a:prstGeom>
          <a:noFill/>
        </p:spPr>
        <p:txBody>
          <a:bodyPr wrap="square" lIns="0" tIns="0" rIns="0" bIns="0" anchor="ctr">
            <a:spAutoFit/>
          </a:bodyPr>
          <a:lstStyle/>
          <a:p>
            <a:pPr algn="ctr"/>
            <a:r>
              <a:rPr sz="1100" b="1" i="0">
                <a:solidFill>
                  <a:srgbClr val="FFFFFF"/>
                </a:solidFill>
                <a:latin typeface="Calibri"/>
              </a:rPr>
              <a:t>25</a:t>
            </a:r>
          </a:p>
        </p:txBody>
      </p:sp>
      <p:sp>
        <p:nvSpPr>
          <p:cNvPr id="15" name="TextBox 14"/>
          <p:cNvSpPr txBox="1"/>
          <p:nvPr/>
        </p:nvSpPr>
        <p:spPr>
          <a:xfrm>
            <a:off x="731520" y="4800600"/>
            <a:ext cx="2269998" cy="777240"/>
          </a:xfrm>
          <a:prstGeom prst="rect">
            <a:avLst/>
          </a:prstGeom>
          <a:noFill/>
        </p:spPr>
        <p:txBody>
          <a:bodyPr wrap="square" lIns="0" tIns="0" rIns="0" bIns="0" anchor="t">
            <a:spAutoFit/>
          </a:bodyPr>
          <a:lstStyle/>
          <a:p>
            <a:pPr algn="l"/>
            <a:r>
              <a:rPr sz="1200" b="0" i="0">
                <a:solidFill>
                  <a:srgbClr val="333F50"/>
                </a:solidFill>
                <a:latin typeface="Calibri"/>
              </a:rPr>
              <a:t>No red–red pair. The root 20 is black; 13 and 25 are red leaves.</a:t>
            </a:r>
          </a:p>
        </p:txBody>
      </p:sp>
      <p:sp>
        <p:nvSpPr>
          <p:cNvPr id="16" name="Rounded Rectangle 15"/>
          <p:cNvSpPr/>
          <p:nvPr/>
        </p:nvSpPr>
        <p:spPr>
          <a:xfrm>
            <a:off x="3367278" y="1874519"/>
            <a:ext cx="2635758" cy="3749039"/>
          </a:xfrm>
          <a:prstGeom prst="roundRect">
            <a:avLst>
              <a:gd name="adj" fmla="val 5000"/>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550158" y="2011680"/>
            <a:ext cx="2269998" cy="274320"/>
          </a:xfrm>
          <a:prstGeom prst="rect">
            <a:avLst/>
          </a:prstGeom>
          <a:noFill/>
        </p:spPr>
        <p:txBody>
          <a:bodyPr wrap="square" lIns="0" tIns="0" rIns="0" bIns="0" anchor="t">
            <a:spAutoFit/>
          </a:bodyPr>
          <a:lstStyle/>
          <a:p>
            <a:pPr algn="l"/>
            <a:r>
              <a:rPr sz="1100" b="1" i="0">
                <a:solidFill>
                  <a:srgbClr val="4472C4"/>
                </a:solidFill>
                <a:latin typeface="Calibri"/>
              </a:rPr>
              <a:t>INSERT 2</a:t>
            </a:r>
          </a:p>
        </p:txBody>
      </p:sp>
      <p:cxnSp>
        <p:nvCxnSpPr>
          <p:cNvPr id="18" name="Connector 17"/>
          <p:cNvCxnSpPr/>
          <p:nvPr/>
        </p:nvCxnSpPr>
        <p:spPr>
          <a:xfrm flipH="1">
            <a:off x="4135374" y="2651760"/>
            <a:ext cx="548640" cy="54864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684014" y="2651760"/>
            <a:ext cx="548640" cy="54864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3769614" y="3200400"/>
            <a:ext cx="365760" cy="548639"/>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4501134" y="2468879"/>
            <a:ext cx="365760" cy="365760"/>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501134" y="2468879"/>
            <a:ext cx="365760" cy="365760"/>
          </a:xfrm>
          <a:prstGeom prst="rect">
            <a:avLst/>
          </a:prstGeom>
          <a:noFill/>
        </p:spPr>
        <p:txBody>
          <a:bodyPr wrap="square" lIns="0" tIns="0" rIns="0" bIns="0" anchor="ctr">
            <a:spAutoFit/>
          </a:bodyPr>
          <a:lstStyle/>
          <a:p>
            <a:pPr algn="ctr"/>
            <a:r>
              <a:rPr sz="1100" b="1" i="0">
                <a:solidFill>
                  <a:srgbClr val="FFFFFF"/>
                </a:solidFill>
                <a:latin typeface="Calibri"/>
              </a:rPr>
              <a:t>20</a:t>
            </a:r>
          </a:p>
        </p:txBody>
      </p:sp>
      <p:sp>
        <p:nvSpPr>
          <p:cNvPr id="23" name="Oval 22"/>
          <p:cNvSpPr/>
          <p:nvPr/>
        </p:nvSpPr>
        <p:spPr>
          <a:xfrm>
            <a:off x="3952494" y="3017520"/>
            <a:ext cx="365760" cy="36576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952494" y="3017520"/>
            <a:ext cx="365760" cy="365760"/>
          </a:xfrm>
          <a:prstGeom prst="rect">
            <a:avLst/>
          </a:prstGeom>
          <a:noFill/>
        </p:spPr>
        <p:txBody>
          <a:bodyPr wrap="square" lIns="0" tIns="0" rIns="0" bIns="0" anchor="ctr">
            <a:spAutoFit/>
          </a:bodyPr>
          <a:lstStyle/>
          <a:p>
            <a:pPr algn="ctr"/>
            <a:r>
              <a:rPr sz="1100" b="1" i="0">
                <a:solidFill>
                  <a:srgbClr val="FFFFFF"/>
                </a:solidFill>
                <a:latin typeface="Calibri"/>
              </a:rPr>
              <a:t>13</a:t>
            </a:r>
          </a:p>
        </p:txBody>
      </p:sp>
      <p:sp>
        <p:nvSpPr>
          <p:cNvPr id="25" name="Oval 24"/>
          <p:cNvSpPr/>
          <p:nvPr/>
        </p:nvSpPr>
        <p:spPr>
          <a:xfrm>
            <a:off x="5049774" y="3017520"/>
            <a:ext cx="365760" cy="36576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49774" y="3017520"/>
            <a:ext cx="365760" cy="365760"/>
          </a:xfrm>
          <a:prstGeom prst="rect">
            <a:avLst/>
          </a:prstGeom>
          <a:noFill/>
        </p:spPr>
        <p:txBody>
          <a:bodyPr wrap="square" lIns="0" tIns="0" rIns="0" bIns="0" anchor="ctr">
            <a:spAutoFit/>
          </a:bodyPr>
          <a:lstStyle/>
          <a:p>
            <a:pPr algn="ctr"/>
            <a:r>
              <a:rPr sz="1100" b="1" i="0">
                <a:solidFill>
                  <a:srgbClr val="FFFFFF"/>
                </a:solidFill>
                <a:latin typeface="Calibri"/>
              </a:rPr>
              <a:t>25</a:t>
            </a:r>
          </a:p>
        </p:txBody>
      </p:sp>
      <p:sp>
        <p:nvSpPr>
          <p:cNvPr id="27" name="Oval 26"/>
          <p:cNvSpPr/>
          <p:nvPr/>
        </p:nvSpPr>
        <p:spPr>
          <a:xfrm>
            <a:off x="3586734" y="3566159"/>
            <a:ext cx="365760" cy="36576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586734" y="3566159"/>
            <a:ext cx="365760" cy="365760"/>
          </a:xfrm>
          <a:prstGeom prst="rect">
            <a:avLst/>
          </a:prstGeom>
          <a:noFill/>
        </p:spPr>
        <p:txBody>
          <a:bodyPr wrap="square" lIns="0" tIns="0" rIns="0" bIns="0" anchor="ctr">
            <a:spAutoFit/>
          </a:bodyPr>
          <a:lstStyle/>
          <a:p>
            <a:pPr algn="ctr"/>
            <a:r>
              <a:rPr sz="1100" b="1" i="0">
                <a:solidFill>
                  <a:srgbClr val="FFFFFF"/>
                </a:solidFill>
                <a:latin typeface="Calibri"/>
              </a:rPr>
              <a:t>2</a:t>
            </a:r>
          </a:p>
        </p:txBody>
      </p:sp>
      <p:sp>
        <p:nvSpPr>
          <p:cNvPr id="29" name="TextBox 28"/>
          <p:cNvSpPr txBox="1"/>
          <p:nvPr/>
        </p:nvSpPr>
        <p:spPr>
          <a:xfrm>
            <a:off x="3550158" y="4800600"/>
            <a:ext cx="2269998" cy="777240"/>
          </a:xfrm>
          <a:prstGeom prst="rect">
            <a:avLst/>
          </a:prstGeom>
          <a:noFill/>
        </p:spPr>
        <p:txBody>
          <a:bodyPr wrap="square" lIns="0" tIns="0" rIns="0" bIns="0" anchor="t">
            <a:spAutoFit/>
          </a:bodyPr>
          <a:lstStyle/>
          <a:p>
            <a:pPr algn="l"/>
            <a:r>
              <a:rPr sz="1200" b="0" i="0">
                <a:solidFill>
                  <a:srgbClr val="333F50"/>
                </a:solidFill>
                <a:latin typeface="Calibri"/>
              </a:rPr>
              <a:t>Parent 13 is red and uncle 25 is red: Case 1.</a:t>
            </a:r>
          </a:p>
        </p:txBody>
      </p:sp>
      <p:sp>
        <p:nvSpPr>
          <p:cNvPr id="30" name="Rounded Rectangle 29"/>
          <p:cNvSpPr/>
          <p:nvPr/>
        </p:nvSpPr>
        <p:spPr>
          <a:xfrm>
            <a:off x="6185916" y="1874519"/>
            <a:ext cx="2635758" cy="3749039"/>
          </a:xfrm>
          <a:prstGeom prst="roundRect">
            <a:avLst>
              <a:gd name="adj" fmla="val 5000"/>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368796" y="2011680"/>
            <a:ext cx="2269998" cy="274320"/>
          </a:xfrm>
          <a:prstGeom prst="rect">
            <a:avLst/>
          </a:prstGeom>
          <a:noFill/>
        </p:spPr>
        <p:txBody>
          <a:bodyPr wrap="square" lIns="0" tIns="0" rIns="0" bIns="0" anchor="t">
            <a:spAutoFit/>
          </a:bodyPr>
          <a:lstStyle/>
          <a:p>
            <a:pPr algn="l"/>
            <a:r>
              <a:rPr sz="1100" b="1" i="0">
                <a:solidFill>
                  <a:srgbClr val="4472C4"/>
                </a:solidFill>
                <a:latin typeface="Calibri"/>
              </a:rPr>
              <a:t>CASE 1 FIX</a:t>
            </a:r>
          </a:p>
        </p:txBody>
      </p:sp>
      <p:cxnSp>
        <p:nvCxnSpPr>
          <p:cNvPr id="32" name="Connector 31"/>
          <p:cNvCxnSpPr/>
          <p:nvPr/>
        </p:nvCxnSpPr>
        <p:spPr>
          <a:xfrm flipH="1">
            <a:off x="6954012" y="2651760"/>
            <a:ext cx="548640" cy="54864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7502652" y="2651760"/>
            <a:ext cx="548640" cy="54864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a:off x="6588252" y="3200400"/>
            <a:ext cx="365760" cy="548639"/>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sp>
        <p:nvSpPr>
          <p:cNvPr id="35" name="Oval 34"/>
          <p:cNvSpPr/>
          <p:nvPr/>
        </p:nvSpPr>
        <p:spPr>
          <a:xfrm>
            <a:off x="7319772" y="2468879"/>
            <a:ext cx="365760" cy="365760"/>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319772" y="2468879"/>
            <a:ext cx="365760" cy="365760"/>
          </a:xfrm>
          <a:prstGeom prst="rect">
            <a:avLst/>
          </a:prstGeom>
          <a:noFill/>
        </p:spPr>
        <p:txBody>
          <a:bodyPr wrap="square" lIns="0" tIns="0" rIns="0" bIns="0" anchor="ctr">
            <a:spAutoFit/>
          </a:bodyPr>
          <a:lstStyle/>
          <a:p>
            <a:pPr algn="ctr"/>
            <a:r>
              <a:rPr sz="1100" b="1" i="0">
                <a:solidFill>
                  <a:srgbClr val="FFFFFF"/>
                </a:solidFill>
                <a:latin typeface="Calibri"/>
              </a:rPr>
              <a:t>20</a:t>
            </a:r>
          </a:p>
        </p:txBody>
      </p:sp>
      <p:sp>
        <p:nvSpPr>
          <p:cNvPr id="37" name="Oval 36"/>
          <p:cNvSpPr/>
          <p:nvPr/>
        </p:nvSpPr>
        <p:spPr>
          <a:xfrm>
            <a:off x="6771132" y="3017520"/>
            <a:ext cx="365760" cy="365760"/>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771132" y="3017520"/>
            <a:ext cx="365760" cy="365760"/>
          </a:xfrm>
          <a:prstGeom prst="rect">
            <a:avLst/>
          </a:prstGeom>
          <a:noFill/>
        </p:spPr>
        <p:txBody>
          <a:bodyPr wrap="square" lIns="0" tIns="0" rIns="0" bIns="0" anchor="ctr">
            <a:spAutoFit/>
          </a:bodyPr>
          <a:lstStyle/>
          <a:p>
            <a:pPr algn="ctr"/>
            <a:r>
              <a:rPr sz="1100" b="1" i="0">
                <a:solidFill>
                  <a:srgbClr val="FFFFFF"/>
                </a:solidFill>
                <a:latin typeface="Calibri"/>
              </a:rPr>
              <a:t>13</a:t>
            </a:r>
          </a:p>
        </p:txBody>
      </p:sp>
      <p:sp>
        <p:nvSpPr>
          <p:cNvPr id="39" name="Oval 38"/>
          <p:cNvSpPr/>
          <p:nvPr/>
        </p:nvSpPr>
        <p:spPr>
          <a:xfrm>
            <a:off x="7868412" y="3017520"/>
            <a:ext cx="365760" cy="365760"/>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868412" y="3017520"/>
            <a:ext cx="365760" cy="365760"/>
          </a:xfrm>
          <a:prstGeom prst="rect">
            <a:avLst/>
          </a:prstGeom>
          <a:noFill/>
        </p:spPr>
        <p:txBody>
          <a:bodyPr wrap="square" lIns="0" tIns="0" rIns="0" bIns="0" anchor="ctr">
            <a:spAutoFit/>
          </a:bodyPr>
          <a:lstStyle/>
          <a:p>
            <a:pPr algn="ctr"/>
            <a:r>
              <a:rPr sz="1100" b="1" i="0">
                <a:solidFill>
                  <a:srgbClr val="FFFFFF"/>
                </a:solidFill>
                <a:latin typeface="Calibri"/>
              </a:rPr>
              <a:t>25</a:t>
            </a:r>
          </a:p>
        </p:txBody>
      </p:sp>
      <p:sp>
        <p:nvSpPr>
          <p:cNvPr id="41" name="Oval 40"/>
          <p:cNvSpPr/>
          <p:nvPr/>
        </p:nvSpPr>
        <p:spPr>
          <a:xfrm>
            <a:off x="6405372" y="3566159"/>
            <a:ext cx="365760" cy="36576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405372" y="3566159"/>
            <a:ext cx="365760" cy="365760"/>
          </a:xfrm>
          <a:prstGeom prst="rect">
            <a:avLst/>
          </a:prstGeom>
          <a:noFill/>
        </p:spPr>
        <p:txBody>
          <a:bodyPr wrap="square" lIns="0" tIns="0" rIns="0" bIns="0" anchor="ctr">
            <a:spAutoFit/>
          </a:bodyPr>
          <a:lstStyle/>
          <a:p>
            <a:pPr algn="ctr"/>
            <a:r>
              <a:rPr sz="1100" b="1" i="0">
                <a:solidFill>
                  <a:srgbClr val="FFFFFF"/>
                </a:solidFill>
                <a:latin typeface="Calibri"/>
              </a:rPr>
              <a:t>2</a:t>
            </a:r>
          </a:p>
        </p:txBody>
      </p:sp>
      <p:sp>
        <p:nvSpPr>
          <p:cNvPr id="43" name="TextBox 42"/>
          <p:cNvSpPr txBox="1"/>
          <p:nvPr/>
        </p:nvSpPr>
        <p:spPr>
          <a:xfrm>
            <a:off x="6368796" y="4800600"/>
            <a:ext cx="2269998" cy="777240"/>
          </a:xfrm>
          <a:prstGeom prst="rect">
            <a:avLst/>
          </a:prstGeom>
          <a:noFill/>
        </p:spPr>
        <p:txBody>
          <a:bodyPr wrap="square" lIns="0" tIns="0" rIns="0" bIns="0" anchor="t">
            <a:spAutoFit/>
          </a:bodyPr>
          <a:lstStyle/>
          <a:p>
            <a:pPr algn="l"/>
            <a:r>
              <a:rPr sz="1200" b="0" i="0">
                <a:solidFill>
                  <a:srgbClr val="333F50"/>
                </a:solidFill>
                <a:latin typeface="Calibri"/>
              </a:rPr>
              <a:t>13, 25 turn black and 20 red; 20 is the root, so it goes back to black.</a:t>
            </a:r>
          </a:p>
        </p:txBody>
      </p:sp>
      <p:sp>
        <p:nvSpPr>
          <p:cNvPr id="44" name="Rounded Rectangle 43"/>
          <p:cNvSpPr/>
          <p:nvPr/>
        </p:nvSpPr>
        <p:spPr>
          <a:xfrm>
            <a:off x="9004554" y="1874519"/>
            <a:ext cx="2635758" cy="3749039"/>
          </a:xfrm>
          <a:prstGeom prst="roundRect">
            <a:avLst>
              <a:gd name="adj" fmla="val 5000"/>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9187434" y="2011680"/>
            <a:ext cx="2269998" cy="274320"/>
          </a:xfrm>
          <a:prstGeom prst="rect">
            <a:avLst/>
          </a:prstGeom>
          <a:noFill/>
        </p:spPr>
        <p:txBody>
          <a:bodyPr wrap="square" lIns="0" tIns="0" rIns="0" bIns="0" anchor="t">
            <a:spAutoFit/>
          </a:bodyPr>
          <a:lstStyle/>
          <a:p>
            <a:pPr algn="l"/>
            <a:r>
              <a:rPr sz="1100" b="1" i="0">
                <a:solidFill>
                  <a:srgbClr val="4472C4"/>
                </a:solidFill>
                <a:latin typeface="Calibri"/>
              </a:rPr>
              <a:t>INSERT 17</a:t>
            </a:r>
          </a:p>
        </p:txBody>
      </p:sp>
      <p:cxnSp>
        <p:nvCxnSpPr>
          <p:cNvPr id="46" name="Connector 45"/>
          <p:cNvCxnSpPr/>
          <p:nvPr/>
        </p:nvCxnSpPr>
        <p:spPr>
          <a:xfrm flipH="1">
            <a:off x="9726930" y="2651760"/>
            <a:ext cx="594360" cy="54864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10321290" y="2651760"/>
            <a:ext cx="640080" cy="54864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a:off x="9361170" y="3200400"/>
            <a:ext cx="365760" cy="548639"/>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9726930" y="3200400"/>
            <a:ext cx="365760" cy="548639"/>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sp>
        <p:nvSpPr>
          <p:cNvPr id="50" name="Oval 49"/>
          <p:cNvSpPr/>
          <p:nvPr/>
        </p:nvSpPr>
        <p:spPr>
          <a:xfrm>
            <a:off x="10138410" y="2468879"/>
            <a:ext cx="365760" cy="365760"/>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10138410" y="2468879"/>
            <a:ext cx="365760" cy="365760"/>
          </a:xfrm>
          <a:prstGeom prst="rect">
            <a:avLst/>
          </a:prstGeom>
          <a:noFill/>
        </p:spPr>
        <p:txBody>
          <a:bodyPr wrap="square" lIns="0" tIns="0" rIns="0" bIns="0" anchor="ctr">
            <a:spAutoFit/>
          </a:bodyPr>
          <a:lstStyle/>
          <a:p>
            <a:pPr algn="ctr"/>
            <a:r>
              <a:rPr sz="1100" b="1" i="0">
                <a:solidFill>
                  <a:srgbClr val="FFFFFF"/>
                </a:solidFill>
                <a:latin typeface="Calibri"/>
              </a:rPr>
              <a:t>20</a:t>
            </a:r>
          </a:p>
        </p:txBody>
      </p:sp>
      <p:sp>
        <p:nvSpPr>
          <p:cNvPr id="52" name="Oval 51"/>
          <p:cNvSpPr/>
          <p:nvPr/>
        </p:nvSpPr>
        <p:spPr>
          <a:xfrm>
            <a:off x="9544050" y="3017520"/>
            <a:ext cx="365760" cy="365760"/>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9544050" y="3017520"/>
            <a:ext cx="365760" cy="365760"/>
          </a:xfrm>
          <a:prstGeom prst="rect">
            <a:avLst/>
          </a:prstGeom>
          <a:noFill/>
        </p:spPr>
        <p:txBody>
          <a:bodyPr wrap="square" lIns="0" tIns="0" rIns="0" bIns="0" anchor="ctr">
            <a:spAutoFit/>
          </a:bodyPr>
          <a:lstStyle/>
          <a:p>
            <a:pPr algn="ctr"/>
            <a:r>
              <a:rPr sz="1100" b="1" i="0">
                <a:solidFill>
                  <a:srgbClr val="FFFFFF"/>
                </a:solidFill>
                <a:latin typeface="Calibri"/>
              </a:rPr>
              <a:t>13</a:t>
            </a:r>
          </a:p>
        </p:txBody>
      </p:sp>
      <p:sp>
        <p:nvSpPr>
          <p:cNvPr id="54" name="Oval 53"/>
          <p:cNvSpPr/>
          <p:nvPr/>
        </p:nvSpPr>
        <p:spPr>
          <a:xfrm>
            <a:off x="10778490" y="3017520"/>
            <a:ext cx="365760" cy="365760"/>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10778490" y="3017520"/>
            <a:ext cx="365760" cy="365760"/>
          </a:xfrm>
          <a:prstGeom prst="rect">
            <a:avLst/>
          </a:prstGeom>
          <a:noFill/>
        </p:spPr>
        <p:txBody>
          <a:bodyPr wrap="square" lIns="0" tIns="0" rIns="0" bIns="0" anchor="ctr">
            <a:spAutoFit/>
          </a:bodyPr>
          <a:lstStyle/>
          <a:p>
            <a:pPr algn="ctr"/>
            <a:r>
              <a:rPr sz="1100" b="1" i="0">
                <a:solidFill>
                  <a:srgbClr val="FFFFFF"/>
                </a:solidFill>
                <a:latin typeface="Calibri"/>
              </a:rPr>
              <a:t>25</a:t>
            </a:r>
          </a:p>
        </p:txBody>
      </p:sp>
      <p:sp>
        <p:nvSpPr>
          <p:cNvPr id="56" name="Oval 55"/>
          <p:cNvSpPr/>
          <p:nvPr/>
        </p:nvSpPr>
        <p:spPr>
          <a:xfrm>
            <a:off x="9178290" y="3566159"/>
            <a:ext cx="365760" cy="36576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9178290" y="3566159"/>
            <a:ext cx="365760" cy="365760"/>
          </a:xfrm>
          <a:prstGeom prst="rect">
            <a:avLst/>
          </a:prstGeom>
          <a:noFill/>
        </p:spPr>
        <p:txBody>
          <a:bodyPr wrap="square" lIns="0" tIns="0" rIns="0" bIns="0" anchor="ctr">
            <a:spAutoFit/>
          </a:bodyPr>
          <a:lstStyle/>
          <a:p>
            <a:pPr algn="ctr"/>
            <a:r>
              <a:rPr sz="1100" b="1" i="0">
                <a:solidFill>
                  <a:srgbClr val="FFFFFF"/>
                </a:solidFill>
                <a:latin typeface="Calibri"/>
              </a:rPr>
              <a:t>2</a:t>
            </a:r>
          </a:p>
        </p:txBody>
      </p:sp>
      <p:sp>
        <p:nvSpPr>
          <p:cNvPr id="58" name="Oval 57"/>
          <p:cNvSpPr/>
          <p:nvPr/>
        </p:nvSpPr>
        <p:spPr>
          <a:xfrm>
            <a:off x="9909810" y="3566159"/>
            <a:ext cx="365760" cy="36576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9909810" y="3566159"/>
            <a:ext cx="365760" cy="365760"/>
          </a:xfrm>
          <a:prstGeom prst="rect">
            <a:avLst/>
          </a:prstGeom>
          <a:noFill/>
        </p:spPr>
        <p:txBody>
          <a:bodyPr wrap="square" lIns="0" tIns="0" rIns="0" bIns="0" anchor="ctr">
            <a:spAutoFit/>
          </a:bodyPr>
          <a:lstStyle/>
          <a:p>
            <a:pPr algn="ctr"/>
            <a:r>
              <a:rPr sz="1100" b="1" i="0">
                <a:solidFill>
                  <a:srgbClr val="FFFFFF"/>
                </a:solidFill>
                <a:latin typeface="Calibri"/>
              </a:rPr>
              <a:t>17</a:t>
            </a:r>
          </a:p>
        </p:txBody>
      </p:sp>
      <p:sp>
        <p:nvSpPr>
          <p:cNvPr id="60" name="TextBox 59"/>
          <p:cNvSpPr txBox="1"/>
          <p:nvPr/>
        </p:nvSpPr>
        <p:spPr>
          <a:xfrm>
            <a:off x="9187434" y="4800600"/>
            <a:ext cx="2269998" cy="777240"/>
          </a:xfrm>
          <a:prstGeom prst="rect">
            <a:avLst/>
          </a:prstGeom>
          <a:noFill/>
        </p:spPr>
        <p:txBody>
          <a:bodyPr wrap="square" lIns="0" tIns="0" rIns="0" bIns="0" anchor="t">
            <a:spAutoFit/>
          </a:bodyPr>
          <a:lstStyle/>
          <a:p>
            <a:pPr algn="l"/>
            <a:r>
              <a:rPr sz="1200" b="0" i="0">
                <a:solidFill>
                  <a:srgbClr val="333F50"/>
                </a:solidFill>
                <a:latin typeface="Calibri"/>
              </a:rPr>
              <a:t>Parent 13 is black: nothing to fix.</a:t>
            </a:r>
          </a:p>
        </p:txBody>
      </p:sp>
      <p:sp>
        <p:nvSpPr>
          <p:cNvPr id="61" name="Rounded Rectangle 60"/>
          <p:cNvSpPr/>
          <p:nvPr/>
        </p:nvSpPr>
        <p:spPr>
          <a:xfrm>
            <a:off x="548640" y="5760720"/>
            <a:ext cx="11091672" cy="502920"/>
          </a:xfrm>
          <a:prstGeom prst="roundRect">
            <a:avLst>
              <a:gd name="adj" fmla="val 5000"/>
            </a:avLst>
          </a:prstGeom>
          <a:solidFill>
            <a:srgbClr val="F5F5F5"/>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795528" y="5760720"/>
            <a:ext cx="10607040" cy="502920"/>
          </a:xfrm>
          <a:prstGeom prst="rect">
            <a:avLst/>
          </a:prstGeom>
          <a:noFill/>
        </p:spPr>
        <p:txBody>
          <a:bodyPr wrap="square" lIns="0" tIns="0" rIns="0" bIns="0" anchor="ctr">
            <a:spAutoFit/>
          </a:bodyPr>
          <a:lstStyle/>
          <a:p>
            <a:pPr algn="l"/>
            <a:r>
              <a:rPr sz="1300" b="1" i="0">
                <a:solidFill>
                  <a:srgbClr val="333F50"/>
                </a:solidFill>
                <a:latin typeface="Calibri"/>
              </a:rPr>
              <a:t>So far: </a:t>
            </a:r>
            <a:r>
              <a:rPr sz="1300" b="0" i="0">
                <a:solidFill>
                  <a:srgbClr val="333F50"/>
                </a:solidFill>
                <a:latin typeface="Calibri"/>
              </a:rPr>
              <a:t>only Case 1 recoloring has been needed. Next: 8, 5, 7.</a:t>
            </a:r>
          </a:p>
        </p:txBody>
      </p:sp>
      <p:sp>
        <p:nvSpPr>
          <p:cNvPr id="63" name="TextBox 62"/>
          <p:cNvSpPr txBox="1"/>
          <p:nvPr/>
        </p:nvSpPr>
        <p:spPr>
          <a:xfrm>
            <a:off x="548640" y="6501384"/>
            <a:ext cx="9326880" cy="138499"/>
          </a:xfrm>
          <a:prstGeom prst="rect">
            <a:avLst/>
          </a:prstGeom>
          <a:noFill/>
        </p:spPr>
        <p:txBody>
          <a:bodyPr wrap="square" lIns="0" tIns="0" rIns="0" bIns="0" anchor="t">
            <a:spAutoFit/>
          </a:bodyPr>
          <a:lstStyle/>
          <a:p>
            <a:pPr algn="l"/>
            <a:r>
              <a:rPr lang="en-US" sz="900" b="0" i="0">
                <a:solidFill>
                  <a:srgbClr val="595959"/>
                </a:solidFill>
                <a:latin typeface="Calibri"/>
              </a:rPr>
              <a:t>CS 383 </a:t>
            </a:r>
            <a:r>
              <a:rPr sz="900" b="0" i="0">
                <a:solidFill>
                  <a:srgbClr val="595959"/>
                </a:solidFill>
                <a:latin typeface="Calibri"/>
              </a:rPr>
              <a:t>Algorithm Design </a:t>
            </a:r>
            <a:r>
              <a:rPr lang="en-US" sz="900" b="0" i="0">
                <a:solidFill>
                  <a:srgbClr val="595959"/>
                </a:solidFill>
                <a:latin typeface="Calibri"/>
              </a:rPr>
              <a:t>and Analysis </a:t>
            </a:r>
            <a:r>
              <a:rPr sz="900" b="0" i="0">
                <a:solidFill>
                  <a:srgbClr val="595959"/>
                </a:solidFill>
                <a:latin typeface="Calibri"/>
              </a:rPr>
              <a:t> ·  </a:t>
            </a:r>
            <a:r>
              <a:rPr lang="en-US" sz="900" b="0" i="0">
                <a:solidFill>
                  <a:srgbClr val="595959"/>
                </a:solidFill>
                <a:latin typeface="Calibri"/>
              </a:rPr>
              <a:t>Balanced Binary Search </a:t>
            </a:r>
            <a:r>
              <a:rPr sz="900" b="0" i="0">
                <a:solidFill>
                  <a:srgbClr val="595959"/>
                </a:solidFill>
                <a:latin typeface="Calibri"/>
              </a:rPr>
              <a:t>Trees  ·  </a:t>
            </a:r>
            <a:r>
              <a:rPr lang="en-US" sz="900" b="0" i="0">
                <a:solidFill>
                  <a:srgbClr val="595959"/>
                </a:solidFill>
                <a:latin typeface="Calibri"/>
              </a:rPr>
              <a:t>Tanwistha Saha</a:t>
            </a:r>
            <a:endParaRPr sz="900" b="0" i="0">
              <a:solidFill>
                <a:srgbClr val="595959"/>
              </a:solidFill>
              <a:latin typeface="Calibri"/>
            </a:endParaRPr>
          </a:p>
        </p:txBody>
      </p:sp>
      <p:sp>
        <p:nvSpPr>
          <p:cNvPr id="64" name="TextBox 63"/>
          <p:cNvSpPr txBox="1"/>
          <p:nvPr/>
        </p:nvSpPr>
        <p:spPr>
          <a:xfrm>
            <a:off x="10908792" y="6501384"/>
            <a:ext cx="731520" cy="138499"/>
          </a:xfrm>
          <a:prstGeom prst="rect">
            <a:avLst/>
          </a:prstGeom>
          <a:noFill/>
        </p:spPr>
        <p:txBody>
          <a:bodyPr wrap="square" lIns="0" tIns="0" rIns="0" bIns="0" anchor="t">
            <a:spAutoFit/>
          </a:bodyPr>
          <a:lstStyle/>
          <a:p>
            <a:pPr algn="r"/>
            <a:r>
              <a:rPr lang="en-US" sz="900" b="0" i="0">
                <a:solidFill>
                  <a:srgbClr val="595959"/>
                </a:solidFill>
                <a:latin typeface="Calibri"/>
              </a:rPr>
              <a:t>23</a:t>
            </a:r>
            <a:endParaRPr sz="900" b="0" i="0">
              <a:solidFill>
                <a:srgbClr val="595959"/>
              </a:solidFill>
              <a:latin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9144000" cy="320040"/>
          </a:xfrm>
          <a:prstGeom prst="rect">
            <a:avLst/>
          </a:prstGeom>
          <a:noFill/>
        </p:spPr>
        <p:txBody>
          <a:bodyPr wrap="square" lIns="0" tIns="0" rIns="0" bIns="0" anchor="t">
            <a:spAutoFit/>
          </a:bodyPr>
          <a:lstStyle/>
          <a:p>
            <a:pPr algn="l"/>
            <a:r>
              <a:rPr sz="1200" b="1" i="0">
                <a:solidFill>
                  <a:srgbClr val="4472C4"/>
                </a:solidFill>
                <a:latin typeface="Calibri"/>
              </a:rPr>
              <a:t>WORKED EXAMPLE · PART 2 OF 2</a:t>
            </a:r>
          </a:p>
        </p:txBody>
      </p:sp>
      <p:sp>
        <p:nvSpPr>
          <p:cNvPr id="3" name="TextBox 2"/>
          <p:cNvSpPr txBox="1"/>
          <p:nvPr/>
        </p:nvSpPr>
        <p:spPr>
          <a:xfrm>
            <a:off x="548640" y="658368"/>
            <a:ext cx="11064240" cy="640080"/>
          </a:xfrm>
          <a:prstGeom prst="rect">
            <a:avLst/>
          </a:prstGeom>
          <a:noFill/>
        </p:spPr>
        <p:txBody>
          <a:bodyPr wrap="square" lIns="0" tIns="0" rIns="0" bIns="0" anchor="t">
            <a:spAutoFit/>
          </a:bodyPr>
          <a:lstStyle/>
          <a:p>
            <a:pPr algn="l"/>
            <a:r>
              <a:rPr sz="2800" b="1" i="0">
                <a:solidFill>
                  <a:srgbClr val="333F50"/>
                </a:solidFill>
                <a:latin typeface="Calibri Light"/>
              </a:rPr>
              <a:t>Inserting A: 8, 5, 7 use every case</a:t>
            </a:r>
          </a:p>
        </p:txBody>
      </p:sp>
      <p:sp>
        <p:nvSpPr>
          <p:cNvPr id="4" name="TextBox 3"/>
          <p:cNvSpPr txBox="1"/>
          <p:nvPr/>
        </p:nvSpPr>
        <p:spPr>
          <a:xfrm>
            <a:off x="548640" y="1197864"/>
            <a:ext cx="11064240" cy="502920"/>
          </a:xfrm>
          <a:prstGeom prst="rect">
            <a:avLst/>
          </a:prstGeom>
          <a:noFill/>
        </p:spPr>
        <p:txBody>
          <a:bodyPr wrap="square" lIns="0" tIns="0" rIns="0" bIns="0" anchor="t">
            <a:spAutoFit/>
          </a:bodyPr>
          <a:lstStyle/>
          <a:p>
            <a:pPr algn="l"/>
            <a:r>
              <a:rPr sz="1400" b="0" i="0">
                <a:solidFill>
                  <a:srgbClr val="595959"/>
                </a:solidFill>
                <a:latin typeface="Calibri"/>
              </a:rPr>
              <a:t>Shaded panels are rotations; the same zig-zag 2 → 8 → 5 appeared in the plain BST from A.</a:t>
            </a:r>
          </a:p>
        </p:txBody>
      </p:sp>
      <p:sp>
        <p:nvSpPr>
          <p:cNvPr id="5" name="Rounded Rectangle 4"/>
          <p:cNvSpPr/>
          <p:nvPr/>
        </p:nvSpPr>
        <p:spPr>
          <a:xfrm>
            <a:off x="548640" y="1874519"/>
            <a:ext cx="2635758" cy="3749039"/>
          </a:xfrm>
          <a:prstGeom prst="roundRect">
            <a:avLst>
              <a:gd name="adj" fmla="val 5000"/>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2011680"/>
            <a:ext cx="2269998" cy="274320"/>
          </a:xfrm>
          <a:prstGeom prst="rect">
            <a:avLst/>
          </a:prstGeom>
          <a:noFill/>
        </p:spPr>
        <p:txBody>
          <a:bodyPr wrap="square" lIns="0" tIns="0" rIns="0" bIns="0" anchor="t">
            <a:spAutoFit/>
          </a:bodyPr>
          <a:lstStyle/>
          <a:p>
            <a:pPr algn="l"/>
            <a:r>
              <a:rPr sz="1100" b="1" i="0">
                <a:solidFill>
                  <a:srgbClr val="4472C4"/>
                </a:solidFill>
                <a:latin typeface="Calibri"/>
              </a:rPr>
              <a:t>INSERT 8 → CASE 1</a:t>
            </a:r>
          </a:p>
        </p:txBody>
      </p:sp>
      <p:cxnSp>
        <p:nvCxnSpPr>
          <p:cNvPr id="7" name="Connector 6"/>
          <p:cNvCxnSpPr/>
          <p:nvPr/>
        </p:nvCxnSpPr>
        <p:spPr>
          <a:xfrm flipH="1">
            <a:off x="1453895" y="2651760"/>
            <a:ext cx="594361" cy="50292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048256" y="2651760"/>
            <a:ext cx="685800" cy="50292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996696" y="3154680"/>
            <a:ext cx="457199" cy="50292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453895" y="3154680"/>
            <a:ext cx="457200" cy="50292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96696" y="3657600"/>
            <a:ext cx="411480" cy="50292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865376" y="2468879"/>
            <a:ext cx="365760" cy="365760"/>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865376" y="2468879"/>
            <a:ext cx="365760" cy="365760"/>
          </a:xfrm>
          <a:prstGeom prst="rect">
            <a:avLst/>
          </a:prstGeom>
          <a:noFill/>
        </p:spPr>
        <p:txBody>
          <a:bodyPr wrap="square" lIns="0" tIns="0" rIns="0" bIns="0" anchor="ctr">
            <a:spAutoFit/>
          </a:bodyPr>
          <a:lstStyle/>
          <a:p>
            <a:pPr algn="ctr"/>
            <a:r>
              <a:rPr sz="1100" b="1" i="0">
                <a:solidFill>
                  <a:srgbClr val="FFFFFF"/>
                </a:solidFill>
                <a:latin typeface="Calibri"/>
              </a:rPr>
              <a:t>20</a:t>
            </a:r>
          </a:p>
        </p:txBody>
      </p:sp>
      <p:sp>
        <p:nvSpPr>
          <p:cNvPr id="14" name="Oval 13"/>
          <p:cNvSpPr/>
          <p:nvPr/>
        </p:nvSpPr>
        <p:spPr>
          <a:xfrm>
            <a:off x="1271016" y="2971800"/>
            <a:ext cx="365760" cy="36576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271016" y="2971800"/>
            <a:ext cx="365760" cy="365760"/>
          </a:xfrm>
          <a:prstGeom prst="rect">
            <a:avLst/>
          </a:prstGeom>
          <a:noFill/>
        </p:spPr>
        <p:txBody>
          <a:bodyPr wrap="square" lIns="0" tIns="0" rIns="0" bIns="0" anchor="ctr">
            <a:spAutoFit/>
          </a:bodyPr>
          <a:lstStyle/>
          <a:p>
            <a:pPr algn="ctr"/>
            <a:r>
              <a:rPr sz="1100" b="1" i="0">
                <a:solidFill>
                  <a:srgbClr val="FFFFFF"/>
                </a:solidFill>
                <a:latin typeface="Calibri"/>
              </a:rPr>
              <a:t>13</a:t>
            </a:r>
          </a:p>
        </p:txBody>
      </p:sp>
      <p:sp>
        <p:nvSpPr>
          <p:cNvPr id="16" name="Oval 15"/>
          <p:cNvSpPr/>
          <p:nvPr/>
        </p:nvSpPr>
        <p:spPr>
          <a:xfrm>
            <a:off x="2551176" y="2971800"/>
            <a:ext cx="365760" cy="365760"/>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551176" y="2971800"/>
            <a:ext cx="365760" cy="365760"/>
          </a:xfrm>
          <a:prstGeom prst="rect">
            <a:avLst/>
          </a:prstGeom>
          <a:noFill/>
        </p:spPr>
        <p:txBody>
          <a:bodyPr wrap="square" lIns="0" tIns="0" rIns="0" bIns="0" anchor="ctr">
            <a:spAutoFit/>
          </a:bodyPr>
          <a:lstStyle/>
          <a:p>
            <a:pPr algn="ctr"/>
            <a:r>
              <a:rPr sz="1100" b="1" i="0">
                <a:solidFill>
                  <a:srgbClr val="FFFFFF"/>
                </a:solidFill>
                <a:latin typeface="Calibri"/>
              </a:rPr>
              <a:t>25</a:t>
            </a:r>
          </a:p>
        </p:txBody>
      </p:sp>
      <p:sp>
        <p:nvSpPr>
          <p:cNvPr id="18" name="Oval 17"/>
          <p:cNvSpPr/>
          <p:nvPr/>
        </p:nvSpPr>
        <p:spPr>
          <a:xfrm>
            <a:off x="813816" y="3474720"/>
            <a:ext cx="365760" cy="365760"/>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13816" y="3474720"/>
            <a:ext cx="365760" cy="365760"/>
          </a:xfrm>
          <a:prstGeom prst="rect">
            <a:avLst/>
          </a:prstGeom>
          <a:noFill/>
        </p:spPr>
        <p:txBody>
          <a:bodyPr wrap="square" lIns="0" tIns="0" rIns="0" bIns="0" anchor="ctr">
            <a:spAutoFit/>
          </a:bodyPr>
          <a:lstStyle/>
          <a:p>
            <a:pPr algn="ctr"/>
            <a:r>
              <a:rPr sz="1100" b="1" i="0">
                <a:solidFill>
                  <a:srgbClr val="FFFFFF"/>
                </a:solidFill>
                <a:latin typeface="Calibri"/>
              </a:rPr>
              <a:t>2</a:t>
            </a:r>
          </a:p>
        </p:txBody>
      </p:sp>
      <p:sp>
        <p:nvSpPr>
          <p:cNvPr id="20" name="Oval 19"/>
          <p:cNvSpPr/>
          <p:nvPr/>
        </p:nvSpPr>
        <p:spPr>
          <a:xfrm>
            <a:off x="1728216" y="3474720"/>
            <a:ext cx="365760" cy="365760"/>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728216" y="3474720"/>
            <a:ext cx="365760" cy="365760"/>
          </a:xfrm>
          <a:prstGeom prst="rect">
            <a:avLst/>
          </a:prstGeom>
          <a:noFill/>
        </p:spPr>
        <p:txBody>
          <a:bodyPr wrap="square" lIns="0" tIns="0" rIns="0" bIns="0" anchor="ctr">
            <a:spAutoFit/>
          </a:bodyPr>
          <a:lstStyle/>
          <a:p>
            <a:pPr algn="ctr"/>
            <a:r>
              <a:rPr sz="1100" b="1" i="0">
                <a:solidFill>
                  <a:srgbClr val="FFFFFF"/>
                </a:solidFill>
                <a:latin typeface="Calibri"/>
              </a:rPr>
              <a:t>17</a:t>
            </a:r>
          </a:p>
        </p:txBody>
      </p:sp>
      <p:sp>
        <p:nvSpPr>
          <p:cNvPr id="22" name="Oval 21"/>
          <p:cNvSpPr/>
          <p:nvPr/>
        </p:nvSpPr>
        <p:spPr>
          <a:xfrm>
            <a:off x="1225296" y="3977639"/>
            <a:ext cx="365760" cy="36576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225296" y="3977639"/>
            <a:ext cx="365760" cy="365760"/>
          </a:xfrm>
          <a:prstGeom prst="rect">
            <a:avLst/>
          </a:prstGeom>
          <a:noFill/>
        </p:spPr>
        <p:txBody>
          <a:bodyPr wrap="square" lIns="0" tIns="0" rIns="0" bIns="0" anchor="ctr">
            <a:spAutoFit/>
          </a:bodyPr>
          <a:lstStyle/>
          <a:p>
            <a:pPr algn="ctr"/>
            <a:r>
              <a:rPr sz="1100" b="1" i="0">
                <a:solidFill>
                  <a:srgbClr val="FFFFFF"/>
                </a:solidFill>
                <a:latin typeface="Calibri"/>
              </a:rPr>
              <a:t>8</a:t>
            </a:r>
          </a:p>
        </p:txBody>
      </p:sp>
      <p:sp>
        <p:nvSpPr>
          <p:cNvPr id="24" name="TextBox 23"/>
          <p:cNvSpPr txBox="1"/>
          <p:nvPr/>
        </p:nvSpPr>
        <p:spPr>
          <a:xfrm>
            <a:off x="731520" y="4800600"/>
            <a:ext cx="2269998" cy="777240"/>
          </a:xfrm>
          <a:prstGeom prst="rect">
            <a:avLst/>
          </a:prstGeom>
          <a:noFill/>
        </p:spPr>
        <p:txBody>
          <a:bodyPr wrap="square" lIns="0" tIns="0" rIns="0" bIns="0" anchor="t">
            <a:spAutoFit/>
          </a:bodyPr>
          <a:lstStyle/>
          <a:p>
            <a:pPr algn="l"/>
            <a:r>
              <a:rPr sz="1200" b="0" i="0">
                <a:solidFill>
                  <a:srgbClr val="333F50"/>
                </a:solidFill>
                <a:latin typeface="Calibri"/>
              </a:rPr>
              <a:t>Parent 2 red, uncle 17 red: 2, 17 turn black, 13 red. 13's parent is black: stop.</a:t>
            </a:r>
          </a:p>
        </p:txBody>
      </p:sp>
      <p:sp>
        <p:nvSpPr>
          <p:cNvPr id="25" name="Rounded Rectangle 24"/>
          <p:cNvSpPr/>
          <p:nvPr/>
        </p:nvSpPr>
        <p:spPr>
          <a:xfrm>
            <a:off x="3367278" y="1874519"/>
            <a:ext cx="2635758" cy="3749039"/>
          </a:xfrm>
          <a:prstGeom prst="roundRect">
            <a:avLst>
              <a:gd name="adj" fmla="val 5000"/>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550158" y="2011680"/>
            <a:ext cx="2269998" cy="274320"/>
          </a:xfrm>
          <a:prstGeom prst="rect">
            <a:avLst/>
          </a:prstGeom>
          <a:noFill/>
        </p:spPr>
        <p:txBody>
          <a:bodyPr wrap="square" lIns="0" tIns="0" rIns="0" bIns="0" anchor="t">
            <a:spAutoFit/>
          </a:bodyPr>
          <a:lstStyle/>
          <a:p>
            <a:pPr algn="l"/>
            <a:r>
              <a:rPr sz="1100" b="1" i="0">
                <a:solidFill>
                  <a:srgbClr val="4472C4"/>
                </a:solidFill>
                <a:latin typeface="Calibri"/>
              </a:rPr>
              <a:t>INSERT 5 → ZIG-ZAG</a:t>
            </a:r>
          </a:p>
        </p:txBody>
      </p:sp>
      <p:cxnSp>
        <p:nvCxnSpPr>
          <p:cNvPr id="27" name="Connector 26"/>
          <p:cNvCxnSpPr/>
          <p:nvPr/>
        </p:nvCxnSpPr>
        <p:spPr>
          <a:xfrm flipH="1">
            <a:off x="4363974" y="2651760"/>
            <a:ext cx="594360" cy="50292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4958334" y="2651760"/>
            <a:ext cx="685800" cy="50292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a:off x="3952494" y="3154680"/>
            <a:ext cx="411480" cy="50292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4363974" y="3154680"/>
            <a:ext cx="411480" cy="50292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a:off x="3632454" y="3657600"/>
            <a:ext cx="320040" cy="50292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3952494" y="3657600"/>
            <a:ext cx="320040" cy="50292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sp>
        <p:nvSpPr>
          <p:cNvPr id="33" name="Oval 32"/>
          <p:cNvSpPr/>
          <p:nvPr/>
        </p:nvSpPr>
        <p:spPr>
          <a:xfrm>
            <a:off x="4775454" y="2468879"/>
            <a:ext cx="365760" cy="365760"/>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775454" y="2468879"/>
            <a:ext cx="365760" cy="365760"/>
          </a:xfrm>
          <a:prstGeom prst="rect">
            <a:avLst/>
          </a:prstGeom>
          <a:noFill/>
        </p:spPr>
        <p:txBody>
          <a:bodyPr wrap="square" lIns="0" tIns="0" rIns="0" bIns="0" anchor="ctr">
            <a:spAutoFit/>
          </a:bodyPr>
          <a:lstStyle/>
          <a:p>
            <a:pPr algn="ctr"/>
            <a:r>
              <a:rPr sz="1100" b="1" i="0">
                <a:solidFill>
                  <a:srgbClr val="FFFFFF"/>
                </a:solidFill>
                <a:latin typeface="Calibri"/>
              </a:rPr>
              <a:t>20</a:t>
            </a:r>
          </a:p>
        </p:txBody>
      </p:sp>
      <p:sp>
        <p:nvSpPr>
          <p:cNvPr id="35" name="Oval 34"/>
          <p:cNvSpPr/>
          <p:nvPr/>
        </p:nvSpPr>
        <p:spPr>
          <a:xfrm>
            <a:off x="4181094" y="2971800"/>
            <a:ext cx="365760" cy="36576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181094" y="2971800"/>
            <a:ext cx="365760" cy="365760"/>
          </a:xfrm>
          <a:prstGeom prst="rect">
            <a:avLst/>
          </a:prstGeom>
          <a:noFill/>
        </p:spPr>
        <p:txBody>
          <a:bodyPr wrap="square" lIns="0" tIns="0" rIns="0" bIns="0" anchor="ctr">
            <a:spAutoFit/>
          </a:bodyPr>
          <a:lstStyle/>
          <a:p>
            <a:pPr algn="ctr"/>
            <a:r>
              <a:rPr sz="1100" b="1" i="0">
                <a:solidFill>
                  <a:srgbClr val="FFFFFF"/>
                </a:solidFill>
                <a:latin typeface="Calibri"/>
              </a:rPr>
              <a:t>13</a:t>
            </a:r>
          </a:p>
        </p:txBody>
      </p:sp>
      <p:sp>
        <p:nvSpPr>
          <p:cNvPr id="37" name="Oval 36"/>
          <p:cNvSpPr/>
          <p:nvPr/>
        </p:nvSpPr>
        <p:spPr>
          <a:xfrm>
            <a:off x="5461254" y="2971800"/>
            <a:ext cx="365760" cy="365760"/>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461254" y="2971800"/>
            <a:ext cx="365760" cy="365760"/>
          </a:xfrm>
          <a:prstGeom prst="rect">
            <a:avLst/>
          </a:prstGeom>
          <a:noFill/>
        </p:spPr>
        <p:txBody>
          <a:bodyPr wrap="square" lIns="0" tIns="0" rIns="0" bIns="0" anchor="ctr">
            <a:spAutoFit/>
          </a:bodyPr>
          <a:lstStyle/>
          <a:p>
            <a:pPr algn="ctr"/>
            <a:r>
              <a:rPr sz="1100" b="1" i="0">
                <a:solidFill>
                  <a:srgbClr val="FFFFFF"/>
                </a:solidFill>
                <a:latin typeface="Calibri"/>
              </a:rPr>
              <a:t>25</a:t>
            </a:r>
          </a:p>
        </p:txBody>
      </p:sp>
      <p:sp>
        <p:nvSpPr>
          <p:cNvPr id="39" name="Oval 38"/>
          <p:cNvSpPr/>
          <p:nvPr/>
        </p:nvSpPr>
        <p:spPr>
          <a:xfrm>
            <a:off x="3769614" y="3474720"/>
            <a:ext cx="365760" cy="365760"/>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3769614" y="3474720"/>
            <a:ext cx="365760" cy="365760"/>
          </a:xfrm>
          <a:prstGeom prst="rect">
            <a:avLst/>
          </a:prstGeom>
          <a:noFill/>
        </p:spPr>
        <p:txBody>
          <a:bodyPr wrap="square" lIns="0" tIns="0" rIns="0" bIns="0" anchor="ctr">
            <a:spAutoFit/>
          </a:bodyPr>
          <a:lstStyle/>
          <a:p>
            <a:pPr algn="ctr"/>
            <a:r>
              <a:rPr sz="1100" b="1" i="0">
                <a:solidFill>
                  <a:srgbClr val="FFFFFF"/>
                </a:solidFill>
                <a:latin typeface="Calibri"/>
              </a:rPr>
              <a:t>5</a:t>
            </a:r>
          </a:p>
        </p:txBody>
      </p:sp>
      <p:sp>
        <p:nvSpPr>
          <p:cNvPr id="41" name="Oval 40"/>
          <p:cNvSpPr/>
          <p:nvPr/>
        </p:nvSpPr>
        <p:spPr>
          <a:xfrm>
            <a:off x="4592574" y="3474720"/>
            <a:ext cx="365760" cy="365760"/>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592574" y="3474720"/>
            <a:ext cx="365760" cy="365760"/>
          </a:xfrm>
          <a:prstGeom prst="rect">
            <a:avLst/>
          </a:prstGeom>
          <a:noFill/>
        </p:spPr>
        <p:txBody>
          <a:bodyPr wrap="square" lIns="0" tIns="0" rIns="0" bIns="0" anchor="ctr">
            <a:spAutoFit/>
          </a:bodyPr>
          <a:lstStyle/>
          <a:p>
            <a:pPr algn="ctr"/>
            <a:r>
              <a:rPr sz="1100" b="1" i="0">
                <a:solidFill>
                  <a:srgbClr val="FFFFFF"/>
                </a:solidFill>
                <a:latin typeface="Calibri"/>
              </a:rPr>
              <a:t>17</a:t>
            </a:r>
          </a:p>
        </p:txBody>
      </p:sp>
      <p:sp>
        <p:nvSpPr>
          <p:cNvPr id="43" name="Oval 42"/>
          <p:cNvSpPr/>
          <p:nvPr/>
        </p:nvSpPr>
        <p:spPr>
          <a:xfrm>
            <a:off x="3449574" y="3977639"/>
            <a:ext cx="365760" cy="36576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3449574" y="3977639"/>
            <a:ext cx="365760" cy="365760"/>
          </a:xfrm>
          <a:prstGeom prst="rect">
            <a:avLst/>
          </a:prstGeom>
          <a:noFill/>
        </p:spPr>
        <p:txBody>
          <a:bodyPr wrap="square" lIns="0" tIns="0" rIns="0" bIns="0" anchor="ctr">
            <a:spAutoFit/>
          </a:bodyPr>
          <a:lstStyle/>
          <a:p>
            <a:pPr algn="ctr"/>
            <a:r>
              <a:rPr sz="1100" b="1" i="0">
                <a:solidFill>
                  <a:srgbClr val="FFFFFF"/>
                </a:solidFill>
                <a:latin typeface="Calibri"/>
              </a:rPr>
              <a:t>2</a:t>
            </a:r>
          </a:p>
        </p:txBody>
      </p:sp>
      <p:sp>
        <p:nvSpPr>
          <p:cNvPr id="45" name="Oval 44"/>
          <p:cNvSpPr/>
          <p:nvPr/>
        </p:nvSpPr>
        <p:spPr>
          <a:xfrm>
            <a:off x="4089654" y="3977639"/>
            <a:ext cx="365760" cy="36576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4089654" y="3977639"/>
            <a:ext cx="365760" cy="365760"/>
          </a:xfrm>
          <a:prstGeom prst="rect">
            <a:avLst/>
          </a:prstGeom>
          <a:noFill/>
        </p:spPr>
        <p:txBody>
          <a:bodyPr wrap="square" lIns="0" tIns="0" rIns="0" bIns="0" anchor="ctr">
            <a:spAutoFit/>
          </a:bodyPr>
          <a:lstStyle/>
          <a:p>
            <a:pPr algn="ctr"/>
            <a:r>
              <a:rPr sz="1100" b="1" i="0">
                <a:solidFill>
                  <a:srgbClr val="FFFFFF"/>
                </a:solidFill>
                <a:latin typeface="Calibri"/>
              </a:rPr>
              <a:t>8</a:t>
            </a:r>
          </a:p>
        </p:txBody>
      </p:sp>
      <p:sp>
        <p:nvSpPr>
          <p:cNvPr id="47" name="TextBox 46"/>
          <p:cNvSpPr txBox="1"/>
          <p:nvPr/>
        </p:nvSpPr>
        <p:spPr>
          <a:xfrm>
            <a:off x="3550158" y="4800600"/>
            <a:ext cx="2269998" cy="553998"/>
          </a:xfrm>
          <a:prstGeom prst="rect">
            <a:avLst/>
          </a:prstGeom>
          <a:noFill/>
        </p:spPr>
        <p:txBody>
          <a:bodyPr wrap="square" lIns="0" tIns="0" rIns="0" bIns="0" anchor="t">
            <a:spAutoFit/>
          </a:bodyPr>
          <a:lstStyle/>
          <a:p>
            <a:pPr algn="l"/>
            <a:r>
              <a:rPr sz="1200" b="0" i="0">
                <a:solidFill>
                  <a:srgbClr val="333F50"/>
                </a:solidFill>
                <a:latin typeface="Calibri"/>
              </a:rPr>
              <a:t>Uncle of 5 is NULL (black); 2 → 8 → 5 bends: </a:t>
            </a:r>
            <a:r>
              <a:rPr lang="en-US" sz="1200" b="0" i="0">
                <a:solidFill>
                  <a:srgbClr val="333F50"/>
                </a:solidFill>
                <a:latin typeface="Calibri"/>
              </a:rPr>
              <a:t>RIGHTROTATE</a:t>
            </a:r>
            <a:r>
              <a:rPr sz="1200" b="0" i="0">
                <a:solidFill>
                  <a:srgbClr val="333F50"/>
                </a:solidFill>
                <a:latin typeface="Calibri"/>
              </a:rPr>
              <a:t>(8), </a:t>
            </a:r>
            <a:r>
              <a:rPr lang="en-US" sz="1200" b="0" i="0">
                <a:solidFill>
                  <a:srgbClr val="333F50"/>
                </a:solidFill>
                <a:latin typeface="Calibri"/>
              </a:rPr>
              <a:t>LEFTROTATE</a:t>
            </a:r>
            <a:r>
              <a:rPr sz="1200" b="0" i="0">
                <a:solidFill>
                  <a:srgbClr val="333F50"/>
                </a:solidFill>
                <a:latin typeface="Calibri"/>
              </a:rPr>
              <a:t>(2), recolor.</a:t>
            </a:r>
          </a:p>
        </p:txBody>
      </p:sp>
      <p:sp>
        <p:nvSpPr>
          <p:cNvPr id="48" name="Rounded Rectangle 47"/>
          <p:cNvSpPr/>
          <p:nvPr/>
        </p:nvSpPr>
        <p:spPr>
          <a:xfrm>
            <a:off x="6185916" y="1874519"/>
            <a:ext cx="2635758" cy="3749039"/>
          </a:xfrm>
          <a:prstGeom prst="roundRect">
            <a:avLst>
              <a:gd name="adj" fmla="val 5000"/>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6368796" y="2011680"/>
            <a:ext cx="2269998" cy="274320"/>
          </a:xfrm>
          <a:prstGeom prst="rect">
            <a:avLst/>
          </a:prstGeom>
          <a:noFill/>
        </p:spPr>
        <p:txBody>
          <a:bodyPr wrap="square" lIns="0" tIns="0" rIns="0" bIns="0" anchor="t">
            <a:spAutoFit/>
          </a:bodyPr>
          <a:lstStyle/>
          <a:p>
            <a:pPr algn="l"/>
            <a:r>
              <a:rPr sz="1100" b="1" i="0">
                <a:solidFill>
                  <a:srgbClr val="4472C4"/>
                </a:solidFill>
                <a:latin typeface="Calibri"/>
              </a:rPr>
              <a:t>INSERT 7 → CASE 1</a:t>
            </a:r>
          </a:p>
        </p:txBody>
      </p:sp>
      <p:cxnSp>
        <p:nvCxnSpPr>
          <p:cNvPr id="50" name="Connector 49"/>
          <p:cNvCxnSpPr/>
          <p:nvPr/>
        </p:nvCxnSpPr>
        <p:spPr>
          <a:xfrm flipH="1">
            <a:off x="7182612" y="2651760"/>
            <a:ext cx="594360" cy="45720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7776972" y="2651760"/>
            <a:ext cx="685800" cy="45720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a:off x="6771132" y="3108960"/>
            <a:ext cx="411480" cy="45720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7182612" y="3108960"/>
            <a:ext cx="411480" cy="45720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a:off x="6451092" y="3566160"/>
            <a:ext cx="320040" cy="45720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6771132" y="3566160"/>
            <a:ext cx="320040" cy="45720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a:off x="6816852" y="4023360"/>
            <a:ext cx="274320" cy="45720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sp>
        <p:nvSpPr>
          <p:cNvPr id="57" name="Oval 56"/>
          <p:cNvSpPr/>
          <p:nvPr/>
        </p:nvSpPr>
        <p:spPr>
          <a:xfrm>
            <a:off x="7594092" y="2468879"/>
            <a:ext cx="365760" cy="365760"/>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7594092" y="2468879"/>
            <a:ext cx="365760" cy="365760"/>
          </a:xfrm>
          <a:prstGeom prst="rect">
            <a:avLst/>
          </a:prstGeom>
          <a:noFill/>
        </p:spPr>
        <p:txBody>
          <a:bodyPr wrap="square" lIns="0" tIns="0" rIns="0" bIns="0" anchor="ctr">
            <a:spAutoFit/>
          </a:bodyPr>
          <a:lstStyle/>
          <a:p>
            <a:pPr algn="ctr"/>
            <a:r>
              <a:rPr sz="1100" b="1" i="0">
                <a:solidFill>
                  <a:srgbClr val="FFFFFF"/>
                </a:solidFill>
                <a:latin typeface="Calibri"/>
              </a:rPr>
              <a:t>20</a:t>
            </a:r>
          </a:p>
        </p:txBody>
      </p:sp>
      <p:sp>
        <p:nvSpPr>
          <p:cNvPr id="59" name="Oval 58"/>
          <p:cNvSpPr/>
          <p:nvPr/>
        </p:nvSpPr>
        <p:spPr>
          <a:xfrm>
            <a:off x="6999732" y="2926080"/>
            <a:ext cx="365760" cy="36576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6999732" y="2926080"/>
            <a:ext cx="365760" cy="365760"/>
          </a:xfrm>
          <a:prstGeom prst="rect">
            <a:avLst/>
          </a:prstGeom>
          <a:noFill/>
        </p:spPr>
        <p:txBody>
          <a:bodyPr wrap="square" lIns="0" tIns="0" rIns="0" bIns="0" anchor="ctr">
            <a:spAutoFit/>
          </a:bodyPr>
          <a:lstStyle/>
          <a:p>
            <a:pPr algn="ctr"/>
            <a:r>
              <a:rPr sz="1100" b="1" i="0">
                <a:solidFill>
                  <a:srgbClr val="FFFFFF"/>
                </a:solidFill>
                <a:latin typeface="Calibri"/>
              </a:rPr>
              <a:t>13</a:t>
            </a:r>
          </a:p>
        </p:txBody>
      </p:sp>
      <p:sp>
        <p:nvSpPr>
          <p:cNvPr id="61" name="Oval 60"/>
          <p:cNvSpPr/>
          <p:nvPr/>
        </p:nvSpPr>
        <p:spPr>
          <a:xfrm>
            <a:off x="8279892" y="2926080"/>
            <a:ext cx="365760" cy="365760"/>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8279892" y="2926080"/>
            <a:ext cx="365760" cy="365760"/>
          </a:xfrm>
          <a:prstGeom prst="rect">
            <a:avLst/>
          </a:prstGeom>
          <a:noFill/>
        </p:spPr>
        <p:txBody>
          <a:bodyPr wrap="square" lIns="0" tIns="0" rIns="0" bIns="0" anchor="ctr">
            <a:spAutoFit/>
          </a:bodyPr>
          <a:lstStyle/>
          <a:p>
            <a:pPr algn="ctr"/>
            <a:r>
              <a:rPr sz="1100" b="1" i="0">
                <a:solidFill>
                  <a:srgbClr val="FFFFFF"/>
                </a:solidFill>
                <a:latin typeface="Calibri"/>
              </a:rPr>
              <a:t>25</a:t>
            </a:r>
          </a:p>
        </p:txBody>
      </p:sp>
      <p:sp>
        <p:nvSpPr>
          <p:cNvPr id="63" name="Oval 62"/>
          <p:cNvSpPr/>
          <p:nvPr/>
        </p:nvSpPr>
        <p:spPr>
          <a:xfrm>
            <a:off x="6588252" y="3383280"/>
            <a:ext cx="365760" cy="36576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6588252" y="3383280"/>
            <a:ext cx="365760" cy="365760"/>
          </a:xfrm>
          <a:prstGeom prst="rect">
            <a:avLst/>
          </a:prstGeom>
          <a:noFill/>
        </p:spPr>
        <p:txBody>
          <a:bodyPr wrap="square" lIns="0" tIns="0" rIns="0" bIns="0" anchor="ctr">
            <a:spAutoFit/>
          </a:bodyPr>
          <a:lstStyle/>
          <a:p>
            <a:pPr algn="ctr"/>
            <a:r>
              <a:rPr sz="1100" b="1" i="0">
                <a:solidFill>
                  <a:srgbClr val="FFFFFF"/>
                </a:solidFill>
                <a:latin typeface="Calibri"/>
              </a:rPr>
              <a:t>5</a:t>
            </a:r>
          </a:p>
        </p:txBody>
      </p:sp>
      <p:sp>
        <p:nvSpPr>
          <p:cNvPr id="65" name="Oval 64"/>
          <p:cNvSpPr/>
          <p:nvPr/>
        </p:nvSpPr>
        <p:spPr>
          <a:xfrm>
            <a:off x="7411212" y="3383280"/>
            <a:ext cx="365760" cy="365760"/>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7411212" y="3383280"/>
            <a:ext cx="365760" cy="365760"/>
          </a:xfrm>
          <a:prstGeom prst="rect">
            <a:avLst/>
          </a:prstGeom>
          <a:noFill/>
        </p:spPr>
        <p:txBody>
          <a:bodyPr wrap="square" lIns="0" tIns="0" rIns="0" bIns="0" anchor="ctr">
            <a:spAutoFit/>
          </a:bodyPr>
          <a:lstStyle/>
          <a:p>
            <a:pPr algn="ctr"/>
            <a:r>
              <a:rPr sz="1100" b="1" i="0">
                <a:solidFill>
                  <a:srgbClr val="FFFFFF"/>
                </a:solidFill>
                <a:latin typeface="Calibri"/>
              </a:rPr>
              <a:t>17</a:t>
            </a:r>
          </a:p>
        </p:txBody>
      </p:sp>
      <p:sp>
        <p:nvSpPr>
          <p:cNvPr id="67" name="Oval 66"/>
          <p:cNvSpPr/>
          <p:nvPr/>
        </p:nvSpPr>
        <p:spPr>
          <a:xfrm>
            <a:off x="6268212" y="3840480"/>
            <a:ext cx="365760" cy="365760"/>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6268212" y="3840480"/>
            <a:ext cx="365760" cy="365760"/>
          </a:xfrm>
          <a:prstGeom prst="rect">
            <a:avLst/>
          </a:prstGeom>
          <a:noFill/>
        </p:spPr>
        <p:txBody>
          <a:bodyPr wrap="square" lIns="0" tIns="0" rIns="0" bIns="0" anchor="ctr">
            <a:spAutoFit/>
          </a:bodyPr>
          <a:lstStyle/>
          <a:p>
            <a:pPr algn="ctr"/>
            <a:r>
              <a:rPr sz="1100" b="1" i="0">
                <a:solidFill>
                  <a:srgbClr val="FFFFFF"/>
                </a:solidFill>
                <a:latin typeface="Calibri"/>
              </a:rPr>
              <a:t>2</a:t>
            </a:r>
          </a:p>
        </p:txBody>
      </p:sp>
      <p:sp>
        <p:nvSpPr>
          <p:cNvPr id="69" name="Oval 68"/>
          <p:cNvSpPr/>
          <p:nvPr/>
        </p:nvSpPr>
        <p:spPr>
          <a:xfrm>
            <a:off x="6908292" y="3840480"/>
            <a:ext cx="365760" cy="365760"/>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6908292" y="3840480"/>
            <a:ext cx="365760" cy="365760"/>
          </a:xfrm>
          <a:prstGeom prst="rect">
            <a:avLst/>
          </a:prstGeom>
          <a:noFill/>
        </p:spPr>
        <p:txBody>
          <a:bodyPr wrap="square" lIns="0" tIns="0" rIns="0" bIns="0" anchor="ctr">
            <a:spAutoFit/>
          </a:bodyPr>
          <a:lstStyle/>
          <a:p>
            <a:pPr algn="ctr"/>
            <a:r>
              <a:rPr sz="1100" b="1" i="0">
                <a:solidFill>
                  <a:srgbClr val="FFFFFF"/>
                </a:solidFill>
                <a:latin typeface="Calibri"/>
              </a:rPr>
              <a:t>8</a:t>
            </a:r>
          </a:p>
        </p:txBody>
      </p:sp>
      <p:sp>
        <p:nvSpPr>
          <p:cNvPr id="71" name="Oval 70"/>
          <p:cNvSpPr/>
          <p:nvPr/>
        </p:nvSpPr>
        <p:spPr>
          <a:xfrm>
            <a:off x="6633972" y="4297680"/>
            <a:ext cx="365760" cy="36576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6633972" y="4297680"/>
            <a:ext cx="365760" cy="365760"/>
          </a:xfrm>
          <a:prstGeom prst="rect">
            <a:avLst/>
          </a:prstGeom>
          <a:noFill/>
        </p:spPr>
        <p:txBody>
          <a:bodyPr wrap="square" lIns="0" tIns="0" rIns="0" bIns="0" anchor="ctr">
            <a:spAutoFit/>
          </a:bodyPr>
          <a:lstStyle/>
          <a:p>
            <a:pPr algn="ctr"/>
            <a:r>
              <a:rPr sz="1100" b="1" i="0">
                <a:solidFill>
                  <a:srgbClr val="FFFFFF"/>
                </a:solidFill>
                <a:latin typeface="Calibri"/>
              </a:rPr>
              <a:t>7</a:t>
            </a:r>
          </a:p>
        </p:txBody>
      </p:sp>
      <p:sp>
        <p:nvSpPr>
          <p:cNvPr id="73" name="TextBox 72"/>
          <p:cNvSpPr txBox="1"/>
          <p:nvPr/>
        </p:nvSpPr>
        <p:spPr>
          <a:xfrm>
            <a:off x="6368796" y="4800600"/>
            <a:ext cx="2269998" cy="777240"/>
          </a:xfrm>
          <a:prstGeom prst="rect">
            <a:avLst/>
          </a:prstGeom>
          <a:noFill/>
        </p:spPr>
        <p:txBody>
          <a:bodyPr wrap="square" lIns="0" tIns="0" rIns="0" bIns="0" anchor="t">
            <a:spAutoFit/>
          </a:bodyPr>
          <a:lstStyle/>
          <a:p>
            <a:pPr algn="l"/>
            <a:r>
              <a:rPr sz="1200" b="0" i="0">
                <a:solidFill>
                  <a:srgbClr val="333F50"/>
                </a:solidFill>
                <a:latin typeface="Calibri"/>
              </a:rPr>
              <a:t>Uncle 2 is red: 2, 8 black, 5 red. Now 5 and 13 are both red, so repeat at 5.</a:t>
            </a:r>
          </a:p>
        </p:txBody>
      </p:sp>
      <p:sp>
        <p:nvSpPr>
          <p:cNvPr id="74" name="Rounded Rectangle 73"/>
          <p:cNvSpPr/>
          <p:nvPr/>
        </p:nvSpPr>
        <p:spPr>
          <a:xfrm>
            <a:off x="9004554" y="1874519"/>
            <a:ext cx="2635758" cy="3749039"/>
          </a:xfrm>
          <a:prstGeom prst="roundRect">
            <a:avLst>
              <a:gd name="adj" fmla="val 5000"/>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9187434" y="2011680"/>
            <a:ext cx="2269998" cy="274320"/>
          </a:xfrm>
          <a:prstGeom prst="rect">
            <a:avLst/>
          </a:prstGeom>
          <a:noFill/>
        </p:spPr>
        <p:txBody>
          <a:bodyPr wrap="square" lIns="0" tIns="0" rIns="0" bIns="0" anchor="t">
            <a:spAutoFit/>
          </a:bodyPr>
          <a:lstStyle/>
          <a:p>
            <a:pPr algn="l"/>
            <a:r>
              <a:rPr sz="1100" b="1" i="0">
                <a:solidFill>
                  <a:srgbClr val="4472C4"/>
                </a:solidFill>
                <a:latin typeface="Calibri"/>
              </a:rPr>
              <a:t>LINE AT 20</a:t>
            </a:r>
          </a:p>
        </p:txBody>
      </p:sp>
      <p:cxnSp>
        <p:nvCxnSpPr>
          <p:cNvPr id="76" name="Connector 75"/>
          <p:cNvCxnSpPr/>
          <p:nvPr/>
        </p:nvCxnSpPr>
        <p:spPr>
          <a:xfrm flipH="1">
            <a:off x="9726930" y="2651760"/>
            <a:ext cx="594360" cy="50292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10321290" y="2651760"/>
            <a:ext cx="640080" cy="50292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H="1">
            <a:off x="9361170" y="3154680"/>
            <a:ext cx="365760" cy="50292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9726930" y="3154680"/>
            <a:ext cx="320040" cy="50292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H="1">
            <a:off x="10641330" y="3154680"/>
            <a:ext cx="320040" cy="50292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10961370" y="3154680"/>
            <a:ext cx="320040" cy="50292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H="1">
            <a:off x="9772650" y="3657600"/>
            <a:ext cx="274320" cy="502920"/>
          </a:xfrm>
          <a:prstGeom prst="line">
            <a:avLst/>
          </a:prstGeom>
          <a:ln w="22225">
            <a:solidFill>
              <a:srgbClr val="A6A6A6"/>
            </a:solidFill>
          </a:ln>
        </p:spPr>
        <p:style>
          <a:lnRef idx="2">
            <a:schemeClr val="accent1"/>
          </a:lnRef>
          <a:fillRef idx="0">
            <a:schemeClr val="accent1"/>
          </a:fillRef>
          <a:effectRef idx="1">
            <a:schemeClr val="accent1"/>
          </a:effectRef>
          <a:fontRef idx="minor">
            <a:schemeClr val="tx1"/>
          </a:fontRef>
        </p:style>
      </p:cxnSp>
      <p:sp>
        <p:nvSpPr>
          <p:cNvPr id="83" name="Oval 82"/>
          <p:cNvSpPr/>
          <p:nvPr/>
        </p:nvSpPr>
        <p:spPr>
          <a:xfrm>
            <a:off x="10138410" y="2468879"/>
            <a:ext cx="365760" cy="365760"/>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p:cNvSpPr txBox="1"/>
          <p:nvPr/>
        </p:nvSpPr>
        <p:spPr>
          <a:xfrm>
            <a:off x="10138410" y="2468879"/>
            <a:ext cx="365760" cy="365760"/>
          </a:xfrm>
          <a:prstGeom prst="rect">
            <a:avLst/>
          </a:prstGeom>
          <a:noFill/>
        </p:spPr>
        <p:txBody>
          <a:bodyPr wrap="square" lIns="0" tIns="0" rIns="0" bIns="0" anchor="ctr">
            <a:spAutoFit/>
          </a:bodyPr>
          <a:lstStyle/>
          <a:p>
            <a:pPr algn="ctr"/>
            <a:r>
              <a:rPr sz="1100" b="1" i="0">
                <a:solidFill>
                  <a:srgbClr val="FFFFFF"/>
                </a:solidFill>
                <a:latin typeface="Calibri"/>
              </a:rPr>
              <a:t>13</a:t>
            </a:r>
          </a:p>
        </p:txBody>
      </p:sp>
      <p:sp>
        <p:nvSpPr>
          <p:cNvPr id="85" name="Oval 84"/>
          <p:cNvSpPr/>
          <p:nvPr/>
        </p:nvSpPr>
        <p:spPr>
          <a:xfrm>
            <a:off x="9544050" y="2971800"/>
            <a:ext cx="365760" cy="36576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9544050" y="2971800"/>
            <a:ext cx="365760" cy="365760"/>
          </a:xfrm>
          <a:prstGeom prst="rect">
            <a:avLst/>
          </a:prstGeom>
          <a:noFill/>
        </p:spPr>
        <p:txBody>
          <a:bodyPr wrap="square" lIns="0" tIns="0" rIns="0" bIns="0" anchor="ctr">
            <a:spAutoFit/>
          </a:bodyPr>
          <a:lstStyle/>
          <a:p>
            <a:pPr algn="ctr"/>
            <a:r>
              <a:rPr sz="1100" b="1" i="0">
                <a:solidFill>
                  <a:srgbClr val="FFFFFF"/>
                </a:solidFill>
                <a:latin typeface="Calibri"/>
              </a:rPr>
              <a:t>5</a:t>
            </a:r>
          </a:p>
        </p:txBody>
      </p:sp>
      <p:sp>
        <p:nvSpPr>
          <p:cNvPr id="87" name="Oval 86"/>
          <p:cNvSpPr/>
          <p:nvPr/>
        </p:nvSpPr>
        <p:spPr>
          <a:xfrm>
            <a:off x="10778490" y="2971800"/>
            <a:ext cx="365760" cy="36576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TextBox 87"/>
          <p:cNvSpPr txBox="1"/>
          <p:nvPr/>
        </p:nvSpPr>
        <p:spPr>
          <a:xfrm>
            <a:off x="10778490" y="2971800"/>
            <a:ext cx="365760" cy="365760"/>
          </a:xfrm>
          <a:prstGeom prst="rect">
            <a:avLst/>
          </a:prstGeom>
          <a:noFill/>
        </p:spPr>
        <p:txBody>
          <a:bodyPr wrap="square" lIns="0" tIns="0" rIns="0" bIns="0" anchor="ctr">
            <a:spAutoFit/>
          </a:bodyPr>
          <a:lstStyle/>
          <a:p>
            <a:pPr algn="ctr"/>
            <a:r>
              <a:rPr sz="1100" b="1" i="0">
                <a:solidFill>
                  <a:srgbClr val="FFFFFF"/>
                </a:solidFill>
                <a:latin typeface="Calibri"/>
              </a:rPr>
              <a:t>20</a:t>
            </a:r>
          </a:p>
        </p:txBody>
      </p:sp>
      <p:sp>
        <p:nvSpPr>
          <p:cNvPr id="89" name="Oval 88"/>
          <p:cNvSpPr/>
          <p:nvPr/>
        </p:nvSpPr>
        <p:spPr>
          <a:xfrm>
            <a:off x="9178290" y="3474720"/>
            <a:ext cx="365760" cy="365760"/>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TextBox 89"/>
          <p:cNvSpPr txBox="1"/>
          <p:nvPr/>
        </p:nvSpPr>
        <p:spPr>
          <a:xfrm>
            <a:off x="9178290" y="3474720"/>
            <a:ext cx="365760" cy="365760"/>
          </a:xfrm>
          <a:prstGeom prst="rect">
            <a:avLst/>
          </a:prstGeom>
          <a:noFill/>
        </p:spPr>
        <p:txBody>
          <a:bodyPr wrap="square" lIns="0" tIns="0" rIns="0" bIns="0" anchor="ctr">
            <a:spAutoFit/>
          </a:bodyPr>
          <a:lstStyle/>
          <a:p>
            <a:pPr algn="ctr"/>
            <a:r>
              <a:rPr sz="1100" b="1" i="0">
                <a:solidFill>
                  <a:srgbClr val="FFFFFF"/>
                </a:solidFill>
                <a:latin typeface="Calibri"/>
              </a:rPr>
              <a:t>2</a:t>
            </a:r>
          </a:p>
        </p:txBody>
      </p:sp>
      <p:sp>
        <p:nvSpPr>
          <p:cNvPr id="91" name="Oval 90"/>
          <p:cNvSpPr/>
          <p:nvPr/>
        </p:nvSpPr>
        <p:spPr>
          <a:xfrm>
            <a:off x="9864090" y="3474720"/>
            <a:ext cx="365760" cy="365760"/>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91"/>
          <p:cNvSpPr txBox="1"/>
          <p:nvPr/>
        </p:nvSpPr>
        <p:spPr>
          <a:xfrm>
            <a:off x="9864090" y="3474720"/>
            <a:ext cx="365760" cy="365760"/>
          </a:xfrm>
          <a:prstGeom prst="rect">
            <a:avLst/>
          </a:prstGeom>
          <a:noFill/>
        </p:spPr>
        <p:txBody>
          <a:bodyPr wrap="square" lIns="0" tIns="0" rIns="0" bIns="0" anchor="ctr">
            <a:spAutoFit/>
          </a:bodyPr>
          <a:lstStyle/>
          <a:p>
            <a:pPr algn="ctr"/>
            <a:r>
              <a:rPr sz="1100" b="1" i="0">
                <a:solidFill>
                  <a:srgbClr val="FFFFFF"/>
                </a:solidFill>
                <a:latin typeface="Calibri"/>
              </a:rPr>
              <a:t>8</a:t>
            </a:r>
          </a:p>
        </p:txBody>
      </p:sp>
      <p:sp>
        <p:nvSpPr>
          <p:cNvPr id="93" name="Oval 92"/>
          <p:cNvSpPr/>
          <p:nvPr/>
        </p:nvSpPr>
        <p:spPr>
          <a:xfrm>
            <a:off x="10458450" y="3474720"/>
            <a:ext cx="365760" cy="365760"/>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TextBox 93"/>
          <p:cNvSpPr txBox="1"/>
          <p:nvPr/>
        </p:nvSpPr>
        <p:spPr>
          <a:xfrm>
            <a:off x="10458450" y="3474720"/>
            <a:ext cx="365760" cy="365760"/>
          </a:xfrm>
          <a:prstGeom prst="rect">
            <a:avLst/>
          </a:prstGeom>
          <a:noFill/>
        </p:spPr>
        <p:txBody>
          <a:bodyPr wrap="square" lIns="0" tIns="0" rIns="0" bIns="0" anchor="ctr">
            <a:spAutoFit/>
          </a:bodyPr>
          <a:lstStyle/>
          <a:p>
            <a:pPr algn="ctr"/>
            <a:r>
              <a:rPr sz="1100" b="1" i="0">
                <a:solidFill>
                  <a:srgbClr val="FFFFFF"/>
                </a:solidFill>
                <a:latin typeface="Calibri"/>
              </a:rPr>
              <a:t>17</a:t>
            </a:r>
          </a:p>
        </p:txBody>
      </p:sp>
      <p:sp>
        <p:nvSpPr>
          <p:cNvPr id="95" name="Oval 94"/>
          <p:cNvSpPr/>
          <p:nvPr/>
        </p:nvSpPr>
        <p:spPr>
          <a:xfrm>
            <a:off x="11098530" y="3474720"/>
            <a:ext cx="365760" cy="365760"/>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TextBox 95"/>
          <p:cNvSpPr txBox="1"/>
          <p:nvPr/>
        </p:nvSpPr>
        <p:spPr>
          <a:xfrm>
            <a:off x="11098530" y="3474720"/>
            <a:ext cx="365760" cy="365760"/>
          </a:xfrm>
          <a:prstGeom prst="rect">
            <a:avLst/>
          </a:prstGeom>
          <a:noFill/>
        </p:spPr>
        <p:txBody>
          <a:bodyPr wrap="square" lIns="0" tIns="0" rIns="0" bIns="0" anchor="ctr">
            <a:spAutoFit/>
          </a:bodyPr>
          <a:lstStyle/>
          <a:p>
            <a:pPr algn="ctr"/>
            <a:r>
              <a:rPr sz="1100" b="1" i="0">
                <a:solidFill>
                  <a:srgbClr val="FFFFFF"/>
                </a:solidFill>
                <a:latin typeface="Calibri"/>
              </a:rPr>
              <a:t>25</a:t>
            </a:r>
          </a:p>
        </p:txBody>
      </p:sp>
      <p:sp>
        <p:nvSpPr>
          <p:cNvPr id="97" name="Oval 96"/>
          <p:cNvSpPr/>
          <p:nvPr/>
        </p:nvSpPr>
        <p:spPr>
          <a:xfrm>
            <a:off x="9589770" y="3977639"/>
            <a:ext cx="365760" cy="36576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TextBox 97"/>
          <p:cNvSpPr txBox="1"/>
          <p:nvPr/>
        </p:nvSpPr>
        <p:spPr>
          <a:xfrm>
            <a:off x="9589770" y="3977639"/>
            <a:ext cx="365760" cy="365760"/>
          </a:xfrm>
          <a:prstGeom prst="rect">
            <a:avLst/>
          </a:prstGeom>
          <a:noFill/>
        </p:spPr>
        <p:txBody>
          <a:bodyPr wrap="square" lIns="0" tIns="0" rIns="0" bIns="0" anchor="ctr">
            <a:spAutoFit/>
          </a:bodyPr>
          <a:lstStyle/>
          <a:p>
            <a:pPr algn="ctr"/>
            <a:r>
              <a:rPr sz="1100" b="1" i="0">
                <a:solidFill>
                  <a:srgbClr val="FFFFFF"/>
                </a:solidFill>
                <a:latin typeface="Calibri"/>
              </a:rPr>
              <a:t>7</a:t>
            </a:r>
          </a:p>
        </p:txBody>
      </p:sp>
      <p:sp>
        <p:nvSpPr>
          <p:cNvPr id="99" name="TextBox 98"/>
          <p:cNvSpPr txBox="1"/>
          <p:nvPr/>
        </p:nvSpPr>
        <p:spPr>
          <a:xfrm>
            <a:off x="9187434" y="4800600"/>
            <a:ext cx="2269998" cy="553998"/>
          </a:xfrm>
          <a:prstGeom prst="rect">
            <a:avLst/>
          </a:prstGeom>
          <a:noFill/>
        </p:spPr>
        <p:txBody>
          <a:bodyPr wrap="square" lIns="0" tIns="0" rIns="0" bIns="0" anchor="t">
            <a:spAutoFit/>
          </a:bodyPr>
          <a:lstStyle/>
          <a:p>
            <a:pPr algn="l"/>
            <a:r>
              <a:rPr sz="1200" b="0" i="0">
                <a:solidFill>
                  <a:srgbClr val="333F50"/>
                </a:solidFill>
                <a:latin typeface="Calibri"/>
              </a:rPr>
              <a:t>5 → 13 → 20 is a line with black uncle 25: </a:t>
            </a:r>
            <a:r>
              <a:rPr lang="en-US" sz="1200" b="0" i="0">
                <a:solidFill>
                  <a:srgbClr val="333F50"/>
                </a:solidFill>
                <a:latin typeface="Calibri"/>
              </a:rPr>
              <a:t>RIGHTROTATE</a:t>
            </a:r>
            <a:r>
              <a:rPr sz="1200" b="0" i="0">
                <a:solidFill>
                  <a:srgbClr val="333F50"/>
                </a:solidFill>
                <a:latin typeface="Calibri"/>
              </a:rPr>
              <a:t>(20), swap colors of 13 and 20.</a:t>
            </a:r>
          </a:p>
        </p:txBody>
      </p:sp>
      <p:sp>
        <p:nvSpPr>
          <p:cNvPr id="100" name="Rounded Rectangle 99"/>
          <p:cNvSpPr/>
          <p:nvPr/>
        </p:nvSpPr>
        <p:spPr>
          <a:xfrm>
            <a:off x="548640" y="5760720"/>
            <a:ext cx="11091672" cy="502920"/>
          </a:xfrm>
          <a:prstGeom prst="roundRect">
            <a:avLst>
              <a:gd name="adj" fmla="val 5000"/>
            </a:avLst>
          </a:prstGeom>
          <a:solidFill>
            <a:srgbClr val="F5F5F5"/>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TextBox 100"/>
          <p:cNvSpPr txBox="1"/>
          <p:nvPr/>
        </p:nvSpPr>
        <p:spPr>
          <a:xfrm>
            <a:off x="795528" y="5912152"/>
            <a:ext cx="10607040" cy="200055"/>
          </a:xfrm>
          <a:prstGeom prst="rect">
            <a:avLst/>
          </a:prstGeom>
          <a:noFill/>
        </p:spPr>
        <p:txBody>
          <a:bodyPr wrap="square" lIns="0" tIns="0" rIns="0" bIns="0" anchor="ctr">
            <a:spAutoFit/>
          </a:bodyPr>
          <a:lstStyle/>
          <a:p>
            <a:pPr algn="l"/>
            <a:r>
              <a:rPr sz="1300" b="1" i="0">
                <a:solidFill>
                  <a:srgbClr val="333F50"/>
                </a:solidFill>
                <a:latin typeface="Calibri"/>
              </a:rPr>
              <a:t>Final tree: </a:t>
            </a:r>
            <a:r>
              <a:rPr lang="en-US" sz="1300" b="1" i="0">
                <a:solidFill>
                  <a:srgbClr val="333F50"/>
                </a:solidFill>
                <a:latin typeface="Calibri"/>
              </a:rPr>
              <a:t>root 13, </a:t>
            </a:r>
            <a:r>
              <a:rPr sz="1300" b="1" i="0">
                <a:solidFill>
                  <a:srgbClr val="333F50"/>
                </a:solidFill>
                <a:latin typeface="Calibri"/>
              </a:rPr>
              <a:t>height 3, black-height 2</a:t>
            </a:r>
            <a:r>
              <a:rPr lang="en-US" sz="1300" b="1" i="0">
                <a:solidFill>
                  <a:srgbClr val="333F50"/>
                </a:solidFill>
                <a:latin typeface="Calibri"/>
              </a:rPr>
              <a:t>, matching slide 12. Case 1, zig-zag and line all appeared.</a:t>
            </a:r>
          </a:p>
        </p:txBody>
      </p:sp>
      <p:sp>
        <p:nvSpPr>
          <p:cNvPr id="102" name="TextBox 101"/>
          <p:cNvSpPr txBox="1"/>
          <p:nvPr/>
        </p:nvSpPr>
        <p:spPr>
          <a:xfrm>
            <a:off x="548640" y="6501384"/>
            <a:ext cx="9326880" cy="138499"/>
          </a:xfrm>
          <a:prstGeom prst="rect">
            <a:avLst/>
          </a:prstGeom>
          <a:noFill/>
        </p:spPr>
        <p:txBody>
          <a:bodyPr wrap="square" lIns="0" tIns="0" rIns="0" bIns="0" anchor="t">
            <a:spAutoFit/>
          </a:bodyPr>
          <a:lstStyle/>
          <a:p>
            <a:pPr algn="l"/>
            <a:r>
              <a:rPr lang="en-US" sz="900" b="0" i="0">
                <a:solidFill>
                  <a:srgbClr val="595959"/>
                </a:solidFill>
                <a:latin typeface="Calibri"/>
              </a:rPr>
              <a:t>CS 383 </a:t>
            </a:r>
            <a:r>
              <a:rPr sz="900" b="0" i="0">
                <a:solidFill>
                  <a:srgbClr val="595959"/>
                </a:solidFill>
                <a:latin typeface="Calibri"/>
              </a:rPr>
              <a:t>Algorithm Design </a:t>
            </a:r>
            <a:r>
              <a:rPr lang="en-US" sz="900" b="0" i="0">
                <a:solidFill>
                  <a:srgbClr val="595959"/>
                </a:solidFill>
                <a:latin typeface="Calibri"/>
              </a:rPr>
              <a:t>and Analysis </a:t>
            </a:r>
            <a:r>
              <a:rPr sz="900" b="0" i="0">
                <a:solidFill>
                  <a:srgbClr val="595959"/>
                </a:solidFill>
                <a:latin typeface="Calibri"/>
              </a:rPr>
              <a:t> ·  </a:t>
            </a:r>
            <a:r>
              <a:rPr lang="en-US" sz="900" b="0" i="0">
                <a:solidFill>
                  <a:srgbClr val="595959"/>
                </a:solidFill>
                <a:latin typeface="Calibri"/>
              </a:rPr>
              <a:t>Balanced Binary Search </a:t>
            </a:r>
            <a:r>
              <a:rPr sz="900" b="0" i="0">
                <a:solidFill>
                  <a:srgbClr val="595959"/>
                </a:solidFill>
                <a:latin typeface="Calibri"/>
              </a:rPr>
              <a:t>Trees  ·  </a:t>
            </a:r>
            <a:r>
              <a:rPr lang="en-US" sz="900" b="0" i="0">
                <a:solidFill>
                  <a:srgbClr val="595959"/>
                </a:solidFill>
                <a:latin typeface="Calibri"/>
              </a:rPr>
              <a:t>Tanwistha Saha</a:t>
            </a:r>
            <a:endParaRPr sz="900" b="0" i="0">
              <a:solidFill>
                <a:srgbClr val="595959"/>
              </a:solidFill>
              <a:latin typeface="Calibri"/>
            </a:endParaRPr>
          </a:p>
        </p:txBody>
      </p:sp>
      <p:sp>
        <p:nvSpPr>
          <p:cNvPr id="103" name="TextBox 102"/>
          <p:cNvSpPr txBox="1"/>
          <p:nvPr/>
        </p:nvSpPr>
        <p:spPr>
          <a:xfrm>
            <a:off x="10908792" y="6501384"/>
            <a:ext cx="731520" cy="138499"/>
          </a:xfrm>
          <a:prstGeom prst="rect">
            <a:avLst/>
          </a:prstGeom>
          <a:noFill/>
        </p:spPr>
        <p:txBody>
          <a:bodyPr wrap="square" lIns="0" tIns="0" rIns="0" bIns="0" anchor="t">
            <a:spAutoFit/>
          </a:bodyPr>
          <a:lstStyle/>
          <a:p>
            <a:pPr algn="r"/>
            <a:r>
              <a:rPr lang="en-US" sz="900" b="0" i="0">
                <a:solidFill>
                  <a:srgbClr val="595959"/>
                </a:solidFill>
                <a:latin typeface="Calibri"/>
              </a:rPr>
              <a:t>24</a:t>
            </a:r>
            <a:endParaRPr sz="900" b="0" i="0">
              <a:solidFill>
                <a:srgbClr val="595959"/>
              </a:solidFill>
              <a:latin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9144000" cy="320040"/>
          </a:xfrm>
          <a:prstGeom prst="rect">
            <a:avLst/>
          </a:prstGeom>
          <a:noFill/>
        </p:spPr>
        <p:txBody>
          <a:bodyPr wrap="square" lIns="0" tIns="0" rIns="0" bIns="0" anchor="t">
            <a:spAutoFit/>
          </a:bodyPr>
          <a:lstStyle/>
          <a:p>
            <a:pPr algn="l"/>
            <a:r>
              <a:rPr sz="1200" b="1" i="0">
                <a:solidFill>
                  <a:srgbClr val="4472C4"/>
                </a:solidFill>
                <a:latin typeface="Calibri"/>
              </a:rPr>
              <a:t>KEY TAKEAWAYS</a:t>
            </a:r>
          </a:p>
        </p:txBody>
      </p:sp>
      <p:sp>
        <p:nvSpPr>
          <p:cNvPr id="3" name="TextBox 2"/>
          <p:cNvSpPr txBox="1"/>
          <p:nvPr/>
        </p:nvSpPr>
        <p:spPr>
          <a:xfrm>
            <a:off x="548640" y="777240"/>
            <a:ext cx="11064240" cy="731520"/>
          </a:xfrm>
          <a:prstGeom prst="rect">
            <a:avLst/>
          </a:prstGeom>
          <a:noFill/>
        </p:spPr>
        <p:txBody>
          <a:bodyPr wrap="square" lIns="0" tIns="0" rIns="0" bIns="0" anchor="t">
            <a:spAutoFit/>
          </a:bodyPr>
          <a:lstStyle/>
          <a:p>
            <a:pPr algn="l"/>
            <a:r>
              <a:rPr sz="3200" b="1" i="0">
                <a:solidFill>
                  <a:srgbClr val="333F50"/>
                </a:solidFill>
                <a:latin typeface="Calibri Light"/>
              </a:rPr>
              <a:t>Balanced BSTs, in three ideas</a:t>
            </a:r>
          </a:p>
        </p:txBody>
      </p:sp>
      <p:sp>
        <p:nvSpPr>
          <p:cNvPr id="4" name="Oval 3"/>
          <p:cNvSpPr/>
          <p:nvPr/>
        </p:nvSpPr>
        <p:spPr>
          <a:xfrm>
            <a:off x="548640" y="1828800"/>
            <a:ext cx="502920" cy="502920"/>
          </a:xfrm>
          <a:prstGeom prst="ellipse">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828800"/>
            <a:ext cx="502920" cy="502920"/>
          </a:xfrm>
          <a:prstGeom prst="rect">
            <a:avLst/>
          </a:prstGeom>
          <a:noFill/>
        </p:spPr>
        <p:txBody>
          <a:bodyPr wrap="square" lIns="0" tIns="0" rIns="0" bIns="0" anchor="ctr">
            <a:spAutoFit/>
          </a:bodyPr>
          <a:lstStyle/>
          <a:p>
            <a:pPr algn="ctr"/>
            <a:r>
              <a:rPr sz="2000" b="1" i="0">
                <a:solidFill>
                  <a:srgbClr val="333F50"/>
                </a:solidFill>
                <a:latin typeface="Calibri"/>
              </a:rPr>
              <a:t>1</a:t>
            </a:r>
          </a:p>
        </p:txBody>
      </p:sp>
      <p:sp>
        <p:nvSpPr>
          <p:cNvPr id="6" name="TextBox 5"/>
          <p:cNvSpPr txBox="1"/>
          <p:nvPr/>
        </p:nvSpPr>
        <p:spPr>
          <a:xfrm>
            <a:off x="1280160" y="1783080"/>
            <a:ext cx="10332719" cy="411480"/>
          </a:xfrm>
          <a:prstGeom prst="rect">
            <a:avLst/>
          </a:prstGeom>
          <a:noFill/>
        </p:spPr>
        <p:txBody>
          <a:bodyPr wrap="square" lIns="0" tIns="0" rIns="0" bIns="0" anchor="t">
            <a:spAutoFit/>
          </a:bodyPr>
          <a:lstStyle/>
          <a:p>
            <a:pPr algn="l"/>
            <a:r>
              <a:rPr sz="1800" b="1" i="0">
                <a:solidFill>
                  <a:srgbClr val="333F50"/>
                </a:solidFill>
                <a:latin typeface="Calibri"/>
              </a:rPr>
              <a:t>Height is everything</a:t>
            </a:r>
          </a:p>
        </p:txBody>
      </p:sp>
      <p:sp>
        <p:nvSpPr>
          <p:cNvPr id="7" name="TextBox 6"/>
          <p:cNvSpPr txBox="1"/>
          <p:nvPr/>
        </p:nvSpPr>
        <p:spPr>
          <a:xfrm>
            <a:off x="1280160" y="2194560"/>
            <a:ext cx="10332719" cy="640080"/>
          </a:xfrm>
          <a:prstGeom prst="rect">
            <a:avLst/>
          </a:prstGeom>
          <a:noFill/>
        </p:spPr>
        <p:txBody>
          <a:bodyPr wrap="square" lIns="0" tIns="0" rIns="0" bIns="0" anchor="t">
            <a:spAutoFit/>
          </a:bodyPr>
          <a:lstStyle/>
          <a:p>
            <a:pPr algn="l"/>
            <a:r>
              <a:rPr sz="1400" b="0" i="0">
                <a:solidFill>
                  <a:srgbClr val="595959"/>
                </a:solidFill>
                <a:latin typeface="Calibri"/>
              </a:rPr>
              <a:t>Every BST operation is O(h). A balanced BST guarantees h = O(log n) by keeping good pivots at every subtree root.</a:t>
            </a:r>
          </a:p>
        </p:txBody>
      </p:sp>
      <p:sp>
        <p:nvSpPr>
          <p:cNvPr id="8" name="Oval 7"/>
          <p:cNvSpPr/>
          <p:nvPr/>
        </p:nvSpPr>
        <p:spPr>
          <a:xfrm>
            <a:off x="548640" y="3017520"/>
            <a:ext cx="502920" cy="502920"/>
          </a:xfrm>
          <a:prstGeom prst="ellipse">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3017520"/>
            <a:ext cx="502920" cy="502920"/>
          </a:xfrm>
          <a:prstGeom prst="rect">
            <a:avLst/>
          </a:prstGeom>
          <a:noFill/>
        </p:spPr>
        <p:txBody>
          <a:bodyPr wrap="square" lIns="0" tIns="0" rIns="0" bIns="0" anchor="ctr">
            <a:spAutoFit/>
          </a:bodyPr>
          <a:lstStyle/>
          <a:p>
            <a:pPr algn="ctr"/>
            <a:r>
              <a:rPr sz="2000" b="1" i="0">
                <a:solidFill>
                  <a:srgbClr val="333F50"/>
                </a:solidFill>
                <a:latin typeface="Calibri"/>
              </a:rPr>
              <a:t>2</a:t>
            </a:r>
          </a:p>
        </p:txBody>
      </p:sp>
      <p:sp>
        <p:nvSpPr>
          <p:cNvPr id="10" name="TextBox 9"/>
          <p:cNvSpPr txBox="1"/>
          <p:nvPr/>
        </p:nvSpPr>
        <p:spPr>
          <a:xfrm>
            <a:off x="1280160" y="2971800"/>
            <a:ext cx="10332719" cy="411480"/>
          </a:xfrm>
          <a:prstGeom prst="rect">
            <a:avLst/>
          </a:prstGeom>
          <a:noFill/>
        </p:spPr>
        <p:txBody>
          <a:bodyPr wrap="square" lIns="0" tIns="0" rIns="0" bIns="0" anchor="t">
            <a:spAutoFit/>
          </a:bodyPr>
          <a:lstStyle/>
          <a:p>
            <a:pPr algn="l"/>
            <a:r>
              <a:rPr sz="1800" b="1" i="0">
                <a:solidFill>
                  <a:srgbClr val="333F50"/>
                </a:solidFill>
                <a:latin typeface="Calibri"/>
              </a:rPr>
              <a:t>Rotations repair locally</a:t>
            </a:r>
          </a:p>
        </p:txBody>
      </p:sp>
      <p:sp>
        <p:nvSpPr>
          <p:cNvPr id="11" name="TextBox 10"/>
          <p:cNvSpPr txBox="1"/>
          <p:nvPr/>
        </p:nvSpPr>
        <p:spPr>
          <a:xfrm>
            <a:off x="1280160" y="3383279"/>
            <a:ext cx="10332719" cy="640080"/>
          </a:xfrm>
          <a:prstGeom prst="rect">
            <a:avLst/>
          </a:prstGeom>
          <a:noFill/>
        </p:spPr>
        <p:txBody>
          <a:bodyPr wrap="square" lIns="0" tIns="0" rIns="0" bIns="0" anchor="t">
            <a:spAutoFit/>
          </a:bodyPr>
          <a:lstStyle/>
          <a:p>
            <a:pPr algn="l"/>
            <a:r>
              <a:rPr sz="1400" b="0" i="0">
                <a:solidFill>
                  <a:srgbClr val="595959"/>
                </a:solidFill>
                <a:latin typeface="Calibri"/>
              </a:rPr>
              <a:t>An O(1) rotation changes a subtree's pivot while preserving the in-order sequence; line shapes need one, zig-zags two.</a:t>
            </a:r>
          </a:p>
        </p:txBody>
      </p:sp>
      <p:sp>
        <p:nvSpPr>
          <p:cNvPr id="12" name="Oval 11"/>
          <p:cNvSpPr/>
          <p:nvPr/>
        </p:nvSpPr>
        <p:spPr>
          <a:xfrm>
            <a:off x="548640" y="4206240"/>
            <a:ext cx="502920" cy="502920"/>
          </a:xfrm>
          <a:prstGeom prst="ellipse">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48640" y="4206240"/>
            <a:ext cx="502920" cy="502920"/>
          </a:xfrm>
          <a:prstGeom prst="rect">
            <a:avLst/>
          </a:prstGeom>
          <a:noFill/>
        </p:spPr>
        <p:txBody>
          <a:bodyPr wrap="square" lIns="0" tIns="0" rIns="0" bIns="0" anchor="ctr">
            <a:spAutoFit/>
          </a:bodyPr>
          <a:lstStyle/>
          <a:p>
            <a:pPr algn="ctr"/>
            <a:r>
              <a:rPr sz="2000" b="1" i="0">
                <a:solidFill>
                  <a:srgbClr val="333F50"/>
                </a:solidFill>
                <a:latin typeface="Calibri"/>
              </a:rPr>
              <a:t>3</a:t>
            </a:r>
          </a:p>
        </p:txBody>
      </p:sp>
      <p:sp>
        <p:nvSpPr>
          <p:cNvPr id="14" name="TextBox 13"/>
          <p:cNvSpPr txBox="1"/>
          <p:nvPr/>
        </p:nvSpPr>
        <p:spPr>
          <a:xfrm>
            <a:off x="1280160" y="4160520"/>
            <a:ext cx="10332719" cy="411480"/>
          </a:xfrm>
          <a:prstGeom prst="rect">
            <a:avLst/>
          </a:prstGeom>
          <a:noFill/>
        </p:spPr>
        <p:txBody>
          <a:bodyPr wrap="square" lIns="0" tIns="0" rIns="0" bIns="0" anchor="t">
            <a:spAutoFit/>
          </a:bodyPr>
          <a:lstStyle/>
          <a:p>
            <a:pPr algn="l"/>
            <a:r>
              <a:rPr sz="1800" b="1" i="0">
                <a:solidFill>
                  <a:srgbClr val="333F50"/>
                </a:solidFill>
                <a:latin typeface="Calibri"/>
              </a:rPr>
              <a:t>Red-black invariants force balance</a:t>
            </a:r>
          </a:p>
        </p:txBody>
      </p:sp>
      <p:sp>
        <p:nvSpPr>
          <p:cNvPr id="15" name="TextBox 14"/>
          <p:cNvSpPr txBox="1"/>
          <p:nvPr/>
        </p:nvSpPr>
        <p:spPr>
          <a:xfrm>
            <a:off x="1280160" y="4572000"/>
            <a:ext cx="10332719" cy="640080"/>
          </a:xfrm>
          <a:prstGeom prst="rect">
            <a:avLst/>
          </a:prstGeom>
          <a:noFill/>
        </p:spPr>
        <p:txBody>
          <a:bodyPr wrap="square" lIns="0" tIns="0" rIns="0" bIns="0" anchor="t">
            <a:spAutoFit/>
          </a:bodyPr>
          <a:lstStyle/>
          <a:p>
            <a:pPr algn="l"/>
            <a:r>
              <a:rPr sz="1400" b="0" i="0">
                <a:solidFill>
                  <a:srgbClr val="595959"/>
                </a:solidFill>
                <a:latin typeface="Calibri"/>
              </a:rPr>
              <a:t>Height ≤ 2 log₂(n + 1). Insertion needs O(log n) recolorings and at most 2 rotations; deletion is similar, with more cases.</a:t>
            </a:r>
          </a:p>
        </p:txBody>
      </p:sp>
      <p:cxnSp>
        <p:nvCxnSpPr>
          <p:cNvPr id="16" name="Connector 15"/>
          <p:cNvCxnSpPr/>
          <p:nvPr/>
        </p:nvCxnSpPr>
        <p:spPr>
          <a:xfrm>
            <a:off x="548640" y="5440680"/>
            <a:ext cx="11064240" cy="0"/>
          </a:xfrm>
          <a:prstGeom prst="line">
            <a:avLst/>
          </a:prstGeom>
          <a:ln w="12700">
            <a:solidFill>
              <a:srgbClr val="E7E6E6"/>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48640" y="5524500"/>
            <a:ext cx="3657600" cy="320040"/>
          </a:xfrm>
          <a:prstGeom prst="rect">
            <a:avLst/>
          </a:prstGeom>
          <a:noFill/>
        </p:spPr>
        <p:txBody>
          <a:bodyPr wrap="square" lIns="0" tIns="0" rIns="0" bIns="0" anchor="t">
            <a:spAutoFit/>
          </a:bodyPr>
          <a:lstStyle/>
          <a:p>
            <a:pPr algn="l"/>
            <a:r>
              <a:rPr sz="1200" b="1" i="0" dirty="0">
                <a:solidFill>
                  <a:srgbClr val="4472C4"/>
                </a:solidFill>
                <a:latin typeface="Calibri"/>
              </a:rPr>
              <a:t>KEEP PRACTICING</a:t>
            </a:r>
          </a:p>
        </p:txBody>
      </p:sp>
      <p:sp>
        <p:nvSpPr>
          <p:cNvPr id="18" name="TextBox 17"/>
          <p:cNvSpPr txBox="1"/>
          <p:nvPr/>
        </p:nvSpPr>
        <p:spPr>
          <a:xfrm>
            <a:off x="548639" y="5763283"/>
            <a:ext cx="11064240" cy="615553"/>
          </a:xfrm>
          <a:prstGeom prst="rect">
            <a:avLst/>
          </a:prstGeom>
          <a:noFill/>
        </p:spPr>
        <p:txBody>
          <a:bodyPr wrap="square" lIns="0" tIns="0" rIns="0" bIns="0" anchor="t">
            <a:spAutoFit/>
          </a:bodyPr>
          <a:lstStyle/>
          <a:p>
            <a:r>
              <a:rPr lang="en-US" sz="1300" b="0" i="0" dirty="0">
                <a:solidFill>
                  <a:srgbClr val="595959"/>
                </a:solidFill>
                <a:latin typeface="Calibri"/>
              </a:rPr>
              <a:t>Practic</a:t>
            </a:r>
            <a:r>
              <a:rPr lang="en-US" sz="1300" dirty="0">
                <a:solidFill>
                  <a:srgbClr val="595959"/>
                </a:solidFill>
                <a:latin typeface="Calibri"/>
              </a:rPr>
              <a:t>e adding the following keys in RB Tree: 10, 20, 30, 15, 25, 5, 1, 27</a:t>
            </a:r>
          </a:p>
          <a:p>
            <a:r>
              <a:rPr lang="en-US" sz="1300" dirty="0">
                <a:solidFill>
                  <a:srgbClr val="595959"/>
                </a:solidFill>
                <a:latin typeface="Calibri"/>
              </a:rPr>
              <a:t>Practice adding the following keys in RB Tree:  50, 40, 30, 45, 47, 60, 70, 65</a:t>
            </a:r>
          </a:p>
          <a:p>
            <a:r>
              <a:rPr sz="1300" b="0" i="0" dirty="0">
                <a:solidFill>
                  <a:srgbClr val="595959"/>
                </a:solidFill>
                <a:latin typeface="Calibri"/>
              </a:rPr>
              <a:t>Read:</a:t>
            </a:r>
            <a:r>
              <a:rPr lang="en-US" sz="1300" dirty="0">
                <a:solidFill>
                  <a:srgbClr val="595959"/>
                </a:solidFill>
                <a:latin typeface="Calibri"/>
              </a:rPr>
              <a:t> </a:t>
            </a:r>
            <a:r>
              <a:rPr lang="en-US" sz="1300" dirty="0">
                <a:solidFill>
                  <a:srgbClr val="595959"/>
                </a:solidFill>
                <a:latin typeface="Calibri"/>
                <a:hlinkClick r:id="rId3"/>
              </a:rPr>
              <a:t>Stanford Lecture Notes on RB Trees</a:t>
            </a:r>
            <a:endParaRPr sz="1300" b="0" i="0" dirty="0">
              <a:solidFill>
                <a:srgbClr val="595959"/>
              </a:solidFill>
              <a:latin typeface="Calibri"/>
            </a:endParaRPr>
          </a:p>
        </p:txBody>
      </p:sp>
      <p:sp>
        <p:nvSpPr>
          <p:cNvPr id="19" name="TextBox 18"/>
          <p:cNvSpPr txBox="1"/>
          <p:nvPr/>
        </p:nvSpPr>
        <p:spPr>
          <a:xfrm>
            <a:off x="548640" y="6501384"/>
            <a:ext cx="9326880" cy="138499"/>
          </a:xfrm>
          <a:prstGeom prst="rect">
            <a:avLst/>
          </a:prstGeom>
          <a:noFill/>
        </p:spPr>
        <p:txBody>
          <a:bodyPr wrap="square" lIns="0" tIns="0" rIns="0" bIns="0" anchor="t">
            <a:spAutoFit/>
          </a:bodyPr>
          <a:lstStyle/>
          <a:p>
            <a:pPr algn="l"/>
            <a:r>
              <a:rPr lang="en-US" sz="900" b="0" i="0">
                <a:solidFill>
                  <a:srgbClr val="595959"/>
                </a:solidFill>
                <a:latin typeface="Calibri"/>
              </a:rPr>
              <a:t>CS 383 </a:t>
            </a:r>
            <a:r>
              <a:rPr sz="900" b="0" i="0">
                <a:solidFill>
                  <a:srgbClr val="595959"/>
                </a:solidFill>
                <a:latin typeface="Calibri"/>
              </a:rPr>
              <a:t>Algorithm Design </a:t>
            </a:r>
            <a:r>
              <a:rPr lang="en-US" sz="900" b="0" i="0">
                <a:solidFill>
                  <a:srgbClr val="595959"/>
                </a:solidFill>
                <a:latin typeface="Calibri"/>
              </a:rPr>
              <a:t>and Analysis </a:t>
            </a:r>
            <a:r>
              <a:rPr sz="900" b="0" i="0">
                <a:solidFill>
                  <a:srgbClr val="595959"/>
                </a:solidFill>
                <a:latin typeface="Calibri"/>
              </a:rPr>
              <a:t> ·  </a:t>
            </a:r>
            <a:r>
              <a:rPr lang="en-US" sz="900" b="0" i="0">
                <a:solidFill>
                  <a:srgbClr val="595959"/>
                </a:solidFill>
                <a:latin typeface="Calibri"/>
              </a:rPr>
              <a:t>Balanced Binary Search </a:t>
            </a:r>
            <a:r>
              <a:rPr sz="900" b="0" i="0">
                <a:solidFill>
                  <a:srgbClr val="595959"/>
                </a:solidFill>
                <a:latin typeface="Calibri"/>
              </a:rPr>
              <a:t>Trees  ·  </a:t>
            </a:r>
            <a:r>
              <a:rPr lang="en-US" sz="900" b="0" i="0">
                <a:solidFill>
                  <a:srgbClr val="595959"/>
                </a:solidFill>
                <a:latin typeface="Calibri"/>
              </a:rPr>
              <a:t>Tanwistha Saha</a:t>
            </a:r>
            <a:endParaRPr sz="900" b="0" i="0">
              <a:solidFill>
                <a:srgbClr val="595959"/>
              </a:solidFill>
              <a:latin typeface="Calibri"/>
            </a:endParaRPr>
          </a:p>
        </p:txBody>
      </p:sp>
      <p:sp>
        <p:nvSpPr>
          <p:cNvPr id="20" name="TextBox 19"/>
          <p:cNvSpPr txBox="1"/>
          <p:nvPr/>
        </p:nvSpPr>
        <p:spPr>
          <a:xfrm>
            <a:off x="10908792" y="6501384"/>
            <a:ext cx="731520" cy="138499"/>
          </a:xfrm>
          <a:prstGeom prst="rect">
            <a:avLst/>
          </a:prstGeom>
          <a:noFill/>
        </p:spPr>
        <p:txBody>
          <a:bodyPr wrap="square" lIns="0" tIns="0" rIns="0" bIns="0" anchor="t">
            <a:spAutoFit/>
          </a:bodyPr>
          <a:lstStyle/>
          <a:p>
            <a:pPr algn="r"/>
            <a:r>
              <a:rPr lang="en-US" sz="900" b="0" i="0">
                <a:solidFill>
                  <a:srgbClr val="595959"/>
                </a:solidFill>
                <a:latin typeface="Calibri"/>
              </a:rPr>
              <a:t>25</a:t>
            </a:r>
            <a:endParaRPr sz="900" b="0" i="0">
              <a:solidFill>
                <a:srgbClr val="595959"/>
              </a:solidFill>
              <a:latin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3481</TotalTime>
  <Words>8469</Words>
  <Application>Microsoft Macintosh PowerPoint</Application>
  <PresentationFormat>Widescreen</PresentationFormat>
  <Paragraphs>647</Paragraphs>
  <Slides>25</Slides>
  <Notes>25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Aptos</vt:lpstr>
      <vt:lpstr>Aptos Display</vt:lpstr>
      <vt:lpstr>Arial</vt:lpstr>
      <vt:lpstr>Calibri</vt:lpstr>
      <vt:lpstr>Calibri Light</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Tanwistha Saha</dc:creator>
  <cp:lastModifiedBy>Tanwistha Saha</cp:lastModifiedBy>
  <cp:revision>34</cp:revision>
  <dcterms:created xsi:type="dcterms:W3CDTF">2026-09-14T19:51:26Z</dcterms:created>
  <dcterms:modified xsi:type="dcterms:W3CDTF">2026-10-14T17:06:47Z</dcterms:modified>
</cp:coreProperties>
</file>