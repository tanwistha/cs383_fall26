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20"/>
    <p:restoredTop sz="94610"/>
  </p:normalViewPr>
  <p:slideViewPr>
    <p:cSldViewPr snapToGrid="0" snapToObjects="1">
      <p:cViewPr varScale="1">
        <p:scale>
          <a:sx n="123" d="100"/>
          <a:sy n="123" d="100"/>
        </p:scale>
        <p:origin x="28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0998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practice problems similar in style to the midterm. These are not the exam questions. For each one, give students two to three minutes to work on paper before revealing the solution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method for every loop problem today. Emphasize step 3: students lose points when they multiply the number of passes by the largest inner count even though the inner work changes every pass.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 to 3 minutes. Ask a few for their answer before moving to the solution slide. Expected answer: n(n-1)/2 prints, Theta(n^2).</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staircase: each row is one pass of the outer loop, and its length is the inner loop count. The shape is half a square, which is why the answer is about n^2/2. Ask: what would change if the inner loop were range(n) instead of range(i)? Answer: exactly n^2 prints, still Theta(n^2).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 minutes. A common wrong answer is Theta(n), from assuming every while loop runs n times. Expected answer: about sqrt(n) passes, Theta(sqrt 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row by row. The key habit: find the number of passes from the stopping condition instead of assuming n or log n. Then ask the follow-up in the takeaway box: what if each pass did n work? sqrt(n) passes times n work each gives Theta(n^1.5). This ties back to the recipe slide: same work every pass, so multiply.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 to 4 minutes. Same skills as the exam proof: apply the log rule, bound a square-root term, and find explicit constants. Watch for students who prove only the upper bound.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three habits: simplify logs first (log of n^k equals k log n), give a reason for every inequality, and prove both directions. Point out that the constants are not unique; any c1, c2 and n0 that make the inequality true earn full credit.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 to 3 minutes. Tell them to keep the array, not just the tree: on the exam they write the array after each swap. Expected answer: 2 swaps; final array [9, 8, 7, 3, 4, 1, 5].</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row by row. In swap 1 both children are bigger than 3; pick 9 because it is the larger. In swap 2, 3 is now at index 1 with children 8 and 4; pick 8. Then 3 is at index 3, a leaf, so stop. Emphasize writing the whole array after each swap; that is the format the exam expects.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4 to 5 minutes for all three parts. Point out that the tree is unbalanced: 60 has no left child and 25 has only a right child. Answers are on the next two slides.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blue badges to walk through postorder: a node is written only after both of its subtrees are finished. For the successor, follow the orange path: one step right, then all the way left. Confirm with the inorder sequence.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is the one students miss: the successor is not always a leaf. Here it has a right child, 27, which must be reattached in its place. Quick follow-ups: deleting 10 is the leaf case (just remove it); deleting 60 is the one-child case (70 moves up).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REVIEW_TITLE">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5897880"/>
            <a:ext cx="6949440" cy="0"/>
          </a:xfrm>
          <a:prstGeom prst="line">
            <a:avLst/>
          </a:prstGeom>
          <a:noFill/>
          <a:ln w="9525">
            <a:solidFill>
              <a:srgbClr val="D9D9D9"/>
            </a:solidFill>
            <a:prstDash val="solid"/>
          </a:ln>
        </p:spPr>
        <p:txBody>
          <a:bodyPr/>
          <a:lstStyle/>
          <a:p>
            <a:endParaRPr lang="en-US"/>
          </a:p>
        </p:txBody>
      </p:sp>
      <p:sp>
        <p:nvSpPr>
          <p:cNvPr id="3" name="Text 1"/>
          <p:cNvSpPr/>
          <p:nvPr/>
        </p:nvSpPr>
        <p:spPr>
          <a:xfrm>
            <a:off x="502920" y="6547104"/>
            <a:ext cx="8229600" cy="237744"/>
          </a:xfrm>
          <a:prstGeom prst="rect">
            <a:avLst/>
          </a:prstGeom>
          <a:noFill/>
          <a:ln/>
        </p:spPr>
        <p:txBody>
          <a:bodyPr wrap="square" lIns="0" tIns="0" rIns="0" bIns="0" rtlCol="0" anchor="ctr"/>
          <a:lstStyle/>
          <a:p>
            <a:pPr marL="0" indent="0">
              <a:buNone/>
            </a:pPr>
            <a:r>
              <a:rPr lang="en-US" sz="850" dirty="0">
                <a:solidFill>
                  <a:srgbClr val="595959"/>
                </a:solidFill>
              </a:rPr>
              <a:t>Algorithm Analysis and Design  ·  Midterm Review</a:t>
            </a:r>
            <a:endParaRPr lang="en-US" sz="850" dirty="0"/>
          </a:p>
        </p:txBody>
      </p:sp>
      <p:sp>
        <p:nvSpPr>
          <p:cNvPr id="4" name="Text 2"/>
          <p:cNvSpPr>
            <a:spLocks noGrp="1"/>
          </p:cNvSpPr>
          <p:nvPr>
            <p:ph type="body" idx="102" hasCustomPrompt="1"/>
          </p:nvPr>
        </p:nvSpPr>
        <p:spPr>
          <a:xfrm>
            <a:off x="502920" y="594360"/>
            <a:ext cx="7315200" cy="274320"/>
          </a:xfrm>
          <a:prstGeom prst="rect">
            <a:avLst/>
          </a:prstGeom>
          <a:noFill/>
          <a:ln/>
        </p:spPr>
        <p:txBody>
          <a:bodyPr wrap="square" rtlCol="0"/>
          <a:lstStyle>
            <a:lvl1pPr marL="0" indent="0">
              <a:buNone/>
              <a:defRPr lang="en-US" sz="1200" b="1" kern="0" spc="100" dirty="0">
                <a:solidFill>
                  <a:schemeClr val="accent2"/>
                </a:solidFill>
              </a:defRPr>
            </a:lvl1pPr>
          </a:lstStyle>
          <a:p>
            <a:pPr marL="0" indent="0">
              <a:buNone/>
            </a:pPr>
            <a:endParaRPr lang="en-US" sz="1200" dirty="0"/>
          </a:p>
        </p:txBody>
      </p:sp>
      <p:sp>
        <p:nvSpPr>
          <p:cNvPr id="5" name="Text 2"/>
          <p:cNvSpPr>
            <a:spLocks noGrp="1"/>
          </p:cNvSpPr>
          <p:nvPr>
            <p:ph type="title" idx="103" hasCustomPrompt="1"/>
          </p:nvPr>
        </p:nvSpPr>
        <p:spPr>
          <a:xfrm>
            <a:off x="502920" y="960120"/>
            <a:ext cx="7498080" cy="914400"/>
          </a:xfrm>
          <a:prstGeom prst="rect">
            <a:avLst/>
          </a:prstGeom>
          <a:noFill/>
          <a:ln/>
        </p:spPr>
        <p:txBody>
          <a:bodyPr wrap="square" rtlCol="0"/>
          <a:lstStyle>
            <a:lvl1pPr marL="0" indent="0" algn="l">
              <a:buNone/>
              <a:defRPr lang="en-US" sz="4200" b="1" dirty="0">
                <a:solidFill>
                  <a:schemeClr val="tx1"/>
                </a:solidFill>
              </a:defRPr>
            </a:lvl1pPr>
          </a:lstStyle>
          <a:p>
            <a:pPr marL="0" indent="0" algn="l">
              <a:buNone/>
            </a:pPr>
            <a:endParaRPr lang="en-US" sz="4200" dirty="0"/>
          </a:p>
        </p:txBody>
      </p:sp>
      <p:sp>
        <p:nvSpPr>
          <p:cNvPr id="6" name="Text 2"/>
          <p:cNvSpPr>
            <a:spLocks noGrp="1"/>
          </p:cNvSpPr>
          <p:nvPr>
            <p:ph type="body" idx="104" hasCustomPrompt="1"/>
          </p:nvPr>
        </p:nvSpPr>
        <p:spPr>
          <a:xfrm>
            <a:off x="502920" y="1783080"/>
            <a:ext cx="7315200" cy="457200"/>
          </a:xfrm>
          <a:prstGeom prst="rect">
            <a:avLst/>
          </a:prstGeom>
          <a:noFill/>
          <a:ln/>
        </p:spPr>
        <p:txBody>
          <a:bodyPr wrap="square" rtlCol="0"/>
          <a:lstStyle>
            <a:lvl1pPr marL="0" indent="0">
              <a:buNone/>
              <a:defRPr lang="en-US" sz="1900" b="1" dirty="0">
                <a:solidFill>
                  <a:schemeClr val="accent2"/>
                </a:solidFill>
              </a:defRPr>
            </a:lvl1pPr>
          </a:lstStyle>
          <a:p>
            <a:pPr marL="0" indent="0">
              <a:buNone/>
            </a:pPr>
            <a:endParaRPr lang="en-US" sz="1900" dirty="0"/>
          </a:p>
        </p:txBody>
      </p:sp>
      <p:sp>
        <p:nvSpPr>
          <p:cNvPr id="7" name="Text 2"/>
          <p:cNvSpPr>
            <a:spLocks noGrp="1"/>
          </p:cNvSpPr>
          <p:nvPr>
            <p:ph type="body" idx="105" hasCustomPrompt="1"/>
          </p:nvPr>
        </p:nvSpPr>
        <p:spPr>
          <a:xfrm>
            <a:off x="502920" y="2331720"/>
            <a:ext cx="6949440" cy="822960"/>
          </a:xfrm>
          <a:prstGeom prst="rect">
            <a:avLst/>
          </a:prstGeom>
          <a:noFill/>
          <a:ln/>
        </p:spPr>
        <p:txBody>
          <a:bodyPr wrap="square" rtlCol="0"/>
          <a:lstStyle>
            <a:lvl1pPr marL="0" indent="0">
              <a:buNone/>
              <a:defRPr lang="en-US" sz="1400" dirty="0">
                <a:solidFill>
                  <a:srgbClr val="595959"/>
                </a:solidFill>
              </a:defRPr>
            </a:lvl1pPr>
          </a:lstStyle>
          <a:p>
            <a:pPr marL="0" indent="0">
              <a:buNone/>
            </a:pPr>
            <a:endParaRPr lang="en-US" sz="1400" dirty="0"/>
          </a:p>
        </p:txBody>
      </p:sp>
      <p:sp>
        <p:nvSpPr>
          <p:cNvPr id="8" name="Text 2"/>
          <p:cNvSpPr>
            <a:spLocks noGrp="1"/>
          </p:cNvSpPr>
          <p:nvPr>
            <p:ph type="body" idx="106" hasCustomPrompt="1"/>
          </p:nvPr>
        </p:nvSpPr>
        <p:spPr>
          <a:xfrm>
            <a:off x="502920" y="5989320"/>
            <a:ext cx="3657600" cy="274320"/>
          </a:xfrm>
          <a:prstGeom prst="rect">
            <a:avLst/>
          </a:prstGeom>
          <a:noFill/>
          <a:ln/>
        </p:spPr>
        <p:txBody>
          <a:bodyPr wrap="square" rtlCol="0"/>
          <a:lstStyle>
            <a:lvl1pPr marL="0" indent="0">
              <a:buNone/>
              <a:defRPr lang="en-US" sz="1300" b="1" dirty="0">
                <a:solidFill>
                  <a:schemeClr val="tx1"/>
                </a:solidFill>
              </a:defRPr>
            </a:lvl1pPr>
          </a:lstStyle>
          <a:p>
            <a:pPr marL="0" indent="0">
              <a:buNone/>
            </a:pPr>
            <a:endParaRPr lang="en-US" sz="1300" dirty="0"/>
          </a:p>
        </p:txBody>
      </p:sp>
      <p:sp>
        <p:nvSpPr>
          <p:cNvPr id="9" name="Text 2"/>
          <p:cNvSpPr>
            <a:spLocks noGrp="1"/>
          </p:cNvSpPr>
          <p:nvPr>
            <p:ph type="body" idx="107" hasCustomPrompt="1"/>
          </p:nvPr>
        </p:nvSpPr>
        <p:spPr>
          <a:xfrm>
            <a:off x="502920" y="6263640"/>
            <a:ext cx="5486400" cy="274320"/>
          </a:xfrm>
          <a:prstGeom prst="rect">
            <a:avLst/>
          </a:prstGeom>
          <a:noFill/>
          <a:ln/>
        </p:spPr>
        <p:txBody>
          <a:bodyPr wrap="square" rtlCol="0"/>
          <a:lstStyle>
            <a:lvl1pPr marL="0" indent="0">
              <a:buNone/>
              <a:defRPr lang="en-US" sz="1100" dirty="0">
                <a:solidFill>
                  <a:srgbClr val="595959"/>
                </a:solidFill>
              </a:defRPr>
            </a:lvl1pPr>
          </a:lstStyle>
          <a:p>
            <a:pPr marL="0" indent="0">
              <a:buNone/>
            </a:pPr>
            <a:endParaRPr lang="en-US" sz="1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REVIEW_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547104"/>
            <a:ext cx="8686800" cy="237744"/>
          </a:xfrm>
          <a:prstGeom prst="rect">
            <a:avLst/>
          </a:prstGeom>
          <a:noFill/>
          <a:ln/>
        </p:spPr>
        <p:txBody>
          <a:bodyPr wrap="square" lIns="0" tIns="0" rIns="0" bIns="0" rtlCol="0" anchor="ctr"/>
          <a:lstStyle/>
          <a:p>
            <a:pPr marL="0" indent="0">
              <a:buNone/>
            </a:pPr>
            <a:r>
              <a:rPr lang="en-US" sz="850" dirty="0">
                <a:solidFill>
                  <a:srgbClr val="595959"/>
                </a:solidFill>
              </a:rPr>
              <a:t>Algorithm Analysis and Design  ·  Midterm Review</a:t>
            </a:r>
            <a:endParaRPr lang="en-US" sz="850" dirty="0"/>
          </a:p>
        </p:txBody>
      </p:sp>
      <p:sp>
        <p:nvSpPr>
          <p:cNvPr id="3" name="Text 1"/>
          <p:cNvSpPr>
            <a:spLocks noGrp="1"/>
          </p:cNvSpPr>
          <p:nvPr>
            <p:ph type="body" idx="101" hasCustomPrompt="1"/>
          </p:nvPr>
        </p:nvSpPr>
        <p:spPr>
          <a:xfrm>
            <a:off x="502920" y="347472"/>
            <a:ext cx="10515600" cy="274320"/>
          </a:xfrm>
          <a:prstGeom prst="rect">
            <a:avLst/>
          </a:prstGeom>
          <a:noFill/>
          <a:ln/>
        </p:spPr>
        <p:txBody>
          <a:bodyPr wrap="square" rtlCol="0"/>
          <a:lstStyle>
            <a:lvl1pPr marL="0" indent="0">
              <a:buNone/>
              <a:defRPr lang="en-US" sz="1200" b="1" kern="0" spc="100" dirty="0">
                <a:solidFill>
                  <a:schemeClr val="accent2"/>
                </a:solidFill>
              </a:defRPr>
            </a:lvl1pPr>
          </a:lstStyle>
          <a:p>
            <a:pPr marL="0" indent="0">
              <a:buNone/>
            </a:pPr>
            <a:endParaRPr lang="en-US" sz="1200" dirty="0"/>
          </a:p>
        </p:txBody>
      </p:sp>
      <p:sp>
        <p:nvSpPr>
          <p:cNvPr id="4" name="Text 1"/>
          <p:cNvSpPr>
            <a:spLocks noGrp="1"/>
          </p:cNvSpPr>
          <p:nvPr>
            <p:ph type="title" idx="102" hasCustomPrompt="1"/>
          </p:nvPr>
        </p:nvSpPr>
        <p:spPr>
          <a:xfrm>
            <a:off x="502920" y="603504"/>
            <a:ext cx="10789920" cy="566928"/>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5" name="Text 1"/>
          <p:cNvSpPr>
            <a:spLocks noGrp="1"/>
          </p:cNvSpPr>
          <p:nvPr>
            <p:ph type="body" idx="103" hasCustomPrompt="1"/>
          </p:nvPr>
        </p:nvSpPr>
        <p:spPr>
          <a:xfrm>
            <a:off x="502920" y="1152144"/>
            <a:ext cx="10881360" cy="384048"/>
          </a:xfrm>
          <a:prstGeom prst="rect">
            <a:avLst/>
          </a:prstGeom>
          <a:noFill/>
          <a:ln/>
        </p:spPr>
        <p:txBody>
          <a:bodyPr wrap="square" rtlCol="0"/>
          <a:lstStyle>
            <a:lvl1pPr marL="0" indent="0">
              <a:buNone/>
              <a:defRPr lang="en-US" sz="1350" dirty="0">
                <a:solidFill>
                  <a:srgbClr val="595959"/>
                </a:solidFill>
              </a:defRPr>
            </a:lvl1pPr>
          </a:lstStyle>
          <a:p>
            <a:pPr marL="0" indent="0">
              <a:buNone/>
            </a:pPr>
            <a:endParaRPr lang="en-US" sz="1350" dirty="0"/>
          </a:p>
        </p:txBody>
      </p:sp>
      <p:sp>
        <p:nvSpPr>
          <p:cNvPr id="25" name="Slide Number Placeholder 0"/>
          <p:cNvSpPr>
            <a:spLocks noGrp="1"/>
          </p:cNvSpPr>
          <p:nvPr>
            <p:ph type="sldNum" sz="quarter" idx="4294967295"/>
          </p:nvPr>
        </p:nvSpPr>
        <p:spPr>
          <a:xfrm>
            <a:off x="11228832" y="6547104"/>
            <a:ext cx="457200" cy="237744"/>
          </a:xfrm>
          <a:prstGeom prst="rect">
            <a:avLst/>
          </a:prstGeom>
          <a:extLst>
            <a:ext uri="{C572A759-6A51-4108-AA02-DFA0A04FC94B}">
              <ma14:wrappingTextBoxFlag xmlns="" xmlns:ma14="http://schemas.microsoft.com/office/mac/drawingml/2011/main" val="0"/>
            </a:ext>
          </a:extLst>
        </p:spPr>
        <p:txBody>
          <a:bodyPr/>
          <a:lstStyle>
            <a:lvl1pPr>
              <a:defRPr sz="850">
                <a:solidFill>
                  <a:srgbClr val="595959"/>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28832" y="6547104"/>
            <a:ext cx="457200" cy="237744"/>
          </a:xfrm>
          <a:prstGeom prst="rect">
            <a:avLst/>
          </a:prstGeom>
          <a:extLst>
            <a:ext uri="{C572A759-6A51-4108-AA02-DFA0A04FC94B}">
              <ma14:wrappingTextBoxFlag xmlns="" xmlns:ma14="http://schemas.microsoft.com/office/mac/drawingml/2011/main" val="0"/>
            </a:ext>
          </a:extLst>
        </p:spPr>
        <p:txBody>
          <a:bodyPr/>
          <a:lstStyle>
            <a:lvl1pPr>
              <a:defRPr sz="850">
                <a:solidFill>
                  <a:srgbClr val="595959"/>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594360"/>
            <a:ext cx="7315200" cy="274320"/>
          </a:xfrm>
          <a:prstGeom prst="rect">
            <a:avLst/>
          </a:prstGeom>
          <a:noFill/>
          <a:ln/>
        </p:spPr>
        <p:txBody>
          <a:bodyPr wrap="square" lIns="0" tIns="0" rIns="0" bIns="0" rtlCol="0"/>
          <a:lstStyle/>
          <a:p>
            <a:pPr marL="0" indent="0">
              <a:buNone/>
            </a:pPr>
            <a:r>
              <a:rPr lang="en-US" sz="1200" b="1" kern="0" spc="100" dirty="0">
                <a:solidFill>
                  <a:schemeClr val="accent2"/>
                </a:solidFill>
              </a:rPr>
              <a:t>CS 383 ALGORITHMS ANALYSIS AND DESIGN</a:t>
            </a:r>
            <a:endParaRPr lang="en-US" sz="1200" dirty="0"/>
          </a:p>
        </p:txBody>
      </p:sp>
      <p:sp>
        <p:nvSpPr>
          <p:cNvPr id="3" name="Text 2"/>
          <p:cNvSpPr>
            <a:spLocks noGrp="1"/>
          </p:cNvSpPr>
          <p:nvPr>
            <p:ph type="title" idx="103" hasCustomPrompt="1"/>
          </p:nvPr>
        </p:nvSpPr>
        <p:spPr>
          <a:xfrm>
            <a:off x="502920" y="960120"/>
            <a:ext cx="7498080" cy="914400"/>
          </a:xfrm>
          <a:prstGeom prst="rect">
            <a:avLst/>
          </a:prstGeom>
          <a:noFill/>
          <a:ln/>
        </p:spPr>
        <p:txBody>
          <a:bodyPr wrap="square" lIns="0" tIns="0" rIns="0" bIns="0" rtlCol="0" anchor="t"/>
          <a:lstStyle/>
          <a:p>
            <a:pPr marL="0" indent="0" algn="l">
              <a:buNone/>
            </a:pPr>
            <a:r>
              <a:rPr lang="en-US" sz="4200" b="1" dirty="0">
                <a:solidFill>
                  <a:schemeClr val="tx1"/>
                </a:solidFill>
              </a:rPr>
              <a:t>Midterm Review</a:t>
            </a:r>
            <a:endParaRPr lang="en-US" sz="4200" dirty="0"/>
          </a:p>
        </p:txBody>
      </p:sp>
      <p:sp>
        <p:nvSpPr>
          <p:cNvPr id="4" name="Text 2"/>
          <p:cNvSpPr>
            <a:spLocks noGrp="1"/>
          </p:cNvSpPr>
          <p:nvPr>
            <p:ph type="body" idx="104" hasCustomPrompt="1"/>
          </p:nvPr>
        </p:nvSpPr>
        <p:spPr>
          <a:xfrm>
            <a:off x="502920" y="1783080"/>
            <a:ext cx="7315200" cy="457200"/>
          </a:xfrm>
          <a:prstGeom prst="rect">
            <a:avLst/>
          </a:prstGeom>
          <a:noFill/>
          <a:ln/>
        </p:spPr>
        <p:txBody>
          <a:bodyPr wrap="square" lIns="0" tIns="0" rIns="0" bIns="0" rtlCol="0"/>
          <a:lstStyle/>
          <a:p>
            <a:pPr marL="0" indent="0">
              <a:buNone/>
            </a:pPr>
            <a:r>
              <a:rPr lang="en-US" sz="1900" b="1" dirty="0">
                <a:solidFill>
                  <a:schemeClr val="accent2"/>
                </a:solidFill>
              </a:rPr>
              <a:t>Practice Problems in the Style of the Exam</a:t>
            </a:r>
            <a:endParaRPr lang="en-US" sz="1900" dirty="0"/>
          </a:p>
        </p:txBody>
      </p:sp>
      <p:sp>
        <p:nvSpPr>
          <p:cNvPr id="5" name="Text 2"/>
          <p:cNvSpPr>
            <a:spLocks noGrp="1"/>
          </p:cNvSpPr>
          <p:nvPr>
            <p:ph type="body" idx="105" hasCustomPrompt="1"/>
          </p:nvPr>
        </p:nvSpPr>
        <p:spPr>
          <a:xfrm>
            <a:off x="502920" y="2331720"/>
            <a:ext cx="6949440" cy="822960"/>
          </a:xfrm>
          <a:prstGeom prst="rect">
            <a:avLst/>
          </a:prstGeom>
          <a:noFill/>
          <a:ln/>
        </p:spPr>
        <p:txBody>
          <a:bodyPr wrap="square" lIns="0" tIns="0" rIns="0" bIns="0" rtlCol="0" anchor="t"/>
          <a:lstStyle/>
          <a:p>
            <a:pPr marL="0" indent="0">
              <a:buNone/>
            </a:pPr>
            <a:r>
              <a:rPr lang="en-US" sz="1400" dirty="0">
                <a:solidFill>
                  <a:srgbClr val="595959"/>
                </a:solidFill>
              </a:rPr>
              <a:t>Read the code, count the work, and show every step. Try each problem on paper before we reveal the answer.</a:t>
            </a:r>
            <a:endParaRPr lang="en-US" sz="1400" dirty="0"/>
          </a:p>
        </p:txBody>
      </p:sp>
      <p:sp>
        <p:nvSpPr>
          <p:cNvPr id="6" name="Text 2"/>
          <p:cNvSpPr>
            <a:spLocks noGrp="1"/>
          </p:cNvSpPr>
          <p:nvPr>
            <p:ph type="body" idx="106" hasCustomPrompt="1"/>
          </p:nvPr>
        </p:nvSpPr>
        <p:spPr>
          <a:xfrm>
            <a:off x="502920" y="5989320"/>
            <a:ext cx="3657600" cy="274320"/>
          </a:xfrm>
          <a:prstGeom prst="rect">
            <a:avLst/>
          </a:prstGeom>
          <a:noFill/>
          <a:ln/>
        </p:spPr>
        <p:txBody>
          <a:bodyPr wrap="square" lIns="0" tIns="0" rIns="0" bIns="0" rtlCol="0"/>
          <a:lstStyle/>
          <a:p>
            <a:pPr marL="0" indent="0">
              <a:buNone/>
            </a:pPr>
            <a:r>
              <a:rPr lang="en-US" sz="1300" b="1" dirty="0">
                <a:solidFill>
                  <a:schemeClr val="tx1"/>
                </a:solidFill>
              </a:rPr>
              <a:t>Tanwistha Saha</a:t>
            </a:r>
            <a:endParaRPr lang="en-US" sz="1300" dirty="0"/>
          </a:p>
        </p:txBody>
      </p:sp>
      <p:sp>
        <p:nvSpPr>
          <p:cNvPr id="7" name="Text 2"/>
          <p:cNvSpPr>
            <a:spLocks noGrp="1"/>
          </p:cNvSpPr>
          <p:nvPr>
            <p:ph type="body" idx="107" hasCustomPrompt="1"/>
          </p:nvPr>
        </p:nvSpPr>
        <p:spPr>
          <a:xfrm>
            <a:off x="502920" y="6263640"/>
            <a:ext cx="5486400" cy="274320"/>
          </a:xfrm>
          <a:prstGeom prst="rect">
            <a:avLst/>
          </a:prstGeom>
          <a:noFill/>
          <a:ln/>
        </p:spPr>
        <p:txBody>
          <a:bodyPr wrap="square" lIns="0" tIns="0" rIns="0" bIns="0" rtlCol="0"/>
          <a:lstStyle/>
          <a:p>
            <a:pPr marL="0" indent="0">
              <a:buNone/>
            </a:pPr>
            <a:r>
              <a:rPr lang="en-US" sz="1100" dirty="0">
                <a:solidFill>
                  <a:srgbClr val="595959"/>
                </a:solidFill>
              </a:rPr>
              <a:t>Midterm Review Session</a:t>
            </a:r>
            <a:endParaRPr lang="en-US" sz="1100" dirty="0"/>
          </a:p>
        </p:txBody>
      </p:sp>
      <p:sp>
        <p:nvSpPr>
          <p:cNvPr id="8" name="Growth bar √n"/>
          <p:cNvSpPr/>
          <p:nvPr/>
        </p:nvSpPr>
        <p:spPr>
          <a:xfrm>
            <a:off x="8138160" y="4434840"/>
            <a:ext cx="502920" cy="685800"/>
          </a:xfrm>
          <a:prstGeom prst="roundRect">
            <a:avLst>
              <a:gd name="adj" fmla="val 9091"/>
            </a:avLst>
          </a:prstGeom>
          <a:solidFill>
            <a:schemeClr val="accent6"/>
          </a:solidFill>
          <a:ln/>
        </p:spPr>
        <p:txBody>
          <a:bodyPr/>
          <a:lstStyle/>
          <a:p>
            <a:endParaRPr lang="en-US"/>
          </a:p>
        </p:txBody>
      </p:sp>
      <p:sp>
        <p:nvSpPr>
          <p:cNvPr id="9" name="Text 7"/>
          <p:cNvSpPr txBox="1"/>
          <p:nvPr/>
        </p:nvSpPr>
        <p:spPr>
          <a:xfrm>
            <a:off x="7955280" y="5212080"/>
            <a:ext cx="868680" cy="320040"/>
          </a:xfrm>
          <a:prstGeom prst="rect">
            <a:avLst/>
          </a:prstGeom>
          <a:noFill/>
          <a:ln/>
        </p:spPr>
        <p:txBody>
          <a:bodyPr wrap="square" lIns="0" tIns="0" rIns="0" bIns="0" rtlCol="0" anchor="ctr"/>
          <a:lstStyle/>
          <a:p>
            <a:pPr marL="0" indent="0" algn="ctr">
              <a:buNone/>
            </a:pPr>
            <a:r>
              <a:rPr lang="en-US" sz="1400" b="1" dirty="0">
                <a:solidFill>
                  <a:schemeClr val="tx1"/>
                </a:solidFill>
              </a:rPr>
              <a:t>√n</a:t>
            </a:r>
            <a:endParaRPr lang="en-US" sz="1400" dirty="0"/>
          </a:p>
        </p:txBody>
      </p:sp>
      <p:sp>
        <p:nvSpPr>
          <p:cNvPr id="10" name="Growth bar n"/>
          <p:cNvSpPr/>
          <p:nvPr/>
        </p:nvSpPr>
        <p:spPr>
          <a:xfrm>
            <a:off x="9006840" y="3657600"/>
            <a:ext cx="502920" cy="1463040"/>
          </a:xfrm>
          <a:prstGeom prst="roundRect">
            <a:avLst>
              <a:gd name="adj" fmla="val 9091"/>
            </a:avLst>
          </a:prstGeom>
          <a:solidFill>
            <a:schemeClr val="accent1"/>
          </a:solidFill>
          <a:ln/>
        </p:spPr>
        <p:txBody>
          <a:bodyPr/>
          <a:lstStyle/>
          <a:p>
            <a:endParaRPr lang="en-US"/>
          </a:p>
        </p:txBody>
      </p:sp>
      <p:sp>
        <p:nvSpPr>
          <p:cNvPr id="11" name="Text 9"/>
          <p:cNvSpPr txBox="1"/>
          <p:nvPr/>
        </p:nvSpPr>
        <p:spPr>
          <a:xfrm>
            <a:off x="8823960" y="5212080"/>
            <a:ext cx="868680" cy="320040"/>
          </a:xfrm>
          <a:prstGeom prst="rect">
            <a:avLst/>
          </a:prstGeom>
          <a:noFill/>
          <a:ln/>
        </p:spPr>
        <p:txBody>
          <a:bodyPr wrap="square" lIns="0" tIns="0" rIns="0" bIns="0" rtlCol="0" anchor="ctr"/>
          <a:lstStyle/>
          <a:p>
            <a:pPr marL="0" indent="0" algn="ctr">
              <a:buNone/>
            </a:pPr>
            <a:r>
              <a:rPr lang="en-US" sz="1400" b="1" dirty="0">
                <a:solidFill>
                  <a:schemeClr val="tx1"/>
                </a:solidFill>
              </a:rPr>
              <a:t>n</a:t>
            </a:r>
            <a:endParaRPr lang="en-US" sz="1400" dirty="0"/>
          </a:p>
        </p:txBody>
      </p:sp>
      <p:sp>
        <p:nvSpPr>
          <p:cNvPr id="12" name="Growth bar n²"/>
          <p:cNvSpPr/>
          <p:nvPr/>
        </p:nvSpPr>
        <p:spPr>
          <a:xfrm>
            <a:off x="9875520" y="2377440"/>
            <a:ext cx="502920" cy="2743200"/>
          </a:xfrm>
          <a:prstGeom prst="roundRect">
            <a:avLst>
              <a:gd name="adj" fmla="val 9091"/>
            </a:avLst>
          </a:prstGeom>
          <a:solidFill>
            <a:schemeClr val="accent2"/>
          </a:solidFill>
          <a:ln/>
        </p:spPr>
        <p:txBody>
          <a:bodyPr/>
          <a:lstStyle/>
          <a:p>
            <a:endParaRPr lang="en-US"/>
          </a:p>
        </p:txBody>
      </p:sp>
      <p:sp>
        <p:nvSpPr>
          <p:cNvPr id="13" name="Text 11"/>
          <p:cNvSpPr txBox="1"/>
          <p:nvPr/>
        </p:nvSpPr>
        <p:spPr>
          <a:xfrm>
            <a:off x="9692640" y="5212080"/>
            <a:ext cx="868680" cy="320040"/>
          </a:xfrm>
          <a:prstGeom prst="rect">
            <a:avLst/>
          </a:prstGeom>
          <a:noFill/>
          <a:ln/>
        </p:spPr>
        <p:txBody>
          <a:bodyPr wrap="square" lIns="0" tIns="0" rIns="0" bIns="0" rtlCol="0" anchor="ctr"/>
          <a:lstStyle/>
          <a:p>
            <a:pPr marL="0" indent="0" algn="ctr">
              <a:buNone/>
            </a:pPr>
            <a:r>
              <a:rPr lang="en-US" sz="1400" b="1" dirty="0">
                <a:solidFill>
                  <a:schemeClr val="tx1"/>
                </a:solidFill>
              </a:rPr>
              <a:t>n²</a:t>
            </a:r>
            <a:endParaRPr lang="en-US" sz="1400" dirty="0"/>
          </a:p>
        </p:txBody>
      </p:sp>
      <p:sp>
        <p:nvSpPr>
          <p:cNvPr id="14" name="Text 12"/>
          <p:cNvSpPr txBox="1"/>
          <p:nvPr/>
        </p:nvSpPr>
        <p:spPr>
          <a:xfrm>
            <a:off x="7772400" y="5577840"/>
            <a:ext cx="3108960" cy="274320"/>
          </a:xfrm>
          <a:prstGeom prst="rect">
            <a:avLst/>
          </a:prstGeom>
          <a:noFill/>
          <a:ln/>
        </p:spPr>
        <p:txBody>
          <a:bodyPr wrap="square" lIns="0" tIns="0" rIns="0" bIns="0" rtlCol="0" anchor="ctr"/>
          <a:lstStyle/>
          <a:p>
            <a:pPr marL="0" indent="0" algn="ctr">
              <a:buNone/>
            </a:pPr>
            <a:r>
              <a:rPr lang="en-US" sz="1200" b="1" dirty="0">
                <a:solidFill>
                  <a:schemeClr val="accent2"/>
                </a:solidFill>
              </a:rPr>
              <a:t>How fast does it grow?</a:t>
            </a:r>
            <a:endParaRPr lang="en-US" sz="1200" dirty="0"/>
          </a:p>
        </p:txBody>
      </p:sp>
      <p:sp>
        <p:nvSpPr>
          <p:cNvPr id="15" name="Badge"/>
          <p:cNvSpPr/>
          <p:nvPr/>
        </p:nvSpPr>
        <p:spPr>
          <a:xfrm>
            <a:off x="9921240" y="502920"/>
            <a:ext cx="1417320" cy="1417320"/>
          </a:xfrm>
          <a:prstGeom prst="ellipse">
            <a:avLst/>
          </a:prstGeom>
          <a:solidFill>
            <a:srgbClr val="EEF3FC"/>
          </a:solidFill>
          <a:ln w="12700">
            <a:solidFill>
              <a:srgbClr val="C9D6F0"/>
            </a:solidFill>
            <a:prstDash val="solid"/>
          </a:ln>
        </p:spPr>
        <p:txBody>
          <a:bodyPr/>
          <a:lstStyle/>
          <a:p>
            <a:endParaRPr lang="en-US"/>
          </a:p>
        </p:txBody>
      </p:sp>
      <p:sp>
        <p:nvSpPr>
          <p:cNvPr id="16" name="Text 14"/>
          <p:cNvSpPr txBox="1"/>
          <p:nvPr/>
        </p:nvSpPr>
        <p:spPr>
          <a:xfrm>
            <a:off x="9921240" y="502920"/>
            <a:ext cx="1417320" cy="1417320"/>
          </a:xfrm>
          <a:prstGeom prst="rect">
            <a:avLst/>
          </a:prstGeom>
          <a:noFill/>
          <a:ln/>
        </p:spPr>
        <p:txBody>
          <a:bodyPr wrap="square" lIns="0" tIns="0" rIns="0" bIns="0" rtlCol="0" anchor="ctr"/>
          <a:lstStyle/>
          <a:p>
            <a:pPr marL="0" indent="0" algn="ctr">
              <a:buNone/>
            </a:pPr>
            <a:r>
              <a:rPr lang="en-US" sz="2200" b="1" dirty="0">
                <a:solidFill>
                  <a:schemeClr val="accent1"/>
                </a:solidFill>
              </a:rPr>
              <a:t>Θ( ? )</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02920" y="347472"/>
            <a:ext cx="10515600" cy="274320"/>
          </a:xfrm>
          <a:prstGeom prst="rect">
            <a:avLst/>
          </a:prstGeom>
          <a:noFill/>
          <a:ln/>
        </p:spPr>
        <p:txBody>
          <a:bodyPr wrap="square" lIns="0" tIns="0" rIns="0" bIns="0" rtlCol="0"/>
          <a:lstStyle/>
          <a:p>
            <a:pPr marL="0" indent="0">
              <a:buNone/>
            </a:pPr>
            <a:r>
              <a:rPr lang="en-US" sz="1200" b="1" kern="0" spc="100" dirty="0">
                <a:solidFill>
                  <a:schemeClr val="accent2"/>
                </a:solidFill>
              </a:rPr>
              <a:t>REVIEW · LOOP ANALYSIS</a:t>
            </a:r>
            <a:endParaRPr lang="en-US" sz="1200" dirty="0"/>
          </a:p>
        </p:txBody>
      </p:sp>
      <p:sp>
        <p:nvSpPr>
          <p:cNvPr id="3" name="Text 1"/>
          <p:cNvSpPr>
            <a:spLocks noGrp="1"/>
          </p:cNvSpPr>
          <p:nvPr>
            <p:ph type="title" idx="102" hasCustomPrompt="1"/>
          </p:nvPr>
        </p:nvSpPr>
        <p:spPr>
          <a:xfrm>
            <a:off x="502920" y="603504"/>
            <a:ext cx="10789920" cy="566928"/>
          </a:xfrm>
          <a:prstGeom prst="rect">
            <a:avLst/>
          </a:prstGeom>
          <a:noFill/>
          <a:ln/>
        </p:spPr>
        <p:txBody>
          <a:bodyPr wrap="square" lIns="0" tIns="0" rIns="0" bIns="0" rtlCol="0" anchor="t"/>
          <a:lstStyle/>
          <a:p>
            <a:pPr marL="0" indent="0" algn="l">
              <a:buNone/>
            </a:pPr>
            <a:r>
              <a:rPr lang="en-US" sz="3000" b="1" dirty="0">
                <a:solidFill>
                  <a:schemeClr val="tx1"/>
                </a:solidFill>
              </a:rPr>
              <a:t>A Recipe for Counting Loops</a:t>
            </a:r>
            <a:endParaRPr lang="en-US" sz="3000" dirty="0"/>
          </a:p>
        </p:txBody>
      </p:sp>
      <p:sp>
        <p:nvSpPr>
          <p:cNvPr id="4" name="Text 1"/>
          <p:cNvSpPr>
            <a:spLocks noGrp="1"/>
          </p:cNvSpPr>
          <p:nvPr>
            <p:ph type="body" idx="103" hasCustomPrompt="1"/>
          </p:nvPr>
        </p:nvSpPr>
        <p:spPr>
          <a:xfrm>
            <a:off x="502920" y="1152144"/>
            <a:ext cx="10881360" cy="384048"/>
          </a:xfrm>
          <a:prstGeom prst="rect">
            <a:avLst/>
          </a:prstGeom>
          <a:noFill/>
          <a:ln/>
        </p:spPr>
        <p:txBody>
          <a:bodyPr wrap="square" lIns="0" tIns="0" rIns="0" bIns="0" rtlCol="0" anchor="t"/>
          <a:lstStyle/>
          <a:p>
            <a:pPr marL="0" indent="0">
              <a:buNone/>
            </a:pPr>
            <a:r>
              <a:rPr lang="en-US" sz="1350" dirty="0">
                <a:solidFill>
                  <a:srgbClr val="595959"/>
                </a:solidFill>
              </a:rPr>
              <a:t>Three questions turn any loop into a formula you can simplify.</a:t>
            </a:r>
            <a:endParaRPr lang="en-US" sz="1350" dirty="0"/>
          </a:p>
        </p:txBody>
      </p:sp>
      <p:sp>
        <p:nvSpPr>
          <p:cNvPr id="5" name="Step 1 badge"/>
          <p:cNvSpPr/>
          <p:nvPr/>
        </p:nvSpPr>
        <p:spPr>
          <a:xfrm>
            <a:off x="502920" y="1874520"/>
            <a:ext cx="384048" cy="384048"/>
          </a:xfrm>
          <a:prstGeom prst="ellipse">
            <a:avLst/>
          </a:prstGeom>
          <a:solidFill>
            <a:schemeClr val="accent1"/>
          </a:solidFill>
          <a:ln/>
        </p:spPr>
        <p:txBody>
          <a:bodyPr/>
          <a:lstStyle/>
          <a:p>
            <a:endParaRPr lang="en-US"/>
          </a:p>
        </p:txBody>
      </p:sp>
      <p:sp>
        <p:nvSpPr>
          <p:cNvPr id="6" name="Text 4"/>
          <p:cNvSpPr txBox="1"/>
          <p:nvPr/>
        </p:nvSpPr>
        <p:spPr>
          <a:xfrm>
            <a:off x="502920" y="187452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7" name="Text 5"/>
          <p:cNvSpPr txBox="1"/>
          <p:nvPr/>
        </p:nvSpPr>
        <p:spPr>
          <a:xfrm>
            <a:off x="1051560" y="1847088"/>
            <a:ext cx="5852160" cy="274320"/>
          </a:xfrm>
          <a:prstGeom prst="rect">
            <a:avLst/>
          </a:prstGeom>
          <a:noFill/>
          <a:ln/>
        </p:spPr>
        <p:txBody>
          <a:bodyPr wrap="square" lIns="0" tIns="0" rIns="0" bIns="0" rtlCol="0" anchor="ctr"/>
          <a:lstStyle/>
          <a:p>
            <a:pPr marL="0" indent="0">
              <a:buNone/>
            </a:pPr>
            <a:r>
              <a:rPr lang="en-US" sz="1400" b="1" dirty="0">
                <a:solidFill>
                  <a:schemeClr val="tx1"/>
                </a:solidFill>
              </a:rPr>
              <a:t>How many passes?</a:t>
            </a:r>
            <a:endParaRPr lang="en-US" sz="1400" dirty="0"/>
          </a:p>
        </p:txBody>
      </p:sp>
      <p:sp>
        <p:nvSpPr>
          <p:cNvPr id="8" name="Text 6"/>
          <p:cNvSpPr txBox="1"/>
          <p:nvPr/>
        </p:nvSpPr>
        <p:spPr>
          <a:xfrm>
            <a:off x="1051560" y="2167128"/>
            <a:ext cx="5943600" cy="594360"/>
          </a:xfrm>
          <a:prstGeom prst="rect">
            <a:avLst/>
          </a:prstGeom>
          <a:noFill/>
          <a:ln/>
        </p:spPr>
        <p:txBody>
          <a:bodyPr wrap="square" lIns="0" tIns="0" rIns="0" bIns="0" rtlCol="0" anchor="t"/>
          <a:lstStyle/>
          <a:p>
            <a:pPr marL="0" indent="0">
              <a:buNone/>
            </a:pPr>
            <a:r>
              <a:rPr lang="en-US" sz="1300" dirty="0">
                <a:solidFill>
                  <a:schemeClr val="tx2"/>
                </a:solidFill>
              </a:rPr>
              <a:t>Read the stopping condition. Which values does the loop variable take before the loop ends?</a:t>
            </a:r>
            <a:endParaRPr lang="en-US" sz="1300" dirty="0"/>
          </a:p>
        </p:txBody>
      </p:sp>
      <p:sp>
        <p:nvSpPr>
          <p:cNvPr id="9" name="Step 2 badge"/>
          <p:cNvSpPr/>
          <p:nvPr/>
        </p:nvSpPr>
        <p:spPr>
          <a:xfrm>
            <a:off x="502920" y="2834640"/>
            <a:ext cx="384048" cy="384048"/>
          </a:xfrm>
          <a:prstGeom prst="ellipse">
            <a:avLst/>
          </a:prstGeom>
          <a:solidFill>
            <a:schemeClr val="accent1"/>
          </a:solidFill>
          <a:ln/>
        </p:spPr>
        <p:txBody>
          <a:bodyPr/>
          <a:lstStyle/>
          <a:p>
            <a:endParaRPr lang="en-US"/>
          </a:p>
        </p:txBody>
      </p:sp>
      <p:sp>
        <p:nvSpPr>
          <p:cNvPr id="10" name="Text 8"/>
          <p:cNvSpPr txBox="1"/>
          <p:nvPr/>
        </p:nvSpPr>
        <p:spPr>
          <a:xfrm>
            <a:off x="502920" y="283464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1" name="Text 9"/>
          <p:cNvSpPr txBox="1"/>
          <p:nvPr/>
        </p:nvSpPr>
        <p:spPr>
          <a:xfrm>
            <a:off x="1051560" y="2807208"/>
            <a:ext cx="5852160" cy="274320"/>
          </a:xfrm>
          <a:prstGeom prst="rect">
            <a:avLst/>
          </a:prstGeom>
          <a:noFill/>
          <a:ln/>
        </p:spPr>
        <p:txBody>
          <a:bodyPr wrap="square" lIns="0" tIns="0" rIns="0" bIns="0" rtlCol="0" anchor="ctr"/>
          <a:lstStyle/>
          <a:p>
            <a:pPr marL="0" indent="0">
              <a:buNone/>
            </a:pPr>
            <a:r>
              <a:rPr lang="en-US" sz="1400" b="1" dirty="0">
                <a:solidFill>
                  <a:schemeClr val="tx1"/>
                </a:solidFill>
              </a:rPr>
              <a:t>How much work per pass?</a:t>
            </a:r>
            <a:endParaRPr lang="en-US" sz="1400" dirty="0"/>
          </a:p>
        </p:txBody>
      </p:sp>
      <p:sp>
        <p:nvSpPr>
          <p:cNvPr id="12" name="Text 10"/>
          <p:cNvSpPr txBox="1"/>
          <p:nvPr/>
        </p:nvSpPr>
        <p:spPr>
          <a:xfrm>
            <a:off x="1051560" y="3127248"/>
            <a:ext cx="5943600" cy="594360"/>
          </a:xfrm>
          <a:prstGeom prst="rect">
            <a:avLst/>
          </a:prstGeom>
          <a:noFill/>
          <a:ln/>
        </p:spPr>
        <p:txBody>
          <a:bodyPr wrap="square" lIns="0" tIns="0" rIns="0" bIns="0" rtlCol="0" anchor="t"/>
          <a:lstStyle/>
          <a:p>
            <a:pPr marL="0" indent="0">
              <a:buNone/>
            </a:pPr>
            <a:r>
              <a:rPr lang="en-US" sz="1300" dirty="0">
                <a:solidFill>
                  <a:schemeClr val="tx2"/>
                </a:solidFill>
              </a:rPr>
              <a:t>Is it the same every pass, or does it depend on the loop variable?</a:t>
            </a:r>
            <a:endParaRPr lang="en-US" sz="1300" dirty="0"/>
          </a:p>
        </p:txBody>
      </p:sp>
      <p:sp>
        <p:nvSpPr>
          <p:cNvPr id="13" name="Step 3 badge"/>
          <p:cNvSpPr/>
          <p:nvPr/>
        </p:nvSpPr>
        <p:spPr>
          <a:xfrm>
            <a:off x="502920" y="3794760"/>
            <a:ext cx="384048" cy="384048"/>
          </a:xfrm>
          <a:prstGeom prst="ellipse">
            <a:avLst/>
          </a:prstGeom>
          <a:solidFill>
            <a:schemeClr val="accent1"/>
          </a:solidFill>
          <a:ln/>
        </p:spPr>
        <p:txBody>
          <a:bodyPr/>
          <a:lstStyle/>
          <a:p>
            <a:endParaRPr lang="en-US"/>
          </a:p>
        </p:txBody>
      </p:sp>
      <p:sp>
        <p:nvSpPr>
          <p:cNvPr id="14" name="Text 12"/>
          <p:cNvSpPr txBox="1"/>
          <p:nvPr/>
        </p:nvSpPr>
        <p:spPr>
          <a:xfrm>
            <a:off x="502920" y="379476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15" name="Text 13"/>
          <p:cNvSpPr txBox="1"/>
          <p:nvPr/>
        </p:nvSpPr>
        <p:spPr>
          <a:xfrm>
            <a:off x="1051560" y="3767328"/>
            <a:ext cx="5852160" cy="274320"/>
          </a:xfrm>
          <a:prstGeom prst="rect">
            <a:avLst/>
          </a:prstGeom>
          <a:noFill/>
          <a:ln/>
        </p:spPr>
        <p:txBody>
          <a:bodyPr wrap="square" lIns="0" tIns="0" rIns="0" bIns="0" rtlCol="0" anchor="ctr"/>
          <a:lstStyle/>
          <a:p>
            <a:pPr marL="0" indent="0">
              <a:buNone/>
            </a:pPr>
            <a:r>
              <a:rPr lang="en-US" sz="1400" b="1" dirty="0">
                <a:solidFill>
                  <a:schemeClr val="tx1"/>
                </a:solidFill>
              </a:rPr>
              <a:t>Add it up and simplify</a:t>
            </a:r>
            <a:endParaRPr lang="en-US" sz="1400" dirty="0"/>
          </a:p>
        </p:txBody>
      </p:sp>
      <p:sp>
        <p:nvSpPr>
          <p:cNvPr id="16" name="Text 14"/>
          <p:cNvSpPr txBox="1"/>
          <p:nvPr/>
        </p:nvSpPr>
        <p:spPr>
          <a:xfrm>
            <a:off x="1051560" y="4087368"/>
            <a:ext cx="5943600" cy="594360"/>
          </a:xfrm>
          <a:prstGeom prst="rect">
            <a:avLst/>
          </a:prstGeom>
          <a:noFill/>
          <a:ln/>
        </p:spPr>
        <p:txBody>
          <a:bodyPr wrap="square" lIns="0" tIns="0" rIns="0" bIns="0" rtlCol="0" anchor="t"/>
          <a:lstStyle/>
          <a:p>
            <a:pPr marL="0" indent="0">
              <a:buNone/>
            </a:pPr>
            <a:r>
              <a:rPr lang="en-US" sz="1300" dirty="0">
                <a:solidFill>
                  <a:schemeClr val="tx2"/>
                </a:solidFill>
              </a:rPr>
              <a:t>Same work every pass: multiply. Work that changes each pass: write the sum, then simplify it.</a:t>
            </a:r>
            <a:endParaRPr lang="en-US" sz="1300" dirty="0"/>
          </a:p>
        </p:txBody>
      </p:sp>
      <p:sp>
        <p:nvSpPr>
          <p:cNvPr id="25" name="Takeaway"/>
          <p:cNvSpPr/>
          <p:nvPr/>
        </p:nvSpPr>
        <p:spPr>
          <a:xfrm>
            <a:off x="502920" y="5074920"/>
            <a:ext cx="11183112" cy="685800"/>
          </a:xfrm>
          <a:prstGeom prst="roundRect">
            <a:avLst>
              <a:gd name="adj" fmla="val 8000"/>
            </a:avLst>
          </a:prstGeom>
          <a:solidFill>
            <a:schemeClr val="accent5"/>
          </a:solidFill>
          <a:ln/>
        </p:spPr>
        <p:txBody>
          <a:bodyPr/>
          <a:lstStyle/>
          <a:p>
            <a:endParaRPr lang="en-US"/>
          </a:p>
        </p:txBody>
      </p:sp>
      <p:sp>
        <p:nvSpPr>
          <p:cNvPr id="26" name="Text 24"/>
          <p:cNvSpPr txBox="1"/>
          <p:nvPr/>
        </p:nvSpPr>
        <p:spPr>
          <a:xfrm>
            <a:off x="731520" y="5074920"/>
            <a:ext cx="10725912" cy="685800"/>
          </a:xfrm>
          <a:prstGeom prst="rect">
            <a:avLst/>
          </a:prstGeom>
          <a:noFill/>
          <a:ln/>
        </p:spPr>
        <p:txBody>
          <a:bodyPr wrap="square" lIns="0" tIns="0" rIns="0" bIns="0" rtlCol="0" anchor="ctr"/>
          <a:lstStyle/>
          <a:p>
            <a:pPr marL="0" indent="0">
              <a:buNone/>
            </a:pPr>
            <a:r>
              <a:rPr lang="en-US" sz="1400" b="1" dirty="0">
                <a:solidFill>
                  <a:schemeClr val="accent2"/>
                </a:solidFill>
              </a:rPr>
              <a:t>On the exam:  </a:t>
            </a:r>
            <a:r>
              <a:rPr lang="en-US" sz="1400" dirty="0">
                <a:solidFill>
                  <a:schemeClr val="tx2"/>
                </a:solidFill>
              </a:rPr>
              <a:t>write the sum you are evaluating, then simplify it. The intermediate steps earn most of the points.</a:t>
            </a:r>
            <a:endParaRPr lang="en-US" sz="1400" dirty="0"/>
          </a:p>
        </p:txBody>
      </p:sp>
      <p:sp>
        <p:nvSpPr>
          <p:cNvPr id="27" name="Slide Number Placeholder 0"/>
          <p:cNvSpPr>
            <a:spLocks noGrp="1"/>
          </p:cNvSpPr>
          <p:nvPr>
            <p:ph type="sldNum" sz="quarter" idx="4294967295"/>
          </p:nvPr>
        </p:nvSpPr>
        <p:spPr>
          <a:xfrm>
            <a:off x="11228832" y="6547104"/>
            <a:ext cx="457200" cy="237744"/>
          </a:xfrm>
          <a:prstGeom prst="rect">
            <a:avLst/>
          </a:prstGeom>
          <a:extLst>
            <a:ext uri="{C572A759-6A51-4108-AA02-DFA0A04FC94B}">
              <ma14:wrappingTextBoxFlag xmlns="" xmlns:ma14="http://schemas.microsoft.com/office/mac/drawingml/2011/main" val="0"/>
            </a:ext>
          </a:extLst>
        </p:spPr>
        <p:txBody>
          <a:bodyPr/>
          <a:lstStyle>
            <a:lvl1pPr>
              <a:defRPr sz="850">
                <a:solidFill>
                  <a:srgbClr val="595959"/>
                </a:solidFill>
              </a:defRPr>
            </a:lvl1pPr>
          </a:lstStyle>
          <a:p>
            <a:pPr algn="r"/>
            <a:fld id="{F7021451-1387-4CA6-816F-3879F97B5CBC}" type="slidenum">
              <a:rPr lang="en-US" b="0"/>
              <a:t>2</a:t>
            </a:fld>
            <a:endParaRPr lang="en-US"/>
          </a:p>
        </p:txBody>
      </p:sp>
      <p:grpSp>
        <p:nvGrpSpPr>
          <p:cNvPr id="29" name="Group 28">
            <a:extLst>
              <a:ext uri="{FF2B5EF4-FFF2-40B4-BE49-F238E27FC236}">
                <a16:creationId xmlns:a16="http://schemas.microsoft.com/office/drawing/2014/main" id="{DB5550A9-8541-69F0-7B42-060374961BC8}"/>
              </a:ext>
            </a:extLst>
          </p:cNvPr>
          <p:cNvGrpSpPr/>
          <p:nvPr/>
        </p:nvGrpSpPr>
        <p:grpSpPr>
          <a:xfrm>
            <a:off x="6903720" y="1309254"/>
            <a:ext cx="4782312" cy="3512127"/>
            <a:chOff x="7315200" y="1828800"/>
            <a:chExt cx="4370832" cy="2880360"/>
          </a:xfrm>
        </p:grpSpPr>
        <p:sp>
          <p:nvSpPr>
            <p:cNvPr id="30" name="Patterns panel">
              <a:extLst>
                <a:ext uri="{FF2B5EF4-FFF2-40B4-BE49-F238E27FC236}">
                  <a16:creationId xmlns:a16="http://schemas.microsoft.com/office/drawing/2014/main" id="{3571C5CF-F96B-DB6B-FB82-1BE8A178E2D0}"/>
                </a:ext>
              </a:extLst>
            </p:cNvPr>
            <p:cNvSpPr/>
            <p:nvPr/>
          </p:nvSpPr>
          <p:spPr>
            <a:xfrm>
              <a:off x="7315200" y="1828800"/>
              <a:ext cx="4370832" cy="2880360"/>
            </a:xfrm>
            <a:prstGeom prst="roundRect">
              <a:avLst>
                <a:gd name="adj" fmla="val 1905"/>
              </a:avLst>
            </a:prstGeom>
            <a:solidFill>
              <a:schemeClr val="tx1"/>
            </a:solidFill>
            <a:ln/>
          </p:spPr>
          <p:txBody>
            <a:bodyPr/>
            <a:lstStyle/>
            <a:p>
              <a:endParaRPr lang="en-US"/>
            </a:p>
          </p:txBody>
        </p:sp>
        <p:sp>
          <p:nvSpPr>
            <p:cNvPr id="31" name="Text 16">
              <a:extLst>
                <a:ext uri="{FF2B5EF4-FFF2-40B4-BE49-F238E27FC236}">
                  <a16:creationId xmlns:a16="http://schemas.microsoft.com/office/drawing/2014/main" id="{01450CD1-EF20-0F97-BB13-FEB97780D4C9}"/>
                </a:ext>
              </a:extLst>
            </p:cNvPr>
            <p:cNvSpPr txBox="1"/>
            <p:nvPr/>
          </p:nvSpPr>
          <p:spPr>
            <a:xfrm>
              <a:off x="7543800" y="2011680"/>
              <a:ext cx="3913632" cy="274320"/>
            </a:xfrm>
            <a:prstGeom prst="rect">
              <a:avLst/>
            </a:prstGeom>
            <a:noFill/>
            <a:ln/>
          </p:spPr>
          <p:txBody>
            <a:bodyPr wrap="square" lIns="0" tIns="0" rIns="0" bIns="0" rtlCol="0" anchor="ctr"/>
            <a:lstStyle/>
            <a:p>
              <a:pPr marL="0" indent="0">
                <a:buNone/>
              </a:pPr>
              <a:r>
                <a:rPr lang="en-US" sz="1050" b="1" kern="0" spc="100" dirty="0">
                  <a:solidFill>
                    <a:srgbClr val="C9D6F0"/>
                  </a:solidFill>
                </a:rPr>
                <a:t>PATTERNS TO RECOGNIZE</a:t>
              </a:r>
              <a:endParaRPr lang="en-US" sz="1050" dirty="0"/>
            </a:p>
          </p:txBody>
        </p:sp>
        <p:sp>
          <p:nvSpPr>
            <p:cNvPr id="32" name="Text 17">
              <a:extLst>
                <a:ext uri="{FF2B5EF4-FFF2-40B4-BE49-F238E27FC236}">
                  <a16:creationId xmlns:a16="http://schemas.microsoft.com/office/drawing/2014/main" id="{1C11EF48-DF99-17F5-D98D-87064160CC1C}"/>
                </a:ext>
              </a:extLst>
            </p:cNvPr>
            <p:cNvSpPr txBox="1"/>
            <p:nvPr/>
          </p:nvSpPr>
          <p:spPr>
            <a:xfrm>
              <a:off x="7543800" y="2377440"/>
              <a:ext cx="3913632" cy="274320"/>
            </a:xfrm>
            <a:prstGeom prst="rect">
              <a:avLst/>
            </a:prstGeom>
            <a:noFill/>
            <a:ln/>
          </p:spPr>
          <p:txBody>
            <a:bodyPr wrap="square" lIns="0" tIns="0" rIns="0" bIns="0" rtlCol="0" anchor="ctr"/>
            <a:lstStyle/>
            <a:p>
              <a:pPr marL="0" indent="0">
                <a:buNone/>
              </a:pPr>
              <a:r>
                <a:rPr lang="en-US" sz="1200" dirty="0">
                  <a:solidFill>
                    <a:srgbClr val="C9D6F0"/>
                  </a:solidFill>
                </a:rPr>
                <a:t>0 + 1 + 2 + ⋯ + (n−1)</a:t>
              </a:r>
              <a:endParaRPr lang="en-US" sz="1200" dirty="0"/>
            </a:p>
          </p:txBody>
        </p:sp>
        <p:sp>
          <p:nvSpPr>
            <p:cNvPr id="33" name="Text 18">
              <a:extLst>
                <a:ext uri="{FF2B5EF4-FFF2-40B4-BE49-F238E27FC236}">
                  <a16:creationId xmlns:a16="http://schemas.microsoft.com/office/drawing/2014/main" id="{005CE83C-0203-7247-D79B-94E8844D044B}"/>
                </a:ext>
              </a:extLst>
            </p:cNvPr>
            <p:cNvSpPr txBox="1"/>
            <p:nvPr/>
          </p:nvSpPr>
          <p:spPr>
            <a:xfrm>
              <a:off x="7543800" y="2651760"/>
              <a:ext cx="3913632" cy="365760"/>
            </a:xfrm>
            <a:prstGeom prst="rect">
              <a:avLst/>
            </a:prstGeom>
            <a:noFill/>
            <a:ln/>
          </p:spPr>
          <p:txBody>
            <a:bodyPr wrap="square" lIns="0" tIns="0" rIns="0" bIns="0" rtlCol="0" anchor="ctr"/>
            <a:lstStyle/>
            <a:p>
              <a:pPr marL="0" indent="0">
                <a:buNone/>
              </a:pPr>
              <a:r>
                <a:rPr lang="en-US" sz="1800" b="1" dirty="0">
                  <a:solidFill>
                    <a:srgbClr val="FFFFFF"/>
                  </a:solidFill>
                </a:rPr>
                <a:t>= n(n−1)/2</a:t>
              </a:r>
              <a:endParaRPr lang="en-US" sz="1800" dirty="0"/>
            </a:p>
          </p:txBody>
        </p:sp>
        <p:sp>
          <p:nvSpPr>
            <p:cNvPr id="34" name="Text 19">
              <a:extLst>
                <a:ext uri="{FF2B5EF4-FFF2-40B4-BE49-F238E27FC236}">
                  <a16:creationId xmlns:a16="http://schemas.microsoft.com/office/drawing/2014/main" id="{22E7064B-C983-16FA-2AFE-C2287E13F841}"/>
                </a:ext>
              </a:extLst>
            </p:cNvPr>
            <p:cNvSpPr txBox="1"/>
            <p:nvPr/>
          </p:nvSpPr>
          <p:spPr>
            <a:xfrm>
              <a:off x="7543800" y="3127248"/>
              <a:ext cx="3913632" cy="274320"/>
            </a:xfrm>
            <a:prstGeom prst="rect">
              <a:avLst/>
            </a:prstGeom>
            <a:noFill/>
            <a:ln/>
          </p:spPr>
          <p:txBody>
            <a:bodyPr wrap="square" lIns="0" tIns="0" rIns="0" bIns="0" rtlCol="0" anchor="ctr"/>
            <a:lstStyle/>
            <a:p>
              <a:pPr marL="0" indent="0">
                <a:buNone/>
              </a:pPr>
              <a:r>
                <a:rPr lang="en-US" sz="1200" dirty="0">
                  <a:solidFill>
                    <a:srgbClr val="C9D6F0"/>
                  </a:solidFill>
                </a:rPr>
                <a:t>j = 0, 1, 2, … while j·j &lt; n</a:t>
              </a:r>
              <a:endParaRPr lang="en-US" sz="1200" dirty="0"/>
            </a:p>
          </p:txBody>
        </p:sp>
        <p:sp>
          <p:nvSpPr>
            <p:cNvPr id="35" name="Text 20">
              <a:extLst>
                <a:ext uri="{FF2B5EF4-FFF2-40B4-BE49-F238E27FC236}">
                  <a16:creationId xmlns:a16="http://schemas.microsoft.com/office/drawing/2014/main" id="{95AD8C17-7AA6-FFF6-951F-11F44A594BED}"/>
                </a:ext>
              </a:extLst>
            </p:cNvPr>
            <p:cNvSpPr txBox="1"/>
            <p:nvPr/>
          </p:nvSpPr>
          <p:spPr>
            <a:xfrm>
              <a:off x="7543800" y="3401568"/>
              <a:ext cx="3913632" cy="365760"/>
            </a:xfrm>
            <a:prstGeom prst="rect">
              <a:avLst/>
            </a:prstGeom>
            <a:noFill/>
            <a:ln/>
          </p:spPr>
          <p:txBody>
            <a:bodyPr wrap="square" lIns="0" tIns="0" rIns="0" bIns="0" rtlCol="0" anchor="ctr"/>
            <a:lstStyle/>
            <a:p>
              <a:pPr marL="0" indent="0">
                <a:buNone/>
              </a:pPr>
              <a:r>
                <a:rPr lang="en-US" sz="1800" b="1" dirty="0">
                  <a:solidFill>
                    <a:schemeClr val="accent4"/>
                  </a:solidFill>
                </a:rPr>
                <a:t>≈ √n passes</a:t>
              </a:r>
              <a:endParaRPr lang="en-US" sz="1800" dirty="0"/>
            </a:p>
          </p:txBody>
        </p:sp>
        <p:sp>
          <p:nvSpPr>
            <p:cNvPr id="36" name="Text 21">
              <a:extLst>
                <a:ext uri="{FF2B5EF4-FFF2-40B4-BE49-F238E27FC236}">
                  <a16:creationId xmlns:a16="http://schemas.microsoft.com/office/drawing/2014/main" id="{9E7E7E45-3991-6AAC-EDB4-6D89D8FB6C01}"/>
                </a:ext>
              </a:extLst>
            </p:cNvPr>
            <p:cNvSpPr txBox="1"/>
            <p:nvPr/>
          </p:nvSpPr>
          <p:spPr>
            <a:xfrm>
              <a:off x="7543800" y="3877056"/>
              <a:ext cx="3913632" cy="274320"/>
            </a:xfrm>
            <a:prstGeom prst="rect">
              <a:avLst/>
            </a:prstGeom>
            <a:noFill/>
            <a:ln/>
          </p:spPr>
          <p:txBody>
            <a:bodyPr wrap="square" lIns="0" tIns="0" rIns="0" bIns="0" rtlCol="0" anchor="ctr"/>
            <a:lstStyle/>
            <a:p>
              <a:pPr marL="0" indent="0">
                <a:buNone/>
              </a:pPr>
              <a:r>
                <a:rPr lang="en-US" sz="1200" dirty="0">
                  <a:solidFill>
                    <a:srgbClr val="C9D6F0"/>
                  </a:solidFill>
                </a:rPr>
                <a:t>i doubles (or halves) each pass</a:t>
              </a:r>
              <a:endParaRPr lang="en-US" sz="1200" dirty="0"/>
            </a:p>
          </p:txBody>
        </p:sp>
        <p:sp>
          <p:nvSpPr>
            <p:cNvPr id="37" name="Text 22">
              <a:extLst>
                <a:ext uri="{FF2B5EF4-FFF2-40B4-BE49-F238E27FC236}">
                  <a16:creationId xmlns:a16="http://schemas.microsoft.com/office/drawing/2014/main" id="{B221B0BA-31C0-A2A6-9355-6B5FA60FE2C4}"/>
                </a:ext>
              </a:extLst>
            </p:cNvPr>
            <p:cNvSpPr txBox="1"/>
            <p:nvPr/>
          </p:nvSpPr>
          <p:spPr>
            <a:xfrm>
              <a:off x="7543800" y="4151376"/>
              <a:ext cx="3913632" cy="365760"/>
            </a:xfrm>
            <a:prstGeom prst="rect">
              <a:avLst/>
            </a:prstGeom>
            <a:noFill/>
            <a:ln/>
          </p:spPr>
          <p:txBody>
            <a:bodyPr wrap="square" lIns="0" tIns="0" rIns="0" bIns="0" rtlCol="0" anchor="ctr"/>
            <a:lstStyle/>
            <a:p>
              <a:pPr marL="0" indent="0">
                <a:buNone/>
              </a:pPr>
              <a:r>
                <a:rPr lang="en-US" sz="1800" b="1" dirty="0">
                  <a:solidFill>
                    <a:schemeClr val="accent4"/>
                  </a:solidFill>
                </a:rPr>
                <a:t>≈ log₂ n passes</a:t>
              </a:r>
              <a:endParaRPr lang="en-US" sz="18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linds(horizontal)">
                                      <p:cBhvr>
                                        <p:cTn id="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02920" y="347472"/>
            <a:ext cx="10515600" cy="274320"/>
          </a:xfrm>
          <a:prstGeom prst="rect">
            <a:avLst/>
          </a:prstGeom>
          <a:noFill/>
          <a:ln/>
        </p:spPr>
        <p:txBody>
          <a:bodyPr wrap="square" lIns="0" tIns="0" rIns="0" bIns="0" rtlCol="0"/>
          <a:lstStyle/>
          <a:p>
            <a:pPr marL="0" indent="0">
              <a:buNone/>
            </a:pPr>
            <a:r>
              <a:rPr lang="en-US" sz="1200" b="1" kern="0" spc="100" dirty="0">
                <a:solidFill>
                  <a:schemeClr val="accent2"/>
                </a:solidFill>
              </a:rPr>
              <a:t>PRACTICE PROBLEM 1 · WARM-UP</a:t>
            </a:r>
            <a:endParaRPr lang="en-US" sz="1200" dirty="0"/>
          </a:p>
        </p:txBody>
      </p:sp>
      <p:sp>
        <p:nvSpPr>
          <p:cNvPr id="3" name="Text 1"/>
          <p:cNvSpPr>
            <a:spLocks noGrp="1"/>
          </p:cNvSpPr>
          <p:nvPr>
            <p:ph type="title" idx="102" hasCustomPrompt="1"/>
          </p:nvPr>
        </p:nvSpPr>
        <p:spPr>
          <a:xfrm>
            <a:off x="502920" y="603504"/>
            <a:ext cx="10789920" cy="566928"/>
          </a:xfrm>
          <a:prstGeom prst="rect">
            <a:avLst/>
          </a:prstGeom>
          <a:noFill/>
          <a:ln/>
        </p:spPr>
        <p:txBody>
          <a:bodyPr wrap="square" lIns="0" tIns="0" rIns="0" bIns="0" rtlCol="0" anchor="t"/>
          <a:lstStyle/>
          <a:p>
            <a:pPr marL="0" indent="0" algn="l">
              <a:buNone/>
            </a:pPr>
            <a:r>
              <a:rPr lang="en-US" sz="3000" b="1" dirty="0">
                <a:solidFill>
                  <a:schemeClr val="tx1"/>
                </a:solidFill>
              </a:rPr>
              <a:t>A Dependent Nested Loop</a:t>
            </a:r>
            <a:endParaRPr lang="en-US" sz="3000" dirty="0"/>
          </a:p>
        </p:txBody>
      </p:sp>
      <p:sp>
        <p:nvSpPr>
          <p:cNvPr id="4" name="Text 1"/>
          <p:cNvSpPr>
            <a:spLocks noGrp="1"/>
          </p:cNvSpPr>
          <p:nvPr>
            <p:ph type="body" idx="103" hasCustomPrompt="1"/>
          </p:nvPr>
        </p:nvSpPr>
        <p:spPr>
          <a:xfrm>
            <a:off x="502920" y="1152144"/>
            <a:ext cx="10881360" cy="384048"/>
          </a:xfrm>
          <a:prstGeom prst="rect">
            <a:avLst/>
          </a:prstGeom>
          <a:noFill/>
          <a:ln/>
        </p:spPr>
        <p:txBody>
          <a:bodyPr wrap="square" lIns="0" tIns="0" rIns="0" bIns="0" rtlCol="0" anchor="t"/>
          <a:lstStyle/>
          <a:p>
            <a:pPr marL="0" indent="0">
              <a:buNone/>
            </a:pPr>
            <a:r>
              <a:rPr lang="en-US" sz="1350" dirty="0">
                <a:solidFill>
                  <a:srgbClr val="595959"/>
                </a:solidFill>
              </a:rPr>
              <a:t>How many times is "hi" printed, as a function of n? Give a Θ bound.</a:t>
            </a:r>
            <a:endParaRPr lang="en-US" sz="1350" dirty="0"/>
          </a:p>
        </p:txBody>
      </p:sp>
      <p:sp>
        <p:nvSpPr>
          <p:cNvPr id="5" name="Label Code"/>
          <p:cNvSpPr txBox="1"/>
          <p:nvPr/>
        </p:nvSpPr>
        <p:spPr>
          <a:xfrm>
            <a:off x="502920" y="1423551"/>
            <a:ext cx="5669280" cy="274320"/>
          </a:xfrm>
          <a:prstGeom prst="rect">
            <a:avLst/>
          </a:prstGeom>
          <a:noFill/>
          <a:ln/>
        </p:spPr>
        <p:txBody>
          <a:bodyPr wrap="square" lIns="0" tIns="0" rIns="0" bIns="0" rtlCol="0" anchor="ctr"/>
          <a:lstStyle/>
          <a:p>
            <a:pPr marL="0" indent="0">
              <a:buNone/>
            </a:pPr>
            <a:r>
              <a:rPr lang="en-US" sz="1300" b="1" dirty="0">
                <a:solidFill>
                  <a:schemeClr val="tx1"/>
                </a:solidFill>
              </a:rPr>
              <a:t>Code</a:t>
            </a:r>
            <a:endParaRPr lang="en-US" sz="1300" dirty="0"/>
          </a:p>
        </p:txBody>
      </p:sp>
      <p:sp>
        <p:nvSpPr>
          <p:cNvPr id="6" name="Code panel"/>
          <p:cNvSpPr/>
          <p:nvPr/>
        </p:nvSpPr>
        <p:spPr>
          <a:xfrm>
            <a:off x="502920" y="1716158"/>
            <a:ext cx="5669280" cy="2743199"/>
          </a:xfrm>
          <a:prstGeom prst="roundRect">
            <a:avLst>
              <a:gd name="adj" fmla="val 3000"/>
            </a:avLst>
          </a:prstGeom>
          <a:solidFill>
            <a:schemeClr val="accent3"/>
          </a:solidFill>
          <a:ln/>
        </p:spPr>
        <p:txBody>
          <a:bodyPr/>
          <a:lstStyle/>
          <a:p>
            <a:endParaRPr lang="en-US"/>
          </a:p>
        </p:txBody>
      </p:sp>
      <p:sp>
        <p:nvSpPr>
          <p:cNvPr id="7" name="Code text"/>
          <p:cNvSpPr txBox="1"/>
          <p:nvPr/>
        </p:nvSpPr>
        <p:spPr>
          <a:xfrm>
            <a:off x="731520" y="1899038"/>
            <a:ext cx="5212080" cy="2194559"/>
          </a:xfrm>
          <a:prstGeom prst="rect">
            <a:avLst/>
          </a:prstGeom>
          <a:noFill/>
          <a:ln/>
        </p:spPr>
        <p:txBody>
          <a:bodyPr wrap="square" lIns="0" tIns="0" rIns="0" bIns="0" rtlCol="0" anchor="t"/>
          <a:lstStyle/>
          <a:p>
            <a:pPr marL="0" indent="0">
              <a:lnSpc>
                <a:spcPct val="120000"/>
              </a:lnSpc>
              <a:buNone/>
            </a:pPr>
            <a:r>
              <a:rPr lang="en-US" sz="1600" b="1" dirty="0">
                <a:solidFill>
                  <a:srgbClr val="FFFFFF"/>
                </a:solidFill>
                <a:latin typeface="Courier New" pitchFamily="34" charset="0"/>
                <a:ea typeface="Courier New" pitchFamily="34" charset="-122"/>
                <a:cs typeface="Courier New" pitchFamily="34" charset="-120"/>
              </a:rPr>
              <a:t>def f1(n):</a:t>
            </a:r>
            <a:endParaRPr lang="en-US" sz="1600" dirty="0"/>
          </a:p>
          <a:p>
            <a:pPr marL="0" indent="0">
              <a:lnSpc>
                <a:spcPct val="120000"/>
              </a:lnSpc>
              <a:buNone/>
            </a:pPr>
            <a:r>
              <a:rPr lang="en-US" sz="1600" dirty="0">
                <a:solidFill>
                  <a:srgbClr val="FFFFFF"/>
                </a:solidFill>
                <a:latin typeface="Courier New" pitchFamily="34" charset="0"/>
                <a:ea typeface="Courier New" pitchFamily="34" charset="-122"/>
                <a:cs typeface="Courier New" pitchFamily="34" charset="-120"/>
              </a:rPr>
              <a:t>    for i in range(n):</a:t>
            </a:r>
            <a:endParaRPr lang="en-US" sz="1600" dirty="0"/>
          </a:p>
          <a:p>
            <a:pPr marL="0" indent="0">
              <a:lnSpc>
                <a:spcPct val="120000"/>
              </a:lnSpc>
              <a:buNone/>
            </a:pPr>
            <a:r>
              <a:rPr lang="en-US" sz="1600" dirty="0">
                <a:solidFill>
                  <a:srgbClr val="FFFFFF"/>
                </a:solidFill>
                <a:latin typeface="Courier New" pitchFamily="34" charset="0"/>
                <a:ea typeface="Courier New" pitchFamily="34" charset="-122"/>
                <a:cs typeface="Courier New" pitchFamily="34" charset="-120"/>
              </a:rPr>
              <a:t>        for j in range(i):</a:t>
            </a:r>
            <a:endParaRPr lang="en-US" sz="1600" dirty="0"/>
          </a:p>
          <a:p>
            <a:pPr marL="0" indent="0">
              <a:lnSpc>
                <a:spcPct val="120000"/>
              </a:lnSpc>
              <a:buNone/>
            </a:pPr>
            <a:r>
              <a:rPr lang="en-US" sz="1600" dirty="0">
                <a:solidFill>
                  <a:srgbClr val="FFFFFF"/>
                </a:solidFill>
                <a:latin typeface="Courier New" pitchFamily="34" charset="0"/>
                <a:ea typeface="Courier New" pitchFamily="34" charset="-122"/>
                <a:cs typeface="Courier New" pitchFamily="34" charset="-120"/>
              </a:rPr>
              <a:t>            print("hi")</a:t>
            </a:r>
            <a:endParaRPr lang="en-US" sz="1600" dirty="0"/>
          </a:p>
        </p:txBody>
      </p:sp>
      <p:sp>
        <p:nvSpPr>
          <p:cNvPr id="8" name="Label Work it out"/>
          <p:cNvSpPr txBox="1"/>
          <p:nvPr/>
        </p:nvSpPr>
        <p:spPr>
          <a:xfrm>
            <a:off x="6629400" y="1402769"/>
            <a:ext cx="5056632" cy="274320"/>
          </a:xfrm>
          <a:prstGeom prst="rect">
            <a:avLst/>
          </a:prstGeom>
          <a:noFill/>
          <a:ln/>
        </p:spPr>
        <p:txBody>
          <a:bodyPr wrap="square" lIns="0" tIns="0" rIns="0" bIns="0" rtlCol="0" anchor="ctr"/>
          <a:lstStyle/>
          <a:p>
            <a:pPr marL="0" indent="0">
              <a:buNone/>
            </a:pPr>
            <a:r>
              <a:rPr lang="en-US" sz="1300" b="1" dirty="0">
                <a:solidFill>
                  <a:schemeClr val="tx1"/>
                </a:solidFill>
              </a:rPr>
              <a:t>Work it out</a:t>
            </a:r>
            <a:endParaRPr lang="en-US" sz="1300" dirty="0"/>
          </a:p>
        </p:txBody>
      </p:sp>
      <p:sp>
        <p:nvSpPr>
          <p:cNvPr id="9" name="Task card"/>
          <p:cNvSpPr/>
          <p:nvPr/>
        </p:nvSpPr>
        <p:spPr>
          <a:xfrm>
            <a:off x="6629400" y="1705768"/>
            <a:ext cx="5056632" cy="2743200"/>
          </a:xfrm>
          <a:prstGeom prst="roundRect">
            <a:avLst>
              <a:gd name="adj" fmla="val 2000"/>
            </a:avLst>
          </a:prstGeom>
          <a:solidFill>
            <a:schemeClr val="bg2"/>
          </a:solidFill>
          <a:ln/>
        </p:spPr>
        <p:txBody>
          <a:bodyPr/>
          <a:lstStyle/>
          <a:p>
            <a:endParaRPr lang="en-US"/>
          </a:p>
        </p:txBody>
      </p:sp>
      <p:sp>
        <p:nvSpPr>
          <p:cNvPr id="10" name="Text 8"/>
          <p:cNvSpPr txBox="1"/>
          <p:nvPr/>
        </p:nvSpPr>
        <p:spPr>
          <a:xfrm>
            <a:off x="6858000" y="1857475"/>
            <a:ext cx="4599432" cy="1554480"/>
          </a:xfrm>
          <a:prstGeom prst="rect">
            <a:avLst/>
          </a:prstGeom>
          <a:noFill/>
          <a:ln/>
        </p:spPr>
        <p:txBody>
          <a:bodyPr wrap="square" lIns="0" tIns="0" rIns="0" bIns="0" rtlCol="0" anchor="t"/>
          <a:lstStyle/>
          <a:p>
            <a:pPr marL="342900" indent="-342900">
              <a:spcAft>
                <a:spcPts val="800"/>
              </a:spcAft>
              <a:buSzPct val="100000"/>
              <a:buFont typeface="+mj-lt"/>
              <a:buAutoNum type="arabicPeriod"/>
            </a:pPr>
            <a:r>
              <a:rPr lang="en-US" sz="1400" dirty="0">
                <a:solidFill>
                  <a:schemeClr val="tx2"/>
                </a:solidFill>
              </a:rPr>
              <a:t>How many times does the inner loop run when i = 0? When i = 1? When i = n − 1?</a:t>
            </a:r>
            <a:endParaRPr lang="en-US" sz="1400" dirty="0"/>
          </a:p>
          <a:p>
            <a:pPr marL="342900" indent="-342900">
              <a:spcAft>
                <a:spcPts val="800"/>
              </a:spcAft>
              <a:buSzPct val="100000"/>
              <a:buFont typeface="+mj-lt"/>
              <a:buAutoNum type="arabicPeriod"/>
            </a:pPr>
            <a:r>
              <a:rPr lang="en-US" sz="1400" dirty="0">
                <a:solidFill>
                  <a:schemeClr val="tx2"/>
                </a:solidFill>
              </a:rPr>
              <a:t>Write the total number of prints as a sum.</a:t>
            </a:r>
            <a:endParaRPr lang="en-US" sz="1400" dirty="0"/>
          </a:p>
          <a:p>
            <a:pPr marL="342900" indent="-342900">
              <a:spcAft>
                <a:spcPts val="800"/>
              </a:spcAft>
              <a:buSzPct val="100000"/>
              <a:buFont typeface="+mj-lt"/>
              <a:buAutoNum type="arabicPeriod"/>
            </a:pPr>
            <a:r>
              <a:rPr lang="en-US" sz="1400" dirty="0">
                <a:solidFill>
                  <a:schemeClr val="tx2"/>
                </a:solidFill>
              </a:rPr>
              <a:t>Simplify the sum.</a:t>
            </a:r>
            <a:endParaRPr lang="en-US" sz="1400" dirty="0"/>
          </a:p>
        </p:txBody>
      </p:sp>
      <p:sp>
        <p:nvSpPr>
          <p:cNvPr id="11" name="Text 9"/>
          <p:cNvSpPr txBox="1"/>
          <p:nvPr/>
        </p:nvSpPr>
        <p:spPr>
          <a:xfrm>
            <a:off x="6858000" y="3549115"/>
            <a:ext cx="4599432" cy="685800"/>
          </a:xfrm>
          <a:prstGeom prst="rect">
            <a:avLst/>
          </a:prstGeom>
          <a:noFill/>
          <a:ln/>
        </p:spPr>
        <p:txBody>
          <a:bodyPr wrap="square" lIns="0" tIns="0" rIns="0" bIns="0" rtlCol="0" anchor="ctr"/>
          <a:lstStyle/>
          <a:p>
            <a:pPr marL="0" indent="0">
              <a:buNone/>
            </a:pPr>
            <a:r>
              <a:rPr lang="en-US" sz="1400" b="1" dirty="0">
                <a:solidFill>
                  <a:schemeClr val="tx1"/>
                </a:solidFill>
              </a:rPr>
              <a:t>Your answer:  </a:t>
            </a:r>
            <a:r>
              <a:rPr lang="en-US" sz="2800" b="1" dirty="0">
                <a:solidFill>
                  <a:schemeClr val="accent2"/>
                </a:solidFill>
              </a:rPr>
              <a:t>Θ( ? )</a:t>
            </a:r>
            <a:endParaRPr lang="en-US" sz="1400" dirty="0"/>
          </a:p>
        </p:txBody>
      </p:sp>
      <p:sp>
        <p:nvSpPr>
          <p:cNvPr id="12" name="Takeaway"/>
          <p:cNvSpPr/>
          <p:nvPr/>
        </p:nvSpPr>
        <p:spPr>
          <a:xfrm>
            <a:off x="502920" y="5777661"/>
            <a:ext cx="11183112" cy="685800"/>
          </a:xfrm>
          <a:prstGeom prst="roundRect">
            <a:avLst>
              <a:gd name="adj" fmla="val 8000"/>
            </a:avLst>
          </a:prstGeom>
          <a:solidFill>
            <a:schemeClr val="accent5"/>
          </a:solidFill>
          <a:ln/>
        </p:spPr>
        <p:txBody>
          <a:bodyPr/>
          <a:lstStyle/>
          <a:p>
            <a:endParaRPr lang="en-US"/>
          </a:p>
        </p:txBody>
      </p:sp>
      <p:sp>
        <p:nvSpPr>
          <p:cNvPr id="13" name="Text 11"/>
          <p:cNvSpPr txBox="1"/>
          <p:nvPr/>
        </p:nvSpPr>
        <p:spPr>
          <a:xfrm>
            <a:off x="731520" y="5885413"/>
            <a:ext cx="10725912" cy="685800"/>
          </a:xfrm>
          <a:prstGeom prst="rect">
            <a:avLst/>
          </a:prstGeom>
          <a:noFill/>
          <a:ln/>
        </p:spPr>
        <p:txBody>
          <a:bodyPr wrap="square" lIns="0" tIns="0" rIns="0" bIns="0" rtlCol="0" anchor="ctr"/>
          <a:lstStyle/>
          <a:p>
            <a:pPr marL="0" indent="0">
              <a:buNone/>
            </a:pPr>
            <a:r>
              <a:rPr lang="en-US" sz="1400" b="1" dirty="0">
                <a:solidFill>
                  <a:schemeClr val="accent2"/>
                </a:solidFill>
              </a:rPr>
              <a:t>Hint:  </a:t>
            </a:r>
            <a:r>
              <a:rPr lang="en-US" sz="1400" dirty="0">
                <a:solidFill>
                  <a:schemeClr val="tx2"/>
                </a:solidFill>
              </a:rPr>
              <a:t>the inner loop's range depends on i, so the work is different on every pass of the outer loop.</a:t>
            </a:r>
            <a:endParaRPr lang="en-US" sz="1400" dirty="0"/>
          </a:p>
        </p:txBody>
      </p:sp>
      <p:sp>
        <p:nvSpPr>
          <p:cNvPr id="25" name="Slide Number Placeholder 0"/>
          <p:cNvSpPr>
            <a:spLocks noGrp="1"/>
          </p:cNvSpPr>
          <p:nvPr>
            <p:ph type="sldNum" sz="quarter" idx="4294967295"/>
          </p:nvPr>
        </p:nvSpPr>
        <p:spPr>
          <a:xfrm>
            <a:off x="11228832" y="6547104"/>
            <a:ext cx="457200" cy="237744"/>
          </a:xfrm>
          <a:prstGeom prst="rect">
            <a:avLst/>
          </a:prstGeom>
          <a:extLst>
            <a:ext uri="{C572A759-6A51-4108-AA02-DFA0A04FC94B}">
              <ma14:wrappingTextBoxFlag xmlns="" xmlns:ma14="http://schemas.microsoft.com/office/mac/drawingml/2011/main" val="0"/>
            </a:ext>
          </a:extLst>
        </p:spPr>
        <p:txBody>
          <a:bodyPr/>
          <a:lstStyle>
            <a:lvl1pPr>
              <a:defRPr sz="850">
                <a:solidFill>
                  <a:srgbClr val="595959"/>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02920" y="347472"/>
            <a:ext cx="10515600" cy="274320"/>
          </a:xfrm>
          <a:prstGeom prst="rect">
            <a:avLst/>
          </a:prstGeom>
          <a:noFill/>
          <a:ln/>
        </p:spPr>
        <p:txBody>
          <a:bodyPr wrap="square" lIns="0" tIns="0" rIns="0" bIns="0" rtlCol="0"/>
          <a:lstStyle/>
          <a:p>
            <a:pPr marL="0" indent="0">
              <a:buNone/>
            </a:pPr>
            <a:r>
              <a:rPr lang="en-US" sz="1200" b="1" kern="0" spc="100" dirty="0">
                <a:solidFill>
                  <a:schemeClr val="accent2"/>
                </a:solidFill>
              </a:rPr>
              <a:t>PRACTICE PROBLEM 1 · SOLUTION</a:t>
            </a:r>
            <a:endParaRPr lang="en-US" sz="1200" dirty="0"/>
          </a:p>
        </p:txBody>
      </p:sp>
      <p:sp>
        <p:nvSpPr>
          <p:cNvPr id="3" name="Text 1"/>
          <p:cNvSpPr>
            <a:spLocks noGrp="1"/>
          </p:cNvSpPr>
          <p:nvPr>
            <p:ph type="title" idx="102" hasCustomPrompt="1"/>
          </p:nvPr>
        </p:nvSpPr>
        <p:spPr>
          <a:xfrm>
            <a:off x="502920" y="603504"/>
            <a:ext cx="10789920" cy="566928"/>
          </a:xfrm>
          <a:prstGeom prst="rect">
            <a:avLst/>
          </a:prstGeom>
          <a:noFill/>
          <a:ln/>
        </p:spPr>
        <p:txBody>
          <a:bodyPr wrap="square" lIns="0" tIns="0" rIns="0" bIns="0" rtlCol="0" anchor="t"/>
          <a:lstStyle/>
          <a:p>
            <a:pPr marL="0" indent="0" algn="l">
              <a:buNone/>
            </a:pPr>
            <a:r>
              <a:rPr lang="en-US" sz="3000" b="1" dirty="0">
                <a:solidFill>
                  <a:schemeClr val="tx1"/>
                </a:solidFill>
              </a:rPr>
              <a:t>Warm-up: The Count Is an Arithmetic Series</a:t>
            </a:r>
            <a:endParaRPr lang="en-US" sz="3000" dirty="0"/>
          </a:p>
        </p:txBody>
      </p:sp>
      <p:sp>
        <p:nvSpPr>
          <p:cNvPr id="4" name="Text 1"/>
          <p:cNvSpPr>
            <a:spLocks noGrp="1"/>
          </p:cNvSpPr>
          <p:nvPr>
            <p:ph type="body" idx="103" hasCustomPrompt="1"/>
          </p:nvPr>
        </p:nvSpPr>
        <p:spPr>
          <a:xfrm>
            <a:off x="502920" y="1152144"/>
            <a:ext cx="10881360" cy="384048"/>
          </a:xfrm>
          <a:prstGeom prst="rect">
            <a:avLst/>
          </a:prstGeom>
          <a:noFill/>
          <a:ln/>
        </p:spPr>
        <p:txBody>
          <a:bodyPr wrap="square" lIns="0" tIns="0" rIns="0" bIns="0" rtlCol="0" anchor="t"/>
          <a:lstStyle/>
          <a:p>
            <a:pPr marL="0" indent="0">
              <a:buNone/>
            </a:pPr>
            <a:r>
              <a:rPr lang="en-US" sz="1350" dirty="0">
                <a:solidFill>
                  <a:srgbClr val="595959"/>
                </a:solidFill>
              </a:rPr>
              <a:t>The inner loop runs i times, so the total is 0 + 1 + 2 + ⋯ + (n − 1).</a:t>
            </a:r>
            <a:endParaRPr lang="en-US" sz="1350" dirty="0"/>
          </a:p>
        </p:txBody>
      </p:sp>
      <p:sp>
        <p:nvSpPr>
          <p:cNvPr id="5" name="Step 1 badge"/>
          <p:cNvSpPr/>
          <p:nvPr/>
        </p:nvSpPr>
        <p:spPr>
          <a:xfrm>
            <a:off x="502920" y="1874520"/>
            <a:ext cx="384048" cy="384048"/>
          </a:xfrm>
          <a:prstGeom prst="ellipse">
            <a:avLst/>
          </a:prstGeom>
          <a:solidFill>
            <a:schemeClr val="accent1"/>
          </a:solidFill>
          <a:ln/>
        </p:spPr>
        <p:txBody>
          <a:bodyPr/>
          <a:lstStyle/>
          <a:p>
            <a:endParaRPr lang="en-US"/>
          </a:p>
        </p:txBody>
      </p:sp>
      <p:sp>
        <p:nvSpPr>
          <p:cNvPr id="6" name="Text 4"/>
          <p:cNvSpPr txBox="1"/>
          <p:nvPr/>
        </p:nvSpPr>
        <p:spPr>
          <a:xfrm>
            <a:off x="502920" y="187452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7" name="Text 5"/>
          <p:cNvSpPr txBox="1"/>
          <p:nvPr/>
        </p:nvSpPr>
        <p:spPr>
          <a:xfrm>
            <a:off x="1051560" y="1847088"/>
            <a:ext cx="5852160" cy="274320"/>
          </a:xfrm>
          <a:prstGeom prst="rect">
            <a:avLst/>
          </a:prstGeom>
          <a:noFill/>
          <a:ln/>
        </p:spPr>
        <p:txBody>
          <a:bodyPr wrap="square" lIns="0" tIns="0" rIns="0" bIns="0" rtlCol="0" anchor="ctr"/>
          <a:lstStyle/>
          <a:p>
            <a:pPr marL="0" indent="0">
              <a:buNone/>
            </a:pPr>
            <a:r>
              <a:rPr lang="en-US" sz="1400" b="1" dirty="0">
                <a:solidFill>
                  <a:schemeClr val="tx1"/>
                </a:solidFill>
              </a:rPr>
              <a:t>Work per pass of the outer loop</a:t>
            </a:r>
            <a:endParaRPr lang="en-US" sz="1400" dirty="0"/>
          </a:p>
        </p:txBody>
      </p:sp>
      <p:sp>
        <p:nvSpPr>
          <p:cNvPr id="8" name="Text 6"/>
          <p:cNvSpPr txBox="1"/>
          <p:nvPr/>
        </p:nvSpPr>
        <p:spPr>
          <a:xfrm>
            <a:off x="1051560" y="2167128"/>
            <a:ext cx="5943600" cy="530352"/>
          </a:xfrm>
          <a:prstGeom prst="rect">
            <a:avLst/>
          </a:prstGeom>
          <a:noFill/>
          <a:ln/>
        </p:spPr>
        <p:txBody>
          <a:bodyPr wrap="square" lIns="0" tIns="0" rIns="0" bIns="0" rtlCol="0" anchor="t"/>
          <a:lstStyle/>
          <a:p>
            <a:pPr marL="0" indent="0">
              <a:buNone/>
            </a:pPr>
            <a:r>
              <a:rPr lang="en-US" sz="1300" dirty="0">
                <a:solidFill>
                  <a:schemeClr val="tx2"/>
                </a:solidFill>
              </a:rPr>
              <a:t>When the outer variable is i, the inner loop prints exactly i times.</a:t>
            </a:r>
            <a:endParaRPr lang="en-US" sz="1300" dirty="0"/>
          </a:p>
        </p:txBody>
      </p:sp>
      <p:sp>
        <p:nvSpPr>
          <p:cNvPr id="9" name="Step 2 badge"/>
          <p:cNvSpPr/>
          <p:nvPr/>
        </p:nvSpPr>
        <p:spPr>
          <a:xfrm>
            <a:off x="502920" y="2770632"/>
            <a:ext cx="384048" cy="384048"/>
          </a:xfrm>
          <a:prstGeom prst="ellipse">
            <a:avLst/>
          </a:prstGeom>
          <a:solidFill>
            <a:schemeClr val="accent1"/>
          </a:solidFill>
          <a:ln/>
        </p:spPr>
        <p:txBody>
          <a:bodyPr/>
          <a:lstStyle/>
          <a:p>
            <a:endParaRPr lang="en-US"/>
          </a:p>
        </p:txBody>
      </p:sp>
      <p:sp>
        <p:nvSpPr>
          <p:cNvPr id="10" name="Text 8"/>
          <p:cNvSpPr txBox="1"/>
          <p:nvPr/>
        </p:nvSpPr>
        <p:spPr>
          <a:xfrm>
            <a:off x="502920" y="277063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1" name="Text 9"/>
          <p:cNvSpPr txBox="1"/>
          <p:nvPr/>
        </p:nvSpPr>
        <p:spPr>
          <a:xfrm>
            <a:off x="1051560" y="2743200"/>
            <a:ext cx="5852160" cy="274320"/>
          </a:xfrm>
          <a:prstGeom prst="rect">
            <a:avLst/>
          </a:prstGeom>
          <a:noFill/>
          <a:ln/>
        </p:spPr>
        <p:txBody>
          <a:bodyPr wrap="square" lIns="0" tIns="0" rIns="0" bIns="0" rtlCol="0" anchor="ctr"/>
          <a:lstStyle/>
          <a:p>
            <a:pPr marL="0" indent="0">
              <a:buNone/>
            </a:pPr>
            <a:r>
              <a:rPr lang="en-US" sz="1400" b="1" dirty="0">
                <a:solidFill>
                  <a:schemeClr val="tx1"/>
                </a:solidFill>
              </a:rPr>
              <a:t>Add up every pass</a:t>
            </a:r>
            <a:endParaRPr lang="en-US" sz="1400" dirty="0"/>
          </a:p>
        </p:txBody>
      </p:sp>
      <p:sp>
        <p:nvSpPr>
          <p:cNvPr id="12" name="Text 10"/>
          <p:cNvSpPr txBox="1"/>
          <p:nvPr/>
        </p:nvSpPr>
        <p:spPr>
          <a:xfrm>
            <a:off x="1051560" y="3063240"/>
            <a:ext cx="5943600" cy="530352"/>
          </a:xfrm>
          <a:prstGeom prst="rect">
            <a:avLst/>
          </a:prstGeom>
          <a:noFill/>
          <a:ln/>
        </p:spPr>
        <p:txBody>
          <a:bodyPr wrap="square" lIns="0" tIns="0" rIns="0" bIns="0" rtlCol="0" anchor="t"/>
          <a:lstStyle/>
          <a:p>
            <a:pPr marL="0" indent="0">
              <a:buNone/>
            </a:pPr>
            <a:r>
              <a:rPr lang="en-US" sz="1300" dirty="0">
                <a:solidFill>
                  <a:schemeClr val="tx2"/>
                </a:solidFill>
              </a:rPr>
              <a:t>Total = 0 + 1 + 2 + ⋯ + (n − 1)</a:t>
            </a:r>
            <a:endParaRPr lang="en-US" sz="1300" dirty="0"/>
          </a:p>
        </p:txBody>
      </p:sp>
      <p:sp>
        <p:nvSpPr>
          <p:cNvPr id="13" name="Step 3 badge"/>
          <p:cNvSpPr/>
          <p:nvPr/>
        </p:nvSpPr>
        <p:spPr>
          <a:xfrm>
            <a:off x="502920" y="3666744"/>
            <a:ext cx="384048" cy="384048"/>
          </a:xfrm>
          <a:prstGeom prst="ellipse">
            <a:avLst/>
          </a:prstGeom>
          <a:solidFill>
            <a:schemeClr val="accent1"/>
          </a:solidFill>
          <a:ln/>
        </p:spPr>
        <p:txBody>
          <a:bodyPr/>
          <a:lstStyle/>
          <a:p>
            <a:endParaRPr lang="en-US"/>
          </a:p>
        </p:txBody>
      </p:sp>
      <p:sp>
        <p:nvSpPr>
          <p:cNvPr id="14" name="Text 12"/>
          <p:cNvSpPr txBox="1"/>
          <p:nvPr/>
        </p:nvSpPr>
        <p:spPr>
          <a:xfrm>
            <a:off x="502920" y="3666744"/>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15" name="Text 13"/>
          <p:cNvSpPr txBox="1"/>
          <p:nvPr/>
        </p:nvSpPr>
        <p:spPr>
          <a:xfrm>
            <a:off x="1051560" y="3639312"/>
            <a:ext cx="5852160" cy="274320"/>
          </a:xfrm>
          <a:prstGeom prst="rect">
            <a:avLst/>
          </a:prstGeom>
          <a:noFill/>
          <a:ln/>
        </p:spPr>
        <p:txBody>
          <a:bodyPr wrap="square" lIns="0" tIns="0" rIns="0" bIns="0" rtlCol="0" anchor="ctr"/>
          <a:lstStyle/>
          <a:p>
            <a:pPr marL="0" indent="0">
              <a:buNone/>
            </a:pPr>
            <a:r>
              <a:rPr lang="en-US" sz="1400" b="1" dirty="0">
                <a:solidFill>
                  <a:schemeClr val="tx1"/>
                </a:solidFill>
              </a:rPr>
              <a:t>Simplify</a:t>
            </a:r>
            <a:endParaRPr lang="en-US" sz="1400" dirty="0"/>
          </a:p>
        </p:txBody>
      </p:sp>
      <p:sp>
        <p:nvSpPr>
          <p:cNvPr id="16" name="Text 14"/>
          <p:cNvSpPr txBox="1"/>
          <p:nvPr/>
        </p:nvSpPr>
        <p:spPr>
          <a:xfrm>
            <a:off x="1051560" y="3959352"/>
            <a:ext cx="5943600" cy="530352"/>
          </a:xfrm>
          <a:prstGeom prst="rect">
            <a:avLst/>
          </a:prstGeom>
          <a:noFill/>
          <a:ln/>
        </p:spPr>
        <p:txBody>
          <a:bodyPr wrap="square" lIns="0" tIns="0" rIns="0" bIns="0" rtlCol="0" anchor="t"/>
          <a:lstStyle/>
          <a:p>
            <a:pPr marL="0" indent="0">
              <a:buNone/>
            </a:pPr>
            <a:r>
              <a:rPr lang="en-US" sz="1300" dirty="0">
                <a:solidFill>
                  <a:schemeClr val="tx2"/>
                </a:solidFill>
              </a:rPr>
              <a:t>Total = n(n − 1)/2 = n²/2 − n/2, so Θ(n²)</a:t>
            </a:r>
            <a:endParaRPr lang="en-US" sz="1300" dirty="0"/>
          </a:p>
        </p:txBody>
      </p:sp>
      <p:sp>
        <p:nvSpPr>
          <p:cNvPr id="17" name="Staircase panel"/>
          <p:cNvSpPr/>
          <p:nvPr/>
        </p:nvSpPr>
        <p:spPr>
          <a:xfrm>
            <a:off x="7315200" y="1828800"/>
            <a:ext cx="4370832" cy="3017520"/>
          </a:xfrm>
          <a:prstGeom prst="roundRect">
            <a:avLst>
              <a:gd name="adj" fmla="val 1818"/>
            </a:avLst>
          </a:prstGeom>
          <a:solidFill>
            <a:schemeClr val="bg2"/>
          </a:solidFill>
          <a:ln/>
        </p:spPr>
        <p:txBody>
          <a:bodyPr/>
          <a:lstStyle/>
          <a:p>
            <a:endParaRPr lang="en-US"/>
          </a:p>
        </p:txBody>
      </p:sp>
      <p:sp>
        <p:nvSpPr>
          <p:cNvPr id="18" name="Text 16"/>
          <p:cNvSpPr txBox="1"/>
          <p:nvPr/>
        </p:nvSpPr>
        <p:spPr>
          <a:xfrm>
            <a:off x="7543800" y="1938528"/>
            <a:ext cx="3913632" cy="274320"/>
          </a:xfrm>
          <a:prstGeom prst="rect">
            <a:avLst/>
          </a:prstGeom>
          <a:noFill/>
          <a:ln/>
        </p:spPr>
        <p:txBody>
          <a:bodyPr wrap="square" lIns="0" tIns="0" rIns="0" bIns="0" rtlCol="0" anchor="ctr"/>
          <a:lstStyle/>
          <a:p>
            <a:pPr marL="0" indent="0">
              <a:buNone/>
            </a:pPr>
            <a:r>
              <a:rPr lang="en-US" sz="1200" b="1" dirty="0">
                <a:solidFill>
                  <a:schemeClr val="tx1"/>
                </a:solidFill>
              </a:rPr>
              <a:t>Example: n = 6, one square per print</a:t>
            </a:r>
            <a:endParaRPr lang="en-US" sz="1200" dirty="0"/>
          </a:p>
        </p:txBody>
      </p:sp>
      <p:sp>
        <p:nvSpPr>
          <p:cNvPr id="19" name="Text 17"/>
          <p:cNvSpPr txBox="1"/>
          <p:nvPr/>
        </p:nvSpPr>
        <p:spPr>
          <a:xfrm>
            <a:off x="7543800" y="2304288"/>
            <a:ext cx="685800" cy="274320"/>
          </a:xfrm>
          <a:prstGeom prst="rect">
            <a:avLst/>
          </a:prstGeom>
          <a:noFill/>
          <a:ln/>
        </p:spPr>
        <p:txBody>
          <a:bodyPr wrap="square" lIns="0" tIns="0" rIns="0" bIns="0" rtlCol="0" anchor="ctr"/>
          <a:lstStyle/>
          <a:p>
            <a:pPr marL="0" indent="0">
              <a:buNone/>
            </a:pPr>
            <a:r>
              <a:rPr lang="en-US" sz="1100" dirty="0">
                <a:solidFill>
                  <a:schemeClr val="tx2"/>
                </a:solidFill>
              </a:rPr>
              <a:t>i = 0</a:t>
            </a:r>
            <a:endParaRPr lang="en-US" sz="1100" dirty="0"/>
          </a:p>
        </p:txBody>
      </p:sp>
      <p:sp>
        <p:nvSpPr>
          <p:cNvPr id="20" name="Text 18"/>
          <p:cNvSpPr txBox="1"/>
          <p:nvPr/>
        </p:nvSpPr>
        <p:spPr>
          <a:xfrm>
            <a:off x="10927080" y="2304288"/>
            <a:ext cx="457200" cy="274320"/>
          </a:xfrm>
          <a:prstGeom prst="rect">
            <a:avLst/>
          </a:prstGeom>
          <a:noFill/>
          <a:ln/>
        </p:spPr>
        <p:txBody>
          <a:bodyPr wrap="square" lIns="0" tIns="0" rIns="0" bIns="0" rtlCol="0" anchor="ctr"/>
          <a:lstStyle/>
          <a:p>
            <a:pPr marL="0" indent="0" algn="r">
              <a:buNone/>
            </a:pPr>
            <a:r>
              <a:rPr lang="en-US" sz="1200" b="1" dirty="0">
                <a:solidFill>
                  <a:schemeClr val="tx1"/>
                </a:solidFill>
              </a:rPr>
              <a:t>0</a:t>
            </a:r>
            <a:endParaRPr lang="en-US" sz="1200" dirty="0"/>
          </a:p>
        </p:txBody>
      </p:sp>
      <p:sp>
        <p:nvSpPr>
          <p:cNvPr id="21" name="Text 19"/>
          <p:cNvSpPr txBox="1"/>
          <p:nvPr/>
        </p:nvSpPr>
        <p:spPr>
          <a:xfrm>
            <a:off x="7543800" y="2633472"/>
            <a:ext cx="685800" cy="274320"/>
          </a:xfrm>
          <a:prstGeom prst="rect">
            <a:avLst/>
          </a:prstGeom>
          <a:noFill/>
          <a:ln/>
        </p:spPr>
        <p:txBody>
          <a:bodyPr wrap="square" lIns="0" tIns="0" rIns="0" bIns="0" rtlCol="0" anchor="ctr"/>
          <a:lstStyle/>
          <a:p>
            <a:pPr marL="0" indent="0">
              <a:buNone/>
            </a:pPr>
            <a:r>
              <a:rPr lang="en-US" sz="1100" dirty="0">
                <a:solidFill>
                  <a:schemeClr val="tx2"/>
                </a:solidFill>
              </a:rPr>
              <a:t>i = 1</a:t>
            </a:r>
            <a:endParaRPr lang="en-US" sz="1100" dirty="0"/>
          </a:p>
        </p:txBody>
      </p:sp>
      <p:sp>
        <p:nvSpPr>
          <p:cNvPr id="22" name="Square 1-0"/>
          <p:cNvSpPr/>
          <p:nvPr/>
        </p:nvSpPr>
        <p:spPr>
          <a:xfrm>
            <a:off x="8275320" y="2651760"/>
            <a:ext cx="256032" cy="237744"/>
          </a:xfrm>
          <a:prstGeom prst="roundRect">
            <a:avLst>
              <a:gd name="adj" fmla="val 11538"/>
            </a:avLst>
          </a:prstGeom>
          <a:solidFill>
            <a:schemeClr val="accent2"/>
          </a:solidFill>
          <a:ln/>
        </p:spPr>
        <p:txBody>
          <a:bodyPr/>
          <a:lstStyle/>
          <a:p>
            <a:endParaRPr lang="en-US"/>
          </a:p>
        </p:txBody>
      </p:sp>
      <p:sp>
        <p:nvSpPr>
          <p:cNvPr id="23" name="Text 21"/>
          <p:cNvSpPr txBox="1"/>
          <p:nvPr/>
        </p:nvSpPr>
        <p:spPr>
          <a:xfrm>
            <a:off x="10927080" y="2633472"/>
            <a:ext cx="457200" cy="274320"/>
          </a:xfrm>
          <a:prstGeom prst="rect">
            <a:avLst/>
          </a:prstGeom>
          <a:noFill/>
          <a:ln/>
        </p:spPr>
        <p:txBody>
          <a:bodyPr wrap="square" lIns="0" tIns="0" rIns="0" bIns="0" rtlCol="0" anchor="ctr"/>
          <a:lstStyle/>
          <a:p>
            <a:pPr marL="0" indent="0" algn="r">
              <a:buNone/>
            </a:pPr>
            <a:r>
              <a:rPr lang="en-US" sz="1200" b="1" dirty="0">
                <a:solidFill>
                  <a:schemeClr val="tx1"/>
                </a:solidFill>
              </a:rPr>
              <a:t>1</a:t>
            </a:r>
            <a:endParaRPr lang="en-US" sz="1200" dirty="0"/>
          </a:p>
        </p:txBody>
      </p:sp>
      <p:sp>
        <p:nvSpPr>
          <p:cNvPr id="24" name="Text 22"/>
          <p:cNvSpPr txBox="1"/>
          <p:nvPr/>
        </p:nvSpPr>
        <p:spPr>
          <a:xfrm>
            <a:off x="7543800" y="2962656"/>
            <a:ext cx="685800" cy="274320"/>
          </a:xfrm>
          <a:prstGeom prst="rect">
            <a:avLst/>
          </a:prstGeom>
          <a:noFill/>
          <a:ln/>
        </p:spPr>
        <p:txBody>
          <a:bodyPr wrap="square" lIns="0" tIns="0" rIns="0" bIns="0" rtlCol="0" anchor="ctr"/>
          <a:lstStyle/>
          <a:p>
            <a:pPr marL="0" indent="0">
              <a:buNone/>
            </a:pPr>
            <a:r>
              <a:rPr lang="en-US" sz="1100" dirty="0">
                <a:solidFill>
                  <a:schemeClr val="tx2"/>
                </a:solidFill>
              </a:rPr>
              <a:t>i = 2</a:t>
            </a:r>
            <a:endParaRPr lang="en-US" sz="1100" dirty="0"/>
          </a:p>
        </p:txBody>
      </p:sp>
      <p:sp>
        <p:nvSpPr>
          <p:cNvPr id="25" name="Square 2-0"/>
          <p:cNvSpPr/>
          <p:nvPr/>
        </p:nvSpPr>
        <p:spPr>
          <a:xfrm>
            <a:off x="8275320" y="2980944"/>
            <a:ext cx="256032" cy="237744"/>
          </a:xfrm>
          <a:prstGeom prst="roundRect">
            <a:avLst>
              <a:gd name="adj" fmla="val 11538"/>
            </a:avLst>
          </a:prstGeom>
          <a:solidFill>
            <a:schemeClr val="accent1"/>
          </a:solidFill>
          <a:ln/>
        </p:spPr>
        <p:txBody>
          <a:bodyPr/>
          <a:lstStyle/>
          <a:p>
            <a:endParaRPr lang="en-US"/>
          </a:p>
        </p:txBody>
      </p:sp>
      <p:sp>
        <p:nvSpPr>
          <p:cNvPr id="26" name="Square 2-1"/>
          <p:cNvSpPr/>
          <p:nvPr/>
        </p:nvSpPr>
        <p:spPr>
          <a:xfrm>
            <a:off x="8604504" y="2980944"/>
            <a:ext cx="256032" cy="237744"/>
          </a:xfrm>
          <a:prstGeom prst="roundRect">
            <a:avLst>
              <a:gd name="adj" fmla="val 11538"/>
            </a:avLst>
          </a:prstGeom>
          <a:solidFill>
            <a:schemeClr val="accent2"/>
          </a:solidFill>
          <a:ln/>
        </p:spPr>
        <p:txBody>
          <a:bodyPr/>
          <a:lstStyle/>
          <a:p>
            <a:endParaRPr lang="en-US"/>
          </a:p>
        </p:txBody>
      </p:sp>
      <p:sp>
        <p:nvSpPr>
          <p:cNvPr id="27" name="Text 25"/>
          <p:cNvSpPr txBox="1"/>
          <p:nvPr/>
        </p:nvSpPr>
        <p:spPr>
          <a:xfrm>
            <a:off x="10927080" y="2962656"/>
            <a:ext cx="457200" cy="274320"/>
          </a:xfrm>
          <a:prstGeom prst="rect">
            <a:avLst/>
          </a:prstGeom>
          <a:noFill/>
          <a:ln/>
        </p:spPr>
        <p:txBody>
          <a:bodyPr wrap="square" lIns="0" tIns="0" rIns="0" bIns="0" rtlCol="0" anchor="ctr"/>
          <a:lstStyle/>
          <a:p>
            <a:pPr marL="0" indent="0" algn="r">
              <a:buNone/>
            </a:pPr>
            <a:r>
              <a:rPr lang="en-US" sz="1200" b="1" dirty="0">
                <a:solidFill>
                  <a:schemeClr val="tx1"/>
                </a:solidFill>
              </a:rPr>
              <a:t>2</a:t>
            </a:r>
            <a:endParaRPr lang="en-US" sz="1200" dirty="0"/>
          </a:p>
        </p:txBody>
      </p:sp>
      <p:sp>
        <p:nvSpPr>
          <p:cNvPr id="28" name="Text 26"/>
          <p:cNvSpPr txBox="1"/>
          <p:nvPr/>
        </p:nvSpPr>
        <p:spPr>
          <a:xfrm>
            <a:off x="7543800" y="3291840"/>
            <a:ext cx="685800" cy="274320"/>
          </a:xfrm>
          <a:prstGeom prst="rect">
            <a:avLst/>
          </a:prstGeom>
          <a:noFill/>
          <a:ln/>
        </p:spPr>
        <p:txBody>
          <a:bodyPr wrap="square" lIns="0" tIns="0" rIns="0" bIns="0" rtlCol="0" anchor="ctr"/>
          <a:lstStyle/>
          <a:p>
            <a:pPr marL="0" indent="0">
              <a:buNone/>
            </a:pPr>
            <a:r>
              <a:rPr lang="en-US" sz="1100" dirty="0">
                <a:solidFill>
                  <a:schemeClr val="tx2"/>
                </a:solidFill>
              </a:rPr>
              <a:t>i = 3</a:t>
            </a:r>
            <a:endParaRPr lang="en-US" sz="1100" dirty="0"/>
          </a:p>
        </p:txBody>
      </p:sp>
      <p:sp>
        <p:nvSpPr>
          <p:cNvPr id="29" name="Square 3-0"/>
          <p:cNvSpPr/>
          <p:nvPr/>
        </p:nvSpPr>
        <p:spPr>
          <a:xfrm>
            <a:off x="8275320" y="3310128"/>
            <a:ext cx="256032" cy="237744"/>
          </a:xfrm>
          <a:prstGeom prst="roundRect">
            <a:avLst>
              <a:gd name="adj" fmla="val 11538"/>
            </a:avLst>
          </a:prstGeom>
          <a:solidFill>
            <a:schemeClr val="accent1"/>
          </a:solidFill>
          <a:ln/>
        </p:spPr>
        <p:txBody>
          <a:bodyPr/>
          <a:lstStyle/>
          <a:p>
            <a:endParaRPr lang="en-US"/>
          </a:p>
        </p:txBody>
      </p:sp>
      <p:sp>
        <p:nvSpPr>
          <p:cNvPr id="30" name="Square 3-1"/>
          <p:cNvSpPr/>
          <p:nvPr/>
        </p:nvSpPr>
        <p:spPr>
          <a:xfrm>
            <a:off x="8604504" y="3310128"/>
            <a:ext cx="256032" cy="237744"/>
          </a:xfrm>
          <a:prstGeom prst="roundRect">
            <a:avLst>
              <a:gd name="adj" fmla="val 11538"/>
            </a:avLst>
          </a:prstGeom>
          <a:solidFill>
            <a:schemeClr val="accent1"/>
          </a:solidFill>
          <a:ln/>
        </p:spPr>
        <p:txBody>
          <a:bodyPr/>
          <a:lstStyle/>
          <a:p>
            <a:endParaRPr lang="en-US"/>
          </a:p>
        </p:txBody>
      </p:sp>
      <p:sp>
        <p:nvSpPr>
          <p:cNvPr id="31" name="Square 3-2"/>
          <p:cNvSpPr/>
          <p:nvPr/>
        </p:nvSpPr>
        <p:spPr>
          <a:xfrm>
            <a:off x="8933688" y="3310128"/>
            <a:ext cx="256032" cy="237744"/>
          </a:xfrm>
          <a:prstGeom prst="roundRect">
            <a:avLst>
              <a:gd name="adj" fmla="val 11538"/>
            </a:avLst>
          </a:prstGeom>
          <a:solidFill>
            <a:schemeClr val="accent2"/>
          </a:solidFill>
          <a:ln/>
        </p:spPr>
        <p:txBody>
          <a:bodyPr/>
          <a:lstStyle/>
          <a:p>
            <a:endParaRPr lang="en-US"/>
          </a:p>
        </p:txBody>
      </p:sp>
      <p:sp>
        <p:nvSpPr>
          <p:cNvPr id="32" name="Text 30"/>
          <p:cNvSpPr txBox="1"/>
          <p:nvPr/>
        </p:nvSpPr>
        <p:spPr>
          <a:xfrm>
            <a:off x="10927080" y="3291840"/>
            <a:ext cx="457200" cy="274320"/>
          </a:xfrm>
          <a:prstGeom prst="rect">
            <a:avLst/>
          </a:prstGeom>
          <a:noFill/>
          <a:ln/>
        </p:spPr>
        <p:txBody>
          <a:bodyPr wrap="square" lIns="0" tIns="0" rIns="0" bIns="0" rtlCol="0" anchor="ctr"/>
          <a:lstStyle/>
          <a:p>
            <a:pPr marL="0" indent="0" algn="r">
              <a:buNone/>
            </a:pPr>
            <a:r>
              <a:rPr lang="en-US" sz="1200" b="1" dirty="0">
                <a:solidFill>
                  <a:schemeClr val="tx1"/>
                </a:solidFill>
              </a:rPr>
              <a:t>3</a:t>
            </a:r>
            <a:endParaRPr lang="en-US" sz="1200" dirty="0"/>
          </a:p>
        </p:txBody>
      </p:sp>
      <p:sp>
        <p:nvSpPr>
          <p:cNvPr id="33" name="Text 31"/>
          <p:cNvSpPr txBox="1"/>
          <p:nvPr/>
        </p:nvSpPr>
        <p:spPr>
          <a:xfrm>
            <a:off x="7543800" y="3621024"/>
            <a:ext cx="685800" cy="274320"/>
          </a:xfrm>
          <a:prstGeom prst="rect">
            <a:avLst/>
          </a:prstGeom>
          <a:noFill/>
          <a:ln/>
        </p:spPr>
        <p:txBody>
          <a:bodyPr wrap="square" lIns="0" tIns="0" rIns="0" bIns="0" rtlCol="0" anchor="ctr"/>
          <a:lstStyle/>
          <a:p>
            <a:pPr marL="0" indent="0">
              <a:buNone/>
            </a:pPr>
            <a:r>
              <a:rPr lang="en-US" sz="1100" dirty="0">
                <a:solidFill>
                  <a:schemeClr val="tx2"/>
                </a:solidFill>
              </a:rPr>
              <a:t>i = 4</a:t>
            </a:r>
            <a:endParaRPr lang="en-US" sz="1100" dirty="0"/>
          </a:p>
        </p:txBody>
      </p:sp>
      <p:sp>
        <p:nvSpPr>
          <p:cNvPr id="34" name="Square 4-0"/>
          <p:cNvSpPr/>
          <p:nvPr/>
        </p:nvSpPr>
        <p:spPr>
          <a:xfrm>
            <a:off x="8275320" y="3639312"/>
            <a:ext cx="256032" cy="237744"/>
          </a:xfrm>
          <a:prstGeom prst="roundRect">
            <a:avLst>
              <a:gd name="adj" fmla="val 11538"/>
            </a:avLst>
          </a:prstGeom>
          <a:solidFill>
            <a:schemeClr val="accent1"/>
          </a:solidFill>
          <a:ln/>
        </p:spPr>
        <p:txBody>
          <a:bodyPr/>
          <a:lstStyle/>
          <a:p>
            <a:endParaRPr lang="en-US"/>
          </a:p>
        </p:txBody>
      </p:sp>
      <p:sp>
        <p:nvSpPr>
          <p:cNvPr id="35" name="Square 4-1"/>
          <p:cNvSpPr/>
          <p:nvPr/>
        </p:nvSpPr>
        <p:spPr>
          <a:xfrm>
            <a:off x="8604504" y="3639312"/>
            <a:ext cx="256032" cy="237744"/>
          </a:xfrm>
          <a:prstGeom prst="roundRect">
            <a:avLst>
              <a:gd name="adj" fmla="val 11538"/>
            </a:avLst>
          </a:prstGeom>
          <a:solidFill>
            <a:schemeClr val="accent1"/>
          </a:solidFill>
          <a:ln/>
        </p:spPr>
        <p:txBody>
          <a:bodyPr/>
          <a:lstStyle/>
          <a:p>
            <a:endParaRPr lang="en-US"/>
          </a:p>
        </p:txBody>
      </p:sp>
      <p:sp>
        <p:nvSpPr>
          <p:cNvPr id="36" name="Square 4-2"/>
          <p:cNvSpPr/>
          <p:nvPr/>
        </p:nvSpPr>
        <p:spPr>
          <a:xfrm>
            <a:off x="8933688" y="3639312"/>
            <a:ext cx="256032" cy="237744"/>
          </a:xfrm>
          <a:prstGeom prst="roundRect">
            <a:avLst>
              <a:gd name="adj" fmla="val 11538"/>
            </a:avLst>
          </a:prstGeom>
          <a:solidFill>
            <a:schemeClr val="accent1"/>
          </a:solidFill>
          <a:ln/>
        </p:spPr>
        <p:txBody>
          <a:bodyPr/>
          <a:lstStyle/>
          <a:p>
            <a:endParaRPr lang="en-US"/>
          </a:p>
        </p:txBody>
      </p:sp>
      <p:sp>
        <p:nvSpPr>
          <p:cNvPr id="37" name="Square 4-3"/>
          <p:cNvSpPr/>
          <p:nvPr/>
        </p:nvSpPr>
        <p:spPr>
          <a:xfrm>
            <a:off x="9262872" y="3639312"/>
            <a:ext cx="256032" cy="237744"/>
          </a:xfrm>
          <a:prstGeom prst="roundRect">
            <a:avLst>
              <a:gd name="adj" fmla="val 11538"/>
            </a:avLst>
          </a:prstGeom>
          <a:solidFill>
            <a:schemeClr val="accent2"/>
          </a:solidFill>
          <a:ln/>
        </p:spPr>
        <p:txBody>
          <a:bodyPr/>
          <a:lstStyle/>
          <a:p>
            <a:endParaRPr lang="en-US"/>
          </a:p>
        </p:txBody>
      </p:sp>
      <p:sp>
        <p:nvSpPr>
          <p:cNvPr id="38" name="Text 36"/>
          <p:cNvSpPr txBox="1"/>
          <p:nvPr/>
        </p:nvSpPr>
        <p:spPr>
          <a:xfrm>
            <a:off x="10927080" y="3621024"/>
            <a:ext cx="457200" cy="274320"/>
          </a:xfrm>
          <a:prstGeom prst="rect">
            <a:avLst/>
          </a:prstGeom>
          <a:noFill/>
          <a:ln/>
        </p:spPr>
        <p:txBody>
          <a:bodyPr wrap="square" lIns="0" tIns="0" rIns="0" bIns="0" rtlCol="0" anchor="ctr"/>
          <a:lstStyle/>
          <a:p>
            <a:pPr marL="0" indent="0" algn="r">
              <a:buNone/>
            </a:pPr>
            <a:r>
              <a:rPr lang="en-US" sz="1200" b="1" dirty="0">
                <a:solidFill>
                  <a:schemeClr val="tx1"/>
                </a:solidFill>
              </a:rPr>
              <a:t>4</a:t>
            </a:r>
            <a:endParaRPr lang="en-US" sz="1200" dirty="0"/>
          </a:p>
        </p:txBody>
      </p:sp>
      <p:sp>
        <p:nvSpPr>
          <p:cNvPr id="39" name="Text 37"/>
          <p:cNvSpPr txBox="1"/>
          <p:nvPr/>
        </p:nvSpPr>
        <p:spPr>
          <a:xfrm>
            <a:off x="7543800" y="3950208"/>
            <a:ext cx="685800" cy="274320"/>
          </a:xfrm>
          <a:prstGeom prst="rect">
            <a:avLst/>
          </a:prstGeom>
          <a:noFill/>
          <a:ln/>
        </p:spPr>
        <p:txBody>
          <a:bodyPr wrap="square" lIns="0" tIns="0" rIns="0" bIns="0" rtlCol="0" anchor="ctr"/>
          <a:lstStyle/>
          <a:p>
            <a:pPr marL="0" indent="0">
              <a:buNone/>
            </a:pPr>
            <a:r>
              <a:rPr lang="en-US" sz="1100" dirty="0">
                <a:solidFill>
                  <a:schemeClr val="tx2"/>
                </a:solidFill>
              </a:rPr>
              <a:t>i = 5</a:t>
            </a:r>
            <a:endParaRPr lang="en-US" sz="1100" dirty="0"/>
          </a:p>
        </p:txBody>
      </p:sp>
      <p:sp>
        <p:nvSpPr>
          <p:cNvPr id="40" name="Square 5-0"/>
          <p:cNvSpPr/>
          <p:nvPr/>
        </p:nvSpPr>
        <p:spPr>
          <a:xfrm>
            <a:off x="8275320" y="3968496"/>
            <a:ext cx="256032" cy="237744"/>
          </a:xfrm>
          <a:prstGeom prst="roundRect">
            <a:avLst>
              <a:gd name="adj" fmla="val 11538"/>
            </a:avLst>
          </a:prstGeom>
          <a:solidFill>
            <a:schemeClr val="accent1"/>
          </a:solidFill>
          <a:ln/>
        </p:spPr>
        <p:txBody>
          <a:bodyPr/>
          <a:lstStyle/>
          <a:p>
            <a:endParaRPr lang="en-US"/>
          </a:p>
        </p:txBody>
      </p:sp>
      <p:sp>
        <p:nvSpPr>
          <p:cNvPr id="41" name="Square 5-1"/>
          <p:cNvSpPr/>
          <p:nvPr/>
        </p:nvSpPr>
        <p:spPr>
          <a:xfrm>
            <a:off x="8604504" y="3968496"/>
            <a:ext cx="256032" cy="237744"/>
          </a:xfrm>
          <a:prstGeom prst="roundRect">
            <a:avLst>
              <a:gd name="adj" fmla="val 11538"/>
            </a:avLst>
          </a:prstGeom>
          <a:solidFill>
            <a:schemeClr val="accent1"/>
          </a:solidFill>
          <a:ln/>
        </p:spPr>
        <p:txBody>
          <a:bodyPr/>
          <a:lstStyle/>
          <a:p>
            <a:endParaRPr lang="en-US"/>
          </a:p>
        </p:txBody>
      </p:sp>
      <p:sp>
        <p:nvSpPr>
          <p:cNvPr id="42" name="Square 5-2"/>
          <p:cNvSpPr/>
          <p:nvPr/>
        </p:nvSpPr>
        <p:spPr>
          <a:xfrm>
            <a:off x="8933688" y="3968496"/>
            <a:ext cx="256032" cy="237744"/>
          </a:xfrm>
          <a:prstGeom prst="roundRect">
            <a:avLst>
              <a:gd name="adj" fmla="val 11538"/>
            </a:avLst>
          </a:prstGeom>
          <a:solidFill>
            <a:schemeClr val="accent1"/>
          </a:solidFill>
          <a:ln/>
        </p:spPr>
        <p:txBody>
          <a:bodyPr/>
          <a:lstStyle/>
          <a:p>
            <a:endParaRPr lang="en-US"/>
          </a:p>
        </p:txBody>
      </p:sp>
      <p:sp>
        <p:nvSpPr>
          <p:cNvPr id="43" name="Square 5-3"/>
          <p:cNvSpPr/>
          <p:nvPr/>
        </p:nvSpPr>
        <p:spPr>
          <a:xfrm>
            <a:off x="9262872" y="3968496"/>
            <a:ext cx="256032" cy="237744"/>
          </a:xfrm>
          <a:prstGeom prst="roundRect">
            <a:avLst>
              <a:gd name="adj" fmla="val 11538"/>
            </a:avLst>
          </a:prstGeom>
          <a:solidFill>
            <a:schemeClr val="accent1"/>
          </a:solidFill>
          <a:ln/>
        </p:spPr>
        <p:txBody>
          <a:bodyPr/>
          <a:lstStyle/>
          <a:p>
            <a:endParaRPr lang="en-US"/>
          </a:p>
        </p:txBody>
      </p:sp>
      <p:sp>
        <p:nvSpPr>
          <p:cNvPr id="44" name="Square 5-4"/>
          <p:cNvSpPr/>
          <p:nvPr/>
        </p:nvSpPr>
        <p:spPr>
          <a:xfrm>
            <a:off x="9592056" y="3968496"/>
            <a:ext cx="256032" cy="237744"/>
          </a:xfrm>
          <a:prstGeom prst="roundRect">
            <a:avLst>
              <a:gd name="adj" fmla="val 11538"/>
            </a:avLst>
          </a:prstGeom>
          <a:solidFill>
            <a:schemeClr val="accent2"/>
          </a:solidFill>
          <a:ln/>
        </p:spPr>
        <p:txBody>
          <a:bodyPr/>
          <a:lstStyle/>
          <a:p>
            <a:endParaRPr lang="en-US"/>
          </a:p>
        </p:txBody>
      </p:sp>
      <p:sp>
        <p:nvSpPr>
          <p:cNvPr id="45" name="Text 43"/>
          <p:cNvSpPr txBox="1"/>
          <p:nvPr/>
        </p:nvSpPr>
        <p:spPr>
          <a:xfrm>
            <a:off x="10927080" y="3950208"/>
            <a:ext cx="457200" cy="274320"/>
          </a:xfrm>
          <a:prstGeom prst="rect">
            <a:avLst/>
          </a:prstGeom>
          <a:noFill/>
          <a:ln/>
        </p:spPr>
        <p:txBody>
          <a:bodyPr wrap="square" lIns="0" tIns="0" rIns="0" bIns="0" rtlCol="0" anchor="ctr"/>
          <a:lstStyle/>
          <a:p>
            <a:pPr marL="0" indent="0" algn="r">
              <a:buNone/>
            </a:pPr>
            <a:r>
              <a:rPr lang="en-US" sz="1200" b="1" dirty="0">
                <a:solidFill>
                  <a:schemeClr val="tx1"/>
                </a:solidFill>
              </a:rPr>
              <a:t>5</a:t>
            </a:r>
            <a:endParaRPr lang="en-US" sz="1200" dirty="0"/>
          </a:p>
        </p:txBody>
      </p:sp>
      <p:sp>
        <p:nvSpPr>
          <p:cNvPr id="46" name="Text 44"/>
          <p:cNvSpPr txBox="1"/>
          <p:nvPr/>
        </p:nvSpPr>
        <p:spPr>
          <a:xfrm>
            <a:off x="7543800" y="4343400"/>
            <a:ext cx="3913632" cy="320040"/>
          </a:xfrm>
          <a:prstGeom prst="rect">
            <a:avLst/>
          </a:prstGeom>
          <a:noFill/>
          <a:ln/>
        </p:spPr>
        <p:txBody>
          <a:bodyPr wrap="square" lIns="0" tIns="0" rIns="0" bIns="0" rtlCol="0" anchor="ctr"/>
          <a:lstStyle/>
          <a:p>
            <a:pPr marL="0" indent="0">
              <a:buNone/>
            </a:pPr>
            <a:r>
              <a:rPr lang="en-US" sz="1300" b="1" dirty="0">
                <a:solidFill>
                  <a:schemeClr val="accent2"/>
                </a:solidFill>
              </a:rPr>
              <a:t>0 + 1 + 2 + 3 + 4 + 5 = 15 = 6·5/2</a:t>
            </a:r>
            <a:endParaRPr lang="en-US" sz="1300" dirty="0"/>
          </a:p>
        </p:txBody>
      </p:sp>
      <p:sp>
        <p:nvSpPr>
          <p:cNvPr id="47" name="Takeaway"/>
          <p:cNvSpPr/>
          <p:nvPr/>
        </p:nvSpPr>
        <p:spPr>
          <a:xfrm>
            <a:off x="502920" y="5074920"/>
            <a:ext cx="11183112" cy="685800"/>
          </a:xfrm>
          <a:prstGeom prst="roundRect">
            <a:avLst>
              <a:gd name="adj" fmla="val 8000"/>
            </a:avLst>
          </a:prstGeom>
          <a:solidFill>
            <a:schemeClr val="accent5"/>
          </a:solidFill>
          <a:ln/>
        </p:spPr>
        <p:txBody>
          <a:bodyPr/>
          <a:lstStyle/>
          <a:p>
            <a:endParaRPr lang="en-US"/>
          </a:p>
        </p:txBody>
      </p:sp>
      <p:sp>
        <p:nvSpPr>
          <p:cNvPr id="48" name="Text 46"/>
          <p:cNvSpPr txBox="1"/>
          <p:nvPr/>
        </p:nvSpPr>
        <p:spPr>
          <a:xfrm>
            <a:off x="731520" y="5074920"/>
            <a:ext cx="10725912" cy="685800"/>
          </a:xfrm>
          <a:prstGeom prst="rect">
            <a:avLst/>
          </a:prstGeom>
          <a:noFill/>
          <a:ln/>
        </p:spPr>
        <p:txBody>
          <a:bodyPr wrap="square" lIns="0" tIns="0" rIns="0" bIns="0" rtlCol="0" anchor="ctr"/>
          <a:lstStyle/>
          <a:p>
            <a:pPr marL="0" indent="0">
              <a:buNone/>
            </a:pPr>
            <a:r>
              <a:rPr lang="en-US" sz="1400" b="1" dirty="0">
                <a:solidFill>
                  <a:schemeClr val="accent2"/>
                </a:solidFill>
              </a:rPr>
              <a:t>Answer: Θ(n²).  </a:t>
            </a:r>
            <a:r>
              <a:rPr lang="en-US" sz="1400" dirty="0">
                <a:solidFill>
                  <a:schemeClr val="tx2"/>
                </a:solidFill>
              </a:rPr>
              <a:t>The squares fill about half of an n × n grid. When the inner loop depends on i, write the sum; don't just multiply.</a:t>
            </a:r>
            <a:endParaRPr lang="en-US" sz="1400" dirty="0"/>
          </a:p>
        </p:txBody>
      </p:sp>
      <p:sp>
        <p:nvSpPr>
          <p:cNvPr id="49" name="Slide Number Placeholder 0"/>
          <p:cNvSpPr>
            <a:spLocks noGrp="1"/>
          </p:cNvSpPr>
          <p:nvPr>
            <p:ph type="sldNum" sz="quarter" idx="4294967295"/>
          </p:nvPr>
        </p:nvSpPr>
        <p:spPr>
          <a:xfrm>
            <a:off x="11228832" y="6547104"/>
            <a:ext cx="457200" cy="237744"/>
          </a:xfrm>
          <a:prstGeom prst="rect">
            <a:avLst/>
          </a:prstGeom>
          <a:extLst>
            <a:ext uri="{C572A759-6A51-4108-AA02-DFA0A04FC94B}">
              <ma14:wrappingTextBoxFlag xmlns="" xmlns:ma14="http://schemas.microsoft.com/office/mac/drawingml/2011/main" val="0"/>
            </a:ext>
          </a:extLst>
        </p:spPr>
        <p:txBody>
          <a:bodyPr/>
          <a:lstStyle>
            <a:lvl1pPr>
              <a:defRPr sz="850">
                <a:solidFill>
                  <a:srgbClr val="595959"/>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02920" y="347472"/>
            <a:ext cx="10515600" cy="274320"/>
          </a:xfrm>
          <a:prstGeom prst="rect">
            <a:avLst/>
          </a:prstGeom>
          <a:noFill/>
          <a:ln/>
        </p:spPr>
        <p:txBody>
          <a:bodyPr wrap="square" lIns="0" tIns="0" rIns="0" bIns="0" rtlCol="0"/>
          <a:lstStyle/>
          <a:p>
            <a:pPr marL="0" indent="0">
              <a:buNone/>
            </a:pPr>
            <a:r>
              <a:rPr lang="en-US" sz="1200" b="1" kern="0" spc="100" dirty="0">
                <a:solidFill>
                  <a:schemeClr val="accent2"/>
                </a:solidFill>
              </a:rPr>
              <a:t>PRACTICE PROBLEM 2 · LOOP ANALYSIS</a:t>
            </a:r>
            <a:endParaRPr lang="en-US" sz="1200" dirty="0"/>
          </a:p>
        </p:txBody>
      </p:sp>
      <p:sp>
        <p:nvSpPr>
          <p:cNvPr id="3" name="Text 1"/>
          <p:cNvSpPr>
            <a:spLocks noGrp="1"/>
          </p:cNvSpPr>
          <p:nvPr>
            <p:ph type="title" idx="102" hasCustomPrompt="1"/>
          </p:nvPr>
        </p:nvSpPr>
        <p:spPr>
          <a:xfrm>
            <a:off x="502920" y="603504"/>
            <a:ext cx="10789920" cy="566928"/>
          </a:xfrm>
          <a:prstGeom prst="rect">
            <a:avLst/>
          </a:prstGeom>
          <a:noFill/>
          <a:ln/>
        </p:spPr>
        <p:txBody>
          <a:bodyPr wrap="square" lIns="0" tIns="0" rIns="0" bIns="0" rtlCol="0" anchor="t"/>
          <a:lstStyle/>
          <a:p>
            <a:pPr marL="0" indent="0" algn="l">
              <a:buNone/>
            </a:pPr>
            <a:r>
              <a:rPr lang="en-US" sz="3000" b="1" dirty="0">
                <a:solidFill>
                  <a:schemeClr val="tx1"/>
                </a:solidFill>
              </a:rPr>
              <a:t>A Loop That Stops Early</a:t>
            </a:r>
            <a:endParaRPr lang="en-US" sz="3000" dirty="0"/>
          </a:p>
        </p:txBody>
      </p:sp>
      <p:sp>
        <p:nvSpPr>
          <p:cNvPr id="4" name="Text 1"/>
          <p:cNvSpPr>
            <a:spLocks noGrp="1"/>
          </p:cNvSpPr>
          <p:nvPr>
            <p:ph type="body" idx="103" hasCustomPrompt="1"/>
          </p:nvPr>
        </p:nvSpPr>
        <p:spPr>
          <a:xfrm>
            <a:off x="502920" y="1152144"/>
            <a:ext cx="10881360" cy="384048"/>
          </a:xfrm>
          <a:prstGeom prst="rect">
            <a:avLst/>
          </a:prstGeom>
          <a:noFill/>
          <a:ln/>
        </p:spPr>
        <p:txBody>
          <a:bodyPr wrap="square" lIns="0" tIns="0" rIns="0" bIns="0" rtlCol="0" anchor="t"/>
          <a:lstStyle/>
          <a:p>
            <a:pPr marL="0" indent="0">
              <a:buNone/>
            </a:pPr>
            <a:r>
              <a:rPr lang="en-US" sz="1350" dirty="0">
                <a:solidFill>
                  <a:srgbClr val="595959"/>
                </a:solidFill>
              </a:rPr>
              <a:t>How many times is "hi" printed, as a function of n? Give a Θ bound.</a:t>
            </a:r>
            <a:endParaRPr lang="en-US" sz="1350" dirty="0"/>
          </a:p>
        </p:txBody>
      </p:sp>
      <p:sp>
        <p:nvSpPr>
          <p:cNvPr id="5" name="Label Code"/>
          <p:cNvSpPr txBox="1"/>
          <p:nvPr/>
        </p:nvSpPr>
        <p:spPr>
          <a:xfrm>
            <a:off x="502920" y="1828800"/>
            <a:ext cx="5669280" cy="274320"/>
          </a:xfrm>
          <a:prstGeom prst="rect">
            <a:avLst/>
          </a:prstGeom>
          <a:noFill/>
          <a:ln/>
        </p:spPr>
        <p:txBody>
          <a:bodyPr wrap="square" lIns="0" tIns="0" rIns="0" bIns="0" rtlCol="0" anchor="ctr"/>
          <a:lstStyle/>
          <a:p>
            <a:pPr marL="0" indent="0">
              <a:buNone/>
            </a:pPr>
            <a:r>
              <a:rPr lang="en-US" sz="1300" b="1" dirty="0">
                <a:solidFill>
                  <a:schemeClr val="tx1"/>
                </a:solidFill>
              </a:rPr>
              <a:t>Code</a:t>
            </a:r>
            <a:endParaRPr lang="en-US" sz="1300" dirty="0"/>
          </a:p>
        </p:txBody>
      </p:sp>
      <p:sp>
        <p:nvSpPr>
          <p:cNvPr id="6" name="Code panel"/>
          <p:cNvSpPr/>
          <p:nvPr/>
        </p:nvSpPr>
        <p:spPr>
          <a:xfrm>
            <a:off x="502920" y="2121408"/>
            <a:ext cx="5669280" cy="2103120"/>
          </a:xfrm>
          <a:prstGeom prst="roundRect">
            <a:avLst>
              <a:gd name="adj" fmla="val 2609"/>
            </a:avLst>
          </a:prstGeom>
          <a:solidFill>
            <a:schemeClr val="accent3"/>
          </a:solidFill>
          <a:ln/>
        </p:spPr>
        <p:txBody>
          <a:bodyPr/>
          <a:lstStyle/>
          <a:p>
            <a:endParaRPr lang="en-US"/>
          </a:p>
        </p:txBody>
      </p:sp>
      <p:sp>
        <p:nvSpPr>
          <p:cNvPr id="7" name="Code text"/>
          <p:cNvSpPr txBox="1"/>
          <p:nvPr/>
        </p:nvSpPr>
        <p:spPr>
          <a:xfrm>
            <a:off x="731520" y="2304288"/>
            <a:ext cx="5212080" cy="1737360"/>
          </a:xfrm>
          <a:prstGeom prst="rect">
            <a:avLst/>
          </a:prstGeom>
          <a:noFill/>
          <a:ln/>
        </p:spPr>
        <p:txBody>
          <a:bodyPr wrap="square" lIns="0" tIns="0" rIns="0" bIns="0" rtlCol="0" anchor="t"/>
          <a:lstStyle/>
          <a:p>
            <a:pPr marL="0" indent="0">
              <a:lnSpc>
                <a:spcPct val="120000"/>
              </a:lnSpc>
              <a:buNone/>
            </a:pPr>
            <a:r>
              <a:rPr lang="en-US" sz="1600" b="1" dirty="0">
                <a:solidFill>
                  <a:srgbClr val="FFFFFF"/>
                </a:solidFill>
                <a:latin typeface="Courier New" pitchFamily="34" charset="0"/>
                <a:ea typeface="Courier New" pitchFamily="34" charset="-122"/>
                <a:cs typeface="Courier New" pitchFamily="34" charset="-120"/>
              </a:rPr>
              <a:t>def f2(n):</a:t>
            </a:r>
            <a:endParaRPr lang="en-US" sz="1600" dirty="0"/>
          </a:p>
          <a:p>
            <a:pPr marL="0" indent="0">
              <a:lnSpc>
                <a:spcPct val="120000"/>
              </a:lnSpc>
              <a:buNone/>
            </a:pPr>
            <a:r>
              <a:rPr lang="en-US" sz="1600" dirty="0">
                <a:solidFill>
                  <a:srgbClr val="FFFFFF"/>
                </a:solidFill>
                <a:latin typeface="Courier New" pitchFamily="34" charset="0"/>
                <a:ea typeface="Courier New" pitchFamily="34" charset="-122"/>
                <a:cs typeface="Courier New" pitchFamily="34" charset="-120"/>
              </a:rPr>
              <a:t>    j = 0</a:t>
            </a:r>
            <a:endParaRPr lang="en-US" sz="1600" dirty="0"/>
          </a:p>
          <a:p>
            <a:pPr marL="0" indent="0">
              <a:lnSpc>
                <a:spcPct val="120000"/>
              </a:lnSpc>
              <a:buNone/>
            </a:pPr>
            <a:r>
              <a:rPr lang="en-US" sz="1600" dirty="0">
                <a:solidFill>
                  <a:srgbClr val="FFFFFF"/>
                </a:solidFill>
                <a:latin typeface="Courier New" pitchFamily="34" charset="0"/>
                <a:ea typeface="Courier New" pitchFamily="34" charset="-122"/>
                <a:cs typeface="Courier New" pitchFamily="34" charset="-120"/>
              </a:rPr>
              <a:t>    while j * j &lt; n:</a:t>
            </a:r>
            <a:endParaRPr lang="en-US" sz="1600" dirty="0"/>
          </a:p>
          <a:p>
            <a:pPr marL="0" indent="0">
              <a:lnSpc>
                <a:spcPct val="120000"/>
              </a:lnSpc>
              <a:buNone/>
            </a:pPr>
            <a:r>
              <a:rPr lang="en-US" sz="1600" dirty="0">
                <a:solidFill>
                  <a:srgbClr val="FFFFFF"/>
                </a:solidFill>
                <a:latin typeface="Courier New" pitchFamily="34" charset="0"/>
                <a:ea typeface="Courier New" pitchFamily="34" charset="-122"/>
                <a:cs typeface="Courier New" pitchFamily="34" charset="-120"/>
              </a:rPr>
              <a:t>        print("hi")</a:t>
            </a:r>
            <a:endParaRPr lang="en-US" sz="1600" dirty="0"/>
          </a:p>
          <a:p>
            <a:pPr marL="0" indent="0">
              <a:lnSpc>
                <a:spcPct val="120000"/>
              </a:lnSpc>
              <a:buNone/>
            </a:pPr>
            <a:r>
              <a:rPr lang="en-US" sz="1600" dirty="0">
                <a:solidFill>
                  <a:srgbClr val="FFFFFF"/>
                </a:solidFill>
                <a:latin typeface="Courier New" pitchFamily="34" charset="0"/>
                <a:ea typeface="Courier New" pitchFamily="34" charset="-122"/>
                <a:cs typeface="Courier New" pitchFamily="34" charset="-120"/>
              </a:rPr>
              <a:t>        j = j + 1</a:t>
            </a:r>
            <a:endParaRPr lang="en-US" sz="1600" dirty="0"/>
          </a:p>
        </p:txBody>
      </p:sp>
      <p:sp>
        <p:nvSpPr>
          <p:cNvPr id="8" name="Label Work it out"/>
          <p:cNvSpPr txBox="1"/>
          <p:nvPr/>
        </p:nvSpPr>
        <p:spPr>
          <a:xfrm>
            <a:off x="6629400" y="1828800"/>
            <a:ext cx="5056632" cy="274320"/>
          </a:xfrm>
          <a:prstGeom prst="rect">
            <a:avLst/>
          </a:prstGeom>
          <a:noFill/>
          <a:ln/>
        </p:spPr>
        <p:txBody>
          <a:bodyPr wrap="square" lIns="0" tIns="0" rIns="0" bIns="0" rtlCol="0" anchor="ctr"/>
          <a:lstStyle/>
          <a:p>
            <a:pPr marL="0" indent="0">
              <a:buNone/>
            </a:pPr>
            <a:r>
              <a:rPr lang="en-US" sz="1300" b="1" dirty="0">
                <a:solidFill>
                  <a:schemeClr val="tx1"/>
                </a:solidFill>
              </a:rPr>
              <a:t>Work it out</a:t>
            </a:r>
            <a:endParaRPr lang="en-US" sz="1300" dirty="0"/>
          </a:p>
        </p:txBody>
      </p:sp>
      <p:sp>
        <p:nvSpPr>
          <p:cNvPr id="9" name="Task card"/>
          <p:cNvSpPr/>
          <p:nvPr/>
        </p:nvSpPr>
        <p:spPr>
          <a:xfrm>
            <a:off x="6629400" y="2121408"/>
            <a:ext cx="5056632" cy="2743200"/>
          </a:xfrm>
          <a:prstGeom prst="roundRect">
            <a:avLst>
              <a:gd name="adj" fmla="val 2000"/>
            </a:avLst>
          </a:prstGeom>
          <a:solidFill>
            <a:schemeClr val="bg2"/>
          </a:solidFill>
          <a:ln/>
        </p:spPr>
        <p:txBody>
          <a:bodyPr/>
          <a:lstStyle/>
          <a:p>
            <a:endParaRPr lang="en-US"/>
          </a:p>
        </p:txBody>
      </p:sp>
      <p:sp>
        <p:nvSpPr>
          <p:cNvPr id="10" name="Text 8"/>
          <p:cNvSpPr txBox="1"/>
          <p:nvPr/>
        </p:nvSpPr>
        <p:spPr>
          <a:xfrm>
            <a:off x="6858000" y="2304288"/>
            <a:ext cx="4599432" cy="1554480"/>
          </a:xfrm>
          <a:prstGeom prst="rect">
            <a:avLst/>
          </a:prstGeom>
          <a:noFill/>
          <a:ln/>
        </p:spPr>
        <p:txBody>
          <a:bodyPr wrap="square" lIns="0" tIns="0" rIns="0" bIns="0" rtlCol="0" anchor="t"/>
          <a:lstStyle/>
          <a:p>
            <a:pPr marL="342900" indent="-342900">
              <a:spcAft>
                <a:spcPts val="800"/>
              </a:spcAft>
              <a:buSzPct val="100000"/>
              <a:buFont typeface="+mj-lt"/>
              <a:buAutoNum type="arabicPeriod"/>
            </a:pPr>
            <a:r>
              <a:rPr lang="en-US" sz="1400" dirty="0">
                <a:solidFill>
                  <a:schemeClr val="tx2"/>
                </a:solidFill>
              </a:rPr>
              <a:t>Which values does j take?</a:t>
            </a:r>
            <a:endParaRPr lang="en-US" sz="1400" dirty="0"/>
          </a:p>
          <a:p>
            <a:pPr marL="342900" indent="-342900">
              <a:spcAft>
                <a:spcPts val="800"/>
              </a:spcAft>
              <a:buSzPct val="100000"/>
              <a:buFont typeface="+mj-lt"/>
              <a:buAutoNum type="arabicPeriod"/>
            </a:pPr>
            <a:r>
              <a:rPr lang="en-US" sz="1400" dirty="0">
                <a:solidFill>
                  <a:schemeClr val="tx2"/>
                </a:solidFill>
              </a:rPr>
              <a:t>Exactly when does the loop stop?</a:t>
            </a:r>
            <a:endParaRPr lang="en-US" sz="1400" dirty="0"/>
          </a:p>
          <a:p>
            <a:pPr marL="342900" indent="-342900">
              <a:spcAft>
                <a:spcPts val="800"/>
              </a:spcAft>
              <a:buSzPct val="100000"/>
              <a:buFont typeface="+mj-lt"/>
              <a:buAutoNum type="arabicPeriod"/>
            </a:pPr>
            <a:r>
              <a:rPr lang="en-US" sz="1400" dirty="0">
                <a:solidFill>
                  <a:schemeClr val="tx2"/>
                </a:solidFill>
              </a:rPr>
              <a:t>How many passes is that, as a function of n?</a:t>
            </a:r>
            <a:endParaRPr lang="en-US" sz="1400" dirty="0"/>
          </a:p>
        </p:txBody>
      </p:sp>
      <p:sp>
        <p:nvSpPr>
          <p:cNvPr id="11" name="Text 9"/>
          <p:cNvSpPr txBox="1"/>
          <p:nvPr/>
        </p:nvSpPr>
        <p:spPr>
          <a:xfrm>
            <a:off x="6858000" y="3995928"/>
            <a:ext cx="4599432" cy="685800"/>
          </a:xfrm>
          <a:prstGeom prst="rect">
            <a:avLst/>
          </a:prstGeom>
          <a:noFill/>
          <a:ln/>
        </p:spPr>
        <p:txBody>
          <a:bodyPr wrap="square" lIns="0" tIns="0" rIns="0" bIns="0" rtlCol="0" anchor="ctr"/>
          <a:lstStyle/>
          <a:p>
            <a:pPr marL="0" indent="0">
              <a:buNone/>
            </a:pPr>
            <a:r>
              <a:rPr lang="en-US" sz="1400" b="1" dirty="0">
                <a:solidFill>
                  <a:schemeClr val="tx1"/>
                </a:solidFill>
              </a:rPr>
              <a:t>Your answer:  </a:t>
            </a:r>
            <a:r>
              <a:rPr lang="en-US" sz="2800" b="1" dirty="0">
                <a:solidFill>
                  <a:schemeClr val="accent2"/>
                </a:solidFill>
              </a:rPr>
              <a:t>Θ( ? )</a:t>
            </a:r>
            <a:endParaRPr lang="en-US" sz="1400" dirty="0"/>
          </a:p>
        </p:txBody>
      </p:sp>
      <p:sp>
        <p:nvSpPr>
          <p:cNvPr id="12" name="Takeaway"/>
          <p:cNvSpPr/>
          <p:nvPr/>
        </p:nvSpPr>
        <p:spPr>
          <a:xfrm>
            <a:off x="502920" y="5074920"/>
            <a:ext cx="11183112" cy="685800"/>
          </a:xfrm>
          <a:prstGeom prst="roundRect">
            <a:avLst>
              <a:gd name="adj" fmla="val 8000"/>
            </a:avLst>
          </a:prstGeom>
          <a:solidFill>
            <a:schemeClr val="accent5"/>
          </a:solidFill>
          <a:ln/>
        </p:spPr>
        <p:txBody>
          <a:bodyPr/>
          <a:lstStyle/>
          <a:p>
            <a:endParaRPr lang="en-US"/>
          </a:p>
        </p:txBody>
      </p:sp>
      <p:sp>
        <p:nvSpPr>
          <p:cNvPr id="13" name="Text 11"/>
          <p:cNvSpPr txBox="1"/>
          <p:nvPr/>
        </p:nvSpPr>
        <p:spPr>
          <a:xfrm>
            <a:off x="731520" y="5074920"/>
            <a:ext cx="10725912" cy="685800"/>
          </a:xfrm>
          <a:prstGeom prst="rect">
            <a:avLst/>
          </a:prstGeom>
          <a:noFill/>
          <a:ln/>
        </p:spPr>
        <p:txBody>
          <a:bodyPr wrap="square" lIns="0" tIns="0" rIns="0" bIns="0" rtlCol="0" anchor="ctr"/>
          <a:lstStyle/>
          <a:p>
            <a:pPr marL="0" indent="0">
              <a:buNone/>
            </a:pPr>
            <a:r>
              <a:rPr lang="en-US" sz="1400" b="1" dirty="0">
                <a:solidFill>
                  <a:schemeClr val="accent2"/>
                </a:solidFill>
              </a:rPr>
              <a:t>Hint:  </a:t>
            </a:r>
            <a:r>
              <a:rPr lang="en-US" sz="1400" dirty="0">
                <a:solidFill>
                  <a:schemeClr val="tx2"/>
                </a:solidFill>
              </a:rPr>
              <a:t>j goes up by 1 each pass, but the stopping condition checks j · j, not j.</a:t>
            </a:r>
            <a:endParaRPr lang="en-US" sz="1400" dirty="0"/>
          </a:p>
        </p:txBody>
      </p:sp>
      <p:sp>
        <p:nvSpPr>
          <p:cNvPr id="25" name="Slide Number Placeholder 0"/>
          <p:cNvSpPr>
            <a:spLocks noGrp="1"/>
          </p:cNvSpPr>
          <p:nvPr>
            <p:ph type="sldNum" sz="quarter" idx="4294967295"/>
          </p:nvPr>
        </p:nvSpPr>
        <p:spPr>
          <a:xfrm>
            <a:off x="11228832" y="6547104"/>
            <a:ext cx="457200" cy="237744"/>
          </a:xfrm>
          <a:prstGeom prst="rect">
            <a:avLst/>
          </a:prstGeom>
          <a:extLst>
            <a:ext uri="{C572A759-6A51-4108-AA02-DFA0A04FC94B}">
              <ma14:wrappingTextBoxFlag xmlns="" xmlns:ma14="http://schemas.microsoft.com/office/mac/drawingml/2011/main" val="0"/>
            </a:ext>
          </a:extLst>
        </p:spPr>
        <p:txBody>
          <a:bodyPr/>
          <a:lstStyle>
            <a:lvl1pPr>
              <a:defRPr sz="850">
                <a:solidFill>
                  <a:srgbClr val="595959"/>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02920" y="347472"/>
            <a:ext cx="10515600" cy="274320"/>
          </a:xfrm>
          <a:prstGeom prst="rect">
            <a:avLst/>
          </a:prstGeom>
          <a:noFill/>
          <a:ln/>
        </p:spPr>
        <p:txBody>
          <a:bodyPr wrap="square" lIns="0" tIns="0" rIns="0" bIns="0" rtlCol="0"/>
          <a:lstStyle/>
          <a:p>
            <a:pPr marL="0" indent="0">
              <a:buNone/>
            </a:pPr>
            <a:r>
              <a:rPr lang="en-US" sz="1200" b="1" kern="0" spc="100" dirty="0">
                <a:solidFill>
                  <a:schemeClr val="accent2"/>
                </a:solidFill>
              </a:rPr>
              <a:t>PRACTICE PROBLEM 2 · SOLUTION</a:t>
            </a:r>
            <a:endParaRPr lang="en-US" sz="1200" dirty="0"/>
          </a:p>
        </p:txBody>
      </p:sp>
      <p:sp>
        <p:nvSpPr>
          <p:cNvPr id="3" name="Text 1"/>
          <p:cNvSpPr>
            <a:spLocks noGrp="1"/>
          </p:cNvSpPr>
          <p:nvPr>
            <p:ph type="title" idx="102" hasCustomPrompt="1"/>
          </p:nvPr>
        </p:nvSpPr>
        <p:spPr>
          <a:xfrm>
            <a:off x="502920" y="603504"/>
            <a:ext cx="10789920" cy="566928"/>
          </a:xfrm>
          <a:prstGeom prst="rect">
            <a:avLst/>
          </a:prstGeom>
          <a:noFill/>
          <a:ln/>
        </p:spPr>
        <p:txBody>
          <a:bodyPr wrap="square" lIns="0" tIns="0" rIns="0" bIns="0" rtlCol="0" anchor="t"/>
          <a:lstStyle/>
          <a:p>
            <a:pPr marL="0" indent="0" algn="l">
              <a:buNone/>
            </a:pPr>
            <a:r>
              <a:rPr lang="en-US" sz="3000" b="1" dirty="0">
                <a:solidFill>
                  <a:schemeClr val="tx1"/>
                </a:solidFill>
              </a:rPr>
              <a:t>The Loop Runs About √n Times</a:t>
            </a:r>
            <a:endParaRPr lang="en-US" sz="3000" dirty="0"/>
          </a:p>
        </p:txBody>
      </p:sp>
      <p:sp>
        <p:nvSpPr>
          <p:cNvPr id="4" name="Text 1"/>
          <p:cNvSpPr>
            <a:spLocks noGrp="1"/>
          </p:cNvSpPr>
          <p:nvPr>
            <p:ph type="body" idx="103" hasCustomPrompt="1"/>
          </p:nvPr>
        </p:nvSpPr>
        <p:spPr>
          <a:xfrm>
            <a:off x="502920" y="1152144"/>
            <a:ext cx="10881360" cy="384048"/>
          </a:xfrm>
          <a:prstGeom prst="rect">
            <a:avLst/>
          </a:prstGeom>
          <a:noFill/>
          <a:ln/>
        </p:spPr>
        <p:txBody>
          <a:bodyPr wrap="square" lIns="0" tIns="0" rIns="0" bIns="0" rtlCol="0" anchor="t"/>
          <a:lstStyle/>
          <a:p>
            <a:pPr marL="0" indent="0">
              <a:buNone/>
            </a:pPr>
            <a:r>
              <a:rPr lang="en-US" sz="1350" dirty="0">
                <a:solidFill>
                  <a:srgbClr val="595959"/>
                </a:solidFill>
              </a:rPr>
              <a:t>Read the stopping condition: the loop ends as soon as j · j ≥ n, that is, when j ≥ √n.</a:t>
            </a:r>
            <a:endParaRPr lang="en-US" sz="1350" dirty="0"/>
          </a:p>
        </p:txBody>
      </p:sp>
      <p:sp>
        <p:nvSpPr>
          <p:cNvPr id="5" name="Step 1 badge"/>
          <p:cNvSpPr/>
          <p:nvPr/>
        </p:nvSpPr>
        <p:spPr>
          <a:xfrm>
            <a:off x="502920" y="1874520"/>
            <a:ext cx="384048" cy="384048"/>
          </a:xfrm>
          <a:prstGeom prst="ellipse">
            <a:avLst/>
          </a:prstGeom>
          <a:solidFill>
            <a:schemeClr val="accent1"/>
          </a:solidFill>
          <a:ln/>
        </p:spPr>
        <p:txBody>
          <a:bodyPr/>
          <a:lstStyle/>
          <a:p>
            <a:endParaRPr lang="en-US"/>
          </a:p>
        </p:txBody>
      </p:sp>
      <p:sp>
        <p:nvSpPr>
          <p:cNvPr id="6" name="Text 4"/>
          <p:cNvSpPr txBox="1"/>
          <p:nvPr/>
        </p:nvSpPr>
        <p:spPr>
          <a:xfrm>
            <a:off x="502920" y="187452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7" name="Text 5"/>
          <p:cNvSpPr txBox="1"/>
          <p:nvPr/>
        </p:nvSpPr>
        <p:spPr>
          <a:xfrm>
            <a:off x="1051560" y="1847088"/>
            <a:ext cx="5852160" cy="274320"/>
          </a:xfrm>
          <a:prstGeom prst="rect">
            <a:avLst/>
          </a:prstGeom>
          <a:noFill/>
          <a:ln/>
        </p:spPr>
        <p:txBody>
          <a:bodyPr wrap="square" lIns="0" tIns="0" rIns="0" bIns="0" rtlCol="0" anchor="ctr"/>
          <a:lstStyle/>
          <a:p>
            <a:pPr marL="0" indent="0">
              <a:buNone/>
            </a:pPr>
            <a:r>
              <a:rPr lang="en-US" sz="1400" b="1" dirty="0">
                <a:solidFill>
                  <a:schemeClr val="tx1"/>
                </a:solidFill>
              </a:rPr>
              <a:t>What changes each pass?</a:t>
            </a:r>
            <a:endParaRPr lang="en-US" sz="1400" dirty="0"/>
          </a:p>
        </p:txBody>
      </p:sp>
      <p:sp>
        <p:nvSpPr>
          <p:cNvPr id="8" name="Text 6"/>
          <p:cNvSpPr txBox="1"/>
          <p:nvPr/>
        </p:nvSpPr>
        <p:spPr>
          <a:xfrm>
            <a:off x="1051560" y="2167128"/>
            <a:ext cx="5943600" cy="530352"/>
          </a:xfrm>
          <a:prstGeom prst="rect">
            <a:avLst/>
          </a:prstGeom>
          <a:noFill/>
          <a:ln/>
        </p:spPr>
        <p:txBody>
          <a:bodyPr wrap="square" lIns="0" tIns="0" rIns="0" bIns="0" rtlCol="0" anchor="t"/>
          <a:lstStyle/>
          <a:p>
            <a:pPr marL="0" indent="0">
              <a:buNone/>
            </a:pPr>
            <a:r>
              <a:rPr lang="en-US" sz="1300" dirty="0">
                <a:solidFill>
                  <a:schemeClr val="tx2"/>
                </a:solidFill>
              </a:rPr>
              <a:t>j = 0, 1, 2, 3, …  (up by 1)</a:t>
            </a:r>
            <a:endParaRPr lang="en-US" sz="1300" dirty="0"/>
          </a:p>
        </p:txBody>
      </p:sp>
      <p:sp>
        <p:nvSpPr>
          <p:cNvPr id="9" name="Step 2 badge"/>
          <p:cNvSpPr/>
          <p:nvPr/>
        </p:nvSpPr>
        <p:spPr>
          <a:xfrm>
            <a:off x="502920" y="2770632"/>
            <a:ext cx="384048" cy="384048"/>
          </a:xfrm>
          <a:prstGeom prst="ellipse">
            <a:avLst/>
          </a:prstGeom>
          <a:solidFill>
            <a:schemeClr val="accent1"/>
          </a:solidFill>
          <a:ln/>
        </p:spPr>
        <p:txBody>
          <a:bodyPr/>
          <a:lstStyle/>
          <a:p>
            <a:endParaRPr lang="en-US"/>
          </a:p>
        </p:txBody>
      </p:sp>
      <p:sp>
        <p:nvSpPr>
          <p:cNvPr id="10" name="Text 8"/>
          <p:cNvSpPr txBox="1"/>
          <p:nvPr/>
        </p:nvSpPr>
        <p:spPr>
          <a:xfrm>
            <a:off x="502920" y="277063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1" name="Text 9"/>
          <p:cNvSpPr txBox="1"/>
          <p:nvPr/>
        </p:nvSpPr>
        <p:spPr>
          <a:xfrm>
            <a:off x="1051560" y="2743200"/>
            <a:ext cx="5852160" cy="274320"/>
          </a:xfrm>
          <a:prstGeom prst="rect">
            <a:avLst/>
          </a:prstGeom>
          <a:noFill/>
          <a:ln/>
        </p:spPr>
        <p:txBody>
          <a:bodyPr wrap="square" lIns="0" tIns="0" rIns="0" bIns="0" rtlCol="0" anchor="ctr"/>
          <a:lstStyle/>
          <a:p>
            <a:pPr marL="0" indent="0">
              <a:buNone/>
            </a:pPr>
            <a:r>
              <a:rPr lang="en-US" sz="1400" b="1" dirty="0">
                <a:solidFill>
                  <a:schemeClr val="tx1"/>
                </a:solidFill>
              </a:rPr>
              <a:t>When does it stop?</a:t>
            </a:r>
            <a:endParaRPr lang="en-US" sz="1400" dirty="0"/>
          </a:p>
        </p:txBody>
      </p:sp>
      <p:sp>
        <p:nvSpPr>
          <p:cNvPr id="12" name="Text 10"/>
          <p:cNvSpPr txBox="1"/>
          <p:nvPr/>
        </p:nvSpPr>
        <p:spPr>
          <a:xfrm>
            <a:off x="1051560" y="3063240"/>
            <a:ext cx="5943600" cy="530352"/>
          </a:xfrm>
          <a:prstGeom prst="rect">
            <a:avLst/>
          </a:prstGeom>
          <a:noFill/>
          <a:ln/>
        </p:spPr>
        <p:txBody>
          <a:bodyPr wrap="square" lIns="0" tIns="0" rIns="0" bIns="0" rtlCol="0" anchor="t"/>
          <a:lstStyle/>
          <a:p>
            <a:pPr marL="0" indent="0">
              <a:buNone/>
            </a:pPr>
            <a:r>
              <a:rPr lang="en-US" sz="1300" dirty="0">
                <a:solidFill>
                  <a:schemeClr val="tx2"/>
                </a:solidFill>
              </a:rPr>
              <a:t>As soon as j · j ≥ n, i.e. j ≥ √n</a:t>
            </a:r>
            <a:endParaRPr lang="en-US" sz="1300" dirty="0"/>
          </a:p>
        </p:txBody>
      </p:sp>
      <p:sp>
        <p:nvSpPr>
          <p:cNvPr id="13" name="Step 3 badge"/>
          <p:cNvSpPr/>
          <p:nvPr/>
        </p:nvSpPr>
        <p:spPr>
          <a:xfrm>
            <a:off x="502920" y="3666744"/>
            <a:ext cx="384048" cy="384048"/>
          </a:xfrm>
          <a:prstGeom prst="ellipse">
            <a:avLst/>
          </a:prstGeom>
          <a:solidFill>
            <a:schemeClr val="accent1"/>
          </a:solidFill>
          <a:ln/>
        </p:spPr>
        <p:txBody>
          <a:bodyPr/>
          <a:lstStyle/>
          <a:p>
            <a:endParaRPr lang="en-US"/>
          </a:p>
        </p:txBody>
      </p:sp>
      <p:sp>
        <p:nvSpPr>
          <p:cNvPr id="14" name="Text 12"/>
          <p:cNvSpPr txBox="1"/>
          <p:nvPr/>
        </p:nvSpPr>
        <p:spPr>
          <a:xfrm>
            <a:off x="502920" y="3666744"/>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15" name="Text 13"/>
          <p:cNvSpPr txBox="1"/>
          <p:nvPr/>
        </p:nvSpPr>
        <p:spPr>
          <a:xfrm>
            <a:off x="1051560" y="3639312"/>
            <a:ext cx="5852160" cy="274320"/>
          </a:xfrm>
          <a:prstGeom prst="rect">
            <a:avLst/>
          </a:prstGeom>
          <a:noFill/>
          <a:ln/>
        </p:spPr>
        <p:txBody>
          <a:bodyPr wrap="square" lIns="0" tIns="0" rIns="0" bIns="0" rtlCol="0" anchor="ctr"/>
          <a:lstStyle/>
          <a:p>
            <a:pPr marL="0" indent="0">
              <a:buNone/>
            </a:pPr>
            <a:r>
              <a:rPr lang="en-US" sz="1400" b="1" dirty="0">
                <a:solidFill>
                  <a:schemeClr val="tx1"/>
                </a:solidFill>
              </a:rPr>
              <a:t>Count the passes</a:t>
            </a:r>
            <a:endParaRPr lang="en-US" sz="1400" dirty="0"/>
          </a:p>
        </p:txBody>
      </p:sp>
      <p:sp>
        <p:nvSpPr>
          <p:cNvPr id="16" name="Text 14"/>
          <p:cNvSpPr txBox="1"/>
          <p:nvPr/>
        </p:nvSpPr>
        <p:spPr>
          <a:xfrm>
            <a:off x="1051560" y="3959352"/>
            <a:ext cx="5943600" cy="530352"/>
          </a:xfrm>
          <a:prstGeom prst="rect">
            <a:avLst/>
          </a:prstGeom>
          <a:noFill/>
          <a:ln/>
        </p:spPr>
        <p:txBody>
          <a:bodyPr wrap="square" lIns="0" tIns="0" rIns="0" bIns="0" rtlCol="0" anchor="t"/>
          <a:lstStyle/>
          <a:p>
            <a:pPr marL="0" indent="0">
              <a:buNone/>
            </a:pPr>
            <a:r>
              <a:rPr lang="en-US" sz="1300" dirty="0">
                <a:solidFill>
                  <a:schemeClr val="tx2"/>
                </a:solidFill>
              </a:rPr>
              <a:t>j runs from 0 to just below √n: ⌈√n⌉ passes, one print each</a:t>
            </a:r>
            <a:endParaRPr lang="en-US" sz="1300" dirty="0"/>
          </a:p>
        </p:txBody>
      </p:sp>
      <p:sp>
        <p:nvSpPr>
          <p:cNvPr id="17" name="Label Trace for n = 20"/>
          <p:cNvSpPr txBox="1"/>
          <p:nvPr/>
        </p:nvSpPr>
        <p:spPr>
          <a:xfrm>
            <a:off x="7315200" y="1828800"/>
            <a:ext cx="4370832" cy="274320"/>
          </a:xfrm>
          <a:prstGeom prst="rect">
            <a:avLst/>
          </a:prstGeom>
          <a:noFill/>
          <a:ln/>
        </p:spPr>
        <p:txBody>
          <a:bodyPr wrap="square" lIns="0" tIns="0" rIns="0" bIns="0" rtlCol="0" anchor="ctr"/>
          <a:lstStyle/>
          <a:p>
            <a:pPr marL="0" indent="0">
              <a:buNone/>
            </a:pPr>
            <a:r>
              <a:rPr lang="en-US" sz="1300" b="1" dirty="0">
                <a:solidFill>
                  <a:schemeClr val="tx1"/>
                </a:solidFill>
              </a:rPr>
              <a:t>Trace for n = 20</a:t>
            </a:r>
            <a:endParaRPr lang="en-US" sz="1300" dirty="0"/>
          </a:p>
        </p:txBody>
      </p:sp>
      <p:graphicFrame>
        <p:nvGraphicFramePr>
          <p:cNvPr id="18" name="Trace table"/>
          <p:cNvGraphicFramePr>
            <a:graphicFrameLocks noGrp="1"/>
          </p:cNvGraphicFramePr>
          <p:nvPr>
            <p:extLst>
              <p:ext uri="{D42A27DB-BD31-4B8C-83A1-F6EECF244321}">
                <p14:modId xmlns:p14="http://schemas.microsoft.com/office/powerpoint/2010/main" val="1579011935"/>
              </p:ext>
            </p:extLst>
          </p:nvPr>
        </p:nvGraphicFramePr>
        <p:xfrm>
          <a:off x="7315200" y="2148840"/>
          <a:ext cx="4370832" cy="2304288"/>
        </p:xfrm>
        <a:graphic>
          <a:graphicData uri="http://schemas.openxmlformats.org/drawingml/2006/table">
            <a:tbl>
              <a:tblPr/>
              <a:tblGrid>
                <a:gridCol w="7315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536192">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329184">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j</a:t>
                      </a:r>
                      <a:endParaRPr lang="en-US" sz="1200" dirty="0">
                        <a:latin typeface="Calibri" charset="0"/>
                        <a:ea typeface="Calibri" charset="0"/>
                        <a:cs typeface="Calibri"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j · j</a:t>
                      </a:r>
                      <a:endParaRPr lang="en-US" sz="1200" dirty="0">
                        <a:latin typeface="Calibri" charset="0"/>
                        <a:ea typeface="Calibri" charset="0"/>
                        <a:cs typeface="Calibri"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j · j &lt; 20?</a:t>
                      </a:r>
                      <a:endParaRPr lang="en-US" sz="1200" dirty="0">
                        <a:latin typeface="Calibri" charset="0"/>
                        <a:ea typeface="Calibri" charset="0"/>
                        <a:cs typeface="Calibri"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Prints?</a:t>
                      </a:r>
                      <a:endParaRPr lang="en-US" sz="1200" dirty="0">
                        <a:latin typeface="Calibri" charset="0"/>
                        <a:ea typeface="Calibri" charset="0"/>
                        <a:cs typeface="Calibri"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29184">
                <a:tc>
                  <a:txBody>
                    <a:bodyPr/>
                    <a:lstStyle/>
                    <a:p>
                      <a:pPr marL="0" indent="0" algn="ctr">
                        <a:buNone/>
                      </a:pPr>
                      <a:r>
                        <a:rPr lang="en-US" sz="1200" dirty="0">
                          <a:solidFill>
                            <a:schemeClr val="tx2"/>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dirty="0">
                          <a:solidFill>
                            <a:schemeClr val="tx2"/>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dirty="0">
                          <a:solidFill>
                            <a:schemeClr val="tx2"/>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b="1" dirty="0">
                          <a:solidFill>
                            <a:schemeClr val="tx2"/>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lgn="ctr">
                        <a:buNone/>
                      </a:pPr>
                      <a:r>
                        <a:rPr lang="en-US" sz="1200" dirty="0">
                          <a:solidFill>
                            <a:schemeClr val="tx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dirty="0">
                          <a:solidFill>
                            <a:schemeClr val="tx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dirty="0">
                          <a:solidFill>
                            <a:schemeClr val="tx2"/>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b="1" dirty="0">
                          <a:solidFill>
                            <a:schemeClr val="tx2"/>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lgn="ctr">
                        <a:buNone/>
                      </a:pPr>
                      <a:r>
                        <a:rPr lang="en-US" sz="1200" dirty="0">
                          <a:solidFill>
                            <a:schemeClr val="tx2"/>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dirty="0">
                          <a:solidFill>
                            <a:schemeClr val="tx2"/>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dirty="0">
                          <a:solidFill>
                            <a:schemeClr val="tx2"/>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b="1" dirty="0">
                          <a:solidFill>
                            <a:schemeClr val="tx2"/>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lgn="ctr">
                        <a:buNone/>
                      </a:pPr>
                      <a:r>
                        <a:rPr lang="en-US" sz="1200" dirty="0">
                          <a:solidFill>
                            <a:schemeClr val="tx2"/>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dirty="0">
                          <a:solidFill>
                            <a:schemeClr val="tx2"/>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dirty="0">
                          <a:solidFill>
                            <a:schemeClr val="tx2"/>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b="1" dirty="0">
                          <a:solidFill>
                            <a:schemeClr val="tx2"/>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lgn="ctr">
                        <a:buNone/>
                      </a:pPr>
                      <a:r>
                        <a:rPr lang="en-US" sz="1200" dirty="0">
                          <a:solidFill>
                            <a:schemeClr val="tx2"/>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dirty="0">
                          <a:solidFill>
                            <a:schemeClr val="tx2"/>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dirty="0">
                          <a:solidFill>
                            <a:schemeClr val="tx2"/>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b="1" dirty="0">
                          <a:solidFill>
                            <a:schemeClr val="tx2"/>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r h="329184">
                <a:tc>
                  <a:txBody>
                    <a:bodyPr/>
                    <a:lstStyle/>
                    <a:p>
                      <a:pPr marL="0" indent="0" algn="ctr">
                        <a:buNone/>
                      </a:pPr>
                      <a:r>
                        <a:rPr lang="en-US" sz="1200" b="1" dirty="0">
                          <a:solidFill>
                            <a:schemeClr val="accent2"/>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b="1" dirty="0">
                          <a:solidFill>
                            <a:schemeClr val="accent2"/>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200" b="1" dirty="0">
                          <a:solidFill>
                            <a:schemeClr val="accent2"/>
                          </a:solidFill>
                          <a:latin typeface="Calibri" pitchFamily="34" charset="0"/>
                          <a:ea typeface="Calibri" pitchFamily="34" charset="-122"/>
                          <a:cs typeface="Calibri" pitchFamily="34" charset="-120"/>
                        </a:rPr>
                        <a:t>no: stop</a:t>
                      </a:r>
                      <a:endParaRPr lang="en-US" sz="1200" dirty="0">
                        <a:latin typeface="Calibri" charset="0"/>
                        <a:ea typeface="Calibri" charset="0"/>
                        <a:cs typeface="Calibri"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endParaRPr lang="en-US" sz="1200" dirty="0">
                        <a:latin typeface="Calibri" charset="0"/>
                        <a:ea typeface="Calibri" charset="0"/>
                        <a:cs typeface="Calibri" charset="0"/>
                      </a:endParaRPr>
                    </a:p>
                  </a:txBody>
                  <a:tcPr marL="36576" marR="36576"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9" name="Text 16"/>
          <p:cNvSpPr txBox="1"/>
          <p:nvPr/>
        </p:nvSpPr>
        <p:spPr>
          <a:xfrm>
            <a:off x="7315200" y="4526280"/>
            <a:ext cx="4370832" cy="274320"/>
          </a:xfrm>
          <a:prstGeom prst="rect">
            <a:avLst/>
          </a:prstGeom>
          <a:noFill/>
          <a:ln/>
        </p:spPr>
        <p:txBody>
          <a:bodyPr wrap="square" lIns="0" tIns="0" rIns="0" bIns="0" rtlCol="0" anchor="ctr"/>
          <a:lstStyle/>
          <a:p>
            <a:pPr marL="0" indent="0">
              <a:buNone/>
            </a:pPr>
            <a:r>
              <a:rPr lang="en-US" sz="1200" b="1" dirty="0">
                <a:solidFill>
                  <a:schemeClr val="accent2"/>
                </a:solidFill>
              </a:rPr>
              <a:t>5 prints, and √20 ≈ 4.47 rounds up to 5</a:t>
            </a:r>
            <a:endParaRPr lang="en-US" sz="1200" dirty="0"/>
          </a:p>
        </p:txBody>
      </p:sp>
      <p:sp>
        <p:nvSpPr>
          <p:cNvPr id="20" name="Takeaway"/>
          <p:cNvSpPr/>
          <p:nvPr/>
        </p:nvSpPr>
        <p:spPr>
          <a:xfrm>
            <a:off x="502920" y="5074920"/>
            <a:ext cx="11183112" cy="685800"/>
          </a:xfrm>
          <a:prstGeom prst="roundRect">
            <a:avLst>
              <a:gd name="adj" fmla="val 8000"/>
            </a:avLst>
          </a:prstGeom>
          <a:solidFill>
            <a:schemeClr val="accent5"/>
          </a:solidFill>
          <a:ln/>
        </p:spPr>
        <p:txBody>
          <a:bodyPr/>
          <a:lstStyle/>
          <a:p>
            <a:endParaRPr lang="en-US"/>
          </a:p>
        </p:txBody>
      </p:sp>
      <p:sp>
        <p:nvSpPr>
          <p:cNvPr id="21" name="Text 18"/>
          <p:cNvSpPr txBox="1"/>
          <p:nvPr/>
        </p:nvSpPr>
        <p:spPr>
          <a:xfrm>
            <a:off x="731520" y="5074920"/>
            <a:ext cx="10725912" cy="685800"/>
          </a:xfrm>
          <a:prstGeom prst="rect">
            <a:avLst/>
          </a:prstGeom>
          <a:noFill/>
          <a:ln/>
        </p:spPr>
        <p:txBody>
          <a:bodyPr wrap="square" lIns="0" tIns="0" rIns="0" bIns="0" rtlCol="0" anchor="ctr"/>
          <a:lstStyle/>
          <a:p>
            <a:pPr marL="0" indent="0">
              <a:buNone/>
            </a:pPr>
            <a:r>
              <a:rPr lang="en-US" sz="1400" b="1" dirty="0">
                <a:solidFill>
                  <a:schemeClr val="accent2"/>
                </a:solidFill>
              </a:rPr>
              <a:t>Answer: Θ(√n).  </a:t>
            </a:r>
            <a:r>
              <a:rPr lang="en-US" sz="1400" dirty="0">
                <a:solidFill>
                  <a:schemeClr val="tx2"/>
                </a:solidFill>
              </a:rPr>
              <a:t>Follow-up: if the body ran  for k in range(n)  instead of one print, it would be √n passes × n work = Θ(n√n).</a:t>
            </a:r>
            <a:endParaRPr lang="en-US" sz="1400" dirty="0"/>
          </a:p>
        </p:txBody>
      </p:sp>
      <p:sp>
        <p:nvSpPr>
          <p:cNvPr id="25" name="Slide Number Placeholder 0"/>
          <p:cNvSpPr>
            <a:spLocks noGrp="1"/>
          </p:cNvSpPr>
          <p:nvPr>
            <p:ph type="sldNum" sz="quarter" idx="4294967295"/>
          </p:nvPr>
        </p:nvSpPr>
        <p:spPr>
          <a:xfrm>
            <a:off x="11228832" y="6547104"/>
            <a:ext cx="457200" cy="237744"/>
          </a:xfrm>
          <a:prstGeom prst="rect">
            <a:avLst/>
          </a:prstGeom>
          <a:extLst>
            <a:ext uri="{C572A759-6A51-4108-AA02-DFA0A04FC94B}">
              <ma14:wrappingTextBoxFlag xmlns="" xmlns:ma14="http://schemas.microsoft.com/office/mac/drawingml/2011/main" val="0"/>
            </a:ext>
          </a:extLst>
        </p:spPr>
        <p:txBody>
          <a:bodyPr/>
          <a:lstStyle>
            <a:lvl1pPr>
              <a:defRPr sz="850">
                <a:solidFill>
                  <a:srgbClr val="595959"/>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02920" y="347472"/>
            <a:ext cx="10515600" cy="274320"/>
          </a:xfrm>
          <a:prstGeom prst="rect">
            <a:avLst/>
          </a:prstGeom>
          <a:noFill/>
          <a:ln/>
        </p:spPr>
        <p:txBody>
          <a:bodyPr wrap="square" lIns="0" tIns="0" rIns="0" bIns="0" rtlCol="0"/>
          <a:lstStyle/>
          <a:p>
            <a:pPr marL="0" indent="0">
              <a:buNone/>
            </a:pPr>
            <a:r>
              <a:rPr lang="en-US" sz="1200" b="1" kern="0" spc="100" dirty="0">
                <a:solidFill>
                  <a:schemeClr val="accent2"/>
                </a:solidFill>
              </a:rPr>
              <a:t>PRACTICE PROBLEM 3 · ASYMPTOTIC PROOF</a:t>
            </a:r>
            <a:endParaRPr lang="en-US" sz="1200" dirty="0"/>
          </a:p>
        </p:txBody>
      </p:sp>
      <p:sp>
        <p:nvSpPr>
          <p:cNvPr id="3" name="Text 1"/>
          <p:cNvSpPr>
            <a:spLocks noGrp="1"/>
          </p:cNvSpPr>
          <p:nvPr>
            <p:ph type="title" idx="102" hasCustomPrompt="1"/>
          </p:nvPr>
        </p:nvSpPr>
        <p:spPr>
          <a:xfrm>
            <a:off x="502920" y="603504"/>
            <a:ext cx="10789920" cy="566928"/>
          </a:xfrm>
          <a:prstGeom prst="rect">
            <a:avLst/>
          </a:prstGeom>
          <a:noFill/>
          <a:ln/>
        </p:spPr>
        <p:txBody>
          <a:bodyPr wrap="square" lIns="0" tIns="0" rIns="0" bIns="0" rtlCol="0" anchor="t"/>
          <a:lstStyle/>
          <a:p>
            <a:pPr marL="0" indent="0" algn="l">
              <a:buNone/>
            </a:pPr>
            <a:r>
              <a:rPr lang="en-US" sz="3000" b="1" dirty="0">
                <a:solidFill>
                  <a:schemeClr val="tx1"/>
                </a:solidFill>
              </a:rPr>
              <a:t>Prove a Θ Bound</a:t>
            </a:r>
            <a:endParaRPr lang="en-US" sz="3000" dirty="0"/>
          </a:p>
        </p:txBody>
      </p:sp>
      <p:sp>
        <p:nvSpPr>
          <p:cNvPr id="4" name="Text 1"/>
          <p:cNvSpPr>
            <a:spLocks noGrp="1"/>
          </p:cNvSpPr>
          <p:nvPr>
            <p:ph type="body" idx="103" hasCustomPrompt="1"/>
          </p:nvPr>
        </p:nvSpPr>
        <p:spPr>
          <a:xfrm>
            <a:off x="502920" y="1152144"/>
            <a:ext cx="10881360" cy="384048"/>
          </a:xfrm>
          <a:prstGeom prst="rect">
            <a:avLst/>
          </a:prstGeom>
          <a:noFill/>
          <a:ln/>
        </p:spPr>
        <p:txBody>
          <a:bodyPr wrap="square" lIns="0" tIns="0" rIns="0" bIns="0" rtlCol="0" anchor="t"/>
          <a:lstStyle/>
          <a:p>
            <a:pPr marL="0" indent="0">
              <a:buNone/>
            </a:pPr>
            <a:r>
              <a:rPr lang="en-US" sz="1350" dirty="0">
                <a:solidFill>
                  <a:srgbClr val="595959"/>
                </a:solidFill>
              </a:rPr>
              <a:t>Use the formal definition: find constants c₁, c₂ &gt; 0 and n₀ that make the inequality true.</a:t>
            </a:r>
            <a:endParaRPr lang="en-US" sz="1350" dirty="0"/>
          </a:p>
        </p:txBody>
      </p:sp>
      <p:sp>
        <p:nvSpPr>
          <p:cNvPr id="5" name="Statement banner"/>
          <p:cNvSpPr/>
          <p:nvPr/>
        </p:nvSpPr>
        <p:spPr>
          <a:xfrm>
            <a:off x="502920" y="1783080"/>
            <a:ext cx="11183112" cy="868680"/>
          </a:xfrm>
          <a:prstGeom prst="roundRect">
            <a:avLst>
              <a:gd name="adj" fmla="val 6316"/>
            </a:avLst>
          </a:prstGeom>
          <a:solidFill>
            <a:schemeClr val="tx1"/>
          </a:solidFill>
          <a:ln/>
        </p:spPr>
        <p:txBody>
          <a:bodyPr/>
          <a:lstStyle/>
          <a:p>
            <a:endParaRPr lang="en-US"/>
          </a:p>
        </p:txBody>
      </p:sp>
      <p:sp>
        <p:nvSpPr>
          <p:cNvPr id="6" name="Text 4"/>
          <p:cNvSpPr txBox="1"/>
          <p:nvPr/>
        </p:nvSpPr>
        <p:spPr>
          <a:xfrm>
            <a:off x="731520" y="1783080"/>
            <a:ext cx="10725912" cy="868680"/>
          </a:xfrm>
          <a:prstGeom prst="rect">
            <a:avLst/>
          </a:prstGeom>
          <a:noFill/>
          <a:ln/>
        </p:spPr>
        <p:txBody>
          <a:bodyPr wrap="square" lIns="0" tIns="0" rIns="0" bIns="0" rtlCol="0" anchor="ctr"/>
          <a:lstStyle/>
          <a:p>
            <a:pPr marL="0" indent="0" algn="ctr">
              <a:buNone/>
            </a:pPr>
            <a:r>
              <a:rPr lang="en-US" sz="2000" b="1" dirty="0">
                <a:solidFill>
                  <a:srgbClr val="C9D6F0"/>
                </a:solidFill>
              </a:rPr>
              <a:t>Prove:   </a:t>
            </a:r>
            <a:r>
              <a:rPr lang="en-US" sz="2800" b="1" dirty="0">
                <a:solidFill>
                  <a:srgbClr val="FFFFFF"/>
                </a:solidFill>
              </a:rPr>
              <a:t>5n + 2√n + log(n²)  =  Θ(n)</a:t>
            </a:r>
            <a:endParaRPr lang="en-US" sz="2000" dirty="0"/>
          </a:p>
        </p:txBody>
      </p:sp>
      <p:sp>
        <p:nvSpPr>
          <p:cNvPr id="7" name="Label What you must show"/>
          <p:cNvSpPr txBox="1"/>
          <p:nvPr/>
        </p:nvSpPr>
        <p:spPr>
          <a:xfrm>
            <a:off x="502920" y="2880360"/>
            <a:ext cx="5303520" cy="274320"/>
          </a:xfrm>
          <a:prstGeom prst="rect">
            <a:avLst/>
          </a:prstGeom>
          <a:noFill/>
          <a:ln/>
        </p:spPr>
        <p:txBody>
          <a:bodyPr wrap="square" lIns="0" tIns="0" rIns="0" bIns="0" rtlCol="0" anchor="ctr"/>
          <a:lstStyle/>
          <a:p>
            <a:pPr marL="0" indent="0">
              <a:buNone/>
            </a:pPr>
            <a:r>
              <a:rPr lang="en-US" sz="1300" b="1" dirty="0">
                <a:solidFill>
                  <a:schemeClr val="tx1"/>
                </a:solidFill>
              </a:rPr>
              <a:t>What you must show</a:t>
            </a:r>
            <a:endParaRPr lang="en-US" sz="1300" dirty="0"/>
          </a:p>
        </p:txBody>
      </p:sp>
      <p:sp>
        <p:nvSpPr>
          <p:cNvPr id="8" name="Definition card"/>
          <p:cNvSpPr/>
          <p:nvPr/>
        </p:nvSpPr>
        <p:spPr>
          <a:xfrm>
            <a:off x="502920" y="3172968"/>
            <a:ext cx="5303520" cy="1645920"/>
          </a:xfrm>
          <a:prstGeom prst="roundRect">
            <a:avLst>
              <a:gd name="adj" fmla="val 3333"/>
            </a:avLst>
          </a:prstGeom>
          <a:solidFill>
            <a:schemeClr val="bg2"/>
          </a:solidFill>
          <a:ln/>
        </p:spPr>
        <p:txBody>
          <a:bodyPr/>
          <a:lstStyle/>
          <a:p>
            <a:endParaRPr lang="en-US"/>
          </a:p>
        </p:txBody>
      </p:sp>
      <p:sp>
        <p:nvSpPr>
          <p:cNvPr id="9" name="Text 7"/>
          <p:cNvSpPr txBox="1"/>
          <p:nvPr/>
        </p:nvSpPr>
        <p:spPr>
          <a:xfrm>
            <a:off x="731520" y="3355848"/>
            <a:ext cx="4846320" cy="502920"/>
          </a:xfrm>
          <a:prstGeom prst="rect">
            <a:avLst/>
          </a:prstGeom>
          <a:noFill/>
          <a:ln/>
        </p:spPr>
        <p:txBody>
          <a:bodyPr wrap="square" lIns="0" tIns="0" rIns="0" bIns="0" rtlCol="0" anchor="ctr"/>
          <a:lstStyle/>
          <a:p>
            <a:pPr marL="0" indent="0" algn="ctr">
              <a:buNone/>
            </a:pPr>
            <a:r>
              <a:rPr lang="en-US" sz="2200" b="1" dirty="0">
                <a:solidFill>
                  <a:schemeClr val="tx1"/>
                </a:solidFill>
              </a:rPr>
              <a:t>c₁ · n  ≤  f(n)  ≤  c₂ · n</a:t>
            </a:r>
            <a:endParaRPr lang="en-US" sz="2200" dirty="0"/>
          </a:p>
        </p:txBody>
      </p:sp>
      <p:sp>
        <p:nvSpPr>
          <p:cNvPr id="10" name="Text 8"/>
          <p:cNvSpPr txBox="1"/>
          <p:nvPr/>
        </p:nvSpPr>
        <p:spPr>
          <a:xfrm>
            <a:off x="731520" y="3950208"/>
            <a:ext cx="4846320" cy="731520"/>
          </a:xfrm>
          <a:prstGeom prst="rect">
            <a:avLst/>
          </a:prstGeom>
          <a:noFill/>
          <a:ln/>
        </p:spPr>
        <p:txBody>
          <a:bodyPr wrap="square" lIns="0" tIns="0" rIns="0" bIns="0" rtlCol="0" anchor="t"/>
          <a:lstStyle/>
          <a:p>
            <a:pPr marL="0" indent="0">
              <a:buNone/>
            </a:pPr>
            <a:r>
              <a:rPr lang="en-US" sz="1300" dirty="0">
                <a:solidFill>
                  <a:schemeClr val="tx2"/>
                </a:solidFill>
              </a:rPr>
              <a:t>for all n ≥ n₀. The left inequality is the Ω part; the right inequality is the O part. You need both.</a:t>
            </a:r>
            <a:endParaRPr lang="en-US" sz="1300" dirty="0"/>
          </a:p>
        </p:txBody>
      </p:sp>
      <p:sp>
        <p:nvSpPr>
          <p:cNvPr id="11" name="Label Work it out"/>
          <p:cNvSpPr txBox="1"/>
          <p:nvPr/>
        </p:nvSpPr>
        <p:spPr>
          <a:xfrm>
            <a:off x="6263640" y="2880360"/>
            <a:ext cx="5422392" cy="274320"/>
          </a:xfrm>
          <a:prstGeom prst="rect">
            <a:avLst/>
          </a:prstGeom>
          <a:noFill/>
          <a:ln/>
        </p:spPr>
        <p:txBody>
          <a:bodyPr wrap="square" lIns="0" tIns="0" rIns="0" bIns="0" rtlCol="0" anchor="ctr"/>
          <a:lstStyle/>
          <a:p>
            <a:pPr marL="0" indent="0">
              <a:buNone/>
            </a:pPr>
            <a:r>
              <a:rPr lang="en-US" sz="1300" b="1" dirty="0">
                <a:solidFill>
                  <a:schemeClr val="tx1"/>
                </a:solidFill>
              </a:rPr>
              <a:t>Work it out</a:t>
            </a:r>
            <a:endParaRPr lang="en-US" sz="1300" dirty="0"/>
          </a:p>
        </p:txBody>
      </p:sp>
      <p:sp>
        <p:nvSpPr>
          <p:cNvPr id="12" name="Task card"/>
          <p:cNvSpPr/>
          <p:nvPr/>
        </p:nvSpPr>
        <p:spPr>
          <a:xfrm>
            <a:off x="6263640" y="3172968"/>
            <a:ext cx="5422392" cy="1645920"/>
          </a:xfrm>
          <a:prstGeom prst="roundRect">
            <a:avLst>
              <a:gd name="adj" fmla="val 3333"/>
            </a:avLst>
          </a:prstGeom>
          <a:solidFill>
            <a:schemeClr val="bg2"/>
          </a:solidFill>
          <a:ln/>
        </p:spPr>
        <p:txBody>
          <a:bodyPr/>
          <a:lstStyle/>
          <a:p>
            <a:endParaRPr lang="en-US"/>
          </a:p>
        </p:txBody>
      </p:sp>
      <p:sp>
        <p:nvSpPr>
          <p:cNvPr id="13" name="Text 11"/>
          <p:cNvSpPr txBox="1"/>
          <p:nvPr/>
        </p:nvSpPr>
        <p:spPr>
          <a:xfrm>
            <a:off x="6492240" y="3337560"/>
            <a:ext cx="4965192" cy="1371600"/>
          </a:xfrm>
          <a:prstGeom prst="rect">
            <a:avLst/>
          </a:prstGeom>
          <a:noFill/>
          <a:ln/>
        </p:spPr>
        <p:txBody>
          <a:bodyPr wrap="square" lIns="0" tIns="0" rIns="0" bIns="0" rtlCol="0" anchor="t"/>
          <a:lstStyle/>
          <a:p>
            <a:pPr marL="342900" indent="-342900">
              <a:spcAft>
                <a:spcPts val="600"/>
              </a:spcAft>
              <a:buSzPct val="100000"/>
              <a:buFont typeface="+mj-lt"/>
              <a:buAutoNum type="arabicPeriod"/>
            </a:pPr>
            <a:r>
              <a:rPr lang="en-US" sz="1400" dirty="0">
                <a:solidFill>
                  <a:schemeClr val="tx2"/>
                </a:solidFill>
              </a:rPr>
              <a:t>Simplify the log term first.</a:t>
            </a:r>
            <a:endParaRPr lang="en-US" sz="1400" dirty="0"/>
          </a:p>
          <a:p>
            <a:pPr marL="342900" indent="-342900">
              <a:spcAft>
                <a:spcPts val="600"/>
              </a:spcAft>
              <a:buSzPct val="100000"/>
              <a:buFont typeface="+mj-lt"/>
              <a:buAutoNum type="arabicPeriod"/>
            </a:pPr>
            <a:r>
              <a:rPr lang="en-US" sz="1400" dirty="0">
                <a:solidFill>
                  <a:schemeClr val="tx2"/>
                </a:solidFill>
              </a:rPr>
              <a:t>Lower bound: find c₁.</a:t>
            </a:r>
            <a:endParaRPr lang="en-US" sz="1400" dirty="0"/>
          </a:p>
          <a:p>
            <a:pPr marL="342900" indent="-342900">
              <a:spcAft>
                <a:spcPts val="600"/>
              </a:spcAft>
              <a:buSzPct val="100000"/>
              <a:buFont typeface="+mj-lt"/>
              <a:buAutoNum type="arabicPeriod"/>
            </a:pPr>
            <a:r>
              <a:rPr lang="en-US" sz="1400" dirty="0">
                <a:solidFill>
                  <a:schemeClr val="tx2"/>
                </a:solidFill>
              </a:rPr>
              <a:t>Upper bound: bound each extra term by a multiple of n to find c₂.</a:t>
            </a:r>
            <a:endParaRPr lang="en-US" sz="1400" dirty="0"/>
          </a:p>
          <a:p>
            <a:pPr marL="342900" indent="-342900">
              <a:spcAft>
                <a:spcPts val="600"/>
              </a:spcAft>
              <a:buSzPct val="100000"/>
              <a:buFont typeface="+mj-lt"/>
              <a:buAutoNum type="arabicPeriod"/>
            </a:pPr>
            <a:r>
              <a:rPr lang="en-US" sz="1400" dirty="0">
                <a:solidFill>
                  <a:schemeClr val="tx2"/>
                </a:solidFill>
              </a:rPr>
              <a:t>State c₁, c₂ and n₀, and conclude.</a:t>
            </a:r>
            <a:endParaRPr lang="en-US" sz="1400" dirty="0"/>
          </a:p>
        </p:txBody>
      </p:sp>
      <p:sp>
        <p:nvSpPr>
          <p:cNvPr id="14" name="Takeaway"/>
          <p:cNvSpPr/>
          <p:nvPr/>
        </p:nvSpPr>
        <p:spPr>
          <a:xfrm>
            <a:off x="502920" y="5074920"/>
            <a:ext cx="11183112" cy="685800"/>
          </a:xfrm>
          <a:prstGeom prst="roundRect">
            <a:avLst>
              <a:gd name="adj" fmla="val 8000"/>
            </a:avLst>
          </a:prstGeom>
          <a:solidFill>
            <a:schemeClr val="accent5"/>
          </a:solidFill>
          <a:ln/>
        </p:spPr>
        <p:txBody>
          <a:bodyPr/>
          <a:lstStyle/>
          <a:p>
            <a:endParaRPr lang="en-US"/>
          </a:p>
        </p:txBody>
      </p:sp>
      <p:sp>
        <p:nvSpPr>
          <p:cNvPr id="15" name="Text 13"/>
          <p:cNvSpPr txBox="1"/>
          <p:nvPr/>
        </p:nvSpPr>
        <p:spPr>
          <a:xfrm>
            <a:off x="731520" y="5074920"/>
            <a:ext cx="10725912" cy="685800"/>
          </a:xfrm>
          <a:prstGeom prst="rect">
            <a:avLst/>
          </a:prstGeom>
          <a:noFill/>
          <a:ln/>
        </p:spPr>
        <p:txBody>
          <a:bodyPr wrap="square" lIns="0" tIns="0" rIns="0" bIns="0" rtlCol="0" anchor="ctr"/>
          <a:lstStyle/>
          <a:p>
            <a:pPr marL="0" indent="0">
              <a:buNone/>
            </a:pPr>
            <a:r>
              <a:rPr lang="en-US" sz="1400" b="1" dirty="0">
                <a:solidFill>
                  <a:schemeClr val="accent2"/>
                </a:solidFill>
              </a:rPr>
              <a:t>Hint:  </a:t>
            </a:r>
            <a:r>
              <a:rPr lang="en-US" sz="1400" dirty="0">
                <a:solidFill>
                  <a:schemeClr val="tx2"/>
                </a:solidFill>
              </a:rPr>
              <a:t>a Θ proof needs both directions. Proving only the upper bound shows O(n), not Θ(n).</a:t>
            </a:r>
            <a:endParaRPr lang="en-US" sz="1400" dirty="0"/>
          </a:p>
        </p:txBody>
      </p:sp>
      <p:sp>
        <p:nvSpPr>
          <p:cNvPr id="25" name="Slide Number Placeholder 0"/>
          <p:cNvSpPr>
            <a:spLocks noGrp="1"/>
          </p:cNvSpPr>
          <p:nvPr>
            <p:ph type="sldNum" sz="quarter" idx="4294967295"/>
          </p:nvPr>
        </p:nvSpPr>
        <p:spPr>
          <a:xfrm>
            <a:off x="11228832" y="6547104"/>
            <a:ext cx="457200" cy="237744"/>
          </a:xfrm>
          <a:prstGeom prst="rect">
            <a:avLst/>
          </a:prstGeom>
          <a:extLst>
            <a:ext uri="{C572A759-6A51-4108-AA02-DFA0A04FC94B}">
              <ma14:wrappingTextBoxFlag xmlns="" xmlns:ma14="http://schemas.microsoft.com/office/mac/drawingml/2011/main" val="0"/>
            </a:ext>
          </a:extLst>
        </p:spPr>
        <p:txBody>
          <a:bodyPr/>
          <a:lstStyle>
            <a:lvl1pPr>
              <a:defRPr sz="850">
                <a:solidFill>
                  <a:srgbClr val="595959"/>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02920" y="347472"/>
            <a:ext cx="10515600" cy="274320"/>
          </a:xfrm>
          <a:prstGeom prst="rect">
            <a:avLst/>
          </a:prstGeom>
          <a:noFill/>
          <a:ln/>
        </p:spPr>
        <p:txBody>
          <a:bodyPr wrap="square" lIns="0" tIns="0" rIns="0" bIns="0" rtlCol="0"/>
          <a:lstStyle/>
          <a:p>
            <a:pPr marL="0" indent="0">
              <a:buNone/>
            </a:pPr>
            <a:r>
              <a:rPr lang="en-US" sz="1200" b="1" kern="0" spc="100" dirty="0">
                <a:solidFill>
                  <a:schemeClr val="accent2"/>
                </a:solidFill>
              </a:rPr>
              <a:t>PRACTICE PROBLEM 3 · SOLUTION</a:t>
            </a:r>
            <a:endParaRPr lang="en-US" sz="1200" dirty="0"/>
          </a:p>
        </p:txBody>
      </p:sp>
      <p:sp>
        <p:nvSpPr>
          <p:cNvPr id="3" name="Text 1"/>
          <p:cNvSpPr>
            <a:spLocks noGrp="1"/>
          </p:cNvSpPr>
          <p:nvPr>
            <p:ph type="title" idx="102" hasCustomPrompt="1"/>
          </p:nvPr>
        </p:nvSpPr>
        <p:spPr>
          <a:xfrm>
            <a:off x="502920" y="603504"/>
            <a:ext cx="10789920" cy="566928"/>
          </a:xfrm>
          <a:prstGeom prst="rect">
            <a:avLst/>
          </a:prstGeom>
          <a:noFill/>
          <a:ln/>
        </p:spPr>
        <p:txBody>
          <a:bodyPr wrap="square" lIns="0" tIns="0" rIns="0" bIns="0" rtlCol="0" anchor="t"/>
          <a:lstStyle/>
          <a:p>
            <a:pPr marL="0" indent="0" algn="l">
              <a:buNone/>
            </a:pPr>
            <a:r>
              <a:rPr lang="en-US" sz="3000" b="1" dirty="0">
                <a:solidFill>
                  <a:schemeClr val="tx1"/>
                </a:solidFill>
              </a:rPr>
              <a:t>Sandwich f(n) Between Two Multiples of n</a:t>
            </a:r>
            <a:endParaRPr lang="en-US" sz="3000" dirty="0"/>
          </a:p>
        </p:txBody>
      </p:sp>
      <p:sp>
        <p:nvSpPr>
          <p:cNvPr id="4" name="Text 1"/>
          <p:cNvSpPr>
            <a:spLocks noGrp="1"/>
          </p:cNvSpPr>
          <p:nvPr>
            <p:ph type="body" idx="103" hasCustomPrompt="1"/>
          </p:nvPr>
        </p:nvSpPr>
        <p:spPr>
          <a:xfrm>
            <a:off x="502920" y="1152144"/>
            <a:ext cx="10881360" cy="384048"/>
          </a:xfrm>
          <a:prstGeom prst="rect">
            <a:avLst/>
          </a:prstGeom>
          <a:noFill/>
          <a:ln/>
        </p:spPr>
        <p:txBody>
          <a:bodyPr wrap="square" lIns="0" tIns="0" rIns="0" bIns="0" rtlCol="0" anchor="t"/>
          <a:lstStyle/>
          <a:p>
            <a:pPr marL="0" indent="0">
              <a:buNone/>
            </a:pPr>
            <a:r>
              <a:rPr lang="en-US" sz="1350" dirty="0">
                <a:solidFill>
                  <a:srgbClr val="595959"/>
                </a:solidFill>
              </a:rPr>
              <a:t>With f(n) = 5n + 2√n + log(n²), show 5n ≤ f(n) ≤ 9n for every n ≥ 1.</a:t>
            </a:r>
            <a:endParaRPr lang="en-US" sz="1350" dirty="0"/>
          </a:p>
        </p:txBody>
      </p:sp>
      <p:sp>
        <p:nvSpPr>
          <p:cNvPr id="5" name="Step 1 badge"/>
          <p:cNvSpPr/>
          <p:nvPr/>
        </p:nvSpPr>
        <p:spPr>
          <a:xfrm>
            <a:off x="502920" y="1828800"/>
            <a:ext cx="384048" cy="384048"/>
          </a:xfrm>
          <a:prstGeom prst="ellipse">
            <a:avLst/>
          </a:prstGeom>
          <a:solidFill>
            <a:schemeClr val="accent1"/>
          </a:solidFill>
          <a:ln/>
        </p:spPr>
        <p:txBody>
          <a:bodyPr/>
          <a:lstStyle/>
          <a:p>
            <a:endParaRPr lang="en-US"/>
          </a:p>
        </p:txBody>
      </p:sp>
      <p:sp>
        <p:nvSpPr>
          <p:cNvPr id="6" name="Text 4"/>
          <p:cNvSpPr txBox="1"/>
          <p:nvPr/>
        </p:nvSpPr>
        <p:spPr>
          <a:xfrm>
            <a:off x="502920" y="182880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7" name="Text 5"/>
          <p:cNvSpPr txBox="1"/>
          <p:nvPr/>
        </p:nvSpPr>
        <p:spPr>
          <a:xfrm>
            <a:off x="1051560" y="1801368"/>
            <a:ext cx="5852160" cy="274320"/>
          </a:xfrm>
          <a:prstGeom prst="rect">
            <a:avLst/>
          </a:prstGeom>
          <a:noFill/>
          <a:ln/>
        </p:spPr>
        <p:txBody>
          <a:bodyPr wrap="square" lIns="0" tIns="0" rIns="0" bIns="0" rtlCol="0" anchor="ctr"/>
          <a:lstStyle/>
          <a:p>
            <a:pPr marL="0" indent="0">
              <a:buNone/>
            </a:pPr>
            <a:r>
              <a:rPr lang="en-US" sz="1400" b="1" dirty="0">
                <a:solidFill>
                  <a:schemeClr val="tx1"/>
                </a:solidFill>
              </a:rPr>
              <a:t>Simplify with the log rule</a:t>
            </a:r>
            <a:endParaRPr lang="en-US" sz="1400" dirty="0"/>
          </a:p>
        </p:txBody>
      </p:sp>
      <p:sp>
        <p:nvSpPr>
          <p:cNvPr id="8" name="Text 6"/>
          <p:cNvSpPr txBox="1"/>
          <p:nvPr/>
        </p:nvSpPr>
        <p:spPr>
          <a:xfrm>
            <a:off x="1051560" y="2121408"/>
            <a:ext cx="5943600" cy="420624"/>
          </a:xfrm>
          <a:prstGeom prst="rect">
            <a:avLst/>
          </a:prstGeom>
          <a:noFill/>
          <a:ln/>
        </p:spPr>
        <p:txBody>
          <a:bodyPr wrap="square" lIns="0" tIns="0" rIns="0" bIns="0" rtlCol="0" anchor="t"/>
          <a:lstStyle/>
          <a:p>
            <a:pPr marL="0" indent="0">
              <a:buNone/>
            </a:pPr>
            <a:r>
              <a:rPr lang="en-US" sz="1300" dirty="0">
                <a:solidFill>
                  <a:schemeClr val="tx2"/>
                </a:solidFill>
              </a:rPr>
              <a:t>log(n²) = 2 log n, so f(n) = 5n + 2√n + 2 log n</a:t>
            </a:r>
            <a:endParaRPr lang="en-US" sz="1300" dirty="0"/>
          </a:p>
        </p:txBody>
      </p:sp>
      <p:sp>
        <p:nvSpPr>
          <p:cNvPr id="9" name="Step 2 badge"/>
          <p:cNvSpPr/>
          <p:nvPr/>
        </p:nvSpPr>
        <p:spPr>
          <a:xfrm>
            <a:off x="502920" y="2615184"/>
            <a:ext cx="384048" cy="384048"/>
          </a:xfrm>
          <a:prstGeom prst="ellipse">
            <a:avLst/>
          </a:prstGeom>
          <a:solidFill>
            <a:schemeClr val="accent1"/>
          </a:solidFill>
          <a:ln/>
        </p:spPr>
        <p:txBody>
          <a:bodyPr/>
          <a:lstStyle/>
          <a:p>
            <a:endParaRPr lang="en-US"/>
          </a:p>
        </p:txBody>
      </p:sp>
      <p:sp>
        <p:nvSpPr>
          <p:cNvPr id="10" name="Text 8"/>
          <p:cNvSpPr txBox="1"/>
          <p:nvPr/>
        </p:nvSpPr>
        <p:spPr>
          <a:xfrm>
            <a:off x="502920" y="2615184"/>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1" name="Text 9"/>
          <p:cNvSpPr txBox="1"/>
          <p:nvPr/>
        </p:nvSpPr>
        <p:spPr>
          <a:xfrm>
            <a:off x="1051560" y="2587752"/>
            <a:ext cx="5852160" cy="274320"/>
          </a:xfrm>
          <a:prstGeom prst="rect">
            <a:avLst/>
          </a:prstGeom>
          <a:noFill/>
          <a:ln/>
        </p:spPr>
        <p:txBody>
          <a:bodyPr wrap="square" lIns="0" tIns="0" rIns="0" bIns="0" rtlCol="0" anchor="ctr"/>
          <a:lstStyle/>
          <a:p>
            <a:pPr marL="0" indent="0">
              <a:buNone/>
            </a:pPr>
            <a:r>
              <a:rPr lang="en-US" sz="1400" b="1" dirty="0">
                <a:solidFill>
                  <a:schemeClr val="tx1"/>
                </a:solidFill>
              </a:rPr>
              <a:t>Lower bound (Ω)</a:t>
            </a:r>
            <a:endParaRPr lang="en-US" sz="1400" dirty="0"/>
          </a:p>
        </p:txBody>
      </p:sp>
      <p:sp>
        <p:nvSpPr>
          <p:cNvPr id="12" name="Text 10"/>
          <p:cNvSpPr txBox="1"/>
          <p:nvPr/>
        </p:nvSpPr>
        <p:spPr>
          <a:xfrm>
            <a:off x="1051560" y="2907792"/>
            <a:ext cx="5943600" cy="420624"/>
          </a:xfrm>
          <a:prstGeom prst="rect">
            <a:avLst/>
          </a:prstGeom>
          <a:noFill/>
          <a:ln/>
        </p:spPr>
        <p:txBody>
          <a:bodyPr wrap="square" lIns="0" tIns="0" rIns="0" bIns="0" rtlCol="0" anchor="t"/>
          <a:lstStyle/>
          <a:p>
            <a:pPr marL="0" indent="0">
              <a:buNone/>
            </a:pPr>
            <a:r>
              <a:rPr lang="en-US" sz="1300" dirty="0">
                <a:solidFill>
                  <a:schemeClr val="tx2"/>
                </a:solidFill>
              </a:rPr>
              <a:t>For n ≥ 1, 2√n ≥ 0 and 2 log n ≥ 0, so f(n) ≥ 5n</a:t>
            </a:r>
            <a:endParaRPr lang="en-US" sz="1300" dirty="0"/>
          </a:p>
        </p:txBody>
      </p:sp>
      <p:sp>
        <p:nvSpPr>
          <p:cNvPr id="13" name="Step 3 badge"/>
          <p:cNvSpPr/>
          <p:nvPr/>
        </p:nvSpPr>
        <p:spPr>
          <a:xfrm>
            <a:off x="502920" y="3401568"/>
            <a:ext cx="384048" cy="384048"/>
          </a:xfrm>
          <a:prstGeom prst="ellipse">
            <a:avLst/>
          </a:prstGeom>
          <a:solidFill>
            <a:schemeClr val="accent1"/>
          </a:solidFill>
          <a:ln/>
        </p:spPr>
        <p:txBody>
          <a:bodyPr/>
          <a:lstStyle/>
          <a:p>
            <a:endParaRPr lang="en-US"/>
          </a:p>
        </p:txBody>
      </p:sp>
      <p:sp>
        <p:nvSpPr>
          <p:cNvPr id="14" name="Text 12"/>
          <p:cNvSpPr txBox="1"/>
          <p:nvPr/>
        </p:nvSpPr>
        <p:spPr>
          <a:xfrm>
            <a:off x="502920" y="3401568"/>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15" name="Text 13"/>
          <p:cNvSpPr txBox="1"/>
          <p:nvPr/>
        </p:nvSpPr>
        <p:spPr>
          <a:xfrm>
            <a:off x="1051560" y="3374136"/>
            <a:ext cx="5852160" cy="274320"/>
          </a:xfrm>
          <a:prstGeom prst="rect">
            <a:avLst/>
          </a:prstGeom>
          <a:noFill/>
          <a:ln/>
        </p:spPr>
        <p:txBody>
          <a:bodyPr wrap="square" lIns="0" tIns="0" rIns="0" bIns="0" rtlCol="0" anchor="ctr"/>
          <a:lstStyle/>
          <a:p>
            <a:pPr marL="0" indent="0">
              <a:buNone/>
            </a:pPr>
            <a:r>
              <a:rPr lang="en-US" sz="1400" b="1" dirty="0">
                <a:solidFill>
                  <a:schemeClr val="tx1"/>
                </a:solidFill>
              </a:rPr>
              <a:t>Upper bound (O)</a:t>
            </a:r>
            <a:endParaRPr lang="en-US" sz="1400" dirty="0"/>
          </a:p>
        </p:txBody>
      </p:sp>
      <p:sp>
        <p:nvSpPr>
          <p:cNvPr id="16" name="Text 14"/>
          <p:cNvSpPr txBox="1"/>
          <p:nvPr/>
        </p:nvSpPr>
        <p:spPr>
          <a:xfrm>
            <a:off x="1051560" y="3694176"/>
            <a:ext cx="5943600" cy="420624"/>
          </a:xfrm>
          <a:prstGeom prst="rect">
            <a:avLst/>
          </a:prstGeom>
          <a:noFill/>
          <a:ln/>
        </p:spPr>
        <p:txBody>
          <a:bodyPr wrap="square" lIns="0" tIns="0" rIns="0" bIns="0" rtlCol="0" anchor="t"/>
          <a:lstStyle/>
          <a:p>
            <a:pPr marL="0" indent="0">
              <a:buNone/>
            </a:pPr>
            <a:r>
              <a:rPr lang="en-US" sz="1300" dirty="0">
                <a:solidFill>
                  <a:schemeClr val="tx2"/>
                </a:solidFill>
              </a:rPr>
              <a:t>For n ≥ 1, √n ≤ n and log n ≤ n, so f(n) ≤ 5n + 2n + 2n = 9n</a:t>
            </a:r>
            <a:endParaRPr lang="en-US" sz="1300" dirty="0"/>
          </a:p>
        </p:txBody>
      </p:sp>
      <p:sp>
        <p:nvSpPr>
          <p:cNvPr id="17" name="Step 4 badge"/>
          <p:cNvSpPr/>
          <p:nvPr/>
        </p:nvSpPr>
        <p:spPr>
          <a:xfrm>
            <a:off x="502920" y="4187952"/>
            <a:ext cx="384048" cy="384048"/>
          </a:xfrm>
          <a:prstGeom prst="ellipse">
            <a:avLst/>
          </a:prstGeom>
          <a:solidFill>
            <a:schemeClr val="accent1"/>
          </a:solidFill>
          <a:ln/>
        </p:spPr>
        <p:txBody>
          <a:bodyPr/>
          <a:lstStyle/>
          <a:p>
            <a:endParaRPr lang="en-US"/>
          </a:p>
        </p:txBody>
      </p:sp>
      <p:sp>
        <p:nvSpPr>
          <p:cNvPr id="18" name="Text 16"/>
          <p:cNvSpPr txBox="1"/>
          <p:nvPr/>
        </p:nvSpPr>
        <p:spPr>
          <a:xfrm>
            <a:off x="502920" y="418795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19" name="Text 17"/>
          <p:cNvSpPr txBox="1"/>
          <p:nvPr/>
        </p:nvSpPr>
        <p:spPr>
          <a:xfrm>
            <a:off x="1051560" y="4160520"/>
            <a:ext cx="5852160" cy="274320"/>
          </a:xfrm>
          <a:prstGeom prst="rect">
            <a:avLst/>
          </a:prstGeom>
          <a:noFill/>
          <a:ln/>
        </p:spPr>
        <p:txBody>
          <a:bodyPr wrap="square" lIns="0" tIns="0" rIns="0" bIns="0" rtlCol="0" anchor="ctr"/>
          <a:lstStyle/>
          <a:p>
            <a:pPr marL="0" indent="0">
              <a:buNone/>
            </a:pPr>
            <a:r>
              <a:rPr lang="en-US" sz="1400" b="1" dirty="0">
                <a:solidFill>
                  <a:schemeClr val="tx1"/>
                </a:solidFill>
              </a:rPr>
              <a:t>Conclude</a:t>
            </a:r>
            <a:endParaRPr lang="en-US" sz="1400" dirty="0"/>
          </a:p>
        </p:txBody>
      </p:sp>
      <p:sp>
        <p:nvSpPr>
          <p:cNvPr id="20" name="Text 18"/>
          <p:cNvSpPr txBox="1"/>
          <p:nvPr/>
        </p:nvSpPr>
        <p:spPr>
          <a:xfrm>
            <a:off x="1051560" y="4480560"/>
            <a:ext cx="5943600" cy="420624"/>
          </a:xfrm>
          <a:prstGeom prst="rect">
            <a:avLst/>
          </a:prstGeom>
          <a:noFill/>
          <a:ln/>
        </p:spPr>
        <p:txBody>
          <a:bodyPr wrap="square" lIns="0" tIns="0" rIns="0" bIns="0" rtlCol="0" anchor="t"/>
          <a:lstStyle/>
          <a:p>
            <a:pPr marL="0" indent="0">
              <a:buNone/>
            </a:pPr>
            <a:r>
              <a:rPr lang="en-US" sz="1300" dirty="0">
                <a:solidFill>
                  <a:schemeClr val="tx2"/>
                </a:solidFill>
              </a:rPr>
              <a:t>5n ≤ f(n) ≤ 9n for all n ≥ 1, so f(n) = Θ(n)</a:t>
            </a:r>
            <a:endParaRPr lang="en-US" sz="1300" dirty="0"/>
          </a:p>
        </p:txBody>
      </p:sp>
      <p:sp>
        <p:nvSpPr>
          <p:cNvPr id="21" name="Constants panel"/>
          <p:cNvSpPr/>
          <p:nvPr/>
        </p:nvSpPr>
        <p:spPr>
          <a:xfrm>
            <a:off x="7315200" y="1828800"/>
            <a:ext cx="4370832" cy="3017520"/>
          </a:xfrm>
          <a:prstGeom prst="roundRect">
            <a:avLst>
              <a:gd name="adj" fmla="val 1818"/>
            </a:avLst>
          </a:prstGeom>
          <a:solidFill>
            <a:schemeClr val="tx1"/>
          </a:solidFill>
          <a:ln/>
        </p:spPr>
        <p:txBody>
          <a:bodyPr/>
          <a:lstStyle/>
          <a:p>
            <a:endParaRPr lang="en-US"/>
          </a:p>
        </p:txBody>
      </p:sp>
      <p:sp>
        <p:nvSpPr>
          <p:cNvPr id="22" name="Text 20"/>
          <p:cNvSpPr txBox="1"/>
          <p:nvPr/>
        </p:nvSpPr>
        <p:spPr>
          <a:xfrm>
            <a:off x="7543800" y="2011680"/>
            <a:ext cx="3913632" cy="274320"/>
          </a:xfrm>
          <a:prstGeom prst="rect">
            <a:avLst/>
          </a:prstGeom>
          <a:noFill/>
          <a:ln/>
        </p:spPr>
        <p:txBody>
          <a:bodyPr wrap="square" lIns="0" tIns="0" rIns="0" bIns="0" rtlCol="0" anchor="ctr"/>
          <a:lstStyle/>
          <a:p>
            <a:pPr marL="0" indent="0">
              <a:buNone/>
            </a:pPr>
            <a:r>
              <a:rPr lang="en-US" sz="1050" b="1" kern="0" spc="100" dirty="0">
                <a:solidFill>
                  <a:srgbClr val="C9D6F0"/>
                </a:solidFill>
              </a:rPr>
              <a:t>THE CONSTANTS</a:t>
            </a:r>
            <a:endParaRPr lang="en-US" sz="1050" dirty="0"/>
          </a:p>
        </p:txBody>
      </p:sp>
      <p:sp>
        <p:nvSpPr>
          <p:cNvPr id="23" name="Text 21"/>
          <p:cNvSpPr txBox="1"/>
          <p:nvPr/>
        </p:nvSpPr>
        <p:spPr>
          <a:xfrm>
            <a:off x="7543800" y="2377440"/>
            <a:ext cx="1188720" cy="731520"/>
          </a:xfrm>
          <a:prstGeom prst="rect">
            <a:avLst/>
          </a:prstGeom>
          <a:noFill/>
          <a:ln/>
        </p:spPr>
        <p:txBody>
          <a:bodyPr wrap="square" lIns="0" tIns="0" rIns="0" bIns="0" rtlCol="0" anchor="ctr"/>
          <a:lstStyle/>
          <a:p>
            <a:pPr marL="0" indent="0" algn="ctr">
              <a:buNone/>
            </a:pPr>
            <a:r>
              <a:rPr lang="en-US" sz="4000" b="1" dirty="0">
                <a:solidFill>
                  <a:srgbClr val="FFFFFF"/>
                </a:solidFill>
              </a:rPr>
              <a:t>5</a:t>
            </a:r>
            <a:endParaRPr lang="en-US" sz="4000" dirty="0"/>
          </a:p>
        </p:txBody>
      </p:sp>
      <p:sp>
        <p:nvSpPr>
          <p:cNvPr id="24" name="Text 22"/>
          <p:cNvSpPr txBox="1"/>
          <p:nvPr/>
        </p:nvSpPr>
        <p:spPr>
          <a:xfrm>
            <a:off x="7543800" y="3108960"/>
            <a:ext cx="1188720" cy="274320"/>
          </a:xfrm>
          <a:prstGeom prst="rect">
            <a:avLst/>
          </a:prstGeom>
          <a:noFill/>
          <a:ln/>
        </p:spPr>
        <p:txBody>
          <a:bodyPr wrap="square" lIns="0" tIns="0" rIns="0" bIns="0" rtlCol="0" anchor="ctr"/>
          <a:lstStyle/>
          <a:p>
            <a:pPr marL="0" indent="0" algn="ctr">
              <a:buNone/>
            </a:pPr>
            <a:r>
              <a:rPr lang="en-US" sz="1400" b="1" dirty="0">
                <a:solidFill>
                  <a:srgbClr val="C9D6F0"/>
                </a:solidFill>
              </a:rPr>
              <a:t>c₁</a:t>
            </a:r>
            <a:endParaRPr lang="en-US" sz="1400" dirty="0"/>
          </a:p>
        </p:txBody>
      </p:sp>
      <p:sp>
        <p:nvSpPr>
          <p:cNvPr id="25" name="Text 23"/>
          <p:cNvSpPr txBox="1"/>
          <p:nvPr/>
        </p:nvSpPr>
        <p:spPr>
          <a:xfrm>
            <a:off x="8869680" y="2377440"/>
            <a:ext cx="1188720" cy="731520"/>
          </a:xfrm>
          <a:prstGeom prst="rect">
            <a:avLst/>
          </a:prstGeom>
          <a:noFill/>
          <a:ln/>
        </p:spPr>
        <p:txBody>
          <a:bodyPr wrap="square" lIns="0" tIns="0" rIns="0" bIns="0" rtlCol="0" anchor="ctr"/>
          <a:lstStyle/>
          <a:p>
            <a:pPr marL="0" indent="0" algn="ctr">
              <a:buNone/>
            </a:pPr>
            <a:r>
              <a:rPr lang="en-US" sz="4000" b="1" dirty="0">
                <a:solidFill>
                  <a:schemeClr val="accent4"/>
                </a:solidFill>
              </a:rPr>
              <a:t>9</a:t>
            </a:r>
            <a:endParaRPr lang="en-US" sz="4000" dirty="0"/>
          </a:p>
        </p:txBody>
      </p:sp>
      <p:sp>
        <p:nvSpPr>
          <p:cNvPr id="26" name="Text 24"/>
          <p:cNvSpPr txBox="1"/>
          <p:nvPr/>
        </p:nvSpPr>
        <p:spPr>
          <a:xfrm>
            <a:off x="8869680" y="3108960"/>
            <a:ext cx="1188720" cy="274320"/>
          </a:xfrm>
          <a:prstGeom prst="rect">
            <a:avLst/>
          </a:prstGeom>
          <a:noFill/>
          <a:ln/>
        </p:spPr>
        <p:txBody>
          <a:bodyPr wrap="square" lIns="0" tIns="0" rIns="0" bIns="0" rtlCol="0" anchor="ctr"/>
          <a:lstStyle/>
          <a:p>
            <a:pPr marL="0" indent="0" algn="ctr">
              <a:buNone/>
            </a:pPr>
            <a:r>
              <a:rPr lang="en-US" sz="1400" b="1" dirty="0">
                <a:solidFill>
                  <a:srgbClr val="C9D6F0"/>
                </a:solidFill>
              </a:rPr>
              <a:t>c₂</a:t>
            </a:r>
            <a:endParaRPr lang="en-US" sz="1400" dirty="0"/>
          </a:p>
        </p:txBody>
      </p:sp>
      <p:sp>
        <p:nvSpPr>
          <p:cNvPr id="27" name="Text 25"/>
          <p:cNvSpPr txBox="1"/>
          <p:nvPr/>
        </p:nvSpPr>
        <p:spPr>
          <a:xfrm>
            <a:off x="10195560" y="2377440"/>
            <a:ext cx="1188720" cy="731520"/>
          </a:xfrm>
          <a:prstGeom prst="rect">
            <a:avLst/>
          </a:prstGeom>
          <a:noFill/>
          <a:ln/>
        </p:spPr>
        <p:txBody>
          <a:bodyPr wrap="square" lIns="0" tIns="0" rIns="0" bIns="0" rtlCol="0" anchor="ctr"/>
          <a:lstStyle/>
          <a:p>
            <a:pPr marL="0" indent="0" algn="ctr">
              <a:buNone/>
            </a:pPr>
            <a:r>
              <a:rPr lang="en-US" sz="4000" b="1" dirty="0">
                <a:solidFill>
                  <a:srgbClr val="FFFFFF"/>
                </a:solidFill>
              </a:rPr>
              <a:t>1</a:t>
            </a:r>
            <a:endParaRPr lang="en-US" sz="4000" dirty="0"/>
          </a:p>
        </p:txBody>
      </p:sp>
      <p:sp>
        <p:nvSpPr>
          <p:cNvPr id="28" name="Text 26"/>
          <p:cNvSpPr txBox="1"/>
          <p:nvPr/>
        </p:nvSpPr>
        <p:spPr>
          <a:xfrm>
            <a:off x="10195560" y="3108960"/>
            <a:ext cx="1188720" cy="274320"/>
          </a:xfrm>
          <a:prstGeom prst="rect">
            <a:avLst/>
          </a:prstGeom>
          <a:noFill/>
          <a:ln/>
        </p:spPr>
        <p:txBody>
          <a:bodyPr wrap="square" lIns="0" tIns="0" rIns="0" bIns="0" rtlCol="0" anchor="ctr"/>
          <a:lstStyle/>
          <a:p>
            <a:pPr marL="0" indent="0" algn="ctr">
              <a:buNone/>
            </a:pPr>
            <a:r>
              <a:rPr lang="en-US" sz="1400" b="1" dirty="0">
                <a:solidFill>
                  <a:srgbClr val="C9D6F0"/>
                </a:solidFill>
              </a:rPr>
              <a:t>n₀</a:t>
            </a:r>
            <a:endParaRPr lang="en-US" sz="1400" dirty="0"/>
          </a:p>
        </p:txBody>
      </p:sp>
      <p:sp>
        <p:nvSpPr>
          <p:cNvPr id="29" name="Divider"/>
          <p:cNvSpPr/>
          <p:nvPr/>
        </p:nvSpPr>
        <p:spPr>
          <a:xfrm>
            <a:off x="7543800" y="3611880"/>
            <a:ext cx="3913632" cy="0"/>
          </a:xfrm>
          <a:prstGeom prst="line">
            <a:avLst/>
          </a:prstGeom>
          <a:noFill/>
          <a:ln w="9525">
            <a:solidFill>
              <a:srgbClr val="44546A"/>
            </a:solidFill>
            <a:prstDash val="solid"/>
          </a:ln>
        </p:spPr>
        <p:txBody>
          <a:bodyPr/>
          <a:lstStyle/>
          <a:p>
            <a:endParaRPr lang="en-US"/>
          </a:p>
        </p:txBody>
      </p:sp>
      <p:sp>
        <p:nvSpPr>
          <p:cNvPr id="30" name="Text 28"/>
          <p:cNvSpPr txBox="1"/>
          <p:nvPr/>
        </p:nvSpPr>
        <p:spPr>
          <a:xfrm>
            <a:off x="7543800" y="3721608"/>
            <a:ext cx="3913632" cy="274320"/>
          </a:xfrm>
          <a:prstGeom prst="rect">
            <a:avLst/>
          </a:prstGeom>
          <a:noFill/>
          <a:ln/>
        </p:spPr>
        <p:txBody>
          <a:bodyPr wrap="square" lIns="0" tIns="0" rIns="0" bIns="0" rtlCol="0" anchor="ctr"/>
          <a:lstStyle/>
          <a:p>
            <a:pPr marL="0" indent="0">
              <a:buNone/>
            </a:pPr>
            <a:r>
              <a:rPr lang="en-US" sz="1200" dirty="0">
                <a:solidFill>
                  <a:srgbClr val="C9D6F0"/>
                </a:solidFill>
              </a:rPr>
              <a:t>Limit check (also accepted)</a:t>
            </a:r>
            <a:endParaRPr lang="en-US" sz="1200" dirty="0"/>
          </a:p>
        </p:txBody>
      </p:sp>
      <p:sp>
        <p:nvSpPr>
          <p:cNvPr id="31" name="Text 29"/>
          <p:cNvSpPr txBox="1"/>
          <p:nvPr/>
        </p:nvSpPr>
        <p:spPr>
          <a:xfrm>
            <a:off x="7543800" y="4023360"/>
            <a:ext cx="3913632" cy="365760"/>
          </a:xfrm>
          <a:prstGeom prst="rect">
            <a:avLst/>
          </a:prstGeom>
          <a:noFill/>
          <a:ln/>
        </p:spPr>
        <p:txBody>
          <a:bodyPr wrap="square" lIns="0" tIns="0" rIns="0" bIns="0" rtlCol="0" anchor="ctr"/>
          <a:lstStyle/>
          <a:p>
            <a:pPr marL="0" indent="0">
              <a:buNone/>
            </a:pPr>
            <a:r>
              <a:rPr lang="en-US" sz="1400" b="1" dirty="0">
                <a:solidFill>
                  <a:srgbClr val="FFFFFF"/>
                </a:solidFill>
              </a:rPr>
              <a:t>f(n)/n = 5 + 2/√n + 2 log n / n  →  5</a:t>
            </a:r>
            <a:endParaRPr lang="en-US" sz="1400" dirty="0"/>
          </a:p>
        </p:txBody>
      </p:sp>
      <p:sp>
        <p:nvSpPr>
          <p:cNvPr id="32" name="Text 30"/>
          <p:cNvSpPr txBox="1"/>
          <p:nvPr/>
        </p:nvSpPr>
        <p:spPr>
          <a:xfrm>
            <a:off x="7543800" y="4389120"/>
            <a:ext cx="3913632" cy="274320"/>
          </a:xfrm>
          <a:prstGeom prst="rect">
            <a:avLst/>
          </a:prstGeom>
          <a:noFill/>
          <a:ln/>
        </p:spPr>
        <p:txBody>
          <a:bodyPr wrap="square" lIns="0" tIns="0" rIns="0" bIns="0" rtlCol="0" anchor="ctr"/>
          <a:lstStyle/>
          <a:p>
            <a:pPr marL="0" indent="0">
              <a:buNone/>
            </a:pPr>
            <a:r>
              <a:rPr lang="en-US" sz="1100" dirty="0">
                <a:solidFill>
                  <a:srgbClr val="C9D6F0"/>
                </a:solidFill>
              </a:rPr>
              <a:t>A positive constant limit means Θ(n).</a:t>
            </a:r>
            <a:endParaRPr lang="en-US" sz="1100" dirty="0"/>
          </a:p>
        </p:txBody>
      </p:sp>
      <p:sp>
        <p:nvSpPr>
          <p:cNvPr id="33" name="Takeaway"/>
          <p:cNvSpPr/>
          <p:nvPr/>
        </p:nvSpPr>
        <p:spPr>
          <a:xfrm>
            <a:off x="502920" y="5074920"/>
            <a:ext cx="11183112" cy="685800"/>
          </a:xfrm>
          <a:prstGeom prst="roundRect">
            <a:avLst>
              <a:gd name="adj" fmla="val 8000"/>
            </a:avLst>
          </a:prstGeom>
          <a:solidFill>
            <a:schemeClr val="accent5"/>
          </a:solidFill>
          <a:ln/>
        </p:spPr>
        <p:txBody>
          <a:bodyPr/>
          <a:lstStyle/>
          <a:p>
            <a:endParaRPr lang="en-US"/>
          </a:p>
        </p:txBody>
      </p:sp>
      <p:sp>
        <p:nvSpPr>
          <p:cNvPr id="34" name="Text 32"/>
          <p:cNvSpPr txBox="1"/>
          <p:nvPr/>
        </p:nvSpPr>
        <p:spPr>
          <a:xfrm>
            <a:off x="731520" y="5074920"/>
            <a:ext cx="10725912" cy="685800"/>
          </a:xfrm>
          <a:prstGeom prst="rect">
            <a:avLst/>
          </a:prstGeom>
          <a:noFill/>
          <a:ln/>
        </p:spPr>
        <p:txBody>
          <a:bodyPr wrap="square" lIns="0" tIns="0" rIns="0" bIns="0" rtlCol="0" anchor="ctr"/>
          <a:lstStyle/>
          <a:p>
            <a:pPr marL="0" indent="0">
              <a:buNone/>
            </a:pPr>
            <a:r>
              <a:rPr lang="en-US" sz="1400" b="1" dirty="0">
                <a:solidFill>
                  <a:schemeClr val="accent2"/>
                </a:solidFill>
              </a:rPr>
              <a:t>Answer: f(n) = Θ(n).  </a:t>
            </a:r>
            <a:r>
              <a:rPr lang="en-US" sz="1400" dirty="0">
                <a:solidFill>
                  <a:schemeClr val="tx2"/>
                </a:solidFill>
              </a:rPr>
              <a:t>Any valid constants earn full credit (c₂ = 100 works too), but every bound needs a reason, such as "√n ≤ n because n ≥ 1".</a:t>
            </a:r>
            <a:endParaRPr lang="en-US" sz="1400" dirty="0"/>
          </a:p>
        </p:txBody>
      </p:sp>
      <p:sp>
        <p:nvSpPr>
          <p:cNvPr id="35" name="Slide Number Placeholder 0"/>
          <p:cNvSpPr>
            <a:spLocks noGrp="1"/>
          </p:cNvSpPr>
          <p:nvPr>
            <p:ph type="sldNum" sz="quarter" idx="4294967295"/>
          </p:nvPr>
        </p:nvSpPr>
        <p:spPr>
          <a:xfrm>
            <a:off x="11228832" y="6547104"/>
            <a:ext cx="457200" cy="237744"/>
          </a:xfrm>
          <a:prstGeom prst="rect">
            <a:avLst/>
          </a:prstGeom>
          <a:extLst>
            <a:ext uri="{C572A759-6A51-4108-AA02-DFA0A04FC94B}">
              <ma14:wrappingTextBoxFlag xmlns="" xmlns:ma14="http://schemas.microsoft.com/office/mac/drawingml/2011/main" val="0"/>
            </a:ext>
          </a:extLst>
        </p:spPr>
        <p:txBody>
          <a:bodyPr/>
          <a:lstStyle>
            <a:lvl1pPr>
              <a:defRPr sz="850">
                <a:solidFill>
                  <a:srgbClr val="595959"/>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02920" y="347472"/>
            <a:ext cx="10515600" cy="274320"/>
          </a:xfrm>
          <a:prstGeom prst="rect">
            <a:avLst/>
          </a:prstGeom>
          <a:noFill/>
          <a:ln/>
        </p:spPr>
        <p:txBody>
          <a:bodyPr wrap="square" lIns="0" tIns="0" rIns="0" bIns="0" rtlCol="0"/>
          <a:lstStyle/>
          <a:p>
            <a:pPr marL="0" indent="0">
              <a:buNone/>
            </a:pPr>
            <a:r>
              <a:rPr lang="en-US" sz="1200" b="1" kern="0" spc="100" dirty="0">
                <a:solidFill>
                  <a:schemeClr val="accent2"/>
                </a:solidFill>
              </a:rPr>
              <a:t>PRACTICE PROBLEM 4 · HEAPS</a:t>
            </a:r>
            <a:endParaRPr lang="en-US" sz="1200" dirty="0"/>
          </a:p>
        </p:txBody>
      </p:sp>
      <p:sp>
        <p:nvSpPr>
          <p:cNvPr id="3" name="Text 1"/>
          <p:cNvSpPr>
            <a:spLocks noGrp="1"/>
          </p:cNvSpPr>
          <p:nvPr>
            <p:ph type="title" idx="102" hasCustomPrompt="1"/>
          </p:nvPr>
        </p:nvSpPr>
        <p:spPr>
          <a:xfrm>
            <a:off x="502920" y="603504"/>
            <a:ext cx="10789920" cy="566928"/>
          </a:xfrm>
          <a:prstGeom prst="rect">
            <a:avLst/>
          </a:prstGeom>
          <a:noFill/>
          <a:ln/>
        </p:spPr>
        <p:txBody>
          <a:bodyPr wrap="square" lIns="0" tIns="0" rIns="0" bIns="0" rtlCol="0" anchor="t"/>
          <a:lstStyle/>
          <a:p>
            <a:pPr marL="0" indent="0" algn="l">
              <a:buNone/>
            </a:pPr>
            <a:r>
              <a:rPr lang="en-US" sz="3000" b="1" dirty="0">
                <a:solidFill>
                  <a:schemeClr val="tx1"/>
                </a:solidFill>
              </a:rPr>
              <a:t>Trace MAX-HEAPIFY</a:t>
            </a:r>
            <a:endParaRPr lang="en-US" sz="3000" dirty="0"/>
          </a:p>
        </p:txBody>
      </p:sp>
      <p:sp>
        <p:nvSpPr>
          <p:cNvPr id="4" name="Text 1"/>
          <p:cNvSpPr>
            <a:spLocks noGrp="1"/>
          </p:cNvSpPr>
          <p:nvPr>
            <p:ph type="body" idx="103" hasCustomPrompt="1"/>
          </p:nvPr>
        </p:nvSpPr>
        <p:spPr>
          <a:xfrm>
            <a:off x="502920" y="1152144"/>
            <a:ext cx="10881360" cy="384048"/>
          </a:xfrm>
          <a:prstGeom prst="rect">
            <a:avLst/>
          </a:prstGeom>
          <a:noFill/>
          <a:ln/>
        </p:spPr>
        <p:txBody>
          <a:bodyPr wrap="square" lIns="0" tIns="0" rIns="0" bIns="0" rtlCol="0" anchor="t"/>
          <a:lstStyle/>
          <a:p>
            <a:pPr marL="0" indent="0">
              <a:buNone/>
            </a:pPr>
            <a:r>
              <a:rPr lang="en-US" sz="1350" dirty="0">
                <a:solidFill>
                  <a:srgbClr val="595959"/>
                </a:solidFill>
              </a:rPr>
              <a:t>Run MAX-HEAPIFY(A, 0). Write the array after each swap, and count the swaps.</a:t>
            </a:r>
            <a:endParaRPr lang="en-US" sz="1350" dirty="0"/>
          </a:p>
        </p:txBody>
      </p:sp>
      <p:sp>
        <p:nvSpPr>
          <p:cNvPr id="5" name="Label How MAX-HEAPIFY(A, i) works"/>
          <p:cNvSpPr txBox="1"/>
          <p:nvPr/>
        </p:nvSpPr>
        <p:spPr>
          <a:xfrm>
            <a:off x="502920" y="1828800"/>
            <a:ext cx="6035040" cy="274320"/>
          </a:xfrm>
          <a:prstGeom prst="rect">
            <a:avLst/>
          </a:prstGeom>
          <a:noFill/>
          <a:ln/>
        </p:spPr>
        <p:txBody>
          <a:bodyPr wrap="square" lIns="0" tIns="0" rIns="0" bIns="0" rtlCol="0" anchor="ctr"/>
          <a:lstStyle/>
          <a:p>
            <a:pPr marL="0" indent="0">
              <a:buNone/>
            </a:pPr>
            <a:r>
              <a:rPr lang="en-US" sz="1300" b="1" dirty="0">
                <a:solidFill>
                  <a:schemeClr val="tx1"/>
                </a:solidFill>
              </a:rPr>
              <a:t>How MAX-HEAPIFY(A, i) works</a:t>
            </a:r>
            <a:endParaRPr lang="en-US" sz="1300" dirty="0"/>
          </a:p>
        </p:txBody>
      </p:sp>
      <p:sp>
        <p:nvSpPr>
          <p:cNvPr id="6" name="Rule card"/>
          <p:cNvSpPr/>
          <p:nvPr/>
        </p:nvSpPr>
        <p:spPr>
          <a:xfrm>
            <a:off x="502920" y="2121408"/>
            <a:ext cx="6035040" cy="1234440"/>
          </a:xfrm>
          <a:prstGeom prst="roundRect">
            <a:avLst>
              <a:gd name="adj" fmla="val 4444"/>
            </a:avLst>
          </a:prstGeom>
          <a:solidFill>
            <a:schemeClr val="bg2"/>
          </a:solidFill>
          <a:ln/>
        </p:spPr>
        <p:txBody>
          <a:bodyPr/>
          <a:lstStyle/>
          <a:p>
            <a:endParaRPr lang="en-US"/>
          </a:p>
        </p:txBody>
      </p:sp>
      <p:sp>
        <p:nvSpPr>
          <p:cNvPr id="7" name="Text 5"/>
          <p:cNvSpPr txBox="1"/>
          <p:nvPr/>
        </p:nvSpPr>
        <p:spPr>
          <a:xfrm>
            <a:off x="731520" y="2258568"/>
            <a:ext cx="5577840" cy="1005840"/>
          </a:xfrm>
          <a:prstGeom prst="rect">
            <a:avLst/>
          </a:prstGeom>
          <a:noFill/>
          <a:ln/>
        </p:spPr>
        <p:txBody>
          <a:bodyPr wrap="square" lIns="0" tIns="0" rIns="0" bIns="0" rtlCol="0" anchor="t"/>
          <a:lstStyle/>
          <a:p>
            <a:pPr marL="342900" indent="-342900">
              <a:spcAft>
                <a:spcPts val="600"/>
              </a:spcAft>
              <a:buSzPct val="100000"/>
              <a:buFont typeface="+mj-lt"/>
              <a:buAutoNum type="arabicPeriod"/>
            </a:pPr>
            <a:r>
              <a:rPr lang="en-US" sz="1400" dirty="0">
                <a:solidFill>
                  <a:schemeClr val="tx2"/>
                </a:solidFill>
              </a:rPr>
              <a:t>Look at the children of i: indices 2i + 1 and 2i + 2.</a:t>
            </a:r>
            <a:endParaRPr lang="en-US" sz="1400" dirty="0"/>
          </a:p>
          <a:p>
            <a:pPr marL="342900" indent="-342900">
              <a:spcAft>
                <a:spcPts val="600"/>
              </a:spcAft>
              <a:buSzPct val="100000"/>
              <a:buFont typeface="+mj-lt"/>
              <a:buAutoNum type="arabicPeriod"/>
            </a:pPr>
            <a:r>
              <a:rPr lang="en-US" sz="1400" dirty="0">
                <a:solidFill>
                  <a:schemeClr val="tx2"/>
                </a:solidFill>
              </a:rPr>
              <a:t>If the LARGER child is bigger than A[i], swap them.</a:t>
            </a:r>
            <a:endParaRPr lang="en-US" sz="1400" dirty="0"/>
          </a:p>
          <a:p>
            <a:pPr marL="342900" indent="-342900">
              <a:spcAft>
                <a:spcPts val="600"/>
              </a:spcAft>
              <a:buSzPct val="100000"/>
              <a:buFont typeface="+mj-lt"/>
              <a:buAutoNum type="arabicPeriod"/>
            </a:pPr>
            <a:r>
              <a:rPr lang="en-US" sz="1400" dirty="0">
                <a:solidFill>
                  <a:schemeClr val="tx2"/>
                </a:solidFill>
              </a:rPr>
              <a:t>Repeat from the child's index. Stop at a leaf, or when no child is bigger.</a:t>
            </a:r>
            <a:endParaRPr lang="en-US" sz="1400" dirty="0"/>
          </a:p>
        </p:txBody>
      </p:sp>
      <p:sp>
        <p:nvSpPr>
          <p:cNvPr id="8" name="Label Input array (0-indexed)"/>
          <p:cNvSpPr txBox="1"/>
          <p:nvPr/>
        </p:nvSpPr>
        <p:spPr>
          <a:xfrm>
            <a:off x="502920" y="3611880"/>
            <a:ext cx="6035040" cy="274320"/>
          </a:xfrm>
          <a:prstGeom prst="rect">
            <a:avLst/>
          </a:prstGeom>
          <a:noFill/>
          <a:ln/>
        </p:spPr>
        <p:txBody>
          <a:bodyPr wrap="square" lIns="0" tIns="0" rIns="0" bIns="0" rtlCol="0" anchor="ctr"/>
          <a:lstStyle/>
          <a:p>
            <a:pPr marL="0" indent="0">
              <a:buNone/>
            </a:pPr>
            <a:r>
              <a:rPr lang="en-US" sz="1300" b="1" dirty="0">
                <a:solidFill>
                  <a:schemeClr val="tx1"/>
                </a:solidFill>
              </a:rPr>
              <a:t>Input array (0-indexed)</a:t>
            </a:r>
            <a:endParaRPr lang="en-US" sz="1300" dirty="0"/>
          </a:p>
        </p:txBody>
      </p:sp>
      <p:graphicFrame>
        <p:nvGraphicFramePr>
          <p:cNvPr id="10" name="Input array"/>
          <p:cNvGraphicFramePr>
            <a:graphicFrameLocks noGrp="1"/>
          </p:cNvGraphicFramePr>
          <p:nvPr>
            <p:extLst>
              <p:ext uri="{D42A27DB-BD31-4B8C-83A1-F6EECF244321}">
                <p14:modId xmlns:p14="http://schemas.microsoft.com/office/powerpoint/2010/main" val="1579011935"/>
              </p:ext>
            </p:extLst>
          </p:nvPr>
        </p:nvGraphicFramePr>
        <p:xfrm>
          <a:off x="502920" y="3904488"/>
          <a:ext cx="6035040" cy="914400"/>
        </p:xfrm>
        <a:graphic>
          <a:graphicData uri="http://schemas.openxmlformats.org/drawingml/2006/table">
            <a:tbl>
              <a:tblPr/>
              <a:tblGrid>
                <a:gridCol w="91440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gridCol w="731520">
                  <a:extLst>
                    <a:ext uri="{9D8B030D-6E8A-4147-A177-3AD203B41FA5}">
                      <a16:colId xmlns:a16="http://schemas.microsoft.com/office/drawing/2014/main" val="20006"/>
                    </a:ext>
                  </a:extLst>
                </a:gridCol>
                <a:gridCol w="731520">
                  <a:extLst>
                    <a:ext uri="{9D8B030D-6E8A-4147-A177-3AD203B41FA5}">
                      <a16:colId xmlns:a16="http://schemas.microsoft.com/office/drawing/2014/main" val="20007"/>
                    </a:ext>
                  </a:extLst>
                </a:gridCol>
              </a:tblGrid>
              <a:tr h="329184">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Index</a:t>
                      </a:r>
                      <a:endParaRPr lang="en-US" sz="1300" dirty="0">
                        <a:latin typeface="Calibri" charset="0"/>
                        <a:ea typeface="Calibri" charset="0"/>
                        <a:cs typeface="Calibri"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29184">
                <a:tc>
                  <a:txBody>
                    <a:bodyPr/>
                    <a:lstStyle/>
                    <a:p>
                      <a:pPr marL="0" indent="0" algn="ctr">
                        <a:buNone/>
                      </a:pPr>
                      <a:r>
                        <a:rPr lang="en-US" sz="1300" b="1" dirty="0">
                          <a:solidFill>
                            <a:schemeClr val="tx1"/>
                          </a:solidFill>
                          <a:latin typeface="Calibri" pitchFamily="34" charset="0"/>
                          <a:ea typeface="Calibri" pitchFamily="34" charset="-122"/>
                          <a:cs typeface="Calibri" pitchFamily="34" charset="-120"/>
                        </a:rPr>
                        <a:t>A</a:t>
                      </a:r>
                      <a:endParaRPr lang="en-US" sz="1300" dirty="0">
                        <a:latin typeface="Calibri" charset="0"/>
                        <a:ea typeface="Calibri" charset="0"/>
                        <a:cs typeface="Calibri"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300" b="1" dirty="0">
                          <a:solidFill>
                            <a:schemeClr val="accent2"/>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300" b="1" dirty="0">
                          <a:solidFill>
                            <a:schemeClr val="tx1"/>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300" b="1" dirty="0">
                          <a:solidFill>
                            <a:schemeClr val="tx1"/>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300" b="1" dirty="0">
                          <a:solidFill>
                            <a:schemeClr val="tx1"/>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300" b="1" dirty="0">
                          <a:solidFill>
                            <a:schemeClr val="tx1"/>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300" b="1"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300" b="1" dirty="0">
                          <a:solidFill>
                            <a:schemeClr val="tx1"/>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27432" marR="2743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9" name="Label The same array as a tree"/>
          <p:cNvSpPr txBox="1"/>
          <p:nvPr/>
        </p:nvSpPr>
        <p:spPr>
          <a:xfrm>
            <a:off x="6995160" y="1828800"/>
            <a:ext cx="4690872" cy="274320"/>
          </a:xfrm>
          <a:prstGeom prst="rect">
            <a:avLst/>
          </a:prstGeom>
          <a:noFill/>
          <a:ln/>
        </p:spPr>
        <p:txBody>
          <a:bodyPr wrap="square" lIns="0" tIns="0" rIns="0" bIns="0" rtlCol="0" anchor="ctr"/>
          <a:lstStyle/>
          <a:p>
            <a:pPr marL="0" indent="0">
              <a:buNone/>
            </a:pPr>
            <a:r>
              <a:rPr lang="en-US" sz="1300" b="1" dirty="0">
                <a:solidFill>
                  <a:schemeClr val="tx1"/>
                </a:solidFill>
              </a:rPr>
              <a:t>The same array as a tree</a:t>
            </a:r>
            <a:endParaRPr lang="en-US" sz="1300" dirty="0"/>
          </a:p>
        </p:txBody>
      </p:sp>
      <p:sp>
        <p:nvSpPr>
          <p:cNvPr id="11" name="Tree panel"/>
          <p:cNvSpPr/>
          <p:nvPr/>
        </p:nvSpPr>
        <p:spPr>
          <a:xfrm>
            <a:off x="6995160" y="2121408"/>
            <a:ext cx="4690872" cy="2743200"/>
          </a:xfrm>
          <a:prstGeom prst="roundRect">
            <a:avLst>
              <a:gd name="adj" fmla="val 2000"/>
            </a:avLst>
          </a:prstGeom>
          <a:solidFill>
            <a:schemeClr val="bg2"/>
          </a:solidFill>
          <a:ln/>
        </p:spPr>
        <p:txBody>
          <a:bodyPr/>
          <a:lstStyle/>
          <a:p>
            <a:endParaRPr lang="en-US"/>
          </a:p>
        </p:txBody>
      </p:sp>
      <p:sp>
        <p:nvSpPr>
          <p:cNvPr id="12" name="Edge 0-1"/>
          <p:cNvSpPr/>
          <p:nvPr/>
        </p:nvSpPr>
        <p:spPr>
          <a:xfrm flipH="1">
            <a:off x="8213598" y="2487168"/>
            <a:ext cx="1126998" cy="731520"/>
          </a:xfrm>
          <a:prstGeom prst="line">
            <a:avLst/>
          </a:prstGeom>
          <a:noFill/>
          <a:ln w="15875">
            <a:solidFill>
              <a:srgbClr val="8497B0"/>
            </a:solidFill>
            <a:prstDash val="solid"/>
          </a:ln>
        </p:spPr>
        <p:txBody>
          <a:bodyPr/>
          <a:lstStyle/>
          <a:p>
            <a:endParaRPr lang="en-US"/>
          </a:p>
        </p:txBody>
      </p:sp>
      <p:sp>
        <p:nvSpPr>
          <p:cNvPr id="13" name="Edge 0-2"/>
          <p:cNvSpPr/>
          <p:nvPr/>
        </p:nvSpPr>
        <p:spPr>
          <a:xfrm>
            <a:off x="9340596" y="2487168"/>
            <a:ext cx="1126998" cy="731520"/>
          </a:xfrm>
          <a:prstGeom prst="line">
            <a:avLst/>
          </a:prstGeom>
          <a:noFill/>
          <a:ln w="15875">
            <a:solidFill>
              <a:srgbClr val="8497B0"/>
            </a:solidFill>
            <a:prstDash val="solid"/>
          </a:ln>
        </p:spPr>
        <p:txBody>
          <a:bodyPr/>
          <a:lstStyle/>
          <a:p>
            <a:endParaRPr lang="en-US"/>
          </a:p>
        </p:txBody>
      </p:sp>
      <p:sp>
        <p:nvSpPr>
          <p:cNvPr id="14" name="Edge 1-3"/>
          <p:cNvSpPr/>
          <p:nvPr/>
        </p:nvSpPr>
        <p:spPr>
          <a:xfrm flipH="1">
            <a:off x="7650099" y="3218688"/>
            <a:ext cx="563499" cy="731520"/>
          </a:xfrm>
          <a:prstGeom prst="line">
            <a:avLst/>
          </a:prstGeom>
          <a:noFill/>
          <a:ln w="15875">
            <a:solidFill>
              <a:srgbClr val="8497B0"/>
            </a:solidFill>
            <a:prstDash val="solid"/>
          </a:ln>
        </p:spPr>
        <p:txBody>
          <a:bodyPr/>
          <a:lstStyle/>
          <a:p>
            <a:endParaRPr lang="en-US"/>
          </a:p>
        </p:txBody>
      </p:sp>
      <p:sp>
        <p:nvSpPr>
          <p:cNvPr id="15" name="Edge 1-4"/>
          <p:cNvSpPr/>
          <p:nvPr/>
        </p:nvSpPr>
        <p:spPr>
          <a:xfrm>
            <a:off x="8213598" y="3218688"/>
            <a:ext cx="563499" cy="731520"/>
          </a:xfrm>
          <a:prstGeom prst="line">
            <a:avLst/>
          </a:prstGeom>
          <a:noFill/>
          <a:ln w="15875">
            <a:solidFill>
              <a:srgbClr val="8497B0"/>
            </a:solidFill>
            <a:prstDash val="solid"/>
          </a:ln>
        </p:spPr>
        <p:txBody>
          <a:bodyPr/>
          <a:lstStyle/>
          <a:p>
            <a:endParaRPr lang="en-US"/>
          </a:p>
        </p:txBody>
      </p:sp>
      <p:sp>
        <p:nvSpPr>
          <p:cNvPr id="16" name="Edge 2-5"/>
          <p:cNvSpPr/>
          <p:nvPr/>
        </p:nvSpPr>
        <p:spPr>
          <a:xfrm flipH="1">
            <a:off x="9904095" y="3218688"/>
            <a:ext cx="563499" cy="731520"/>
          </a:xfrm>
          <a:prstGeom prst="line">
            <a:avLst/>
          </a:prstGeom>
          <a:noFill/>
          <a:ln w="15875">
            <a:solidFill>
              <a:srgbClr val="8497B0"/>
            </a:solidFill>
            <a:prstDash val="solid"/>
          </a:ln>
        </p:spPr>
        <p:txBody>
          <a:bodyPr/>
          <a:lstStyle/>
          <a:p>
            <a:endParaRPr lang="en-US"/>
          </a:p>
        </p:txBody>
      </p:sp>
      <p:sp>
        <p:nvSpPr>
          <p:cNvPr id="17" name="Edge 2-6"/>
          <p:cNvSpPr/>
          <p:nvPr/>
        </p:nvSpPr>
        <p:spPr>
          <a:xfrm>
            <a:off x="10467594" y="3218688"/>
            <a:ext cx="563499" cy="731520"/>
          </a:xfrm>
          <a:prstGeom prst="line">
            <a:avLst/>
          </a:prstGeom>
          <a:noFill/>
          <a:ln w="15875">
            <a:solidFill>
              <a:srgbClr val="8497B0"/>
            </a:solidFill>
            <a:prstDash val="solid"/>
          </a:ln>
        </p:spPr>
        <p:txBody>
          <a:bodyPr/>
          <a:lstStyle/>
          <a:p>
            <a:endParaRPr lang="en-US"/>
          </a:p>
        </p:txBody>
      </p:sp>
      <p:sp>
        <p:nvSpPr>
          <p:cNvPr id="18" name="Node 0"/>
          <p:cNvSpPr/>
          <p:nvPr/>
        </p:nvSpPr>
        <p:spPr>
          <a:xfrm>
            <a:off x="9121140" y="2267712"/>
            <a:ext cx="438912" cy="438912"/>
          </a:xfrm>
          <a:prstGeom prst="ellipse">
            <a:avLst/>
          </a:prstGeom>
          <a:solidFill>
            <a:schemeClr val="accent2"/>
          </a:solidFill>
          <a:ln w="15875">
            <a:solidFill>
              <a:schemeClr val="accent2"/>
            </a:solidFill>
            <a:prstDash val="solid"/>
          </a:ln>
        </p:spPr>
        <p:txBody>
          <a:bodyPr/>
          <a:lstStyle/>
          <a:p>
            <a:endParaRPr lang="en-US"/>
          </a:p>
        </p:txBody>
      </p:sp>
      <p:sp>
        <p:nvSpPr>
          <p:cNvPr id="19" name="Text 16"/>
          <p:cNvSpPr txBox="1"/>
          <p:nvPr/>
        </p:nvSpPr>
        <p:spPr>
          <a:xfrm>
            <a:off x="9121140" y="2267712"/>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20" name="Text 17"/>
          <p:cNvSpPr txBox="1"/>
          <p:nvPr/>
        </p:nvSpPr>
        <p:spPr>
          <a:xfrm>
            <a:off x="8974836" y="2724912"/>
            <a:ext cx="731520" cy="201168"/>
          </a:xfrm>
          <a:prstGeom prst="rect">
            <a:avLst/>
          </a:prstGeom>
          <a:noFill/>
          <a:ln/>
        </p:spPr>
        <p:txBody>
          <a:bodyPr wrap="square" lIns="0" tIns="0" rIns="0" bIns="0" rtlCol="0" anchor="ctr"/>
          <a:lstStyle/>
          <a:p>
            <a:pPr marL="0" indent="0" algn="ctr">
              <a:buNone/>
            </a:pPr>
            <a:r>
              <a:rPr lang="en-US" sz="900" dirty="0">
                <a:solidFill>
                  <a:srgbClr val="595959"/>
                </a:solidFill>
              </a:rPr>
              <a:t>[0]</a:t>
            </a:r>
            <a:endParaRPr lang="en-US" sz="900" dirty="0"/>
          </a:p>
        </p:txBody>
      </p:sp>
      <p:sp>
        <p:nvSpPr>
          <p:cNvPr id="21" name="Node 1"/>
          <p:cNvSpPr/>
          <p:nvPr/>
        </p:nvSpPr>
        <p:spPr>
          <a:xfrm>
            <a:off x="7994142" y="2999232"/>
            <a:ext cx="438912" cy="438912"/>
          </a:xfrm>
          <a:prstGeom prst="ellipse">
            <a:avLst/>
          </a:prstGeom>
          <a:solidFill>
            <a:srgbClr val="FFFFFF"/>
          </a:solidFill>
          <a:ln w="15875">
            <a:solidFill>
              <a:schemeClr val="tx1"/>
            </a:solidFill>
            <a:prstDash val="solid"/>
          </a:ln>
        </p:spPr>
        <p:txBody>
          <a:bodyPr/>
          <a:lstStyle/>
          <a:p>
            <a:endParaRPr lang="en-US"/>
          </a:p>
        </p:txBody>
      </p:sp>
      <p:sp>
        <p:nvSpPr>
          <p:cNvPr id="22" name="Text 19"/>
          <p:cNvSpPr txBox="1"/>
          <p:nvPr/>
        </p:nvSpPr>
        <p:spPr>
          <a:xfrm>
            <a:off x="7994142" y="2999232"/>
            <a:ext cx="438912" cy="438912"/>
          </a:xfrm>
          <a:prstGeom prst="rect">
            <a:avLst/>
          </a:prstGeom>
          <a:noFill/>
          <a:ln/>
        </p:spPr>
        <p:txBody>
          <a:bodyPr wrap="square" lIns="0" tIns="0" rIns="0" bIns="0" rtlCol="0" anchor="ctr"/>
          <a:lstStyle/>
          <a:p>
            <a:pPr marL="0" indent="0" algn="ctr">
              <a:buNone/>
            </a:pPr>
            <a:r>
              <a:rPr lang="en-US" sz="1400" b="1" dirty="0">
                <a:solidFill>
                  <a:schemeClr val="tx1"/>
                </a:solidFill>
              </a:rPr>
              <a:t>9</a:t>
            </a:r>
            <a:endParaRPr lang="en-US" sz="1400" dirty="0"/>
          </a:p>
        </p:txBody>
      </p:sp>
      <p:sp>
        <p:nvSpPr>
          <p:cNvPr id="23" name="Text 20"/>
          <p:cNvSpPr txBox="1"/>
          <p:nvPr/>
        </p:nvSpPr>
        <p:spPr>
          <a:xfrm>
            <a:off x="7847838" y="3456432"/>
            <a:ext cx="731520" cy="201168"/>
          </a:xfrm>
          <a:prstGeom prst="rect">
            <a:avLst/>
          </a:prstGeom>
          <a:noFill/>
          <a:ln/>
        </p:spPr>
        <p:txBody>
          <a:bodyPr wrap="square" lIns="0" tIns="0" rIns="0" bIns="0" rtlCol="0" anchor="ctr"/>
          <a:lstStyle/>
          <a:p>
            <a:pPr marL="0" indent="0" algn="ctr">
              <a:buNone/>
            </a:pPr>
            <a:r>
              <a:rPr lang="en-US" sz="900" dirty="0">
                <a:solidFill>
                  <a:srgbClr val="595959"/>
                </a:solidFill>
              </a:rPr>
              <a:t>[1]</a:t>
            </a:r>
            <a:endParaRPr lang="en-US" sz="900" dirty="0"/>
          </a:p>
        </p:txBody>
      </p:sp>
      <p:sp>
        <p:nvSpPr>
          <p:cNvPr id="24" name="Node 2"/>
          <p:cNvSpPr/>
          <p:nvPr/>
        </p:nvSpPr>
        <p:spPr>
          <a:xfrm>
            <a:off x="10248138" y="2999232"/>
            <a:ext cx="438912" cy="438912"/>
          </a:xfrm>
          <a:prstGeom prst="ellipse">
            <a:avLst/>
          </a:prstGeom>
          <a:solidFill>
            <a:srgbClr val="FFFFFF"/>
          </a:solidFill>
          <a:ln w="15875">
            <a:solidFill>
              <a:schemeClr val="tx1"/>
            </a:solidFill>
            <a:prstDash val="solid"/>
          </a:ln>
        </p:spPr>
        <p:txBody>
          <a:bodyPr/>
          <a:lstStyle/>
          <a:p>
            <a:endParaRPr lang="en-US"/>
          </a:p>
        </p:txBody>
      </p:sp>
      <p:sp>
        <p:nvSpPr>
          <p:cNvPr id="25" name="Text 22"/>
          <p:cNvSpPr txBox="1"/>
          <p:nvPr/>
        </p:nvSpPr>
        <p:spPr>
          <a:xfrm>
            <a:off x="10248138" y="2999232"/>
            <a:ext cx="438912" cy="438912"/>
          </a:xfrm>
          <a:prstGeom prst="rect">
            <a:avLst/>
          </a:prstGeom>
          <a:noFill/>
          <a:ln/>
        </p:spPr>
        <p:txBody>
          <a:bodyPr wrap="square" lIns="0" tIns="0" rIns="0" bIns="0" rtlCol="0" anchor="ctr"/>
          <a:lstStyle/>
          <a:p>
            <a:pPr marL="0" indent="0" algn="ctr">
              <a:buNone/>
            </a:pPr>
            <a:r>
              <a:rPr lang="en-US" sz="1400" b="1" dirty="0">
                <a:solidFill>
                  <a:schemeClr val="tx1"/>
                </a:solidFill>
              </a:rPr>
              <a:t>7</a:t>
            </a:r>
            <a:endParaRPr lang="en-US" sz="1400" dirty="0"/>
          </a:p>
        </p:txBody>
      </p:sp>
      <p:sp>
        <p:nvSpPr>
          <p:cNvPr id="26" name="Text 23"/>
          <p:cNvSpPr txBox="1"/>
          <p:nvPr/>
        </p:nvSpPr>
        <p:spPr>
          <a:xfrm>
            <a:off x="10101834" y="3456432"/>
            <a:ext cx="731520" cy="201168"/>
          </a:xfrm>
          <a:prstGeom prst="rect">
            <a:avLst/>
          </a:prstGeom>
          <a:noFill/>
          <a:ln/>
        </p:spPr>
        <p:txBody>
          <a:bodyPr wrap="square" lIns="0" tIns="0" rIns="0" bIns="0" rtlCol="0" anchor="ctr"/>
          <a:lstStyle/>
          <a:p>
            <a:pPr marL="0" indent="0" algn="ctr">
              <a:buNone/>
            </a:pPr>
            <a:r>
              <a:rPr lang="en-US" sz="900" dirty="0">
                <a:solidFill>
                  <a:srgbClr val="595959"/>
                </a:solidFill>
              </a:rPr>
              <a:t>[2]</a:t>
            </a:r>
            <a:endParaRPr lang="en-US" sz="900" dirty="0"/>
          </a:p>
        </p:txBody>
      </p:sp>
      <p:sp>
        <p:nvSpPr>
          <p:cNvPr id="27" name="Node 3"/>
          <p:cNvSpPr/>
          <p:nvPr/>
        </p:nvSpPr>
        <p:spPr>
          <a:xfrm>
            <a:off x="7430643" y="3730752"/>
            <a:ext cx="438912" cy="438912"/>
          </a:xfrm>
          <a:prstGeom prst="ellipse">
            <a:avLst/>
          </a:prstGeom>
          <a:solidFill>
            <a:srgbClr val="FFFFFF"/>
          </a:solidFill>
          <a:ln w="15875">
            <a:solidFill>
              <a:schemeClr val="tx1"/>
            </a:solidFill>
            <a:prstDash val="solid"/>
          </a:ln>
        </p:spPr>
        <p:txBody>
          <a:bodyPr/>
          <a:lstStyle/>
          <a:p>
            <a:endParaRPr lang="en-US"/>
          </a:p>
        </p:txBody>
      </p:sp>
      <p:sp>
        <p:nvSpPr>
          <p:cNvPr id="28" name="Text 25"/>
          <p:cNvSpPr txBox="1"/>
          <p:nvPr/>
        </p:nvSpPr>
        <p:spPr>
          <a:xfrm>
            <a:off x="7430643" y="3730752"/>
            <a:ext cx="438912" cy="438912"/>
          </a:xfrm>
          <a:prstGeom prst="rect">
            <a:avLst/>
          </a:prstGeom>
          <a:noFill/>
          <a:ln/>
        </p:spPr>
        <p:txBody>
          <a:bodyPr wrap="square" lIns="0" tIns="0" rIns="0" bIns="0" rtlCol="0" anchor="ctr"/>
          <a:lstStyle/>
          <a:p>
            <a:pPr marL="0" indent="0" algn="ctr">
              <a:buNone/>
            </a:pPr>
            <a:r>
              <a:rPr lang="en-US" sz="1400" b="1" dirty="0">
                <a:solidFill>
                  <a:schemeClr val="tx1"/>
                </a:solidFill>
              </a:rPr>
              <a:t>8</a:t>
            </a:r>
            <a:endParaRPr lang="en-US" sz="1400" dirty="0"/>
          </a:p>
        </p:txBody>
      </p:sp>
      <p:sp>
        <p:nvSpPr>
          <p:cNvPr id="29" name="Text 26"/>
          <p:cNvSpPr txBox="1"/>
          <p:nvPr/>
        </p:nvSpPr>
        <p:spPr>
          <a:xfrm>
            <a:off x="7284339" y="4187952"/>
            <a:ext cx="731520" cy="201168"/>
          </a:xfrm>
          <a:prstGeom prst="rect">
            <a:avLst/>
          </a:prstGeom>
          <a:noFill/>
          <a:ln/>
        </p:spPr>
        <p:txBody>
          <a:bodyPr wrap="square" lIns="0" tIns="0" rIns="0" bIns="0" rtlCol="0" anchor="ctr"/>
          <a:lstStyle/>
          <a:p>
            <a:pPr marL="0" indent="0" algn="ctr">
              <a:buNone/>
            </a:pPr>
            <a:r>
              <a:rPr lang="en-US" sz="900" dirty="0">
                <a:solidFill>
                  <a:srgbClr val="595959"/>
                </a:solidFill>
              </a:rPr>
              <a:t>[3]</a:t>
            </a:r>
            <a:endParaRPr lang="en-US" sz="900" dirty="0"/>
          </a:p>
        </p:txBody>
      </p:sp>
      <p:sp>
        <p:nvSpPr>
          <p:cNvPr id="30" name="Node 4"/>
          <p:cNvSpPr/>
          <p:nvPr/>
        </p:nvSpPr>
        <p:spPr>
          <a:xfrm>
            <a:off x="8557641" y="3730752"/>
            <a:ext cx="438912" cy="438912"/>
          </a:xfrm>
          <a:prstGeom prst="ellipse">
            <a:avLst/>
          </a:prstGeom>
          <a:solidFill>
            <a:srgbClr val="FFFFFF"/>
          </a:solidFill>
          <a:ln w="15875">
            <a:solidFill>
              <a:schemeClr val="tx1"/>
            </a:solidFill>
            <a:prstDash val="solid"/>
          </a:ln>
        </p:spPr>
        <p:txBody>
          <a:bodyPr/>
          <a:lstStyle/>
          <a:p>
            <a:endParaRPr lang="en-US"/>
          </a:p>
        </p:txBody>
      </p:sp>
      <p:sp>
        <p:nvSpPr>
          <p:cNvPr id="31" name="Text 28"/>
          <p:cNvSpPr txBox="1"/>
          <p:nvPr/>
        </p:nvSpPr>
        <p:spPr>
          <a:xfrm>
            <a:off x="8557641" y="3730752"/>
            <a:ext cx="438912" cy="438912"/>
          </a:xfrm>
          <a:prstGeom prst="rect">
            <a:avLst/>
          </a:prstGeom>
          <a:noFill/>
          <a:ln/>
        </p:spPr>
        <p:txBody>
          <a:bodyPr wrap="square" lIns="0" tIns="0" rIns="0" bIns="0" rtlCol="0" anchor="ctr"/>
          <a:lstStyle/>
          <a:p>
            <a:pPr marL="0" indent="0" algn="ctr">
              <a:buNone/>
            </a:pPr>
            <a:r>
              <a:rPr lang="en-US" sz="1400" b="1" dirty="0">
                <a:solidFill>
                  <a:schemeClr val="tx1"/>
                </a:solidFill>
              </a:rPr>
              <a:t>4</a:t>
            </a:r>
            <a:endParaRPr lang="en-US" sz="1400" dirty="0"/>
          </a:p>
        </p:txBody>
      </p:sp>
      <p:sp>
        <p:nvSpPr>
          <p:cNvPr id="32" name="Text 29"/>
          <p:cNvSpPr txBox="1"/>
          <p:nvPr/>
        </p:nvSpPr>
        <p:spPr>
          <a:xfrm>
            <a:off x="8411337" y="4187952"/>
            <a:ext cx="731520" cy="201168"/>
          </a:xfrm>
          <a:prstGeom prst="rect">
            <a:avLst/>
          </a:prstGeom>
          <a:noFill/>
          <a:ln/>
        </p:spPr>
        <p:txBody>
          <a:bodyPr wrap="square" lIns="0" tIns="0" rIns="0" bIns="0" rtlCol="0" anchor="ctr"/>
          <a:lstStyle/>
          <a:p>
            <a:pPr marL="0" indent="0" algn="ctr">
              <a:buNone/>
            </a:pPr>
            <a:r>
              <a:rPr lang="en-US" sz="900" dirty="0">
                <a:solidFill>
                  <a:srgbClr val="595959"/>
                </a:solidFill>
              </a:rPr>
              <a:t>[4]</a:t>
            </a:r>
            <a:endParaRPr lang="en-US" sz="900" dirty="0"/>
          </a:p>
        </p:txBody>
      </p:sp>
      <p:sp>
        <p:nvSpPr>
          <p:cNvPr id="33" name="Node 5"/>
          <p:cNvSpPr/>
          <p:nvPr/>
        </p:nvSpPr>
        <p:spPr>
          <a:xfrm>
            <a:off x="9684639" y="3730752"/>
            <a:ext cx="438912" cy="438912"/>
          </a:xfrm>
          <a:prstGeom prst="ellipse">
            <a:avLst/>
          </a:prstGeom>
          <a:solidFill>
            <a:srgbClr val="FFFFFF"/>
          </a:solidFill>
          <a:ln w="15875">
            <a:solidFill>
              <a:schemeClr val="tx1"/>
            </a:solidFill>
            <a:prstDash val="solid"/>
          </a:ln>
        </p:spPr>
        <p:txBody>
          <a:bodyPr/>
          <a:lstStyle/>
          <a:p>
            <a:endParaRPr lang="en-US"/>
          </a:p>
        </p:txBody>
      </p:sp>
      <p:sp>
        <p:nvSpPr>
          <p:cNvPr id="34" name="Text 31"/>
          <p:cNvSpPr txBox="1"/>
          <p:nvPr/>
        </p:nvSpPr>
        <p:spPr>
          <a:xfrm>
            <a:off x="9684639" y="3730752"/>
            <a:ext cx="438912" cy="438912"/>
          </a:xfrm>
          <a:prstGeom prst="rect">
            <a:avLst/>
          </a:prstGeom>
          <a:noFill/>
          <a:ln/>
        </p:spPr>
        <p:txBody>
          <a:bodyPr wrap="square" lIns="0" tIns="0" rIns="0" bIns="0" rtlCol="0" anchor="ctr"/>
          <a:lstStyle/>
          <a:p>
            <a:pPr marL="0" indent="0" algn="ctr">
              <a:buNone/>
            </a:pPr>
            <a:r>
              <a:rPr lang="en-US" sz="1400" b="1" dirty="0">
                <a:solidFill>
                  <a:schemeClr val="tx1"/>
                </a:solidFill>
              </a:rPr>
              <a:t>1</a:t>
            </a:r>
            <a:endParaRPr lang="en-US" sz="1400" dirty="0"/>
          </a:p>
        </p:txBody>
      </p:sp>
      <p:sp>
        <p:nvSpPr>
          <p:cNvPr id="35" name="Text 32"/>
          <p:cNvSpPr txBox="1"/>
          <p:nvPr/>
        </p:nvSpPr>
        <p:spPr>
          <a:xfrm>
            <a:off x="9538335" y="4187952"/>
            <a:ext cx="731520" cy="201168"/>
          </a:xfrm>
          <a:prstGeom prst="rect">
            <a:avLst/>
          </a:prstGeom>
          <a:noFill/>
          <a:ln/>
        </p:spPr>
        <p:txBody>
          <a:bodyPr wrap="square" lIns="0" tIns="0" rIns="0" bIns="0" rtlCol="0" anchor="ctr"/>
          <a:lstStyle/>
          <a:p>
            <a:pPr marL="0" indent="0" algn="ctr">
              <a:buNone/>
            </a:pPr>
            <a:r>
              <a:rPr lang="en-US" sz="900" dirty="0">
                <a:solidFill>
                  <a:srgbClr val="595959"/>
                </a:solidFill>
              </a:rPr>
              <a:t>[5]</a:t>
            </a:r>
            <a:endParaRPr lang="en-US" sz="900" dirty="0"/>
          </a:p>
        </p:txBody>
      </p:sp>
      <p:sp>
        <p:nvSpPr>
          <p:cNvPr id="36" name="Node 6"/>
          <p:cNvSpPr/>
          <p:nvPr/>
        </p:nvSpPr>
        <p:spPr>
          <a:xfrm>
            <a:off x="10811637" y="3730752"/>
            <a:ext cx="438912" cy="438912"/>
          </a:xfrm>
          <a:prstGeom prst="ellipse">
            <a:avLst/>
          </a:prstGeom>
          <a:solidFill>
            <a:srgbClr val="FFFFFF"/>
          </a:solidFill>
          <a:ln w="15875">
            <a:solidFill>
              <a:schemeClr val="tx1"/>
            </a:solidFill>
            <a:prstDash val="solid"/>
          </a:ln>
        </p:spPr>
        <p:txBody>
          <a:bodyPr/>
          <a:lstStyle/>
          <a:p>
            <a:endParaRPr lang="en-US"/>
          </a:p>
        </p:txBody>
      </p:sp>
      <p:sp>
        <p:nvSpPr>
          <p:cNvPr id="37" name="Text 34"/>
          <p:cNvSpPr txBox="1"/>
          <p:nvPr/>
        </p:nvSpPr>
        <p:spPr>
          <a:xfrm>
            <a:off x="10811637" y="3730752"/>
            <a:ext cx="438912" cy="438912"/>
          </a:xfrm>
          <a:prstGeom prst="rect">
            <a:avLst/>
          </a:prstGeom>
          <a:noFill/>
          <a:ln/>
        </p:spPr>
        <p:txBody>
          <a:bodyPr wrap="square" lIns="0" tIns="0" rIns="0" bIns="0" rtlCol="0" anchor="ctr"/>
          <a:lstStyle/>
          <a:p>
            <a:pPr marL="0" indent="0" algn="ctr">
              <a:buNone/>
            </a:pPr>
            <a:r>
              <a:rPr lang="en-US" sz="1400" b="1" dirty="0">
                <a:solidFill>
                  <a:schemeClr val="tx1"/>
                </a:solidFill>
              </a:rPr>
              <a:t>5</a:t>
            </a:r>
            <a:endParaRPr lang="en-US" sz="1400" dirty="0"/>
          </a:p>
        </p:txBody>
      </p:sp>
      <p:sp>
        <p:nvSpPr>
          <p:cNvPr id="38" name="Text 35"/>
          <p:cNvSpPr txBox="1"/>
          <p:nvPr/>
        </p:nvSpPr>
        <p:spPr>
          <a:xfrm>
            <a:off x="10665333" y="4187952"/>
            <a:ext cx="731520" cy="201168"/>
          </a:xfrm>
          <a:prstGeom prst="rect">
            <a:avLst/>
          </a:prstGeom>
          <a:noFill/>
          <a:ln/>
        </p:spPr>
        <p:txBody>
          <a:bodyPr wrap="square" lIns="0" tIns="0" rIns="0" bIns="0" rtlCol="0" anchor="ctr"/>
          <a:lstStyle/>
          <a:p>
            <a:pPr marL="0" indent="0" algn="ctr">
              <a:buNone/>
            </a:pPr>
            <a:r>
              <a:rPr lang="en-US" sz="900" dirty="0">
                <a:solidFill>
                  <a:srgbClr val="595959"/>
                </a:solidFill>
              </a:rPr>
              <a:t>[6]</a:t>
            </a:r>
            <a:endParaRPr lang="en-US" sz="900" dirty="0"/>
          </a:p>
        </p:txBody>
      </p:sp>
      <p:sp>
        <p:nvSpPr>
          <p:cNvPr id="39" name="Text 36"/>
          <p:cNvSpPr txBox="1"/>
          <p:nvPr/>
        </p:nvSpPr>
        <p:spPr>
          <a:xfrm>
            <a:off x="7178040" y="4434840"/>
            <a:ext cx="4325112" cy="365760"/>
          </a:xfrm>
          <a:prstGeom prst="rect">
            <a:avLst/>
          </a:prstGeom>
          <a:noFill/>
          <a:ln/>
        </p:spPr>
        <p:txBody>
          <a:bodyPr wrap="square" lIns="0" tIns="0" rIns="0" bIns="0" rtlCol="0" anchor="ctr"/>
          <a:lstStyle/>
          <a:p>
            <a:pPr marL="0" indent="0" algn="ctr">
              <a:buNone/>
            </a:pPr>
            <a:r>
              <a:rPr lang="en-US" sz="1100" dirty="0">
                <a:solidFill>
                  <a:schemeClr val="tx2"/>
                </a:solidFill>
              </a:rPr>
              <a:t>Only the root (3) is out of place; both subtrees are already max-heaps.</a:t>
            </a:r>
            <a:endParaRPr lang="en-US" sz="1100" dirty="0"/>
          </a:p>
        </p:txBody>
      </p:sp>
      <p:sp>
        <p:nvSpPr>
          <p:cNvPr id="40" name="Takeaway"/>
          <p:cNvSpPr/>
          <p:nvPr/>
        </p:nvSpPr>
        <p:spPr>
          <a:xfrm>
            <a:off x="502920" y="5074920"/>
            <a:ext cx="11183112" cy="685800"/>
          </a:xfrm>
          <a:prstGeom prst="roundRect">
            <a:avLst>
              <a:gd name="adj" fmla="val 8000"/>
            </a:avLst>
          </a:prstGeom>
          <a:solidFill>
            <a:schemeClr val="accent5"/>
          </a:solidFill>
          <a:ln/>
        </p:spPr>
        <p:txBody>
          <a:bodyPr/>
          <a:lstStyle/>
          <a:p>
            <a:endParaRPr lang="en-US"/>
          </a:p>
        </p:txBody>
      </p:sp>
      <p:sp>
        <p:nvSpPr>
          <p:cNvPr id="41" name="Text 38"/>
          <p:cNvSpPr txBox="1"/>
          <p:nvPr/>
        </p:nvSpPr>
        <p:spPr>
          <a:xfrm>
            <a:off x="731520" y="5074920"/>
            <a:ext cx="10725912" cy="685800"/>
          </a:xfrm>
          <a:prstGeom prst="rect">
            <a:avLst/>
          </a:prstGeom>
          <a:noFill/>
          <a:ln/>
        </p:spPr>
        <p:txBody>
          <a:bodyPr wrap="square" lIns="0" tIns="0" rIns="0" bIns="0" rtlCol="0" anchor="ctr"/>
          <a:lstStyle/>
          <a:p>
            <a:pPr marL="0" indent="0">
              <a:buNone/>
            </a:pPr>
            <a:r>
              <a:rPr lang="en-US" sz="1400" b="1" dirty="0">
                <a:solidFill>
                  <a:schemeClr val="accent2"/>
                </a:solidFill>
              </a:rPr>
              <a:t>Show your work:  </a:t>
            </a:r>
            <a:r>
              <a:rPr lang="en-US" sz="1400" dirty="0">
                <a:solidFill>
                  <a:schemeClr val="tx2"/>
                </a:solidFill>
              </a:rPr>
              <a:t>for every swap, write which two indices were swapped and the full array afterward.</a:t>
            </a:r>
            <a:endParaRPr lang="en-US" sz="1400" dirty="0"/>
          </a:p>
        </p:txBody>
      </p:sp>
      <p:sp>
        <p:nvSpPr>
          <p:cNvPr id="42" name="Slide Number Placeholder 0"/>
          <p:cNvSpPr>
            <a:spLocks noGrp="1"/>
          </p:cNvSpPr>
          <p:nvPr>
            <p:ph type="sldNum" sz="quarter" idx="4294967295"/>
          </p:nvPr>
        </p:nvSpPr>
        <p:spPr>
          <a:xfrm>
            <a:off x="11228832" y="6547104"/>
            <a:ext cx="457200" cy="237744"/>
          </a:xfrm>
          <a:prstGeom prst="rect">
            <a:avLst/>
          </a:prstGeom>
          <a:extLst>
            <a:ext uri="{C572A759-6A51-4108-AA02-DFA0A04FC94B}">
              <ma14:wrappingTextBoxFlag xmlns="" xmlns:ma14="http://schemas.microsoft.com/office/mac/drawingml/2011/main" val="0"/>
            </a:ext>
          </a:extLst>
        </p:spPr>
        <p:txBody>
          <a:bodyPr/>
          <a:lstStyle>
            <a:lvl1pPr>
              <a:defRPr sz="850">
                <a:solidFill>
                  <a:srgbClr val="595959"/>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02920" y="347472"/>
            <a:ext cx="10515600" cy="274320"/>
          </a:xfrm>
          <a:prstGeom prst="rect">
            <a:avLst/>
          </a:prstGeom>
          <a:noFill/>
          <a:ln/>
        </p:spPr>
        <p:txBody>
          <a:bodyPr wrap="square" lIns="0" tIns="0" rIns="0" bIns="0" rtlCol="0"/>
          <a:lstStyle/>
          <a:p>
            <a:pPr marL="0" indent="0">
              <a:buNone/>
            </a:pPr>
            <a:r>
              <a:rPr lang="en-US" sz="1200" b="1" kern="0" spc="100" dirty="0">
                <a:solidFill>
                  <a:schemeClr val="accent2"/>
                </a:solidFill>
              </a:rPr>
              <a:t>PRACTICE PROBLEM 4 · SOLUTION</a:t>
            </a:r>
            <a:endParaRPr lang="en-US" sz="1200" dirty="0"/>
          </a:p>
        </p:txBody>
      </p:sp>
      <p:sp>
        <p:nvSpPr>
          <p:cNvPr id="3" name="Text 1"/>
          <p:cNvSpPr>
            <a:spLocks noGrp="1"/>
          </p:cNvSpPr>
          <p:nvPr>
            <p:ph type="title" idx="102" hasCustomPrompt="1"/>
          </p:nvPr>
        </p:nvSpPr>
        <p:spPr>
          <a:xfrm>
            <a:off x="502920" y="603504"/>
            <a:ext cx="10789920" cy="566928"/>
          </a:xfrm>
          <a:prstGeom prst="rect">
            <a:avLst/>
          </a:prstGeom>
          <a:noFill/>
          <a:ln/>
        </p:spPr>
        <p:txBody>
          <a:bodyPr wrap="square" lIns="0" tIns="0" rIns="0" bIns="0" rtlCol="0" anchor="t"/>
          <a:lstStyle/>
          <a:p>
            <a:pPr marL="0" indent="0" algn="l">
              <a:buNone/>
            </a:pPr>
            <a:r>
              <a:rPr lang="en-US" sz="3000" b="1" dirty="0">
                <a:solidFill>
                  <a:schemeClr val="tx1"/>
                </a:solidFill>
              </a:rPr>
              <a:t>MAX-HEAPIFY Takes 2 Swaps</a:t>
            </a:r>
            <a:endParaRPr lang="en-US" sz="3000" dirty="0"/>
          </a:p>
        </p:txBody>
      </p:sp>
      <p:sp>
        <p:nvSpPr>
          <p:cNvPr id="4" name="Text 1"/>
          <p:cNvSpPr>
            <a:spLocks noGrp="1"/>
          </p:cNvSpPr>
          <p:nvPr>
            <p:ph type="body" idx="103" hasCustomPrompt="1"/>
          </p:nvPr>
        </p:nvSpPr>
        <p:spPr>
          <a:xfrm>
            <a:off x="502920" y="1152144"/>
            <a:ext cx="10881360" cy="384048"/>
          </a:xfrm>
          <a:prstGeom prst="rect">
            <a:avLst/>
          </a:prstGeom>
          <a:noFill/>
          <a:ln/>
        </p:spPr>
        <p:txBody>
          <a:bodyPr wrap="square" lIns="0" tIns="0" rIns="0" bIns="0" rtlCol="0" anchor="t"/>
          <a:lstStyle/>
          <a:p>
            <a:pPr marL="0" indent="0">
              <a:buNone/>
            </a:pPr>
            <a:r>
              <a:rPr lang="en-US" sz="1350" dirty="0">
                <a:solidFill>
                  <a:srgbClr val="595959"/>
                </a:solidFill>
              </a:rPr>
              <a:t>At each step, compare with both children, swap with the larger one, and move down to where the key landed.</a:t>
            </a:r>
            <a:endParaRPr lang="en-US" sz="1350" dirty="0"/>
          </a:p>
        </p:txBody>
      </p:sp>
      <p:graphicFrame>
        <p:nvGraphicFramePr>
          <p:cNvPr id="11" name="Trace table"/>
          <p:cNvGraphicFramePr>
            <a:graphicFrameLocks noGrp="1"/>
          </p:cNvGraphicFramePr>
          <p:nvPr>
            <p:extLst>
              <p:ext uri="{D42A27DB-BD31-4B8C-83A1-F6EECF244321}">
                <p14:modId xmlns:p14="http://schemas.microsoft.com/office/powerpoint/2010/main" val="1579011935"/>
              </p:ext>
            </p:extLst>
          </p:nvPr>
        </p:nvGraphicFramePr>
        <p:xfrm>
          <a:off x="502920" y="1783080"/>
          <a:ext cx="11183112" cy="914400"/>
        </p:xfrm>
        <a:graphic>
          <a:graphicData uri="http://schemas.openxmlformats.org/drawingml/2006/table">
            <a:tbl>
              <a:tblPr/>
              <a:tblGrid>
                <a:gridCol w="914400">
                  <a:extLst>
                    <a:ext uri="{9D8B030D-6E8A-4147-A177-3AD203B41FA5}">
                      <a16:colId xmlns:a16="http://schemas.microsoft.com/office/drawing/2014/main" val="20000"/>
                    </a:ext>
                  </a:extLst>
                </a:gridCol>
                <a:gridCol w="3611880">
                  <a:extLst>
                    <a:ext uri="{9D8B030D-6E8A-4147-A177-3AD203B41FA5}">
                      <a16:colId xmlns:a16="http://schemas.microsoft.com/office/drawing/2014/main" val="20001"/>
                    </a:ext>
                  </a:extLst>
                </a:gridCol>
                <a:gridCol w="1536192">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gridCol w="731520">
                  <a:extLst>
                    <a:ext uri="{9D8B030D-6E8A-4147-A177-3AD203B41FA5}">
                      <a16:colId xmlns:a16="http://schemas.microsoft.com/office/drawing/2014/main" val="20006"/>
                    </a:ext>
                  </a:extLst>
                </a:gridCol>
                <a:gridCol w="731520">
                  <a:extLst>
                    <a:ext uri="{9D8B030D-6E8A-4147-A177-3AD203B41FA5}">
                      <a16:colId xmlns:a16="http://schemas.microsoft.com/office/drawing/2014/main" val="20007"/>
                    </a:ext>
                  </a:extLst>
                </a:gridCol>
                <a:gridCol w="731520">
                  <a:extLst>
                    <a:ext uri="{9D8B030D-6E8A-4147-A177-3AD203B41FA5}">
                      <a16:colId xmlns:a16="http://schemas.microsoft.com/office/drawing/2014/main" val="20008"/>
                    </a:ext>
                  </a:extLst>
                </a:gridCol>
                <a:gridCol w="731520">
                  <a:extLst>
                    <a:ext uri="{9D8B030D-6E8A-4147-A177-3AD203B41FA5}">
                      <a16:colId xmlns:a16="http://schemas.microsoft.com/office/drawing/2014/main" val="20009"/>
                    </a:ext>
                  </a:extLst>
                </a:gridCol>
              </a:tblGrid>
              <a:tr h="384048">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Step</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Compare</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Action</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84048">
                <a:tc>
                  <a:txBody>
                    <a:bodyPr/>
                    <a:lstStyle/>
                    <a:p>
                      <a:pPr marL="0" indent="0" algn="ctr">
                        <a:buNone/>
                      </a:pPr>
                      <a:r>
                        <a:rPr lang="en-US" sz="1300" b="1" dirty="0">
                          <a:solidFill>
                            <a:schemeClr val="tx1"/>
                          </a:solidFill>
                          <a:latin typeface="Calibri" pitchFamily="34" charset="0"/>
                          <a:ea typeface="Calibri" pitchFamily="34" charset="-122"/>
                          <a:cs typeface="Calibri" pitchFamily="34" charset="-120"/>
                        </a:rPr>
                        <a:t>Start</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chemeClr val="tx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300" b="1" dirty="0">
                          <a:solidFill>
                            <a:schemeClr val="tx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300" dirty="0">
                          <a:solidFill>
                            <a:schemeClr val="tx1"/>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300" dirty="0">
                          <a:solidFill>
                            <a:schemeClr val="tx1"/>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300" dirty="0">
                          <a:solidFill>
                            <a:schemeClr val="tx1"/>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300" dirty="0">
                          <a:solidFill>
                            <a:schemeClr val="tx1"/>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300" dirty="0">
                          <a:solidFill>
                            <a:schemeClr val="tx1"/>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300" dirty="0">
                          <a:solidFill>
                            <a:schemeClr val="tx1"/>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300" b="1" dirty="0">
                          <a:solidFill>
                            <a:schemeClr val="tx1"/>
                          </a:solidFill>
                          <a:latin typeface="Calibri" pitchFamily="34" charset="0"/>
                          <a:ea typeface="Calibri" pitchFamily="34" charset="-122"/>
                          <a:cs typeface="Calibri" pitchFamily="34" charset="-120"/>
                        </a:rPr>
                        <a:t>Swap 1</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chemeClr val="tx2"/>
                          </a:solidFill>
                          <a:latin typeface="Calibri" pitchFamily="34" charset="0"/>
                          <a:ea typeface="Calibri" pitchFamily="34" charset="-122"/>
                          <a:cs typeface="Calibri" pitchFamily="34" charset="-120"/>
                        </a:rPr>
                        <a:t>i = 0: children 9 and 7; larger is 9 &gt; 3</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300" b="1" dirty="0">
                          <a:solidFill>
                            <a:schemeClr val="accent2"/>
                          </a:solidFill>
                          <a:latin typeface="Calibri" pitchFamily="34" charset="0"/>
                          <a:ea typeface="Calibri" pitchFamily="34" charset="-122"/>
                          <a:cs typeface="Calibri" pitchFamily="34" charset="-120"/>
                        </a:rPr>
                        <a:t>A[0] ↔ A[1]</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300" b="1" dirty="0">
                          <a:solidFill>
                            <a:schemeClr val="accent2"/>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5"/>
                    </a:solidFill>
                  </a:tcPr>
                </a:tc>
                <a:tc>
                  <a:txBody>
                    <a:bodyPr/>
                    <a:lstStyle/>
                    <a:p>
                      <a:pPr marL="0" indent="0" algn="ctr">
                        <a:buNone/>
                      </a:pPr>
                      <a:r>
                        <a:rPr lang="en-US" sz="1300" b="1" dirty="0">
                          <a:solidFill>
                            <a:schemeClr val="accent2"/>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5"/>
                    </a:solidFill>
                  </a:tcPr>
                </a:tc>
                <a:tc>
                  <a:txBody>
                    <a:bodyPr/>
                    <a:lstStyle/>
                    <a:p>
                      <a:pPr marL="0" indent="0" algn="ctr">
                        <a:buNone/>
                      </a:pPr>
                      <a:r>
                        <a:rPr lang="en-US" sz="1300" dirty="0">
                          <a:solidFill>
                            <a:schemeClr val="tx1"/>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300" dirty="0">
                          <a:solidFill>
                            <a:schemeClr val="tx1"/>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300" dirty="0">
                          <a:solidFill>
                            <a:schemeClr val="tx1"/>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300" dirty="0">
                          <a:solidFill>
                            <a:schemeClr val="tx1"/>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ctr">
                        <a:buNone/>
                      </a:pPr>
                      <a:r>
                        <a:rPr lang="en-US" sz="1300" b="1" dirty="0">
                          <a:solidFill>
                            <a:schemeClr val="tx1"/>
                          </a:solidFill>
                          <a:latin typeface="Calibri" pitchFamily="34" charset="0"/>
                          <a:ea typeface="Calibri" pitchFamily="34" charset="-122"/>
                          <a:cs typeface="Calibri" pitchFamily="34" charset="-120"/>
                        </a:rPr>
                        <a:t>Swap 2</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chemeClr val="tx2"/>
                          </a:solidFill>
                          <a:latin typeface="Calibri" pitchFamily="34" charset="0"/>
                          <a:ea typeface="Calibri" pitchFamily="34" charset="-122"/>
                          <a:cs typeface="Calibri" pitchFamily="34" charset="-120"/>
                        </a:rPr>
                        <a:t>i = 1: children 8 and 4; larger is 8 &gt; 3</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300" b="1" dirty="0">
                          <a:solidFill>
                            <a:schemeClr val="accent2"/>
                          </a:solidFill>
                          <a:latin typeface="Calibri" pitchFamily="34" charset="0"/>
                          <a:ea typeface="Calibri" pitchFamily="34" charset="-122"/>
                          <a:cs typeface="Calibri" pitchFamily="34" charset="-120"/>
                        </a:rPr>
                        <a:t>A[1] ↔ A[3]</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300" dirty="0">
                          <a:solidFill>
                            <a:schemeClr val="tx1"/>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300" b="1" dirty="0">
                          <a:solidFill>
                            <a:schemeClr val="accent2"/>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5"/>
                    </a:solidFill>
                  </a:tcPr>
                </a:tc>
                <a:tc>
                  <a:txBody>
                    <a:bodyPr/>
                    <a:lstStyle/>
                    <a:p>
                      <a:pPr marL="0" indent="0" algn="ctr">
                        <a:buNone/>
                      </a:pPr>
                      <a:r>
                        <a:rPr lang="en-US" sz="1300" dirty="0">
                          <a:solidFill>
                            <a:schemeClr val="tx1"/>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300" b="1" dirty="0">
                          <a:solidFill>
                            <a:schemeClr val="accent2"/>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5"/>
                    </a:solidFill>
                  </a:tcPr>
                </a:tc>
                <a:tc>
                  <a:txBody>
                    <a:bodyPr/>
                    <a:lstStyle/>
                    <a:p>
                      <a:pPr marL="0" indent="0" algn="ctr">
                        <a:buNone/>
                      </a:pPr>
                      <a:r>
                        <a:rPr lang="en-US" sz="1300" dirty="0">
                          <a:solidFill>
                            <a:schemeClr val="tx1"/>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300" dirty="0">
                          <a:solidFill>
                            <a:schemeClr val="tx1"/>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ctr">
                        <a:buNone/>
                      </a:pPr>
                      <a:r>
                        <a:rPr lang="en-US" sz="1300" b="1" dirty="0">
                          <a:solidFill>
                            <a:schemeClr val="tx1"/>
                          </a:solidFill>
                          <a:latin typeface="Calibri" pitchFamily="34" charset="0"/>
                          <a:ea typeface="Calibri" pitchFamily="34" charset="-122"/>
                          <a:cs typeface="Calibri" pitchFamily="34" charset="-120"/>
                        </a:rPr>
                        <a:t>Stop</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chemeClr val="tx2"/>
                          </a:solidFill>
                          <a:latin typeface="Calibri" pitchFamily="34" charset="0"/>
                          <a:ea typeface="Calibri" pitchFamily="34" charset="-122"/>
                          <a:cs typeface="Calibri" pitchFamily="34" charset="-120"/>
                        </a:rPr>
                        <a:t>i = 3 is a leaf (no children)</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300" b="1" dirty="0">
                          <a:solidFill>
                            <a:schemeClr val="tx2"/>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300" dirty="0">
                          <a:solidFill>
                            <a:schemeClr val="tx1"/>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300" dirty="0">
                          <a:solidFill>
                            <a:schemeClr val="tx1"/>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300" dirty="0">
                          <a:solidFill>
                            <a:schemeClr val="tx1"/>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300" dirty="0">
                          <a:solidFill>
                            <a:schemeClr val="tx1"/>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300" dirty="0">
                          <a:solidFill>
                            <a:schemeClr val="tx1"/>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300" dirty="0">
                          <a:solidFill>
                            <a:schemeClr val="tx1"/>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300" dirty="0">
                          <a:solidFill>
                            <a:schemeClr val="tx1"/>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45720" marR="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ext 3"/>
          <p:cNvSpPr txBox="1"/>
          <p:nvPr/>
        </p:nvSpPr>
        <p:spPr>
          <a:xfrm>
            <a:off x="502920" y="4114800"/>
            <a:ext cx="5943600" cy="365760"/>
          </a:xfrm>
          <a:prstGeom prst="rect">
            <a:avLst/>
          </a:prstGeom>
          <a:noFill/>
          <a:ln/>
        </p:spPr>
        <p:txBody>
          <a:bodyPr wrap="square" lIns="0" tIns="0" rIns="0" bIns="0" rtlCol="0" anchor="ctr"/>
          <a:lstStyle/>
          <a:p>
            <a:pPr marL="0" indent="0">
              <a:buNone/>
            </a:pPr>
            <a:r>
              <a:rPr lang="en-US" sz="1800" b="1" dirty="0">
                <a:solidFill>
                  <a:schemeClr val="tx1"/>
                </a:solidFill>
              </a:rPr>
              <a:t>Final array:  [9, 8, 7, 3, 4, 1, 5]</a:t>
            </a:r>
            <a:endParaRPr lang="en-US" sz="1800" dirty="0"/>
          </a:p>
        </p:txBody>
      </p:sp>
      <p:sp>
        <p:nvSpPr>
          <p:cNvPr id="7" name="Text 4"/>
          <p:cNvSpPr txBox="1"/>
          <p:nvPr/>
        </p:nvSpPr>
        <p:spPr>
          <a:xfrm>
            <a:off x="502920" y="4526280"/>
            <a:ext cx="5943600" cy="548640"/>
          </a:xfrm>
          <a:prstGeom prst="rect">
            <a:avLst/>
          </a:prstGeom>
          <a:noFill/>
          <a:ln/>
        </p:spPr>
        <p:txBody>
          <a:bodyPr wrap="square" lIns="0" tIns="0" rIns="0" bIns="0" rtlCol="0" anchor="t"/>
          <a:lstStyle/>
          <a:p>
            <a:pPr marL="0" indent="0">
              <a:buNone/>
            </a:pPr>
            <a:r>
              <a:rPr lang="en-US" sz="1300" dirty="0">
                <a:solidFill>
                  <a:schemeClr val="tx2"/>
                </a:solidFill>
              </a:rPr>
              <a:t>Total swaps: 2.  Every parent is now at least as large as its children, so A is a valid max-heap.</a:t>
            </a:r>
            <a:endParaRPr lang="en-US" sz="1300" dirty="0"/>
          </a:p>
        </p:txBody>
      </p:sp>
      <p:sp>
        <p:nvSpPr>
          <p:cNvPr id="8" name="Edge 0-1"/>
          <p:cNvSpPr/>
          <p:nvPr/>
        </p:nvSpPr>
        <p:spPr>
          <a:xfrm flipH="1">
            <a:off x="8167878" y="4160520"/>
            <a:ext cx="1172718" cy="411480"/>
          </a:xfrm>
          <a:prstGeom prst="line">
            <a:avLst/>
          </a:prstGeom>
          <a:noFill/>
          <a:ln w="15875">
            <a:solidFill>
              <a:srgbClr val="8497B0"/>
            </a:solidFill>
            <a:prstDash val="solid"/>
          </a:ln>
        </p:spPr>
        <p:txBody>
          <a:bodyPr/>
          <a:lstStyle/>
          <a:p>
            <a:endParaRPr lang="en-US"/>
          </a:p>
        </p:txBody>
      </p:sp>
      <p:sp>
        <p:nvSpPr>
          <p:cNvPr id="9" name="Edge 0-2"/>
          <p:cNvSpPr/>
          <p:nvPr/>
        </p:nvSpPr>
        <p:spPr>
          <a:xfrm>
            <a:off x="9340596" y="4160520"/>
            <a:ext cx="1172718" cy="411480"/>
          </a:xfrm>
          <a:prstGeom prst="line">
            <a:avLst/>
          </a:prstGeom>
          <a:noFill/>
          <a:ln w="15875">
            <a:solidFill>
              <a:srgbClr val="8497B0"/>
            </a:solidFill>
            <a:prstDash val="solid"/>
          </a:ln>
        </p:spPr>
        <p:txBody>
          <a:bodyPr/>
          <a:lstStyle/>
          <a:p>
            <a:endParaRPr lang="en-US"/>
          </a:p>
        </p:txBody>
      </p:sp>
      <p:sp>
        <p:nvSpPr>
          <p:cNvPr id="10" name="Edge 1-3"/>
          <p:cNvSpPr/>
          <p:nvPr/>
        </p:nvSpPr>
        <p:spPr>
          <a:xfrm flipH="1">
            <a:off x="7581519" y="4572000"/>
            <a:ext cx="586359" cy="411480"/>
          </a:xfrm>
          <a:prstGeom prst="line">
            <a:avLst/>
          </a:prstGeom>
          <a:noFill/>
          <a:ln w="15875">
            <a:solidFill>
              <a:srgbClr val="8497B0"/>
            </a:solidFill>
            <a:prstDash val="solid"/>
          </a:ln>
        </p:spPr>
        <p:txBody>
          <a:bodyPr/>
          <a:lstStyle/>
          <a:p>
            <a:endParaRPr lang="en-US"/>
          </a:p>
        </p:txBody>
      </p:sp>
      <p:sp>
        <p:nvSpPr>
          <p:cNvPr id="5" name="Edge 1-4"/>
          <p:cNvSpPr/>
          <p:nvPr/>
        </p:nvSpPr>
        <p:spPr>
          <a:xfrm>
            <a:off x="8167878" y="4572000"/>
            <a:ext cx="586359" cy="411480"/>
          </a:xfrm>
          <a:prstGeom prst="line">
            <a:avLst/>
          </a:prstGeom>
          <a:noFill/>
          <a:ln w="15875">
            <a:solidFill>
              <a:srgbClr val="8497B0"/>
            </a:solidFill>
            <a:prstDash val="solid"/>
          </a:ln>
        </p:spPr>
        <p:txBody>
          <a:bodyPr/>
          <a:lstStyle/>
          <a:p>
            <a:endParaRPr lang="en-US"/>
          </a:p>
        </p:txBody>
      </p:sp>
      <p:sp>
        <p:nvSpPr>
          <p:cNvPr id="12" name="Edge 2-5"/>
          <p:cNvSpPr/>
          <p:nvPr/>
        </p:nvSpPr>
        <p:spPr>
          <a:xfrm flipH="1">
            <a:off x="9926955" y="4572000"/>
            <a:ext cx="586359" cy="411480"/>
          </a:xfrm>
          <a:prstGeom prst="line">
            <a:avLst/>
          </a:prstGeom>
          <a:noFill/>
          <a:ln w="15875">
            <a:solidFill>
              <a:srgbClr val="8497B0"/>
            </a:solidFill>
            <a:prstDash val="solid"/>
          </a:ln>
        </p:spPr>
        <p:txBody>
          <a:bodyPr/>
          <a:lstStyle/>
          <a:p>
            <a:endParaRPr lang="en-US"/>
          </a:p>
        </p:txBody>
      </p:sp>
      <p:sp>
        <p:nvSpPr>
          <p:cNvPr id="13" name="Edge 2-6"/>
          <p:cNvSpPr/>
          <p:nvPr/>
        </p:nvSpPr>
        <p:spPr>
          <a:xfrm>
            <a:off x="10513314" y="4572000"/>
            <a:ext cx="586359" cy="411480"/>
          </a:xfrm>
          <a:prstGeom prst="line">
            <a:avLst/>
          </a:prstGeom>
          <a:noFill/>
          <a:ln w="15875">
            <a:solidFill>
              <a:srgbClr val="8497B0"/>
            </a:solidFill>
            <a:prstDash val="solid"/>
          </a:ln>
        </p:spPr>
        <p:txBody>
          <a:bodyPr/>
          <a:lstStyle/>
          <a:p>
            <a:endParaRPr lang="en-US"/>
          </a:p>
        </p:txBody>
      </p:sp>
      <p:sp>
        <p:nvSpPr>
          <p:cNvPr id="14" name="Node 0"/>
          <p:cNvSpPr/>
          <p:nvPr/>
        </p:nvSpPr>
        <p:spPr>
          <a:xfrm>
            <a:off x="9157716" y="3977640"/>
            <a:ext cx="365760" cy="365760"/>
          </a:xfrm>
          <a:prstGeom prst="ellipse">
            <a:avLst/>
          </a:prstGeom>
          <a:solidFill>
            <a:srgbClr val="FFFFFF"/>
          </a:solidFill>
          <a:ln w="15875">
            <a:solidFill>
              <a:schemeClr val="tx1"/>
            </a:solidFill>
            <a:prstDash val="solid"/>
          </a:ln>
        </p:spPr>
        <p:txBody>
          <a:bodyPr/>
          <a:lstStyle/>
          <a:p>
            <a:endParaRPr lang="en-US"/>
          </a:p>
        </p:txBody>
      </p:sp>
      <p:sp>
        <p:nvSpPr>
          <p:cNvPr id="15" name="Text 12"/>
          <p:cNvSpPr txBox="1"/>
          <p:nvPr/>
        </p:nvSpPr>
        <p:spPr>
          <a:xfrm>
            <a:off x="9157716" y="3977640"/>
            <a:ext cx="365760" cy="365760"/>
          </a:xfrm>
          <a:prstGeom prst="rect">
            <a:avLst/>
          </a:prstGeom>
          <a:noFill/>
          <a:ln/>
        </p:spPr>
        <p:txBody>
          <a:bodyPr wrap="square" lIns="0" tIns="0" rIns="0" bIns="0" rtlCol="0" anchor="ctr"/>
          <a:lstStyle/>
          <a:p>
            <a:pPr marL="0" indent="0" algn="ctr">
              <a:buNone/>
            </a:pPr>
            <a:r>
              <a:rPr lang="en-US" sz="1400" b="1" dirty="0">
                <a:solidFill>
                  <a:schemeClr val="tx1"/>
                </a:solidFill>
              </a:rPr>
              <a:t>9</a:t>
            </a:r>
            <a:endParaRPr lang="en-US" sz="1400" dirty="0"/>
          </a:p>
        </p:txBody>
      </p:sp>
      <p:sp>
        <p:nvSpPr>
          <p:cNvPr id="16" name="Node 1"/>
          <p:cNvSpPr/>
          <p:nvPr/>
        </p:nvSpPr>
        <p:spPr>
          <a:xfrm>
            <a:off x="7984998" y="4389120"/>
            <a:ext cx="365760" cy="365760"/>
          </a:xfrm>
          <a:prstGeom prst="ellipse">
            <a:avLst/>
          </a:prstGeom>
          <a:solidFill>
            <a:srgbClr val="FFFFFF"/>
          </a:solidFill>
          <a:ln w="15875">
            <a:solidFill>
              <a:schemeClr val="tx1"/>
            </a:solidFill>
            <a:prstDash val="solid"/>
          </a:ln>
        </p:spPr>
        <p:txBody>
          <a:bodyPr/>
          <a:lstStyle/>
          <a:p>
            <a:endParaRPr lang="en-US"/>
          </a:p>
        </p:txBody>
      </p:sp>
      <p:sp>
        <p:nvSpPr>
          <p:cNvPr id="17" name="Text 14"/>
          <p:cNvSpPr txBox="1"/>
          <p:nvPr/>
        </p:nvSpPr>
        <p:spPr>
          <a:xfrm>
            <a:off x="7984998" y="4389120"/>
            <a:ext cx="365760" cy="365760"/>
          </a:xfrm>
          <a:prstGeom prst="rect">
            <a:avLst/>
          </a:prstGeom>
          <a:noFill/>
          <a:ln/>
        </p:spPr>
        <p:txBody>
          <a:bodyPr wrap="square" lIns="0" tIns="0" rIns="0" bIns="0" rtlCol="0" anchor="ctr"/>
          <a:lstStyle/>
          <a:p>
            <a:pPr marL="0" indent="0" algn="ctr">
              <a:buNone/>
            </a:pPr>
            <a:r>
              <a:rPr lang="en-US" sz="1400" b="1" dirty="0">
                <a:solidFill>
                  <a:schemeClr val="tx1"/>
                </a:solidFill>
              </a:rPr>
              <a:t>8</a:t>
            </a:r>
            <a:endParaRPr lang="en-US" sz="1400" dirty="0"/>
          </a:p>
        </p:txBody>
      </p:sp>
      <p:sp>
        <p:nvSpPr>
          <p:cNvPr id="18" name="Node 2"/>
          <p:cNvSpPr/>
          <p:nvPr/>
        </p:nvSpPr>
        <p:spPr>
          <a:xfrm>
            <a:off x="10330434" y="4389120"/>
            <a:ext cx="365760" cy="365760"/>
          </a:xfrm>
          <a:prstGeom prst="ellipse">
            <a:avLst/>
          </a:prstGeom>
          <a:solidFill>
            <a:srgbClr val="FFFFFF"/>
          </a:solidFill>
          <a:ln w="15875">
            <a:solidFill>
              <a:schemeClr val="tx1"/>
            </a:solidFill>
            <a:prstDash val="solid"/>
          </a:ln>
        </p:spPr>
        <p:txBody>
          <a:bodyPr/>
          <a:lstStyle/>
          <a:p>
            <a:endParaRPr lang="en-US"/>
          </a:p>
        </p:txBody>
      </p:sp>
      <p:sp>
        <p:nvSpPr>
          <p:cNvPr id="19" name="Text 16"/>
          <p:cNvSpPr txBox="1"/>
          <p:nvPr/>
        </p:nvSpPr>
        <p:spPr>
          <a:xfrm>
            <a:off x="10330434" y="4389120"/>
            <a:ext cx="365760" cy="365760"/>
          </a:xfrm>
          <a:prstGeom prst="rect">
            <a:avLst/>
          </a:prstGeom>
          <a:noFill/>
          <a:ln/>
        </p:spPr>
        <p:txBody>
          <a:bodyPr wrap="square" lIns="0" tIns="0" rIns="0" bIns="0" rtlCol="0" anchor="ctr"/>
          <a:lstStyle/>
          <a:p>
            <a:pPr marL="0" indent="0" algn="ctr">
              <a:buNone/>
            </a:pPr>
            <a:r>
              <a:rPr lang="en-US" sz="1400" b="1" dirty="0">
                <a:solidFill>
                  <a:schemeClr val="tx1"/>
                </a:solidFill>
              </a:rPr>
              <a:t>7</a:t>
            </a:r>
            <a:endParaRPr lang="en-US" sz="1400" dirty="0"/>
          </a:p>
        </p:txBody>
      </p:sp>
      <p:sp>
        <p:nvSpPr>
          <p:cNvPr id="20" name="Node 3"/>
          <p:cNvSpPr/>
          <p:nvPr/>
        </p:nvSpPr>
        <p:spPr>
          <a:xfrm>
            <a:off x="7398639" y="4800600"/>
            <a:ext cx="365760" cy="365760"/>
          </a:xfrm>
          <a:prstGeom prst="ellipse">
            <a:avLst/>
          </a:prstGeom>
          <a:solidFill>
            <a:schemeClr val="accent2"/>
          </a:solidFill>
          <a:ln w="15875">
            <a:solidFill>
              <a:schemeClr val="accent2"/>
            </a:solidFill>
            <a:prstDash val="solid"/>
          </a:ln>
        </p:spPr>
        <p:txBody>
          <a:bodyPr/>
          <a:lstStyle/>
          <a:p>
            <a:endParaRPr lang="en-US"/>
          </a:p>
        </p:txBody>
      </p:sp>
      <p:sp>
        <p:nvSpPr>
          <p:cNvPr id="21" name="Text 18"/>
          <p:cNvSpPr txBox="1"/>
          <p:nvPr/>
        </p:nvSpPr>
        <p:spPr>
          <a:xfrm>
            <a:off x="7398639" y="48006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22" name="Node 4"/>
          <p:cNvSpPr/>
          <p:nvPr/>
        </p:nvSpPr>
        <p:spPr>
          <a:xfrm>
            <a:off x="8571357" y="4800600"/>
            <a:ext cx="365760" cy="365760"/>
          </a:xfrm>
          <a:prstGeom prst="ellipse">
            <a:avLst/>
          </a:prstGeom>
          <a:solidFill>
            <a:srgbClr val="FFFFFF"/>
          </a:solidFill>
          <a:ln w="15875">
            <a:solidFill>
              <a:schemeClr val="tx1"/>
            </a:solidFill>
            <a:prstDash val="solid"/>
          </a:ln>
        </p:spPr>
        <p:txBody>
          <a:bodyPr/>
          <a:lstStyle/>
          <a:p>
            <a:endParaRPr lang="en-US"/>
          </a:p>
        </p:txBody>
      </p:sp>
      <p:sp>
        <p:nvSpPr>
          <p:cNvPr id="23" name="Text 20"/>
          <p:cNvSpPr txBox="1"/>
          <p:nvPr/>
        </p:nvSpPr>
        <p:spPr>
          <a:xfrm>
            <a:off x="8571357" y="4800600"/>
            <a:ext cx="365760" cy="365760"/>
          </a:xfrm>
          <a:prstGeom prst="rect">
            <a:avLst/>
          </a:prstGeom>
          <a:noFill/>
          <a:ln/>
        </p:spPr>
        <p:txBody>
          <a:bodyPr wrap="square" lIns="0" tIns="0" rIns="0" bIns="0" rtlCol="0" anchor="ctr"/>
          <a:lstStyle/>
          <a:p>
            <a:pPr marL="0" indent="0" algn="ctr">
              <a:buNone/>
            </a:pPr>
            <a:r>
              <a:rPr lang="en-US" sz="1400" b="1" dirty="0">
                <a:solidFill>
                  <a:schemeClr val="tx1"/>
                </a:solidFill>
              </a:rPr>
              <a:t>4</a:t>
            </a:r>
            <a:endParaRPr lang="en-US" sz="1400" dirty="0"/>
          </a:p>
        </p:txBody>
      </p:sp>
      <p:sp>
        <p:nvSpPr>
          <p:cNvPr id="24" name="Node 5"/>
          <p:cNvSpPr/>
          <p:nvPr/>
        </p:nvSpPr>
        <p:spPr>
          <a:xfrm>
            <a:off x="9744075" y="4800600"/>
            <a:ext cx="365760" cy="365760"/>
          </a:xfrm>
          <a:prstGeom prst="ellipse">
            <a:avLst/>
          </a:prstGeom>
          <a:solidFill>
            <a:srgbClr val="FFFFFF"/>
          </a:solidFill>
          <a:ln w="15875">
            <a:solidFill>
              <a:schemeClr val="tx1"/>
            </a:solidFill>
            <a:prstDash val="solid"/>
          </a:ln>
        </p:spPr>
        <p:txBody>
          <a:bodyPr/>
          <a:lstStyle/>
          <a:p>
            <a:endParaRPr lang="en-US"/>
          </a:p>
        </p:txBody>
      </p:sp>
      <p:sp>
        <p:nvSpPr>
          <p:cNvPr id="25" name="Text 22"/>
          <p:cNvSpPr txBox="1"/>
          <p:nvPr/>
        </p:nvSpPr>
        <p:spPr>
          <a:xfrm>
            <a:off x="9744075" y="4800600"/>
            <a:ext cx="365760" cy="365760"/>
          </a:xfrm>
          <a:prstGeom prst="rect">
            <a:avLst/>
          </a:prstGeom>
          <a:noFill/>
          <a:ln/>
        </p:spPr>
        <p:txBody>
          <a:bodyPr wrap="square" lIns="0" tIns="0" rIns="0" bIns="0" rtlCol="0" anchor="ctr"/>
          <a:lstStyle/>
          <a:p>
            <a:pPr marL="0" indent="0" algn="ctr">
              <a:buNone/>
            </a:pPr>
            <a:r>
              <a:rPr lang="en-US" sz="1400" b="1" dirty="0">
                <a:solidFill>
                  <a:schemeClr val="tx1"/>
                </a:solidFill>
              </a:rPr>
              <a:t>1</a:t>
            </a:r>
            <a:endParaRPr lang="en-US" sz="1400" dirty="0"/>
          </a:p>
        </p:txBody>
      </p:sp>
      <p:sp>
        <p:nvSpPr>
          <p:cNvPr id="26" name="Node 6"/>
          <p:cNvSpPr/>
          <p:nvPr/>
        </p:nvSpPr>
        <p:spPr>
          <a:xfrm>
            <a:off x="10916793" y="4800600"/>
            <a:ext cx="365760" cy="365760"/>
          </a:xfrm>
          <a:prstGeom prst="ellipse">
            <a:avLst/>
          </a:prstGeom>
          <a:solidFill>
            <a:srgbClr val="FFFFFF"/>
          </a:solidFill>
          <a:ln w="15875">
            <a:solidFill>
              <a:schemeClr val="tx1"/>
            </a:solidFill>
            <a:prstDash val="solid"/>
          </a:ln>
        </p:spPr>
        <p:txBody>
          <a:bodyPr/>
          <a:lstStyle/>
          <a:p>
            <a:endParaRPr lang="en-US"/>
          </a:p>
        </p:txBody>
      </p:sp>
      <p:sp>
        <p:nvSpPr>
          <p:cNvPr id="27" name="Text 24"/>
          <p:cNvSpPr txBox="1"/>
          <p:nvPr/>
        </p:nvSpPr>
        <p:spPr>
          <a:xfrm>
            <a:off x="10916793" y="4800600"/>
            <a:ext cx="365760" cy="365760"/>
          </a:xfrm>
          <a:prstGeom prst="rect">
            <a:avLst/>
          </a:prstGeom>
          <a:noFill/>
          <a:ln/>
        </p:spPr>
        <p:txBody>
          <a:bodyPr wrap="square" lIns="0" tIns="0" rIns="0" bIns="0" rtlCol="0" anchor="ctr"/>
          <a:lstStyle/>
          <a:p>
            <a:pPr marL="0" indent="0" algn="ctr">
              <a:buNone/>
            </a:pPr>
            <a:r>
              <a:rPr lang="en-US" sz="1400" b="1" dirty="0">
                <a:solidFill>
                  <a:schemeClr val="tx1"/>
                </a:solidFill>
              </a:rPr>
              <a:t>5</a:t>
            </a:r>
            <a:endParaRPr lang="en-US" sz="1400" dirty="0"/>
          </a:p>
        </p:txBody>
      </p:sp>
      <p:sp>
        <p:nvSpPr>
          <p:cNvPr id="28" name="Text 25"/>
          <p:cNvSpPr txBox="1"/>
          <p:nvPr/>
        </p:nvSpPr>
        <p:spPr>
          <a:xfrm>
            <a:off x="6995160" y="5193792"/>
            <a:ext cx="2011680" cy="274320"/>
          </a:xfrm>
          <a:prstGeom prst="rect">
            <a:avLst/>
          </a:prstGeom>
          <a:noFill/>
          <a:ln/>
        </p:spPr>
        <p:txBody>
          <a:bodyPr wrap="square" lIns="0" tIns="0" rIns="0" bIns="0" rtlCol="0" anchor="ctr"/>
          <a:lstStyle/>
          <a:p>
            <a:pPr marL="0" indent="0">
              <a:buNone/>
            </a:pPr>
            <a:r>
              <a:rPr lang="en-US" sz="1100" b="1" dirty="0">
                <a:solidFill>
                  <a:schemeClr val="accent2"/>
                </a:solidFill>
              </a:rPr>
              <a:t>3 sank to index 3</a:t>
            </a:r>
            <a:endParaRPr lang="en-US" sz="1100" dirty="0"/>
          </a:p>
        </p:txBody>
      </p:sp>
      <p:sp>
        <p:nvSpPr>
          <p:cNvPr id="29" name="Takeaway"/>
          <p:cNvSpPr/>
          <p:nvPr/>
        </p:nvSpPr>
        <p:spPr>
          <a:xfrm>
            <a:off x="502920" y="5577840"/>
            <a:ext cx="11183112" cy="640080"/>
          </a:xfrm>
          <a:prstGeom prst="roundRect">
            <a:avLst>
              <a:gd name="adj" fmla="val 8571"/>
            </a:avLst>
          </a:prstGeom>
          <a:solidFill>
            <a:schemeClr val="accent5"/>
          </a:solidFill>
          <a:ln/>
        </p:spPr>
        <p:txBody>
          <a:bodyPr/>
          <a:lstStyle/>
          <a:p>
            <a:endParaRPr lang="en-US"/>
          </a:p>
        </p:txBody>
      </p:sp>
      <p:sp>
        <p:nvSpPr>
          <p:cNvPr id="30" name="Text 27"/>
          <p:cNvSpPr txBox="1"/>
          <p:nvPr/>
        </p:nvSpPr>
        <p:spPr>
          <a:xfrm>
            <a:off x="731520" y="5577840"/>
            <a:ext cx="10725912" cy="640080"/>
          </a:xfrm>
          <a:prstGeom prst="rect">
            <a:avLst/>
          </a:prstGeom>
          <a:noFill/>
          <a:ln/>
        </p:spPr>
        <p:txBody>
          <a:bodyPr wrap="square" lIns="0" tIns="0" rIns="0" bIns="0" rtlCol="0" anchor="ctr"/>
          <a:lstStyle/>
          <a:p>
            <a:pPr marL="0" indent="0">
              <a:buNone/>
            </a:pPr>
            <a:r>
              <a:rPr lang="en-US" sz="1400" b="1" dirty="0">
                <a:solidFill>
                  <a:schemeClr val="accent2"/>
                </a:solidFill>
              </a:rPr>
              <a:t>Common mistakes:  </a:t>
            </a:r>
            <a:r>
              <a:rPr lang="en-US" sz="1400" dirty="0">
                <a:solidFill>
                  <a:schemeClr val="tx2"/>
                </a:solidFill>
              </a:rPr>
              <a:t>swapping with the left child without checking which child is larger, or stopping after one swap. Keep going until a leaf.</a:t>
            </a:r>
            <a:endParaRPr lang="en-US" sz="1400" dirty="0"/>
          </a:p>
        </p:txBody>
      </p:sp>
      <p:sp>
        <p:nvSpPr>
          <p:cNvPr id="31" name="Slide Number Placeholder 0"/>
          <p:cNvSpPr>
            <a:spLocks noGrp="1"/>
          </p:cNvSpPr>
          <p:nvPr>
            <p:ph type="sldNum" sz="quarter" idx="4294967295"/>
          </p:nvPr>
        </p:nvSpPr>
        <p:spPr>
          <a:xfrm>
            <a:off x="11228832" y="6547104"/>
            <a:ext cx="457200" cy="237744"/>
          </a:xfrm>
          <a:prstGeom prst="rect">
            <a:avLst/>
          </a:prstGeom>
          <a:extLst>
            <a:ext uri="{C572A759-6A51-4108-AA02-DFA0A04FC94B}">
              <ma14:wrappingTextBoxFlag xmlns="" xmlns:ma14="http://schemas.microsoft.com/office/mac/drawingml/2011/main" val="0"/>
            </a:ext>
          </a:extLst>
        </p:spPr>
        <p:txBody>
          <a:bodyPr/>
          <a:lstStyle>
            <a:lvl1pPr>
              <a:defRPr sz="850">
                <a:solidFill>
                  <a:srgbClr val="595959"/>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02920" y="347472"/>
            <a:ext cx="10515600" cy="274320"/>
          </a:xfrm>
          <a:prstGeom prst="rect">
            <a:avLst/>
          </a:prstGeom>
          <a:noFill/>
          <a:ln/>
        </p:spPr>
        <p:txBody>
          <a:bodyPr wrap="square" lIns="0" tIns="0" rIns="0" bIns="0" rtlCol="0"/>
          <a:lstStyle/>
          <a:p>
            <a:pPr marL="0" indent="0">
              <a:buNone/>
            </a:pPr>
            <a:r>
              <a:rPr lang="en-US" sz="1200" b="1" kern="0" spc="100" dirty="0">
                <a:solidFill>
                  <a:schemeClr val="accent2"/>
                </a:solidFill>
              </a:rPr>
              <a:t>PRACTICE PROBLEM 5 · BINARY SEARCH TREES</a:t>
            </a:r>
            <a:endParaRPr lang="en-US" sz="1200" dirty="0"/>
          </a:p>
        </p:txBody>
      </p:sp>
      <p:sp>
        <p:nvSpPr>
          <p:cNvPr id="3" name="Text 1"/>
          <p:cNvSpPr>
            <a:spLocks noGrp="1"/>
          </p:cNvSpPr>
          <p:nvPr>
            <p:ph type="title" idx="102" hasCustomPrompt="1"/>
          </p:nvPr>
        </p:nvSpPr>
        <p:spPr>
          <a:xfrm>
            <a:off x="502920" y="603504"/>
            <a:ext cx="10789920" cy="566928"/>
          </a:xfrm>
          <a:prstGeom prst="rect">
            <a:avLst/>
          </a:prstGeom>
          <a:noFill/>
          <a:ln/>
        </p:spPr>
        <p:txBody>
          <a:bodyPr wrap="square" lIns="0" tIns="0" rIns="0" bIns="0" rtlCol="0" anchor="t"/>
          <a:lstStyle/>
          <a:p>
            <a:pPr marL="0" indent="0" algn="l">
              <a:buNone/>
            </a:pPr>
            <a:r>
              <a:rPr lang="en-US" sz="3000" b="1" dirty="0">
                <a:solidFill>
                  <a:schemeClr val="tx1"/>
                </a:solidFill>
              </a:rPr>
              <a:t>Traverse, Find the Successor, Delete</a:t>
            </a:r>
            <a:endParaRPr lang="en-US" sz="3000" dirty="0"/>
          </a:p>
        </p:txBody>
      </p:sp>
      <p:sp>
        <p:nvSpPr>
          <p:cNvPr id="4" name="Text 1"/>
          <p:cNvSpPr>
            <a:spLocks noGrp="1"/>
          </p:cNvSpPr>
          <p:nvPr>
            <p:ph type="body" idx="103" hasCustomPrompt="1"/>
          </p:nvPr>
        </p:nvSpPr>
        <p:spPr>
          <a:xfrm>
            <a:off x="502920" y="1152144"/>
            <a:ext cx="10881360" cy="384048"/>
          </a:xfrm>
          <a:prstGeom prst="rect">
            <a:avLst/>
          </a:prstGeom>
          <a:noFill/>
          <a:ln/>
        </p:spPr>
        <p:txBody>
          <a:bodyPr wrap="square" lIns="0" tIns="0" rIns="0" bIns="0" rtlCol="0" anchor="t"/>
          <a:lstStyle/>
          <a:p>
            <a:pPr marL="0" indent="0">
              <a:buNone/>
            </a:pPr>
            <a:r>
              <a:rPr lang="en-US" sz="1350" dirty="0">
                <a:solidFill>
                  <a:srgbClr val="595959"/>
                </a:solidFill>
              </a:rPr>
              <a:t>Keys inserted in this order into an empty (unbalanced) BST:  40, 20, 60, 10, 30, 70, 25, 35, 27</a:t>
            </a:r>
            <a:endParaRPr lang="en-US" sz="1350" dirty="0"/>
          </a:p>
        </p:txBody>
      </p:sp>
      <p:sp>
        <p:nvSpPr>
          <p:cNvPr id="5" name="Label The tree"/>
          <p:cNvSpPr txBox="1"/>
          <p:nvPr/>
        </p:nvSpPr>
        <p:spPr>
          <a:xfrm>
            <a:off x="502920" y="1828800"/>
            <a:ext cx="5760720" cy="274320"/>
          </a:xfrm>
          <a:prstGeom prst="rect">
            <a:avLst/>
          </a:prstGeom>
          <a:noFill/>
          <a:ln/>
        </p:spPr>
        <p:txBody>
          <a:bodyPr wrap="square" lIns="0" tIns="0" rIns="0" bIns="0" rtlCol="0" anchor="ctr"/>
          <a:lstStyle/>
          <a:p>
            <a:pPr marL="0" indent="0">
              <a:buNone/>
            </a:pPr>
            <a:r>
              <a:rPr lang="en-US" sz="1300" b="1" dirty="0">
                <a:solidFill>
                  <a:schemeClr val="tx1"/>
                </a:solidFill>
              </a:rPr>
              <a:t>The tree</a:t>
            </a:r>
            <a:endParaRPr lang="en-US" sz="1300" dirty="0"/>
          </a:p>
        </p:txBody>
      </p:sp>
      <p:sp>
        <p:nvSpPr>
          <p:cNvPr id="6" name="Tree panel"/>
          <p:cNvSpPr/>
          <p:nvPr/>
        </p:nvSpPr>
        <p:spPr>
          <a:xfrm>
            <a:off x="502920" y="2121408"/>
            <a:ext cx="5760720" cy="2743200"/>
          </a:xfrm>
          <a:prstGeom prst="roundRect">
            <a:avLst>
              <a:gd name="adj" fmla="val 2000"/>
            </a:avLst>
          </a:prstGeom>
          <a:solidFill>
            <a:schemeClr val="bg2"/>
          </a:solidFill>
          <a:ln/>
        </p:spPr>
        <p:txBody>
          <a:bodyPr/>
          <a:lstStyle/>
          <a:p>
            <a:endParaRPr lang="en-US"/>
          </a:p>
        </p:txBody>
      </p:sp>
      <p:sp>
        <p:nvSpPr>
          <p:cNvPr id="7" name="Edge 40-20"/>
          <p:cNvSpPr/>
          <p:nvPr/>
        </p:nvSpPr>
        <p:spPr>
          <a:xfrm flipH="1">
            <a:off x="1956816" y="2414016"/>
            <a:ext cx="1426464" cy="530352"/>
          </a:xfrm>
          <a:prstGeom prst="line">
            <a:avLst/>
          </a:prstGeom>
          <a:noFill/>
          <a:ln w="15875">
            <a:solidFill>
              <a:srgbClr val="8497B0"/>
            </a:solidFill>
            <a:prstDash val="solid"/>
          </a:ln>
        </p:spPr>
        <p:txBody>
          <a:bodyPr/>
          <a:lstStyle/>
          <a:p>
            <a:endParaRPr lang="en-US"/>
          </a:p>
        </p:txBody>
      </p:sp>
      <p:sp>
        <p:nvSpPr>
          <p:cNvPr id="8" name="Edge 40-60"/>
          <p:cNvSpPr/>
          <p:nvPr/>
        </p:nvSpPr>
        <p:spPr>
          <a:xfrm>
            <a:off x="3383280" y="2414016"/>
            <a:ext cx="1426464" cy="530352"/>
          </a:xfrm>
          <a:prstGeom prst="line">
            <a:avLst/>
          </a:prstGeom>
          <a:noFill/>
          <a:ln w="15875">
            <a:solidFill>
              <a:srgbClr val="8497B0"/>
            </a:solidFill>
            <a:prstDash val="solid"/>
          </a:ln>
        </p:spPr>
        <p:txBody>
          <a:bodyPr/>
          <a:lstStyle/>
          <a:p>
            <a:endParaRPr lang="en-US"/>
          </a:p>
        </p:txBody>
      </p:sp>
      <p:sp>
        <p:nvSpPr>
          <p:cNvPr id="9" name="Edge 20-10"/>
          <p:cNvSpPr/>
          <p:nvPr/>
        </p:nvSpPr>
        <p:spPr>
          <a:xfrm flipH="1">
            <a:off x="1243584" y="2944368"/>
            <a:ext cx="713232" cy="530352"/>
          </a:xfrm>
          <a:prstGeom prst="line">
            <a:avLst/>
          </a:prstGeom>
          <a:noFill/>
          <a:ln w="15875">
            <a:solidFill>
              <a:srgbClr val="8497B0"/>
            </a:solidFill>
            <a:prstDash val="solid"/>
          </a:ln>
        </p:spPr>
        <p:txBody>
          <a:bodyPr/>
          <a:lstStyle/>
          <a:p>
            <a:endParaRPr lang="en-US"/>
          </a:p>
        </p:txBody>
      </p:sp>
      <p:sp>
        <p:nvSpPr>
          <p:cNvPr id="10" name="Edge 20-30"/>
          <p:cNvSpPr/>
          <p:nvPr/>
        </p:nvSpPr>
        <p:spPr>
          <a:xfrm>
            <a:off x="1956816" y="2944368"/>
            <a:ext cx="713232" cy="530352"/>
          </a:xfrm>
          <a:prstGeom prst="line">
            <a:avLst/>
          </a:prstGeom>
          <a:noFill/>
          <a:ln w="15875">
            <a:solidFill>
              <a:srgbClr val="8497B0"/>
            </a:solidFill>
            <a:prstDash val="solid"/>
          </a:ln>
        </p:spPr>
        <p:txBody>
          <a:bodyPr/>
          <a:lstStyle/>
          <a:p>
            <a:endParaRPr lang="en-US"/>
          </a:p>
        </p:txBody>
      </p:sp>
      <p:sp>
        <p:nvSpPr>
          <p:cNvPr id="11" name="Edge 60-70"/>
          <p:cNvSpPr/>
          <p:nvPr/>
        </p:nvSpPr>
        <p:spPr>
          <a:xfrm>
            <a:off x="4809744" y="2944368"/>
            <a:ext cx="713232" cy="530352"/>
          </a:xfrm>
          <a:prstGeom prst="line">
            <a:avLst/>
          </a:prstGeom>
          <a:noFill/>
          <a:ln w="15875">
            <a:solidFill>
              <a:srgbClr val="8497B0"/>
            </a:solidFill>
            <a:prstDash val="solid"/>
          </a:ln>
        </p:spPr>
        <p:txBody>
          <a:bodyPr/>
          <a:lstStyle/>
          <a:p>
            <a:endParaRPr lang="en-US"/>
          </a:p>
        </p:txBody>
      </p:sp>
      <p:sp>
        <p:nvSpPr>
          <p:cNvPr id="12" name="Edge 30-25"/>
          <p:cNvSpPr/>
          <p:nvPr/>
        </p:nvSpPr>
        <p:spPr>
          <a:xfrm flipH="1">
            <a:off x="2313432" y="3474720"/>
            <a:ext cx="356616" cy="530352"/>
          </a:xfrm>
          <a:prstGeom prst="line">
            <a:avLst/>
          </a:prstGeom>
          <a:noFill/>
          <a:ln w="15875">
            <a:solidFill>
              <a:srgbClr val="8497B0"/>
            </a:solidFill>
            <a:prstDash val="solid"/>
          </a:ln>
        </p:spPr>
        <p:txBody>
          <a:bodyPr/>
          <a:lstStyle/>
          <a:p>
            <a:endParaRPr lang="en-US"/>
          </a:p>
        </p:txBody>
      </p:sp>
      <p:sp>
        <p:nvSpPr>
          <p:cNvPr id="13" name="Edge 30-35"/>
          <p:cNvSpPr/>
          <p:nvPr/>
        </p:nvSpPr>
        <p:spPr>
          <a:xfrm>
            <a:off x="2670048" y="3474720"/>
            <a:ext cx="356616" cy="530352"/>
          </a:xfrm>
          <a:prstGeom prst="line">
            <a:avLst/>
          </a:prstGeom>
          <a:noFill/>
          <a:ln w="15875">
            <a:solidFill>
              <a:srgbClr val="8497B0"/>
            </a:solidFill>
            <a:prstDash val="solid"/>
          </a:ln>
        </p:spPr>
        <p:txBody>
          <a:bodyPr/>
          <a:lstStyle/>
          <a:p>
            <a:endParaRPr lang="en-US"/>
          </a:p>
        </p:txBody>
      </p:sp>
      <p:sp>
        <p:nvSpPr>
          <p:cNvPr id="14" name="Edge 25-27"/>
          <p:cNvSpPr/>
          <p:nvPr/>
        </p:nvSpPr>
        <p:spPr>
          <a:xfrm>
            <a:off x="2313432" y="4005072"/>
            <a:ext cx="249631" cy="530352"/>
          </a:xfrm>
          <a:prstGeom prst="line">
            <a:avLst/>
          </a:prstGeom>
          <a:noFill/>
          <a:ln w="15875">
            <a:solidFill>
              <a:srgbClr val="8497B0"/>
            </a:solidFill>
            <a:prstDash val="solid"/>
          </a:ln>
        </p:spPr>
        <p:txBody>
          <a:bodyPr/>
          <a:lstStyle/>
          <a:p>
            <a:endParaRPr lang="en-US"/>
          </a:p>
        </p:txBody>
      </p:sp>
      <p:sp>
        <p:nvSpPr>
          <p:cNvPr id="15" name="Node 40"/>
          <p:cNvSpPr/>
          <p:nvPr/>
        </p:nvSpPr>
        <p:spPr>
          <a:xfrm>
            <a:off x="3163824" y="2194560"/>
            <a:ext cx="438912" cy="438912"/>
          </a:xfrm>
          <a:prstGeom prst="ellipse">
            <a:avLst/>
          </a:prstGeom>
          <a:solidFill>
            <a:srgbClr val="FFFFFF"/>
          </a:solidFill>
          <a:ln w="15875">
            <a:solidFill>
              <a:schemeClr val="tx1"/>
            </a:solidFill>
            <a:prstDash val="solid"/>
          </a:ln>
        </p:spPr>
        <p:txBody>
          <a:bodyPr/>
          <a:lstStyle/>
          <a:p>
            <a:endParaRPr lang="en-US"/>
          </a:p>
        </p:txBody>
      </p:sp>
      <p:sp>
        <p:nvSpPr>
          <p:cNvPr id="16" name="Text 14"/>
          <p:cNvSpPr txBox="1"/>
          <p:nvPr/>
        </p:nvSpPr>
        <p:spPr>
          <a:xfrm>
            <a:off x="3163824" y="2194560"/>
            <a:ext cx="438912" cy="438912"/>
          </a:xfrm>
          <a:prstGeom prst="rect">
            <a:avLst/>
          </a:prstGeom>
          <a:noFill/>
          <a:ln/>
        </p:spPr>
        <p:txBody>
          <a:bodyPr wrap="square" lIns="0" tIns="0" rIns="0" bIns="0" rtlCol="0" anchor="ctr"/>
          <a:lstStyle/>
          <a:p>
            <a:pPr marL="0" indent="0" algn="ctr">
              <a:buNone/>
            </a:pPr>
            <a:r>
              <a:rPr lang="en-US" sz="1300" b="1" dirty="0">
                <a:solidFill>
                  <a:schemeClr val="tx1"/>
                </a:solidFill>
              </a:rPr>
              <a:t>40</a:t>
            </a:r>
            <a:endParaRPr lang="en-US" sz="1300" dirty="0"/>
          </a:p>
        </p:txBody>
      </p:sp>
      <p:sp>
        <p:nvSpPr>
          <p:cNvPr id="17" name="Node 20"/>
          <p:cNvSpPr/>
          <p:nvPr/>
        </p:nvSpPr>
        <p:spPr>
          <a:xfrm>
            <a:off x="1737360" y="2724912"/>
            <a:ext cx="438912" cy="438912"/>
          </a:xfrm>
          <a:prstGeom prst="ellipse">
            <a:avLst/>
          </a:prstGeom>
          <a:solidFill>
            <a:schemeClr val="accent2"/>
          </a:solidFill>
          <a:ln w="15875">
            <a:solidFill>
              <a:schemeClr val="accent2"/>
            </a:solidFill>
            <a:prstDash val="solid"/>
          </a:ln>
        </p:spPr>
        <p:txBody>
          <a:bodyPr/>
          <a:lstStyle/>
          <a:p>
            <a:endParaRPr lang="en-US"/>
          </a:p>
        </p:txBody>
      </p:sp>
      <p:sp>
        <p:nvSpPr>
          <p:cNvPr id="18" name="Text 16"/>
          <p:cNvSpPr txBox="1"/>
          <p:nvPr/>
        </p:nvSpPr>
        <p:spPr>
          <a:xfrm>
            <a:off x="1737360" y="2724912"/>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rPr>
              <a:t>20</a:t>
            </a:r>
            <a:endParaRPr lang="en-US" sz="1300" dirty="0"/>
          </a:p>
        </p:txBody>
      </p:sp>
      <p:sp>
        <p:nvSpPr>
          <p:cNvPr id="19" name="Node 60"/>
          <p:cNvSpPr/>
          <p:nvPr/>
        </p:nvSpPr>
        <p:spPr>
          <a:xfrm>
            <a:off x="4590288" y="2724912"/>
            <a:ext cx="438912" cy="438912"/>
          </a:xfrm>
          <a:prstGeom prst="ellipse">
            <a:avLst/>
          </a:prstGeom>
          <a:solidFill>
            <a:srgbClr val="FFFFFF"/>
          </a:solidFill>
          <a:ln w="15875">
            <a:solidFill>
              <a:schemeClr val="tx1"/>
            </a:solidFill>
            <a:prstDash val="solid"/>
          </a:ln>
        </p:spPr>
        <p:txBody>
          <a:bodyPr/>
          <a:lstStyle/>
          <a:p>
            <a:endParaRPr lang="en-US"/>
          </a:p>
        </p:txBody>
      </p:sp>
      <p:sp>
        <p:nvSpPr>
          <p:cNvPr id="20" name="Text 18"/>
          <p:cNvSpPr txBox="1"/>
          <p:nvPr/>
        </p:nvSpPr>
        <p:spPr>
          <a:xfrm>
            <a:off x="4590288" y="2724912"/>
            <a:ext cx="438912" cy="438912"/>
          </a:xfrm>
          <a:prstGeom prst="rect">
            <a:avLst/>
          </a:prstGeom>
          <a:noFill/>
          <a:ln/>
        </p:spPr>
        <p:txBody>
          <a:bodyPr wrap="square" lIns="0" tIns="0" rIns="0" bIns="0" rtlCol="0" anchor="ctr"/>
          <a:lstStyle/>
          <a:p>
            <a:pPr marL="0" indent="0" algn="ctr">
              <a:buNone/>
            </a:pPr>
            <a:r>
              <a:rPr lang="en-US" sz="1300" b="1" dirty="0">
                <a:solidFill>
                  <a:schemeClr val="tx1"/>
                </a:solidFill>
              </a:rPr>
              <a:t>60</a:t>
            </a:r>
            <a:endParaRPr lang="en-US" sz="1300" dirty="0"/>
          </a:p>
        </p:txBody>
      </p:sp>
      <p:sp>
        <p:nvSpPr>
          <p:cNvPr id="21" name="Node 10"/>
          <p:cNvSpPr/>
          <p:nvPr/>
        </p:nvSpPr>
        <p:spPr>
          <a:xfrm>
            <a:off x="1024128" y="3255264"/>
            <a:ext cx="438912" cy="438912"/>
          </a:xfrm>
          <a:prstGeom prst="ellipse">
            <a:avLst/>
          </a:prstGeom>
          <a:solidFill>
            <a:srgbClr val="FFFFFF"/>
          </a:solidFill>
          <a:ln w="15875">
            <a:solidFill>
              <a:schemeClr val="tx1"/>
            </a:solidFill>
            <a:prstDash val="solid"/>
          </a:ln>
        </p:spPr>
        <p:txBody>
          <a:bodyPr/>
          <a:lstStyle/>
          <a:p>
            <a:endParaRPr lang="en-US"/>
          </a:p>
        </p:txBody>
      </p:sp>
      <p:sp>
        <p:nvSpPr>
          <p:cNvPr id="22" name="Text 20"/>
          <p:cNvSpPr txBox="1"/>
          <p:nvPr/>
        </p:nvSpPr>
        <p:spPr>
          <a:xfrm>
            <a:off x="1024128" y="3255264"/>
            <a:ext cx="438912" cy="438912"/>
          </a:xfrm>
          <a:prstGeom prst="rect">
            <a:avLst/>
          </a:prstGeom>
          <a:noFill/>
          <a:ln/>
        </p:spPr>
        <p:txBody>
          <a:bodyPr wrap="square" lIns="0" tIns="0" rIns="0" bIns="0" rtlCol="0" anchor="ctr"/>
          <a:lstStyle/>
          <a:p>
            <a:pPr marL="0" indent="0" algn="ctr">
              <a:buNone/>
            </a:pPr>
            <a:r>
              <a:rPr lang="en-US" sz="1300" b="1" dirty="0">
                <a:solidFill>
                  <a:schemeClr val="tx1"/>
                </a:solidFill>
              </a:rPr>
              <a:t>10</a:t>
            </a:r>
            <a:endParaRPr lang="en-US" sz="1300" dirty="0"/>
          </a:p>
        </p:txBody>
      </p:sp>
      <p:sp>
        <p:nvSpPr>
          <p:cNvPr id="23" name="Node 30"/>
          <p:cNvSpPr/>
          <p:nvPr/>
        </p:nvSpPr>
        <p:spPr>
          <a:xfrm>
            <a:off x="2450592" y="3255264"/>
            <a:ext cx="438912" cy="438912"/>
          </a:xfrm>
          <a:prstGeom prst="ellipse">
            <a:avLst/>
          </a:prstGeom>
          <a:solidFill>
            <a:srgbClr val="FFFFFF"/>
          </a:solidFill>
          <a:ln w="15875">
            <a:solidFill>
              <a:schemeClr val="tx1"/>
            </a:solidFill>
            <a:prstDash val="solid"/>
          </a:ln>
        </p:spPr>
        <p:txBody>
          <a:bodyPr/>
          <a:lstStyle/>
          <a:p>
            <a:endParaRPr lang="en-US"/>
          </a:p>
        </p:txBody>
      </p:sp>
      <p:sp>
        <p:nvSpPr>
          <p:cNvPr id="24" name="Text 22"/>
          <p:cNvSpPr txBox="1"/>
          <p:nvPr/>
        </p:nvSpPr>
        <p:spPr>
          <a:xfrm>
            <a:off x="2450592" y="3255264"/>
            <a:ext cx="438912" cy="438912"/>
          </a:xfrm>
          <a:prstGeom prst="rect">
            <a:avLst/>
          </a:prstGeom>
          <a:noFill/>
          <a:ln/>
        </p:spPr>
        <p:txBody>
          <a:bodyPr wrap="square" lIns="0" tIns="0" rIns="0" bIns="0" rtlCol="0" anchor="ctr"/>
          <a:lstStyle/>
          <a:p>
            <a:pPr marL="0" indent="0" algn="ctr">
              <a:buNone/>
            </a:pPr>
            <a:r>
              <a:rPr lang="en-US" sz="1300" b="1" dirty="0">
                <a:solidFill>
                  <a:schemeClr val="tx1"/>
                </a:solidFill>
              </a:rPr>
              <a:t>30</a:t>
            </a:r>
            <a:endParaRPr lang="en-US" sz="1300" dirty="0"/>
          </a:p>
        </p:txBody>
      </p:sp>
      <p:sp>
        <p:nvSpPr>
          <p:cNvPr id="25" name="Node 70"/>
          <p:cNvSpPr/>
          <p:nvPr/>
        </p:nvSpPr>
        <p:spPr>
          <a:xfrm>
            <a:off x="5303520" y="3255264"/>
            <a:ext cx="438912" cy="438912"/>
          </a:xfrm>
          <a:prstGeom prst="ellipse">
            <a:avLst/>
          </a:prstGeom>
          <a:solidFill>
            <a:srgbClr val="FFFFFF"/>
          </a:solidFill>
          <a:ln w="15875">
            <a:solidFill>
              <a:schemeClr val="tx1"/>
            </a:solidFill>
            <a:prstDash val="solid"/>
          </a:ln>
        </p:spPr>
        <p:txBody>
          <a:bodyPr/>
          <a:lstStyle/>
          <a:p>
            <a:endParaRPr lang="en-US"/>
          </a:p>
        </p:txBody>
      </p:sp>
      <p:sp>
        <p:nvSpPr>
          <p:cNvPr id="26" name="Text 24"/>
          <p:cNvSpPr txBox="1"/>
          <p:nvPr/>
        </p:nvSpPr>
        <p:spPr>
          <a:xfrm>
            <a:off x="5303520" y="3255264"/>
            <a:ext cx="438912" cy="438912"/>
          </a:xfrm>
          <a:prstGeom prst="rect">
            <a:avLst/>
          </a:prstGeom>
          <a:noFill/>
          <a:ln/>
        </p:spPr>
        <p:txBody>
          <a:bodyPr wrap="square" lIns="0" tIns="0" rIns="0" bIns="0" rtlCol="0" anchor="ctr"/>
          <a:lstStyle/>
          <a:p>
            <a:pPr marL="0" indent="0" algn="ctr">
              <a:buNone/>
            </a:pPr>
            <a:r>
              <a:rPr lang="en-US" sz="1300" b="1" dirty="0">
                <a:solidFill>
                  <a:schemeClr val="tx1"/>
                </a:solidFill>
              </a:rPr>
              <a:t>70</a:t>
            </a:r>
            <a:endParaRPr lang="en-US" sz="1300" dirty="0"/>
          </a:p>
        </p:txBody>
      </p:sp>
      <p:sp>
        <p:nvSpPr>
          <p:cNvPr id="27" name="Node 25"/>
          <p:cNvSpPr/>
          <p:nvPr/>
        </p:nvSpPr>
        <p:spPr>
          <a:xfrm>
            <a:off x="2093976" y="3785616"/>
            <a:ext cx="438912" cy="438912"/>
          </a:xfrm>
          <a:prstGeom prst="ellipse">
            <a:avLst/>
          </a:prstGeom>
          <a:solidFill>
            <a:srgbClr val="FFFFFF"/>
          </a:solidFill>
          <a:ln w="15875">
            <a:solidFill>
              <a:schemeClr val="tx1"/>
            </a:solidFill>
            <a:prstDash val="solid"/>
          </a:ln>
        </p:spPr>
        <p:txBody>
          <a:bodyPr/>
          <a:lstStyle/>
          <a:p>
            <a:endParaRPr lang="en-US"/>
          </a:p>
        </p:txBody>
      </p:sp>
      <p:sp>
        <p:nvSpPr>
          <p:cNvPr id="28" name="Text 26"/>
          <p:cNvSpPr txBox="1"/>
          <p:nvPr/>
        </p:nvSpPr>
        <p:spPr>
          <a:xfrm>
            <a:off x="2093976" y="3785616"/>
            <a:ext cx="438912" cy="438912"/>
          </a:xfrm>
          <a:prstGeom prst="rect">
            <a:avLst/>
          </a:prstGeom>
          <a:noFill/>
          <a:ln/>
        </p:spPr>
        <p:txBody>
          <a:bodyPr wrap="square" lIns="0" tIns="0" rIns="0" bIns="0" rtlCol="0" anchor="ctr"/>
          <a:lstStyle/>
          <a:p>
            <a:pPr marL="0" indent="0" algn="ctr">
              <a:buNone/>
            </a:pPr>
            <a:r>
              <a:rPr lang="en-US" sz="1300" b="1" dirty="0">
                <a:solidFill>
                  <a:schemeClr val="tx1"/>
                </a:solidFill>
              </a:rPr>
              <a:t>25</a:t>
            </a:r>
            <a:endParaRPr lang="en-US" sz="1300" dirty="0"/>
          </a:p>
        </p:txBody>
      </p:sp>
      <p:sp>
        <p:nvSpPr>
          <p:cNvPr id="29" name="Node 35"/>
          <p:cNvSpPr/>
          <p:nvPr/>
        </p:nvSpPr>
        <p:spPr>
          <a:xfrm>
            <a:off x="2807208" y="3785616"/>
            <a:ext cx="438912" cy="438912"/>
          </a:xfrm>
          <a:prstGeom prst="ellipse">
            <a:avLst/>
          </a:prstGeom>
          <a:solidFill>
            <a:srgbClr val="FFFFFF"/>
          </a:solidFill>
          <a:ln w="15875">
            <a:solidFill>
              <a:schemeClr val="tx1"/>
            </a:solidFill>
            <a:prstDash val="solid"/>
          </a:ln>
        </p:spPr>
        <p:txBody>
          <a:bodyPr/>
          <a:lstStyle/>
          <a:p>
            <a:endParaRPr lang="en-US"/>
          </a:p>
        </p:txBody>
      </p:sp>
      <p:sp>
        <p:nvSpPr>
          <p:cNvPr id="30" name="Text 28"/>
          <p:cNvSpPr txBox="1"/>
          <p:nvPr/>
        </p:nvSpPr>
        <p:spPr>
          <a:xfrm>
            <a:off x="2807208" y="3785616"/>
            <a:ext cx="438912" cy="438912"/>
          </a:xfrm>
          <a:prstGeom prst="rect">
            <a:avLst/>
          </a:prstGeom>
          <a:noFill/>
          <a:ln/>
        </p:spPr>
        <p:txBody>
          <a:bodyPr wrap="square" lIns="0" tIns="0" rIns="0" bIns="0" rtlCol="0" anchor="ctr"/>
          <a:lstStyle/>
          <a:p>
            <a:pPr marL="0" indent="0" algn="ctr">
              <a:buNone/>
            </a:pPr>
            <a:r>
              <a:rPr lang="en-US" sz="1300" b="1" dirty="0">
                <a:solidFill>
                  <a:schemeClr val="tx1"/>
                </a:solidFill>
              </a:rPr>
              <a:t>35</a:t>
            </a:r>
            <a:endParaRPr lang="en-US" sz="1300" dirty="0"/>
          </a:p>
        </p:txBody>
      </p:sp>
      <p:sp>
        <p:nvSpPr>
          <p:cNvPr id="31" name="Node 27"/>
          <p:cNvSpPr/>
          <p:nvPr/>
        </p:nvSpPr>
        <p:spPr>
          <a:xfrm>
            <a:off x="2343607" y="4315968"/>
            <a:ext cx="438912" cy="438912"/>
          </a:xfrm>
          <a:prstGeom prst="ellipse">
            <a:avLst/>
          </a:prstGeom>
          <a:solidFill>
            <a:srgbClr val="FFFFFF"/>
          </a:solidFill>
          <a:ln w="15875">
            <a:solidFill>
              <a:schemeClr val="tx1"/>
            </a:solidFill>
            <a:prstDash val="solid"/>
          </a:ln>
        </p:spPr>
        <p:txBody>
          <a:bodyPr/>
          <a:lstStyle/>
          <a:p>
            <a:endParaRPr lang="en-US"/>
          </a:p>
        </p:txBody>
      </p:sp>
      <p:sp>
        <p:nvSpPr>
          <p:cNvPr id="32" name="Text 30"/>
          <p:cNvSpPr txBox="1"/>
          <p:nvPr/>
        </p:nvSpPr>
        <p:spPr>
          <a:xfrm>
            <a:off x="2343607" y="4315968"/>
            <a:ext cx="438912" cy="438912"/>
          </a:xfrm>
          <a:prstGeom prst="rect">
            <a:avLst/>
          </a:prstGeom>
          <a:noFill/>
          <a:ln/>
        </p:spPr>
        <p:txBody>
          <a:bodyPr wrap="square" lIns="0" tIns="0" rIns="0" bIns="0" rtlCol="0" anchor="ctr"/>
          <a:lstStyle/>
          <a:p>
            <a:pPr marL="0" indent="0" algn="ctr">
              <a:buNone/>
            </a:pPr>
            <a:r>
              <a:rPr lang="en-US" sz="1300" b="1" dirty="0">
                <a:solidFill>
                  <a:schemeClr val="tx1"/>
                </a:solidFill>
              </a:rPr>
              <a:t>27</a:t>
            </a:r>
            <a:endParaRPr lang="en-US" sz="1300" dirty="0"/>
          </a:p>
        </p:txBody>
      </p:sp>
      <p:sp>
        <p:nvSpPr>
          <p:cNvPr id="33" name="Label Your tasks (X = 20)"/>
          <p:cNvSpPr txBox="1"/>
          <p:nvPr/>
        </p:nvSpPr>
        <p:spPr>
          <a:xfrm>
            <a:off x="6720840" y="1828800"/>
            <a:ext cx="4965192" cy="274320"/>
          </a:xfrm>
          <a:prstGeom prst="rect">
            <a:avLst/>
          </a:prstGeom>
          <a:noFill/>
          <a:ln/>
        </p:spPr>
        <p:txBody>
          <a:bodyPr wrap="square" lIns="0" tIns="0" rIns="0" bIns="0" rtlCol="0" anchor="ctr"/>
          <a:lstStyle/>
          <a:p>
            <a:pPr marL="0" indent="0">
              <a:buNone/>
            </a:pPr>
            <a:r>
              <a:rPr lang="en-US" sz="1300" b="1" dirty="0">
                <a:solidFill>
                  <a:schemeClr val="tx1"/>
                </a:solidFill>
              </a:rPr>
              <a:t>Your tasks (X = 20)</a:t>
            </a:r>
            <a:endParaRPr lang="en-US" sz="1300" dirty="0"/>
          </a:p>
        </p:txBody>
      </p:sp>
      <p:sp>
        <p:nvSpPr>
          <p:cNvPr id="34" name="Task card"/>
          <p:cNvSpPr/>
          <p:nvPr/>
        </p:nvSpPr>
        <p:spPr>
          <a:xfrm>
            <a:off x="6720840" y="2121408"/>
            <a:ext cx="4965192" cy="2743200"/>
          </a:xfrm>
          <a:prstGeom prst="roundRect">
            <a:avLst>
              <a:gd name="adj" fmla="val 2000"/>
            </a:avLst>
          </a:prstGeom>
          <a:solidFill>
            <a:schemeClr val="bg2"/>
          </a:solidFill>
          <a:ln/>
        </p:spPr>
        <p:txBody>
          <a:bodyPr/>
          <a:lstStyle/>
          <a:p>
            <a:endParaRPr lang="en-US"/>
          </a:p>
        </p:txBody>
      </p:sp>
      <p:sp>
        <p:nvSpPr>
          <p:cNvPr id="35" name="Text 33"/>
          <p:cNvSpPr txBox="1"/>
          <p:nvPr/>
        </p:nvSpPr>
        <p:spPr>
          <a:xfrm>
            <a:off x="6949440" y="2331720"/>
            <a:ext cx="4507992" cy="237744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1500" dirty="0">
                <a:solidFill>
                  <a:schemeClr val="tx2"/>
                </a:solidFill>
              </a:rPr>
              <a:t>Write the postorder traversal of the tree.</a:t>
            </a:r>
            <a:endParaRPr lang="en-US" sz="1500" dirty="0"/>
          </a:p>
          <a:p>
            <a:pPr marL="342900" indent="-342900">
              <a:spcAft>
                <a:spcPts val="1200"/>
              </a:spcAft>
              <a:buSzPct val="100000"/>
              <a:buFont typeface="+mj-lt"/>
              <a:buAutoNum type="arabicPeriod"/>
            </a:pPr>
            <a:r>
              <a:rPr lang="en-US" sz="1500" dirty="0">
                <a:solidFill>
                  <a:schemeClr val="tx2"/>
                </a:solidFill>
              </a:rPr>
              <a:t>What is the in-order successor of 20?</a:t>
            </a:r>
            <a:endParaRPr lang="en-US" sz="1500" dirty="0"/>
          </a:p>
          <a:p>
            <a:pPr marL="342900" indent="-342900">
              <a:spcAft>
                <a:spcPts val="1200"/>
              </a:spcAft>
              <a:buSzPct val="100000"/>
              <a:buFont typeface="+mj-lt"/>
              <a:buAutoNum type="arabicPeriod"/>
            </a:pPr>
            <a:r>
              <a:rPr lang="en-US" sz="1500" dirty="0">
                <a:solidFill>
                  <a:schemeClr val="tx2"/>
                </a:solidFill>
              </a:rPr>
              <a:t>Describe the steps to delete 20, and draw the tree after the deletion.</a:t>
            </a:r>
            <a:endParaRPr lang="en-US" sz="1500" dirty="0"/>
          </a:p>
        </p:txBody>
      </p:sp>
      <p:sp>
        <p:nvSpPr>
          <p:cNvPr id="36" name="Takeaway"/>
          <p:cNvSpPr/>
          <p:nvPr/>
        </p:nvSpPr>
        <p:spPr>
          <a:xfrm>
            <a:off x="502920" y="5074920"/>
            <a:ext cx="11183112" cy="685800"/>
          </a:xfrm>
          <a:prstGeom prst="roundRect">
            <a:avLst>
              <a:gd name="adj" fmla="val 8000"/>
            </a:avLst>
          </a:prstGeom>
          <a:solidFill>
            <a:schemeClr val="accent5"/>
          </a:solidFill>
          <a:ln/>
        </p:spPr>
        <p:txBody>
          <a:bodyPr/>
          <a:lstStyle/>
          <a:p>
            <a:endParaRPr lang="en-US"/>
          </a:p>
        </p:txBody>
      </p:sp>
      <p:sp>
        <p:nvSpPr>
          <p:cNvPr id="37" name="Text 35"/>
          <p:cNvSpPr txBox="1"/>
          <p:nvPr/>
        </p:nvSpPr>
        <p:spPr>
          <a:xfrm>
            <a:off x="731520" y="5074920"/>
            <a:ext cx="10725912" cy="685800"/>
          </a:xfrm>
          <a:prstGeom prst="rect">
            <a:avLst/>
          </a:prstGeom>
          <a:noFill/>
          <a:ln/>
        </p:spPr>
        <p:txBody>
          <a:bodyPr wrap="square" lIns="0" tIns="0" rIns="0" bIns="0" rtlCol="0" anchor="ctr"/>
          <a:lstStyle/>
          <a:p>
            <a:pPr marL="0" indent="0">
              <a:buNone/>
            </a:pPr>
            <a:r>
              <a:rPr lang="en-US" sz="1400" b="1" dirty="0">
                <a:solidFill>
                  <a:schemeClr val="accent2"/>
                </a:solidFill>
              </a:rPr>
              <a:t>Reminders:  </a:t>
            </a:r>
            <a:r>
              <a:rPr lang="en-US" sz="1400" dirty="0">
                <a:solidFill>
                  <a:schemeClr val="tx2"/>
                </a:solidFill>
              </a:rPr>
              <a:t>postorder visits left subtree, then right subtree, then the node. The successor of X is the smallest key larger than X.</a:t>
            </a:r>
            <a:endParaRPr lang="en-US" sz="1400" dirty="0"/>
          </a:p>
        </p:txBody>
      </p:sp>
      <p:sp>
        <p:nvSpPr>
          <p:cNvPr id="38" name="Slide Number Placeholder 0"/>
          <p:cNvSpPr>
            <a:spLocks noGrp="1"/>
          </p:cNvSpPr>
          <p:nvPr>
            <p:ph type="sldNum" sz="quarter" idx="4294967295"/>
          </p:nvPr>
        </p:nvSpPr>
        <p:spPr>
          <a:xfrm>
            <a:off x="11228832" y="6547104"/>
            <a:ext cx="457200" cy="237744"/>
          </a:xfrm>
          <a:prstGeom prst="rect">
            <a:avLst/>
          </a:prstGeom>
          <a:extLst>
            <a:ext uri="{C572A759-6A51-4108-AA02-DFA0A04FC94B}">
              <ma14:wrappingTextBoxFlag xmlns="" xmlns:ma14="http://schemas.microsoft.com/office/mac/drawingml/2011/main" val="0"/>
            </a:ext>
          </a:extLst>
        </p:spPr>
        <p:txBody>
          <a:bodyPr/>
          <a:lstStyle>
            <a:lvl1pPr>
              <a:defRPr sz="850">
                <a:solidFill>
                  <a:srgbClr val="595959"/>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02920" y="347472"/>
            <a:ext cx="10515600" cy="274320"/>
          </a:xfrm>
          <a:prstGeom prst="rect">
            <a:avLst/>
          </a:prstGeom>
          <a:noFill/>
          <a:ln/>
        </p:spPr>
        <p:txBody>
          <a:bodyPr wrap="square" lIns="0" tIns="0" rIns="0" bIns="0" rtlCol="0"/>
          <a:lstStyle/>
          <a:p>
            <a:pPr marL="0" indent="0">
              <a:buNone/>
            </a:pPr>
            <a:r>
              <a:rPr lang="en-US" sz="1200" b="1" kern="0" spc="100" dirty="0">
                <a:solidFill>
                  <a:schemeClr val="accent2"/>
                </a:solidFill>
              </a:rPr>
              <a:t>PRACTICE PROBLEM 5 · SOLUTION (1 OF 2)</a:t>
            </a:r>
            <a:endParaRPr lang="en-US" sz="1200" dirty="0"/>
          </a:p>
        </p:txBody>
      </p:sp>
      <p:sp>
        <p:nvSpPr>
          <p:cNvPr id="3" name="Text 1"/>
          <p:cNvSpPr>
            <a:spLocks noGrp="1"/>
          </p:cNvSpPr>
          <p:nvPr>
            <p:ph type="title" idx="102" hasCustomPrompt="1"/>
          </p:nvPr>
        </p:nvSpPr>
        <p:spPr>
          <a:xfrm>
            <a:off x="502920" y="603504"/>
            <a:ext cx="10789920" cy="566928"/>
          </a:xfrm>
          <a:prstGeom prst="rect">
            <a:avLst/>
          </a:prstGeom>
          <a:noFill/>
          <a:ln/>
        </p:spPr>
        <p:txBody>
          <a:bodyPr wrap="square" lIns="0" tIns="0" rIns="0" bIns="0" rtlCol="0" anchor="t"/>
          <a:lstStyle/>
          <a:p>
            <a:pPr marL="0" indent="0" algn="l">
              <a:buNone/>
            </a:pPr>
            <a:r>
              <a:rPr lang="en-US" sz="3000" b="1" dirty="0">
                <a:solidFill>
                  <a:schemeClr val="tx1"/>
                </a:solidFill>
              </a:rPr>
              <a:t>Postorder and the Successor of 20</a:t>
            </a:r>
            <a:endParaRPr lang="en-US" sz="3000" dirty="0"/>
          </a:p>
        </p:txBody>
      </p:sp>
      <p:sp>
        <p:nvSpPr>
          <p:cNvPr id="4" name="Text 1"/>
          <p:cNvSpPr>
            <a:spLocks noGrp="1"/>
          </p:cNvSpPr>
          <p:nvPr>
            <p:ph type="body" idx="103" hasCustomPrompt="1"/>
          </p:nvPr>
        </p:nvSpPr>
        <p:spPr>
          <a:xfrm>
            <a:off x="502920" y="1152144"/>
            <a:ext cx="10881360" cy="384048"/>
          </a:xfrm>
          <a:prstGeom prst="rect">
            <a:avLst/>
          </a:prstGeom>
          <a:noFill/>
          <a:ln/>
        </p:spPr>
        <p:txBody>
          <a:bodyPr wrap="square" lIns="0" tIns="0" rIns="0" bIns="0" rtlCol="0" anchor="t"/>
          <a:lstStyle/>
          <a:p>
            <a:pPr marL="0" indent="0">
              <a:buNone/>
            </a:pPr>
            <a:r>
              <a:rPr lang="en-US" sz="1350" dirty="0">
                <a:solidFill>
                  <a:srgbClr val="595959"/>
                </a:solidFill>
              </a:rPr>
              <a:t>Blue badges show the postorder visit order. The orange path shows how to find the successor.</a:t>
            </a:r>
            <a:endParaRPr lang="en-US" sz="1350" dirty="0"/>
          </a:p>
        </p:txBody>
      </p:sp>
      <p:sp>
        <p:nvSpPr>
          <p:cNvPr id="5" name="Text 3"/>
          <p:cNvSpPr txBox="1"/>
          <p:nvPr/>
        </p:nvSpPr>
        <p:spPr>
          <a:xfrm>
            <a:off x="502920" y="1828800"/>
            <a:ext cx="5760720" cy="274320"/>
          </a:xfrm>
          <a:prstGeom prst="rect">
            <a:avLst/>
          </a:prstGeom>
          <a:noFill/>
          <a:ln/>
        </p:spPr>
        <p:txBody>
          <a:bodyPr wrap="square" lIns="0" tIns="0" rIns="0" bIns="0" rtlCol="0" anchor="ctr"/>
          <a:lstStyle/>
          <a:p>
            <a:pPr marL="0" indent="0">
              <a:buNone/>
            </a:pPr>
            <a:r>
              <a:rPr lang="en-US" sz="1400" b="1" dirty="0">
                <a:solidFill>
                  <a:schemeClr val="tx1"/>
                </a:solidFill>
              </a:rPr>
              <a:t>Q1. Postorder (left, right, node)</a:t>
            </a:r>
            <a:endParaRPr lang="en-US" sz="1400" dirty="0"/>
          </a:p>
        </p:txBody>
      </p:sp>
      <p:sp>
        <p:nvSpPr>
          <p:cNvPr id="6" name="Postorder answer"/>
          <p:cNvSpPr/>
          <p:nvPr/>
        </p:nvSpPr>
        <p:spPr>
          <a:xfrm>
            <a:off x="502920" y="2176272"/>
            <a:ext cx="5760720" cy="566928"/>
          </a:xfrm>
          <a:prstGeom prst="roundRect">
            <a:avLst>
              <a:gd name="adj" fmla="val 9677"/>
            </a:avLst>
          </a:prstGeom>
          <a:solidFill>
            <a:schemeClr val="tx1"/>
          </a:solidFill>
          <a:ln/>
        </p:spPr>
        <p:txBody>
          <a:bodyPr/>
          <a:lstStyle/>
          <a:p>
            <a:endParaRPr lang="en-US"/>
          </a:p>
        </p:txBody>
      </p:sp>
      <p:sp>
        <p:nvSpPr>
          <p:cNvPr id="7" name="Text 5"/>
          <p:cNvSpPr txBox="1"/>
          <p:nvPr/>
        </p:nvSpPr>
        <p:spPr>
          <a:xfrm>
            <a:off x="685800" y="2176272"/>
            <a:ext cx="5394960" cy="566928"/>
          </a:xfrm>
          <a:prstGeom prst="rect">
            <a:avLst/>
          </a:prstGeom>
          <a:noFill/>
          <a:ln/>
        </p:spPr>
        <p:txBody>
          <a:bodyPr wrap="square" lIns="0" tIns="0" rIns="0" bIns="0" rtlCol="0" anchor="ctr"/>
          <a:lstStyle/>
          <a:p>
            <a:pPr marL="0" indent="0">
              <a:buNone/>
            </a:pPr>
            <a:r>
              <a:rPr lang="en-US" sz="2000" b="1" dirty="0">
                <a:solidFill>
                  <a:srgbClr val="FFFFFF"/>
                </a:solidFill>
              </a:rPr>
              <a:t>10, 27, 25, 35, 30, 20, 70, 60, 40</a:t>
            </a:r>
            <a:endParaRPr lang="en-US" sz="2000" dirty="0"/>
          </a:p>
        </p:txBody>
      </p:sp>
      <p:sp>
        <p:nvSpPr>
          <p:cNvPr id="8" name="Text 6"/>
          <p:cNvSpPr txBox="1"/>
          <p:nvPr/>
        </p:nvSpPr>
        <p:spPr>
          <a:xfrm>
            <a:off x="502920" y="2816352"/>
            <a:ext cx="5760720" cy="548640"/>
          </a:xfrm>
          <a:prstGeom prst="rect">
            <a:avLst/>
          </a:prstGeom>
          <a:noFill/>
          <a:ln/>
        </p:spPr>
        <p:txBody>
          <a:bodyPr wrap="square" lIns="0" tIns="0" rIns="0" bIns="0" rtlCol="0" anchor="t"/>
          <a:lstStyle/>
          <a:p>
            <a:pPr marL="0" indent="0">
              <a:buNone/>
            </a:pPr>
            <a:r>
              <a:rPr lang="en-US" sz="1250" dirty="0">
                <a:solidFill>
                  <a:schemeClr val="tx2"/>
                </a:solidFill>
              </a:rPr>
              <a:t>Finish 20's whole subtree first (10, then 30's subtree, then 20), then 60's subtree (70, 60), and the root 40 last.</a:t>
            </a:r>
            <a:endParaRPr lang="en-US" sz="1250" dirty="0"/>
          </a:p>
        </p:txBody>
      </p:sp>
      <p:sp>
        <p:nvSpPr>
          <p:cNvPr id="9" name="Text 7"/>
          <p:cNvSpPr txBox="1"/>
          <p:nvPr/>
        </p:nvSpPr>
        <p:spPr>
          <a:xfrm>
            <a:off x="502920" y="3520440"/>
            <a:ext cx="5760720" cy="274320"/>
          </a:xfrm>
          <a:prstGeom prst="rect">
            <a:avLst/>
          </a:prstGeom>
          <a:noFill/>
          <a:ln/>
        </p:spPr>
        <p:txBody>
          <a:bodyPr wrap="square" lIns="0" tIns="0" rIns="0" bIns="0" rtlCol="0" anchor="ctr"/>
          <a:lstStyle/>
          <a:p>
            <a:pPr marL="0" indent="0">
              <a:buNone/>
            </a:pPr>
            <a:r>
              <a:rPr lang="en-US" sz="1400" b="1" dirty="0">
                <a:solidFill>
                  <a:schemeClr val="tx1"/>
                </a:solidFill>
              </a:rPr>
              <a:t>Q2. Successor of 20</a:t>
            </a:r>
            <a:endParaRPr lang="en-US" sz="1400" dirty="0"/>
          </a:p>
        </p:txBody>
      </p:sp>
      <p:sp>
        <p:nvSpPr>
          <p:cNvPr id="10" name="Text 8"/>
          <p:cNvSpPr txBox="1"/>
          <p:nvPr/>
        </p:nvSpPr>
        <p:spPr>
          <a:xfrm>
            <a:off x="502920" y="3840480"/>
            <a:ext cx="5760720" cy="548640"/>
          </a:xfrm>
          <a:prstGeom prst="rect">
            <a:avLst/>
          </a:prstGeom>
          <a:noFill/>
          <a:ln/>
        </p:spPr>
        <p:txBody>
          <a:bodyPr wrap="square" lIns="0" tIns="0" rIns="0" bIns="0" rtlCol="0" anchor="t"/>
          <a:lstStyle/>
          <a:p>
            <a:pPr marL="0" indent="0">
              <a:buNone/>
            </a:pPr>
            <a:r>
              <a:rPr lang="en-US" sz="1300" dirty="0">
                <a:solidFill>
                  <a:schemeClr val="tx2"/>
                </a:solidFill>
              </a:rPr>
              <a:t>20 has a right subtree, so go right once (30), then left as far as possible (25). </a:t>
            </a:r>
            <a:r>
              <a:rPr lang="en-US" sz="1300" b="1" dirty="0">
                <a:solidFill>
                  <a:schemeClr val="accent2"/>
                </a:solidFill>
              </a:rPr>
              <a:t>Successor = 25.</a:t>
            </a:r>
            <a:endParaRPr lang="en-US" sz="1300" dirty="0"/>
          </a:p>
        </p:txBody>
      </p:sp>
      <p:sp>
        <p:nvSpPr>
          <p:cNvPr id="11" name="Text 9"/>
          <p:cNvSpPr txBox="1"/>
          <p:nvPr/>
        </p:nvSpPr>
        <p:spPr>
          <a:xfrm>
            <a:off x="502920" y="4434840"/>
            <a:ext cx="5760720" cy="320040"/>
          </a:xfrm>
          <a:prstGeom prst="rect">
            <a:avLst/>
          </a:prstGeom>
          <a:noFill/>
          <a:ln/>
        </p:spPr>
        <p:txBody>
          <a:bodyPr wrap="square" lIns="0" tIns="0" rIns="0" bIns="0" rtlCol="0" anchor="ctr"/>
          <a:lstStyle/>
          <a:p>
            <a:pPr marL="0" indent="0">
              <a:buNone/>
            </a:pPr>
            <a:r>
              <a:rPr lang="en-US" sz="1200" dirty="0">
                <a:solidFill>
                  <a:srgbClr val="595959"/>
                </a:solidFill>
              </a:rPr>
              <a:t>Check: inorder is 10, 20, 25, 27, 30, … and 25 comes right after 20.</a:t>
            </a:r>
            <a:endParaRPr lang="en-US" sz="1200" dirty="0"/>
          </a:p>
        </p:txBody>
      </p:sp>
      <p:sp>
        <p:nvSpPr>
          <p:cNvPr id="12" name="Tree panel"/>
          <p:cNvSpPr/>
          <p:nvPr/>
        </p:nvSpPr>
        <p:spPr>
          <a:xfrm>
            <a:off x="6720840" y="1828800"/>
            <a:ext cx="4965192" cy="3035808"/>
          </a:xfrm>
          <a:prstGeom prst="roundRect">
            <a:avLst>
              <a:gd name="adj" fmla="val 1807"/>
            </a:avLst>
          </a:prstGeom>
          <a:solidFill>
            <a:schemeClr val="bg2"/>
          </a:solidFill>
          <a:ln/>
        </p:spPr>
        <p:txBody>
          <a:bodyPr/>
          <a:lstStyle/>
          <a:p>
            <a:endParaRPr lang="en-US"/>
          </a:p>
        </p:txBody>
      </p:sp>
      <p:sp>
        <p:nvSpPr>
          <p:cNvPr id="13" name="Edge 40-20"/>
          <p:cNvSpPr/>
          <p:nvPr/>
        </p:nvSpPr>
        <p:spPr>
          <a:xfrm flipH="1">
            <a:off x="7927848" y="2240280"/>
            <a:ext cx="1280160" cy="585216"/>
          </a:xfrm>
          <a:prstGeom prst="line">
            <a:avLst/>
          </a:prstGeom>
          <a:noFill/>
          <a:ln w="15875">
            <a:solidFill>
              <a:srgbClr val="8497B0"/>
            </a:solidFill>
            <a:prstDash val="solid"/>
          </a:ln>
        </p:spPr>
        <p:txBody>
          <a:bodyPr/>
          <a:lstStyle/>
          <a:p>
            <a:endParaRPr lang="en-US"/>
          </a:p>
        </p:txBody>
      </p:sp>
      <p:sp>
        <p:nvSpPr>
          <p:cNvPr id="14" name="Edge 40-60"/>
          <p:cNvSpPr/>
          <p:nvPr/>
        </p:nvSpPr>
        <p:spPr>
          <a:xfrm>
            <a:off x="9208008" y="2240280"/>
            <a:ext cx="1280160" cy="585216"/>
          </a:xfrm>
          <a:prstGeom prst="line">
            <a:avLst/>
          </a:prstGeom>
          <a:noFill/>
          <a:ln w="15875">
            <a:solidFill>
              <a:srgbClr val="8497B0"/>
            </a:solidFill>
            <a:prstDash val="solid"/>
          </a:ln>
        </p:spPr>
        <p:txBody>
          <a:bodyPr/>
          <a:lstStyle/>
          <a:p>
            <a:endParaRPr lang="en-US"/>
          </a:p>
        </p:txBody>
      </p:sp>
      <p:sp>
        <p:nvSpPr>
          <p:cNvPr id="15" name="Edge 20-10"/>
          <p:cNvSpPr/>
          <p:nvPr/>
        </p:nvSpPr>
        <p:spPr>
          <a:xfrm flipH="1">
            <a:off x="7287768" y="2825496"/>
            <a:ext cx="640080" cy="585216"/>
          </a:xfrm>
          <a:prstGeom prst="line">
            <a:avLst/>
          </a:prstGeom>
          <a:noFill/>
          <a:ln w="15875">
            <a:solidFill>
              <a:srgbClr val="8497B0"/>
            </a:solidFill>
            <a:prstDash val="solid"/>
          </a:ln>
        </p:spPr>
        <p:txBody>
          <a:bodyPr/>
          <a:lstStyle/>
          <a:p>
            <a:endParaRPr lang="en-US"/>
          </a:p>
        </p:txBody>
      </p:sp>
      <p:sp>
        <p:nvSpPr>
          <p:cNvPr id="16" name="Edge 20-30"/>
          <p:cNvSpPr/>
          <p:nvPr/>
        </p:nvSpPr>
        <p:spPr>
          <a:xfrm>
            <a:off x="7927848" y="2825496"/>
            <a:ext cx="640080" cy="585216"/>
          </a:xfrm>
          <a:prstGeom prst="line">
            <a:avLst/>
          </a:prstGeom>
          <a:noFill/>
          <a:ln w="31750">
            <a:solidFill>
              <a:srgbClr val="C55A11"/>
            </a:solidFill>
            <a:prstDash val="solid"/>
          </a:ln>
        </p:spPr>
        <p:txBody>
          <a:bodyPr/>
          <a:lstStyle/>
          <a:p>
            <a:endParaRPr lang="en-US"/>
          </a:p>
        </p:txBody>
      </p:sp>
      <p:sp>
        <p:nvSpPr>
          <p:cNvPr id="17" name="Edge 60-70"/>
          <p:cNvSpPr/>
          <p:nvPr/>
        </p:nvSpPr>
        <p:spPr>
          <a:xfrm>
            <a:off x="10488168" y="2825496"/>
            <a:ext cx="640080" cy="585216"/>
          </a:xfrm>
          <a:prstGeom prst="line">
            <a:avLst/>
          </a:prstGeom>
          <a:noFill/>
          <a:ln w="15875">
            <a:solidFill>
              <a:srgbClr val="8497B0"/>
            </a:solidFill>
            <a:prstDash val="solid"/>
          </a:ln>
        </p:spPr>
        <p:txBody>
          <a:bodyPr/>
          <a:lstStyle/>
          <a:p>
            <a:endParaRPr lang="en-US"/>
          </a:p>
        </p:txBody>
      </p:sp>
      <p:sp>
        <p:nvSpPr>
          <p:cNvPr id="18" name="Edge 30-25"/>
          <p:cNvSpPr/>
          <p:nvPr/>
        </p:nvSpPr>
        <p:spPr>
          <a:xfrm flipH="1">
            <a:off x="8247888" y="3410712"/>
            <a:ext cx="320040" cy="585216"/>
          </a:xfrm>
          <a:prstGeom prst="line">
            <a:avLst/>
          </a:prstGeom>
          <a:noFill/>
          <a:ln w="31750">
            <a:solidFill>
              <a:srgbClr val="C55A11"/>
            </a:solidFill>
            <a:prstDash val="solid"/>
          </a:ln>
        </p:spPr>
        <p:txBody>
          <a:bodyPr/>
          <a:lstStyle/>
          <a:p>
            <a:endParaRPr lang="en-US"/>
          </a:p>
        </p:txBody>
      </p:sp>
      <p:sp>
        <p:nvSpPr>
          <p:cNvPr id="19" name="Edge 30-35"/>
          <p:cNvSpPr/>
          <p:nvPr/>
        </p:nvSpPr>
        <p:spPr>
          <a:xfrm>
            <a:off x="8567928" y="3410712"/>
            <a:ext cx="320040" cy="585216"/>
          </a:xfrm>
          <a:prstGeom prst="line">
            <a:avLst/>
          </a:prstGeom>
          <a:noFill/>
          <a:ln w="15875">
            <a:solidFill>
              <a:srgbClr val="8497B0"/>
            </a:solidFill>
            <a:prstDash val="solid"/>
          </a:ln>
        </p:spPr>
        <p:txBody>
          <a:bodyPr/>
          <a:lstStyle/>
          <a:p>
            <a:endParaRPr lang="en-US"/>
          </a:p>
        </p:txBody>
      </p:sp>
      <p:sp>
        <p:nvSpPr>
          <p:cNvPr id="20" name="Edge 25-27"/>
          <p:cNvSpPr/>
          <p:nvPr/>
        </p:nvSpPr>
        <p:spPr>
          <a:xfrm>
            <a:off x="8247888" y="3995928"/>
            <a:ext cx="224028" cy="585216"/>
          </a:xfrm>
          <a:prstGeom prst="line">
            <a:avLst/>
          </a:prstGeom>
          <a:noFill/>
          <a:ln w="15875">
            <a:solidFill>
              <a:srgbClr val="8497B0"/>
            </a:solidFill>
            <a:prstDash val="solid"/>
          </a:ln>
        </p:spPr>
        <p:txBody>
          <a:bodyPr/>
          <a:lstStyle/>
          <a:p>
            <a:endParaRPr lang="en-US"/>
          </a:p>
        </p:txBody>
      </p:sp>
      <p:sp>
        <p:nvSpPr>
          <p:cNvPr id="21" name="Node 40"/>
          <p:cNvSpPr/>
          <p:nvPr/>
        </p:nvSpPr>
        <p:spPr>
          <a:xfrm>
            <a:off x="8988552" y="2020824"/>
            <a:ext cx="438912" cy="438912"/>
          </a:xfrm>
          <a:prstGeom prst="ellipse">
            <a:avLst/>
          </a:prstGeom>
          <a:solidFill>
            <a:srgbClr val="FFFFFF"/>
          </a:solidFill>
          <a:ln w="15875">
            <a:solidFill>
              <a:schemeClr val="tx1"/>
            </a:solidFill>
            <a:prstDash val="solid"/>
          </a:ln>
        </p:spPr>
        <p:txBody>
          <a:bodyPr/>
          <a:lstStyle/>
          <a:p>
            <a:endParaRPr lang="en-US"/>
          </a:p>
        </p:txBody>
      </p:sp>
      <p:sp>
        <p:nvSpPr>
          <p:cNvPr id="22" name="Text 20"/>
          <p:cNvSpPr txBox="1"/>
          <p:nvPr/>
        </p:nvSpPr>
        <p:spPr>
          <a:xfrm>
            <a:off x="8988552" y="2020824"/>
            <a:ext cx="438912" cy="438912"/>
          </a:xfrm>
          <a:prstGeom prst="rect">
            <a:avLst/>
          </a:prstGeom>
          <a:noFill/>
          <a:ln/>
        </p:spPr>
        <p:txBody>
          <a:bodyPr wrap="square" lIns="0" tIns="0" rIns="0" bIns="0" rtlCol="0" anchor="ctr"/>
          <a:lstStyle/>
          <a:p>
            <a:pPr marL="0" indent="0" algn="ctr">
              <a:buNone/>
            </a:pPr>
            <a:r>
              <a:rPr lang="en-US" sz="1300" b="1" dirty="0">
                <a:solidFill>
                  <a:schemeClr val="tx1"/>
                </a:solidFill>
              </a:rPr>
              <a:t>40</a:t>
            </a:r>
            <a:endParaRPr lang="en-US" sz="1300" dirty="0"/>
          </a:p>
        </p:txBody>
      </p:sp>
      <p:sp>
        <p:nvSpPr>
          <p:cNvPr id="23" name="Order 40"/>
          <p:cNvSpPr/>
          <p:nvPr/>
        </p:nvSpPr>
        <p:spPr>
          <a:xfrm>
            <a:off x="9328709" y="1900123"/>
            <a:ext cx="219456" cy="219456"/>
          </a:xfrm>
          <a:prstGeom prst="ellipse">
            <a:avLst/>
          </a:prstGeom>
          <a:solidFill>
            <a:schemeClr val="accent1"/>
          </a:solidFill>
          <a:ln/>
        </p:spPr>
        <p:txBody>
          <a:bodyPr/>
          <a:lstStyle/>
          <a:p>
            <a:endParaRPr lang="en-US"/>
          </a:p>
        </p:txBody>
      </p:sp>
      <p:sp>
        <p:nvSpPr>
          <p:cNvPr id="24" name="Text 22"/>
          <p:cNvSpPr txBox="1"/>
          <p:nvPr/>
        </p:nvSpPr>
        <p:spPr>
          <a:xfrm>
            <a:off x="9328709" y="1900123"/>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rPr>
              <a:t>9</a:t>
            </a:r>
            <a:endParaRPr lang="en-US" sz="900" dirty="0"/>
          </a:p>
        </p:txBody>
      </p:sp>
      <p:sp>
        <p:nvSpPr>
          <p:cNvPr id="25" name="Node 20"/>
          <p:cNvSpPr/>
          <p:nvPr/>
        </p:nvSpPr>
        <p:spPr>
          <a:xfrm>
            <a:off x="7708392" y="2606040"/>
            <a:ext cx="438912" cy="438912"/>
          </a:xfrm>
          <a:prstGeom prst="ellipse">
            <a:avLst/>
          </a:prstGeom>
          <a:solidFill>
            <a:schemeClr val="tx1"/>
          </a:solidFill>
          <a:ln w="15875">
            <a:solidFill>
              <a:schemeClr val="tx1"/>
            </a:solidFill>
            <a:prstDash val="solid"/>
          </a:ln>
        </p:spPr>
        <p:txBody>
          <a:bodyPr/>
          <a:lstStyle/>
          <a:p>
            <a:endParaRPr lang="en-US"/>
          </a:p>
        </p:txBody>
      </p:sp>
      <p:sp>
        <p:nvSpPr>
          <p:cNvPr id="26" name="Text 24"/>
          <p:cNvSpPr txBox="1"/>
          <p:nvPr/>
        </p:nvSpPr>
        <p:spPr>
          <a:xfrm>
            <a:off x="7708392" y="2606040"/>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rPr>
              <a:t>20</a:t>
            </a:r>
            <a:endParaRPr lang="en-US" sz="1300" dirty="0"/>
          </a:p>
        </p:txBody>
      </p:sp>
      <p:sp>
        <p:nvSpPr>
          <p:cNvPr id="27" name="Order 20"/>
          <p:cNvSpPr/>
          <p:nvPr/>
        </p:nvSpPr>
        <p:spPr>
          <a:xfrm>
            <a:off x="8048549" y="2485339"/>
            <a:ext cx="219456" cy="219456"/>
          </a:xfrm>
          <a:prstGeom prst="ellipse">
            <a:avLst/>
          </a:prstGeom>
          <a:solidFill>
            <a:schemeClr val="accent1"/>
          </a:solidFill>
          <a:ln/>
        </p:spPr>
        <p:txBody>
          <a:bodyPr/>
          <a:lstStyle/>
          <a:p>
            <a:endParaRPr lang="en-US"/>
          </a:p>
        </p:txBody>
      </p:sp>
      <p:sp>
        <p:nvSpPr>
          <p:cNvPr id="28" name="Text 26"/>
          <p:cNvSpPr txBox="1"/>
          <p:nvPr/>
        </p:nvSpPr>
        <p:spPr>
          <a:xfrm>
            <a:off x="8048549" y="2485339"/>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rPr>
              <a:t>6</a:t>
            </a:r>
            <a:endParaRPr lang="en-US" sz="900" dirty="0"/>
          </a:p>
        </p:txBody>
      </p:sp>
      <p:sp>
        <p:nvSpPr>
          <p:cNvPr id="29" name="Node 60"/>
          <p:cNvSpPr/>
          <p:nvPr/>
        </p:nvSpPr>
        <p:spPr>
          <a:xfrm>
            <a:off x="10268712" y="2606040"/>
            <a:ext cx="438912" cy="438912"/>
          </a:xfrm>
          <a:prstGeom prst="ellipse">
            <a:avLst/>
          </a:prstGeom>
          <a:solidFill>
            <a:srgbClr val="FFFFFF"/>
          </a:solidFill>
          <a:ln w="15875">
            <a:solidFill>
              <a:schemeClr val="tx1"/>
            </a:solidFill>
            <a:prstDash val="solid"/>
          </a:ln>
        </p:spPr>
        <p:txBody>
          <a:bodyPr/>
          <a:lstStyle/>
          <a:p>
            <a:endParaRPr lang="en-US"/>
          </a:p>
        </p:txBody>
      </p:sp>
      <p:sp>
        <p:nvSpPr>
          <p:cNvPr id="30" name="Text 28"/>
          <p:cNvSpPr txBox="1"/>
          <p:nvPr/>
        </p:nvSpPr>
        <p:spPr>
          <a:xfrm>
            <a:off x="10268712" y="2606040"/>
            <a:ext cx="438912" cy="438912"/>
          </a:xfrm>
          <a:prstGeom prst="rect">
            <a:avLst/>
          </a:prstGeom>
          <a:noFill/>
          <a:ln/>
        </p:spPr>
        <p:txBody>
          <a:bodyPr wrap="square" lIns="0" tIns="0" rIns="0" bIns="0" rtlCol="0" anchor="ctr"/>
          <a:lstStyle/>
          <a:p>
            <a:pPr marL="0" indent="0" algn="ctr">
              <a:buNone/>
            </a:pPr>
            <a:r>
              <a:rPr lang="en-US" sz="1300" b="1" dirty="0">
                <a:solidFill>
                  <a:schemeClr val="tx1"/>
                </a:solidFill>
              </a:rPr>
              <a:t>60</a:t>
            </a:r>
            <a:endParaRPr lang="en-US" sz="1300" dirty="0"/>
          </a:p>
        </p:txBody>
      </p:sp>
      <p:sp>
        <p:nvSpPr>
          <p:cNvPr id="31" name="Order 60"/>
          <p:cNvSpPr/>
          <p:nvPr/>
        </p:nvSpPr>
        <p:spPr>
          <a:xfrm>
            <a:off x="10608869" y="2485339"/>
            <a:ext cx="219456" cy="219456"/>
          </a:xfrm>
          <a:prstGeom prst="ellipse">
            <a:avLst/>
          </a:prstGeom>
          <a:solidFill>
            <a:schemeClr val="accent1"/>
          </a:solidFill>
          <a:ln/>
        </p:spPr>
        <p:txBody>
          <a:bodyPr/>
          <a:lstStyle/>
          <a:p>
            <a:endParaRPr lang="en-US"/>
          </a:p>
        </p:txBody>
      </p:sp>
      <p:sp>
        <p:nvSpPr>
          <p:cNvPr id="32" name="Text 30"/>
          <p:cNvSpPr txBox="1"/>
          <p:nvPr/>
        </p:nvSpPr>
        <p:spPr>
          <a:xfrm>
            <a:off x="10608869" y="2485339"/>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rPr>
              <a:t>8</a:t>
            </a:r>
            <a:endParaRPr lang="en-US" sz="900" dirty="0"/>
          </a:p>
        </p:txBody>
      </p:sp>
      <p:sp>
        <p:nvSpPr>
          <p:cNvPr id="33" name="Node 10"/>
          <p:cNvSpPr/>
          <p:nvPr/>
        </p:nvSpPr>
        <p:spPr>
          <a:xfrm>
            <a:off x="7068312" y="3191256"/>
            <a:ext cx="438912" cy="438912"/>
          </a:xfrm>
          <a:prstGeom prst="ellipse">
            <a:avLst/>
          </a:prstGeom>
          <a:solidFill>
            <a:srgbClr val="FFFFFF"/>
          </a:solidFill>
          <a:ln w="15875">
            <a:solidFill>
              <a:schemeClr val="tx1"/>
            </a:solidFill>
            <a:prstDash val="solid"/>
          </a:ln>
        </p:spPr>
        <p:txBody>
          <a:bodyPr/>
          <a:lstStyle/>
          <a:p>
            <a:endParaRPr lang="en-US"/>
          </a:p>
        </p:txBody>
      </p:sp>
      <p:sp>
        <p:nvSpPr>
          <p:cNvPr id="34" name="Text 32"/>
          <p:cNvSpPr txBox="1"/>
          <p:nvPr/>
        </p:nvSpPr>
        <p:spPr>
          <a:xfrm>
            <a:off x="7068312" y="3191256"/>
            <a:ext cx="438912" cy="438912"/>
          </a:xfrm>
          <a:prstGeom prst="rect">
            <a:avLst/>
          </a:prstGeom>
          <a:noFill/>
          <a:ln/>
        </p:spPr>
        <p:txBody>
          <a:bodyPr wrap="square" lIns="0" tIns="0" rIns="0" bIns="0" rtlCol="0" anchor="ctr"/>
          <a:lstStyle/>
          <a:p>
            <a:pPr marL="0" indent="0" algn="ctr">
              <a:buNone/>
            </a:pPr>
            <a:r>
              <a:rPr lang="en-US" sz="1300" b="1" dirty="0">
                <a:solidFill>
                  <a:schemeClr val="tx1"/>
                </a:solidFill>
              </a:rPr>
              <a:t>10</a:t>
            </a:r>
            <a:endParaRPr lang="en-US" sz="1300" dirty="0"/>
          </a:p>
        </p:txBody>
      </p:sp>
      <p:sp>
        <p:nvSpPr>
          <p:cNvPr id="35" name="Order 10"/>
          <p:cNvSpPr/>
          <p:nvPr/>
        </p:nvSpPr>
        <p:spPr>
          <a:xfrm>
            <a:off x="7408469" y="3070555"/>
            <a:ext cx="219456" cy="219456"/>
          </a:xfrm>
          <a:prstGeom prst="ellipse">
            <a:avLst/>
          </a:prstGeom>
          <a:solidFill>
            <a:schemeClr val="accent1"/>
          </a:solidFill>
          <a:ln/>
        </p:spPr>
        <p:txBody>
          <a:bodyPr/>
          <a:lstStyle/>
          <a:p>
            <a:endParaRPr lang="en-US"/>
          </a:p>
        </p:txBody>
      </p:sp>
      <p:sp>
        <p:nvSpPr>
          <p:cNvPr id="36" name="Text 34"/>
          <p:cNvSpPr txBox="1"/>
          <p:nvPr/>
        </p:nvSpPr>
        <p:spPr>
          <a:xfrm>
            <a:off x="7408469" y="3070555"/>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37" name="Node 30"/>
          <p:cNvSpPr/>
          <p:nvPr/>
        </p:nvSpPr>
        <p:spPr>
          <a:xfrm>
            <a:off x="8348472" y="3191256"/>
            <a:ext cx="438912" cy="438912"/>
          </a:xfrm>
          <a:prstGeom prst="ellipse">
            <a:avLst/>
          </a:prstGeom>
          <a:solidFill>
            <a:srgbClr val="FFFFFF"/>
          </a:solidFill>
          <a:ln w="15875">
            <a:solidFill>
              <a:schemeClr val="tx1"/>
            </a:solidFill>
            <a:prstDash val="solid"/>
          </a:ln>
        </p:spPr>
        <p:txBody>
          <a:bodyPr/>
          <a:lstStyle/>
          <a:p>
            <a:endParaRPr lang="en-US"/>
          </a:p>
        </p:txBody>
      </p:sp>
      <p:sp>
        <p:nvSpPr>
          <p:cNvPr id="38" name="Text 36"/>
          <p:cNvSpPr txBox="1"/>
          <p:nvPr/>
        </p:nvSpPr>
        <p:spPr>
          <a:xfrm>
            <a:off x="8348472" y="3191256"/>
            <a:ext cx="438912" cy="438912"/>
          </a:xfrm>
          <a:prstGeom prst="rect">
            <a:avLst/>
          </a:prstGeom>
          <a:noFill/>
          <a:ln/>
        </p:spPr>
        <p:txBody>
          <a:bodyPr wrap="square" lIns="0" tIns="0" rIns="0" bIns="0" rtlCol="0" anchor="ctr"/>
          <a:lstStyle/>
          <a:p>
            <a:pPr marL="0" indent="0" algn="ctr">
              <a:buNone/>
            </a:pPr>
            <a:r>
              <a:rPr lang="en-US" sz="1300" b="1" dirty="0">
                <a:solidFill>
                  <a:schemeClr val="tx1"/>
                </a:solidFill>
              </a:rPr>
              <a:t>30</a:t>
            </a:r>
            <a:endParaRPr lang="en-US" sz="1300" dirty="0"/>
          </a:p>
        </p:txBody>
      </p:sp>
      <p:sp>
        <p:nvSpPr>
          <p:cNvPr id="39" name="Order 30"/>
          <p:cNvSpPr/>
          <p:nvPr/>
        </p:nvSpPr>
        <p:spPr>
          <a:xfrm>
            <a:off x="8688629" y="3070555"/>
            <a:ext cx="219456" cy="219456"/>
          </a:xfrm>
          <a:prstGeom prst="ellipse">
            <a:avLst/>
          </a:prstGeom>
          <a:solidFill>
            <a:schemeClr val="accent1"/>
          </a:solidFill>
          <a:ln/>
        </p:spPr>
        <p:txBody>
          <a:bodyPr/>
          <a:lstStyle/>
          <a:p>
            <a:endParaRPr lang="en-US"/>
          </a:p>
        </p:txBody>
      </p:sp>
      <p:sp>
        <p:nvSpPr>
          <p:cNvPr id="40" name="Text 38"/>
          <p:cNvSpPr txBox="1"/>
          <p:nvPr/>
        </p:nvSpPr>
        <p:spPr>
          <a:xfrm>
            <a:off x="8688629" y="3070555"/>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rPr>
              <a:t>5</a:t>
            </a:r>
            <a:endParaRPr lang="en-US" sz="900" dirty="0"/>
          </a:p>
        </p:txBody>
      </p:sp>
      <p:sp>
        <p:nvSpPr>
          <p:cNvPr id="41" name="Node 70"/>
          <p:cNvSpPr/>
          <p:nvPr/>
        </p:nvSpPr>
        <p:spPr>
          <a:xfrm>
            <a:off x="10908792" y="3191256"/>
            <a:ext cx="438912" cy="438912"/>
          </a:xfrm>
          <a:prstGeom prst="ellipse">
            <a:avLst/>
          </a:prstGeom>
          <a:solidFill>
            <a:srgbClr val="FFFFFF"/>
          </a:solidFill>
          <a:ln w="15875">
            <a:solidFill>
              <a:schemeClr val="tx1"/>
            </a:solidFill>
            <a:prstDash val="solid"/>
          </a:ln>
        </p:spPr>
        <p:txBody>
          <a:bodyPr/>
          <a:lstStyle/>
          <a:p>
            <a:endParaRPr lang="en-US"/>
          </a:p>
        </p:txBody>
      </p:sp>
      <p:sp>
        <p:nvSpPr>
          <p:cNvPr id="42" name="Text 40"/>
          <p:cNvSpPr txBox="1"/>
          <p:nvPr/>
        </p:nvSpPr>
        <p:spPr>
          <a:xfrm>
            <a:off x="10908792" y="3191256"/>
            <a:ext cx="438912" cy="438912"/>
          </a:xfrm>
          <a:prstGeom prst="rect">
            <a:avLst/>
          </a:prstGeom>
          <a:noFill/>
          <a:ln/>
        </p:spPr>
        <p:txBody>
          <a:bodyPr wrap="square" lIns="0" tIns="0" rIns="0" bIns="0" rtlCol="0" anchor="ctr"/>
          <a:lstStyle/>
          <a:p>
            <a:pPr marL="0" indent="0" algn="ctr">
              <a:buNone/>
            </a:pPr>
            <a:r>
              <a:rPr lang="en-US" sz="1300" b="1" dirty="0">
                <a:solidFill>
                  <a:schemeClr val="tx1"/>
                </a:solidFill>
              </a:rPr>
              <a:t>70</a:t>
            </a:r>
            <a:endParaRPr lang="en-US" sz="1300" dirty="0"/>
          </a:p>
        </p:txBody>
      </p:sp>
      <p:sp>
        <p:nvSpPr>
          <p:cNvPr id="43" name="Order 70"/>
          <p:cNvSpPr/>
          <p:nvPr/>
        </p:nvSpPr>
        <p:spPr>
          <a:xfrm>
            <a:off x="11248949" y="3070555"/>
            <a:ext cx="219456" cy="219456"/>
          </a:xfrm>
          <a:prstGeom prst="ellipse">
            <a:avLst/>
          </a:prstGeom>
          <a:solidFill>
            <a:schemeClr val="accent1"/>
          </a:solidFill>
          <a:ln/>
        </p:spPr>
        <p:txBody>
          <a:bodyPr/>
          <a:lstStyle/>
          <a:p>
            <a:endParaRPr lang="en-US"/>
          </a:p>
        </p:txBody>
      </p:sp>
      <p:sp>
        <p:nvSpPr>
          <p:cNvPr id="44" name="Text 42"/>
          <p:cNvSpPr txBox="1"/>
          <p:nvPr/>
        </p:nvSpPr>
        <p:spPr>
          <a:xfrm>
            <a:off x="11248949" y="3070555"/>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rPr>
              <a:t>7</a:t>
            </a:r>
            <a:endParaRPr lang="en-US" sz="900" dirty="0"/>
          </a:p>
        </p:txBody>
      </p:sp>
      <p:sp>
        <p:nvSpPr>
          <p:cNvPr id="45" name="Node 25"/>
          <p:cNvSpPr/>
          <p:nvPr/>
        </p:nvSpPr>
        <p:spPr>
          <a:xfrm>
            <a:off x="8028432" y="3776472"/>
            <a:ext cx="438912" cy="438912"/>
          </a:xfrm>
          <a:prstGeom prst="ellipse">
            <a:avLst/>
          </a:prstGeom>
          <a:solidFill>
            <a:schemeClr val="accent2"/>
          </a:solidFill>
          <a:ln w="15875">
            <a:solidFill>
              <a:schemeClr val="accent2"/>
            </a:solidFill>
            <a:prstDash val="solid"/>
          </a:ln>
        </p:spPr>
        <p:txBody>
          <a:bodyPr/>
          <a:lstStyle/>
          <a:p>
            <a:endParaRPr lang="en-US"/>
          </a:p>
        </p:txBody>
      </p:sp>
      <p:sp>
        <p:nvSpPr>
          <p:cNvPr id="46" name="Text 44"/>
          <p:cNvSpPr txBox="1"/>
          <p:nvPr/>
        </p:nvSpPr>
        <p:spPr>
          <a:xfrm>
            <a:off x="8028432" y="3776472"/>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rPr>
              <a:t>25</a:t>
            </a:r>
            <a:endParaRPr lang="en-US" sz="1300" dirty="0"/>
          </a:p>
        </p:txBody>
      </p:sp>
      <p:sp>
        <p:nvSpPr>
          <p:cNvPr id="47" name="Order 25"/>
          <p:cNvSpPr/>
          <p:nvPr/>
        </p:nvSpPr>
        <p:spPr>
          <a:xfrm>
            <a:off x="8368589" y="3655771"/>
            <a:ext cx="219456" cy="219456"/>
          </a:xfrm>
          <a:prstGeom prst="ellipse">
            <a:avLst/>
          </a:prstGeom>
          <a:solidFill>
            <a:schemeClr val="accent1"/>
          </a:solidFill>
          <a:ln/>
        </p:spPr>
        <p:txBody>
          <a:bodyPr/>
          <a:lstStyle/>
          <a:p>
            <a:endParaRPr lang="en-US"/>
          </a:p>
        </p:txBody>
      </p:sp>
      <p:sp>
        <p:nvSpPr>
          <p:cNvPr id="48" name="Text 46"/>
          <p:cNvSpPr txBox="1"/>
          <p:nvPr/>
        </p:nvSpPr>
        <p:spPr>
          <a:xfrm>
            <a:off x="8368589" y="3655771"/>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49" name="Node 35"/>
          <p:cNvSpPr/>
          <p:nvPr/>
        </p:nvSpPr>
        <p:spPr>
          <a:xfrm>
            <a:off x="8668512" y="3776472"/>
            <a:ext cx="438912" cy="438912"/>
          </a:xfrm>
          <a:prstGeom prst="ellipse">
            <a:avLst/>
          </a:prstGeom>
          <a:solidFill>
            <a:srgbClr val="FFFFFF"/>
          </a:solidFill>
          <a:ln w="15875">
            <a:solidFill>
              <a:schemeClr val="tx1"/>
            </a:solidFill>
            <a:prstDash val="solid"/>
          </a:ln>
        </p:spPr>
        <p:txBody>
          <a:bodyPr/>
          <a:lstStyle/>
          <a:p>
            <a:endParaRPr lang="en-US"/>
          </a:p>
        </p:txBody>
      </p:sp>
      <p:sp>
        <p:nvSpPr>
          <p:cNvPr id="50" name="Text 48"/>
          <p:cNvSpPr txBox="1"/>
          <p:nvPr/>
        </p:nvSpPr>
        <p:spPr>
          <a:xfrm>
            <a:off x="8668512" y="3776472"/>
            <a:ext cx="438912" cy="438912"/>
          </a:xfrm>
          <a:prstGeom prst="rect">
            <a:avLst/>
          </a:prstGeom>
          <a:noFill/>
          <a:ln/>
        </p:spPr>
        <p:txBody>
          <a:bodyPr wrap="square" lIns="0" tIns="0" rIns="0" bIns="0" rtlCol="0" anchor="ctr"/>
          <a:lstStyle/>
          <a:p>
            <a:pPr marL="0" indent="0" algn="ctr">
              <a:buNone/>
            </a:pPr>
            <a:r>
              <a:rPr lang="en-US" sz="1300" b="1" dirty="0">
                <a:solidFill>
                  <a:schemeClr val="tx1"/>
                </a:solidFill>
              </a:rPr>
              <a:t>35</a:t>
            </a:r>
            <a:endParaRPr lang="en-US" sz="1300" dirty="0"/>
          </a:p>
        </p:txBody>
      </p:sp>
      <p:sp>
        <p:nvSpPr>
          <p:cNvPr id="51" name="Order 35"/>
          <p:cNvSpPr/>
          <p:nvPr/>
        </p:nvSpPr>
        <p:spPr>
          <a:xfrm>
            <a:off x="9008669" y="3655771"/>
            <a:ext cx="219456" cy="219456"/>
          </a:xfrm>
          <a:prstGeom prst="ellipse">
            <a:avLst/>
          </a:prstGeom>
          <a:solidFill>
            <a:schemeClr val="accent1"/>
          </a:solidFill>
          <a:ln/>
        </p:spPr>
        <p:txBody>
          <a:bodyPr/>
          <a:lstStyle/>
          <a:p>
            <a:endParaRPr lang="en-US"/>
          </a:p>
        </p:txBody>
      </p:sp>
      <p:sp>
        <p:nvSpPr>
          <p:cNvPr id="52" name="Text 50"/>
          <p:cNvSpPr txBox="1"/>
          <p:nvPr/>
        </p:nvSpPr>
        <p:spPr>
          <a:xfrm>
            <a:off x="9008669" y="3655771"/>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53" name="Node 27"/>
          <p:cNvSpPr/>
          <p:nvPr/>
        </p:nvSpPr>
        <p:spPr>
          <a:xfrm>
            <a:off x="8252460" y="4361688"/>
            <a:ext cx="438912" cy="438912"/>
          </a:xfrm>
          <a:prstGeom prst="ellipse">
            <a:avLst/>
          </a:prstGeom>
          <a:solidFill>
            <a:srgbClr val="FFFFFF"/>
          </a:solidFill>
          <a:ln w="15875">
            <a:solidFill>
              <a:schemeClr val="tx1"/>
            </a:solidFill>
            <a:prstDash val="solid"/>
          </a:ln>
        </p:spPr>
        <p:txBody>
          <a:bodyPr/>
          <a:lstStyle/>
          <a:p>
            <a:endParaRPr lang="en-US"/>
          </a:p>
        </p:txBody>
      </p:sp>
      <p:sp>
        <p:nvSpPr>
          <p:cNvPr id="54" name="Text 52"/>
          <p:cNvSpPr txBox="1"/>
          <p:nvPr/>
        </p:nvSpPr>
        <p:spPr>
          <a:xfrm>
            <a:off x="8252460" y="4361688"/>
            <a:ext cx="438912" cy="438912"/>
          </a:xfrm>
          <a:prstGeom prst="rect">
            <a:avLst/>
          </a:prstGeom>
          <a:noFill/>
          <a:ln/>
        </p:spPr>
        <p:txBody>
          <a:bodyPr wrap="square" lIns="0" tIns="0" rIns="0" bIns="0" rtlCol="0" anchor="ctr"/>
          <a:lstStyle/>
          <a:p>
            <a:pPr marL="0" indent="0" algn="ctr">
              <a:buNone/>
            </a:pPr>
            <a:r>
              <a:rPr lang="en-US" sz="1300" b="1" dirty="0">
                <a:solidFill>
                  <a:schemeClr val="tx1"/>
                </a:solidFill>
              </a:rPr>
              <a:t>27</a:t>
            </a:r>
            <a:endParaRPr lang="en-US" sz="1300" dirty="0"/>
          </a:p>
        </p:txBody>
      </p:sp>
      <p:sp>
        <p:nvSpPr>
          <p:cNvPr id="55" name="Order 27"/>
          <p:cNvSpPr/>
          <p:nvPr/>
        </p:nvSpPr>
        <p:spPr>
          <a:xfrm>
            <a:off x="8592617" y="4240987"/>
            <a:ext cx="219456" cy="219456"/>
          </a:xfrm>
          <a:prstGeom prst="ellipse">
            <a:avLst/>
          </a:prstGeom>
          <a:solidFill>
            <a:schemeClr val="accent1"/>
          </a:solidFill>
          <a:ln/>
        </p:spPr>
        <p:txBody>
          <a:bodyPr/>
          <a:lstStyle/>
          <a:p>
            <a:endParaRPr lang="en-US"/>
          </a:p>
        </p:txBody>
      </p:sp>
      <p:sp>
        <p:nvSpPr>
          <p:cNvPr id="56" name="Text 54"/>
          <p:cNvSpPr txBox="1"/>
          <p:nvPr/>
        </p:nvSpPr>
        <p:spPr>
          <a:xfrm>
            <a:off x="8592617" y="4240987"/>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57" name="Takeaway"/>
          <p:cNvSpPr/>
          <p:nvPr/>
        </p:nvSpPr>
        <p:spPr>
          <a:xfrm>
            <a:off x="502920" y="5074920"/>
            <a:ext cx="11183112" cy="685800"/>
          </a:xfrm>
          <a:prstGeom prst="roundRect">
            <a:avLst>
              <a:gd name="adj" fmla="val 8000"/>
            </a:avLst>
          </a:prstGeom>
          <a:solidFill>
            <a:schemeClr val="accent5"/>
          </a:solidFill>
          <a:ln/>
        </p:spPr>
        <p:txBody>
          <a:bodyPr/>
          <a:lstStyle/>
          <a:p>
            <a:endParaRPr lang="en-US"/>
          </a:p>
        </p:txBody>
      </p:sp>
      <p:sp>
        <p:nvSpPr>
          <p:cNvPr id="58" name="Text 56"/>
          <p:cNvSpPr txBox="1"/>
          <p:nvPr/>
        </p:nvSpPr>
        <p:spPr>
          <a:xfrm>
            <a:off x="731520" y="5074920"/>
            <a:ext cx="10725912" cy="685800"/>
          </a:xfrm>
          <a:prstGeom prst="rect">
            <a:avLst/>
          </a:prstGeom>
          <a:noFill/>
          <a:ln/>
        </p:spPr>
        <p:txBody>
          <a:bodyPr wrap="square" lIns="0" tIns="0" rIns="0" bIns="0" rtlCol="0" anchor="ctr"/>
          <a:lstStyle/>
          <a:p>
            <a:pPr marL="0" indent="0">
              <a:buNone/>
            </a:pPr>
            <a:r>
              <a:rPr lang="en-US" sz="1400" b="1" dirty="0">
                <a:solidFill>
                  <a:schemeClr val="accent2"/>
                </a:solidFill>
              </a:rPr>
              <a:t>Rule of thumb:  </a:t>
            </a:r>
            <a:r>
              <a:rPr lang="en-US" sz="1400" dirty="0">
                <a:solidFill>
                  <a:schemeClr val="tx2"/>
                </a:solidFill>
              </a:rPr>
              <a:t>if X has a right subtree, its successor is the leftmost node of that subtree.</a:t>
            </a:r>
            <a:endParaRPr lang="en-US" sz="1400" dirty="0"/>
          </a:p>
        </p:txBody>
      </p:sp>
      <p:sp>
        <p:nvSpPr>
          <p:cNvPr id="59" name="Slide Number Placeholder 0"/>
          <p:cNvSpPr>
            <a:spLocks noGrp="1"/>
          </p:cNvSpPr>
          <p:nvPr>
            <p:ph type="sldNum" sz="quarter" idx="4294967295"/>
          </p:nvPr>
        </p:nvSpPr>
        <p:spPr>
          <a:xfrm>
            <a:off x="11228832" y="6547104"/>
            <a:ext cx="457200" cy="237744"/>
          </a:xfrm>
          <a:prstGeom prst="rect">
            <a:avLst/>
          </a:prstGeom>
          <a:extLst>
            <a:ext uri="{C572A759-6A51-4108-AA02-DFA0A04FC94B}">
              <ma14:wrappingTextBoxFlag xmlns="" xmlns:ma14="http://schemas.microsoft.com/office/mac/drawingml/2011/main" val="0"/>
            </a:ext>
          </a:extLst>
        </p:spPr>
        <p:txBody>
          <a:bodyPr/>
          <a:lstStyle>
            <a:lvl1pPr>
              <a:defRPr sz="850">
                <a:solidFill>
                  <a:srgbClr val="595959"/>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02920" y="347472"/>
            <a:ext cx="10515600" cy="274320"/>
          </a:xfrm>
          <a:prstGeom prst="rect">
            <a:avLst/>
          </a:prstGeom>
          <a:noFill/>
          <a:ln/>
        </p:spPr>
        <p:txBody>
          <a:bodyPr wrap="square" lIns="0" tIns="0" rIns="0" bIns="0" rtlCol="0"/>
          <a:lstStyle/>
          <a:p>
            <a:pPr marL="0" indent="0">
              <a:buNone/>
            </a:pPr>
            <a:r>
              <a:rPr lang="en-US" sz="1200" b="1" kern="0" spc="100" dirty="0">
                <a:solidFill>
                  <a:schemeClr val="accent2"/>
                </a:solidFill>
              </a:rPr>
              <a:t>PRACTICE PROBLEM 5 · SOLUTION (2 OF 2)</a:t>
            </a:r>
            <a:endParaRPr lang="en-US" sz="1200" dirty="0"/>
          </a:p>
        </p:txBody>
      </p:sp>
      <p:sp>
        <p:nvSpPr>
          <p:cNvPr id="3" name="Text 1"/>
          <p:cNvSpPr>
            <a:spLocks noGrp="1"/>
          </p:cNvSpPr>
          <p:nvPr>
            <p:ph type="title" idx="102" hasCustomPrompt="1"/>
          </p:nvPr>
        </p:nvSpPr>
        <p:spPr>
          <a:xfrm>
            <a:off x="502920" y="603504"/>
            <a:ext cx="10789920" cy="566928"/>
          </a:xfrm>
          <a:prstGeom prst="rect">
            <a:avLst/>
          </a:prstGeom>
          <a:noFill/>
          <a:ln/>
        </p:spPr>
        <p:txBody>
          <a:bodyPr wrap="square" lIns="0" tIns="0" rIns="0" bIns="0" rtlCol="0" anchor="t"/>
          <a:lstStyle/>
          <a:p>
            <a:pPr marL="0" indent="0" algn="l">
              <a:buNone/>
            </a:pPr>
            <a:r>
              <a:rPr lang="en-US" sz="3000" b="1" dirty="0">
                <a:solidFill>
                  <a:schemeClr val="tx1"/>
                </a:solidFill>
              </a:rPr>
              <a:t>Deleting 20: Replace It With Its Successor</a:t>
            </a:r>
            <a:endParaRPr lang="en-US" sz="3000" dirty="0"/>
          </a:p>
        </p:txBody>
      </p:sp>
      <p:sp>
        <p:nvSpPr>
          <p:cNvPr id="4" name="Text 1"/>
          <p:cNvSpPr>
            <a:spLocks noGrp="1"/>
          </p:cNvSpPr>
          <p:nvPr>
            <p:ph type="body" idx="103" hasCustomPrompt="1"/>
          </p:nvPr>
        </p:nvSpPr>
        <p:spPr>
          <a:xfrm>
            <a:off x="502920" y="1152144"/>
            <a:ext cx="10881360" cy="384048"/>
          </a:xfrm>
          <a:prstGeom prst="rect">
            <a:avLst/>
          </a:prstGeom>
          <a:noFill/>
          <a:ln/>
        </p:spPr>
        <p:txBody>
          <a:bodyPr wrap="square" lIns="0" tIns="0" rIns="0" bIns="0" rtlCol="0" anchor="t"/>
          <a:lstStyle/>
          <a:p>
            <a:pPr marL="0" indent="0">
              <a:buNone/>
            </a:pPr>
            <a:r>
              <a:rPr lang="en-US" sz="1350" dirty="0">
                <a:solidFill>
                  <a:srgbClr val="595959"/>
                </a:solidFill>
              </a:rPr>
              <a:t>20 has two children, so it cannot simply be removed. Its successor takes its place.</a:t>
            </a:r>
            <a:endParaRPr lang="en-US" sz="1350" dirty="0"/>
          </a:p>
        </p:txBody>
      </p:sp>
      <p:sp>
        <p:nvSpPr>
          <p:cNvPr id="5" name="Step 1 badge"/>
          <p:cNvSpPr/>
          <p:nvPr/>
        </p:nvSpPr>
        <p:spPr>
          <a:xfrm>
            <a:off x="502920" y="1828800"/>
            <a:ext cx="384048" cy="384048"/>
          </a:xfrm>
          <a:prstGeom prst="ellipse">
            <a:avLst/>
          </a:prstGeom>
          <a:solidFill>
            <a:schemeClr val="accent1"/>
          </a:solidFill>
          <a:ln/>
        </p:spPr>
        <p:txBody>
          <a:bodyPr/>
          <a:lstStyle/>
          <a:p>
            <a:endParaRPr lang="en-US"/>
          </a:p>
        </p:txBody>
      </p:sp>
      <p:sp>
        <p:nvSpPr>
          <p:cNvPr id="6" name="Text 4"/>
          <p:cNvSpPr txBox="1"/>
          <p:nvPr/>
        </p:nvSpPr>
        <p:spPr>
          <a:xfrm>
            <a:off x="502920" y="182880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7" name="Text 5"/>
          <p:cNvSpPr txBox="1"/>
          <p:nvPr/>
        </p:nvSpPr>
        <p:spPr>
          <a:xfrm>
            <a:off x="1051560" y="1801368"/>
            <a:ext cx="5852160" cy="274320"/>
          </a:xfrm>
          <a:prstGeom prst="rect">
            <a:avLst/>
          </a:prstGeom>
          <a:noFill/>
          <a:ln/>
        </p:spPr>
        <p:txBody>
          <a:bodyPr wrap="square" lIns="0" tIns="0" rIns="0" bIns="0" rtlCol="0" anchor="ctr"/>
          <a:lstStyle/>
          <a:p>
            <a:pPr marL="0" indent="0">
              <a:buNone/>
            </a:pPr>
            <a:r>
              <a:rPr lang="en-US" sz="1400" b="1" dirty="0">
                <a:solidFill>
                  <a:schemeClr val="tx1"/>
                </a:solidFill>
              </a:rPr>
              <a:t>Identify the case</a:t>
            </a:r>
            <a:endParaRPr lang="en-US" sz="1400" dirty="0"/>
          </a:p>
        </p:txBody>
      </p:sp>
      <p:sp>
        <p:nvSpPr>
          <p:cNvPr id="8" name="Text 6"/>
          <p:cNvSpPr txBox="1"/>
          <p:nvPr/>
        </p:nvSpPr>
        <p:spPr>
          <a:xfrm>
            <a:off x="1051560" y="2121408"/>
            <a:ext cx="5943600" cy="402336"/>
          </a:xfrm>
          <a:prstGeom prst="rect">
            <a:avLst/>
          </a:prstGeom>
          <a:noFill/>
          <a:ln/>
        </p:spPr>
        <p:txBody>
          <a:bodyPr wrap="square" lIns="0" tIns="0" rIns="0" bIns="0" rtlCol="0" anchor="t"/>
          <a:lstStyle/>
          <a:p>
            <a:pPr marL="0" indent="0">
              <a:buNone/>
            </a:pPr>
            <a:r>
              <a:rPr lang="en-US" sz="1300" dirty="0">
                <a:solidFill>
                  <a:schemeClr val="tx2"/>
                </a:solidFill>
              </a:rPr>
              <a:t>20 has two children (10 and 30).</a:t>
            </a:r>
            <a:endParaRPr lang="en-US" sz="1300" dirty="0"/>
          </a:p>
        </p:txBody>
      </p:sp>
      <p:sp>
        <p:nvSpPr>
          <p:cNvPr id="9" name="Step 2 badge"/>
          <p:cNvSpPr/>
          <p:nvPr/>
        </p:nvSpPr>
        <p:spPr>
          <a:xfrm>
            <a:off x="502920" y="2596896"/>
            <a:ext cx="384048" cy="384048"/>
          </a:xfrm>
          <a:prstGeom prst="ellipse">
            <a:avLst/>
          </a:prstGeom>
          <a:solidFill>
            <a:schemeClr val="accent1"/>
          </a:solidFill>
          <a:ln/>
        </p:spPr>
        <p:txBody>
          <a:bodyPr/>
          <a:lstStyle/>
          <a:p>
            <a:endParaRPr lang="en-US"/>
          </a:p>
        </p:txBody>
      </p:sp>
      <p:sp>
        <p:nvSpPr>
          <p:cNvPr id="10" name="Text 8"/>
          <p:cNvSpPr txBox="1"/>
          <p:nvPr/>
        </p:nvSpPr>
        <p:spPr>
          <a:xfrm>
            <a:off x="502920" y="2596896"/>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1" name="Text 9"/>
          <p:cNvSpPr txBox="1"/>
          <p:nvPr/>
        </p:nvSpPr>
        <p:spPr>
          <a:xfrm>
            <a:off x="1051560" y="2569464"/>
            <a:ext cx="5852160" cy="274320"/>
          </a:xfrm>
          <a:prstGeom prst="rect">
            <a:avLst/>
          </a:prstGeom>
          <a:noFill/>
          <a:ln/>
        </p:spPr>
        <p:txBody>
          <a:bodyPr wrap="square" lIns="0" tIns="0" rIns="0" bIns="0" rtlCol="0" anchor="ctr"/>
          <a:lstStyle/>
          <a:p>
            <a:pPr marL="0" indent="0">
              <a:buNone/>
            </a:pPr>
            <a:r>
              <a:rPr lang="en-US" sz="1400" b="1" dirty="0">
                <a:solidFill>
                  <a:schemeClr val="tx1"/>
                </a:solidFill>
              </a:rPr>
              <a:t>Find the in-order successor</a:t>
            </a:r>
            <a:endParaRPr lang="en-US" sz="1400" dirty="0"/>
          </a:p>
        </p:txBody>
      </p:sp>
      <p:sp>
        <p:nvSpPr>
          <p:cNvPr id="12" name="Text 10"/>
          <p:cNvSpPr txBox="1"/>
          <p:nvPr/>
        </p:nvSpPr>
        <p:spPr>
          <a:xfrm>
            <a:off x="1051560" y="2889504"/>
            <a:ext cx="5943600" cy="402336"/>
          </a:xfrm>
          <a:prstGeom prst="rect">
            <a:avLst/>
          </a:prstGeom>
          <a:noFill/>
          <a:ln/>
        </p:spPr>
        <p:txBody>
          <a:bodyPr wrap="square" lIns="0" tIns="0" rIns="0" bIns="0" rtlCol="0" anchor="t"/>
          <a:lstStyle/>
          <a:p>
            <a:pPr marL="0" indent="0">
              <a:buNone/>
            </a:pPr>
            <a:r>
              <a:rPr lang="en-US" sz="1300" dirty="0">
                <a:solidFill>
                  <a:schemeClr val="tx2"/>
                </a:solidFill>
              </a:rPr>
              <a:t>25: the leftmost node in 20's right subtree.</a:t>
            </a:r>
            <a:endParaRPr lang="en-US" sz="1300" dirty="0"/>
          </a:p>
        </p:txBody>
      </p:sp>
      <p:sp>
        <p:nvSpPr>
          <p:cNvPr id="13" name="Step 3 badge"/>
          <p:cNvSpPr/>
          <p:nvPr/>
        </p:nvSpPr>
        <p:spPr>
          <a:xfrm>
            <a:off x="502920" y="3364992"/>
            <a:ext cx="384048" cy="384048"/>
          </a:xfrm>
          <a:prstGeom prst="ellipse">
            <a:avLst/>
          </a:prstGeom>
          <a:solidFill>
            <a:schemeClr val="accent1"/>
          </a:solidFill>
          <a:ln/>
        </p:spPr>
        <p:txBody>
          <a:bodyPr/>
          <a:lstStyle/>
          <a:p>
            <a:endParaRPr lang="en-US"/>
          </a:p>
        </p:txBody>
      </p:sp>
      <p:sp>
        <p:nvSpPr>
          <p:cNvPr id="14" name="Text 12"/>
          <p:cNvSpPr txBox="1"/>
          <p:nvPr/>
        </p:nvSpPr>
        <p:spPr>
          <a:xfrm>
            <a:off x="502920" y="336499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15" name="Text 13"/>
          <p:cNvSpPr txBox="1"/>
          <p:nvPr/>
        </p:nvSpPr>
        <p:spPr>
          <a:xfrm>
            <a:off x="1051560" y="3337560"/>
            <a:ext cx="5852160" cy="274320"/>
          </a:xfrm>
          <a:prstGeom prst="rect">
            <a:avLst/>
          </a:prstGeom>
          <a:noFill/>
          <a:ln/>
        </p:spPr>
        <p:txBody>
          <a:bodyPr wrap="square" lIns="0" tIns="0" rIns="0" bIns="0" rtlCol="0" anchor="ctr"/>
          <a:lstStyle/>
          <a:p>
            <a:pPr marL="0" indent="0">
              <a:buNone/>
            </a:pPr>
            <a:r>
              <a:rPr lang="en-US" sz="1400" b="1" dirty="0">
                <a:solidFill>
                  <a:schemeClr val="tx1"/>
                </a:solidFill>
              </a:rPr>
              <a:t>Replace 20's key with 25</a:t>
            </a:r>
            <a:endParaRPr lang="en-US" sz="1400" dirty="0"/>
          </a:p>
        </p:txBody>
      </p:sp>
      <p:sp>
        <p:nvSpPr>
          <p:cNvPr id="16" name="Text 14"/>
          <p:cNvSpPr txBox="1"/>
          <p:nvPr/>
        </p:nvSpPr>
        <p:spPr>
          <a:xfrm>
            <a:off x="1051560" y="3657600"/>
            <a:ext cx="5943600" cy="402336"/>
          </a:xfrm>
          <a:prstGeom prst="rect">
            <a:avLst/>
          </a:prstGeom>
          <a:noFill/>
          <a:ln/>
        </p:spPr>
        <p:txBody>
          <a:bodyPr wrap="square" lIns="0" tIns="0" rIns="0" bIns="0" rtlCol="0" anchor="t"/>
          <a:lstStyle/>
          <a:p>
            <a:pPr marL="0" indent="0">
              <a:buNone/>
            </a:pPr>
            <a:r>
              <a:rPr lang="en-US" sz="1300" dirty="0">
                <a:solidFill>
                  <a:schemeClr val="tx2"/>
                </a:solidFill>
              </a:rPr>
              <a:t>25 now sits where 20 was, between 10 and 30.</a:t>
            </a:r>
            <a:endParaRPr lang="en-US" sz="1300" dirty="0"/>
          </a:p>
        </p:txBody>
      </p:sp>
      <p:sp>
        <p:nvSpPr>
          <p:cNvPr id="17" name="Step 4 badge"/>
          <p:cNvSpPr/>
          <p:nvPr/>
        </p:nvSpPr>
        <p:spPr>
          <a:xfrm>
            <a:off x="502920" y="4133088"/>
            <a:ext cx="384048" cy="384048"/>
          </a:xfrm>
          <a:prstGeom prst="ellipse">
            <a:avLst/>
          </a:prstGeom>
          <a:solidFill>
            <a:schemeClr val="accent1"/>
          </a:solidFill>
          <a:ln/>
        </p:spPr>
        <p:txBody>
          <a:bodyPr/>
          <a:lstStyle/>
          <a:p>
            <a:endParaRPr lang="en-US"/>
          </a:p>
        </p:txBody>
      </p:sp>
      <p:sp>
        <p:nvSpPr>
          <p:cNvPr id="18" name="Text 16"/>
          <p:cNvSpPr txBox="1"/>
          <p:nvPr/>
        </p:nvSpPr>
        <p:spPr>
          <a:xfrm>
            <a:off x="502920" y="4133088"/>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19" name="Text 17"/>
          <p:cNvSpPr txBox="1"/>
          <p:nvPr/>
        </p:nvSpPr>
        <p:spPr>
          <a:xfrm>
            <a:off x="1051560" y="4105656"/>
            <a:ext cx="5852160" cy="274320"/>
          </a:xfrm>
          <a:prstGeom prst="rect">
            <a:avLst/>
          </a:prstGeom>
          <a:noFill/>
          <a:ln/>
        </p:spPr>
        <p:txBody>
          <a:bodyPr wrap="square" lIns="0" tIns="0" rIns="0" bIns="0" rtlCol="0" anchor="ctr"/>
          <a:lstStyle/>
          <a:p>
            <a:pPr marL="0" indent="0">
              <a:buNone/>
            </a:pPr>
            <a:r>
              <a:rPr lang="en-US" sz="1400" b="1" dirty="0">
                <a:solidFill>
                  <a:schemeClr val="tx1"/>
                </a:solidFill>
              </a:rPr>
              <a:t>Remove 25 from its old spot</a:t>
            </a:r>
            <a:endParaRPr lang="en-US" sz="1400" dirty="0"/>
          </a:p>
        </p:txBody>
      </p:sp>
      <p:sp>
        <p:nvSpPr>
          <p:cNvPr id="20" name="Text 18"/>
          <p:cNvSpPr txBox="1"/>
          <p:nvPr/>
        </p:nvSpPr>
        <p:spPr>
          <a:xfrm>
            <a:off x="1051560" y="4425696"/>
            <a:ext cx="5943600" cy="402336"/>
          </a:xfrm>
          <a:prstGeom prst="rect">
            <a:avLst/>
          </a:prstGeom>
          <a:noFill/>
          <a:ln/>
        </p:spPr>
        <p:txBody>
          <a:bodyPr wrap="square" lIns="0" tIns="0" rIns="0" bIns="0" rtlCol="0" anchor="t"/>
          <a:lstStyle/>
          <a:p>
            <a:pPr marL="0" indent="0">
              <a:buNone/>
            </a:pPr>
            <a:r>
              <a:rPr lang="en-US" sz="1300" dirty="0">
                <a:solidFill>
                  <a:schemeClr val="tx2"/>
                </a:solidFill>
              </a:rPr>
              <a:t>25 had a right child, 27, so 27 moves up to become 30's left child.</a:t>
            </a:r>
            <a:endParaRPr lang="en-US" sz="1300" dirty="0"/>
          </a:p>
        </p:txBody>
      </p:sp>
      <p:sp>
        <p:nvSpPr>
          <p:cNvPr id="21" name="After panel"/>
          <p:cNvSpPr/>
          <p:nvPr/>
        </p:nvSpPr>
        <p:spPr>
          <a:xfrm>
            <a:off x="6720840" y="1828800"/>
            <a:ext cx="4965192" cy="3035808"/>
          </a:xfrm>
          <a:prstGeom prst="roundRect">
            <a:avLst>
              <a:gd name="adj" fmla="val 1807"/>
            </a:avLst>
          </a:prstGeom>
          <a:solidFill>
            <a:schemeClr val="bg2"/>
          </a:solidFill>
          <a:ln/>
        </p:spPr>
        <p:txBody>
          <a:bodyPr/>
          <a:lstStyle/>
          <a:p>
            <a:endParaRPr lang="en-US"/>
          </a:p>
        </p:txBody>
      </p:sp>
      <p:sp>
        <p:nvSpPr>
          <p:cNvPr id="22" name="Text 20"/>
          <p:cNvSpPr txBox="1"/>
          <p:nvPr/>
        </p:nvSpPr>
        <p:spPr>
          <a:xfrm>
            <a:off x="6949440" y="1938528"/>
            <a:ext cx="4507992" cy="274320"/>
          </a:xfrm>
          <a:prstGeom prst="rect">
            <a:avLst/>
          </a:prstGeom>
          <a:noFill/>
          <a:ln/>
        </p:spPr>
        <p:txBody>
          <a:bodyPr wrap="square" lIns="0" tIns="0" rIns="0" bIns="0" rtlCol="0" anchor="ctr"/>
          <a:lstStyle/>
          <a:p>
            <a:pPr marL="0" indent="0">
              <a:buNone/>
            </a:pPr>
            <a:r>
              <a:rPr lang="en-US" sz="1300" b="1" dirty="0">
                <a:solidFill>
                  <a:schemeClr val="tx1"/>
                </a:solidFill>
              </a:rPr>
              <a:t>After deleting 20</a:t>
            </a:r>
            <a:endParaRPr lang="en-US" sz="1300" dirty="0"/>
          </a:p>
        </p:txBody>
      </p:sp>
      <p:sp>
        <p:nvSpPr>
          <p:cNvPr id="23" name="Edge 40-25"/>
          <p:cNvSpPr/>
          <p:nvPr/>
        </p:nvSpPr>
        <p:spPr>
          <a:xfrm flipH="1">
            <a:off x="7927848" y="2514600"/>
            <a:ext cx="1280160" cy="548640"/>
          </a:xfrm>
          <a:prstGeom prst="line">
            <a:avLst/>
          </a:prstGeom>
          <a:noFill/>
          <a:ln w="15875">
            <a:solidFill>
              <a:srgbClr val="8497B0"/>
            </a:solidFill>
            <a:prstDash val="solid"/>
          </a:ln>
        </p:spPr>
        <p:txBody>
          <a:bodyPr/>
          <a:lstStyle/>
          <a:p>
            <a:endParaRPr lang="en-US"/>
          </a:p>
        </p:txBody>
      </p:sp>
      <p:sp>
        <p:nvSpPr>
          <p:cNvPr id="24" name="Edge 40-60"/>
          <p:cNvSpPr/>
          <p:nvPr/>
        </p:nvSpPr>
        <p:spPr>
          <a:xfrm>
            <a:off x="9208008" y="2514600"/>
            <a:ext cx="1280160" cy="548640"/>
          </a:xfrm>
          <a:prstGeom prst="line">
            <a:avLst/>
          </a:prstGeom>
          <a:noFill/>
          <a:ln w="15875">
            <a:solidFill>
              <a:srgbClr val="8497B0"/>
            </a:solidFill>
            <a:prstDash val="solid"/>
          </a:ln>
        </p:spPr>
        <p:txBody>
          <a:bodyPr/>
          <a:lstStyle/>
          <a:p>
            <a:endParaRPr lang="en-US"/>
          </a:p>
        </p:txBody>
      </p:sp>
      <p:sp>
        <p:nvSpPr>
          <p:cNvPr id="25" name="Edge 25-10"/>
          <p:cNvSpPr/>
          <p:nvPr/>
        </p:nvSpPr>
        <p:spPr>
          <a:xfrm flipH="1">
            <a:off x="7287768" y="3063240"/>
            <a:ext cx="640080" cy="548640"/>
          </a:xfrm>
          <a:prstGeom prst="line">
            <a:avLst/>
          </a:prstGeom>
          <a:noFill/>
          <a:ln w="15875">
            <a:solidFill>
              <a:srgbClr val="8497B0"/>
            </a:solidFill>
            <a:prstDash val="solid"/>
          </a:ln>
        </p:spPr>
        <p:txBody>
          <a:bodyPr/>
          <a:lstStyle/>
          <a:p>
            <a:endParaRPr lang="en-US"/>
          </a:p>
        </p:txBody>
      </p:sp>
      <p:sp>
        <p:nvSpPr>
          <p:cNvPr id="26" name="Edge 25-30"/>
          <p:cNvSpPr/>
          <p:nvPr/>
        </p:nvSpPr>
        <p:spPr>
          <a:xfrm>
            <a:off x="7927848" y="3063240"/>
            <a:ext cx="640080" cy="548640"/>
          </a:xfrm>
          <a:prstGeom prst="line">
            <a:avLst/>
          </a:prstGeom>
          <a:noFill/>
          <a:ln w="15875">
            <a:solidFill>
              <a:srgbClr val="8497B0"/>
            </a:solidFill>
            <a:prstDash val="solid"/>
          </a:ln>
        </p:spPr>
        <p:txBody>
          <a:bodyPr/>
          <a:lstStyle/>
          <a:p>
            <a:endParaRPr lang="en-US"/>
          </a:p>
        </p:txBody>
      </p:sp>
      <p:sp>
        <p:nvSpPr>
          <p:cNvPr id="27" name="Edge 60-70"/>
          <p:cNvSpPr/>
          <p:nvPr/>
        </p:nvSpPr>
        <p:spPr>
          <a:xfrm>
            <a:off x="10488168" y="3063240"/>
            <a:ext cx="640080" cy="548640"/>
          </a:xfrm>
          <a:prstGeom prst="line">
            <a:avLst/>
          </a:prstGeom>
          <a:noFill/>
          <a:ln w="15875">
            <a:solidFill>
              <a:srgbClr val="8497B0"/>
            </a:solidFill>
            <a:prstDash val="solid"/>
          </a:ln>
        </p:spPr>
        <p:txBody>
          <a:bodyPr/>
          <a:lstStyle/>
          <a:p>
            <a:endParaRPr lang="en-US"/>
          </a:p>
        </p:txBody>
      </p:sp>
      <p:sp>
        <p:nvSpPr>
          <p:cNvPr id="28" name="Edge 30-27"/>
          <p:cNvSpPr/>
          <p:nvPr/>
        </p:nvSpPr>
        <p:spPr>
          <a:xfrm flipH="1">
            <a:off x="8247888" y="3611880"/>
            <a:ext cx="320040" cy="548640"/>
          </a:xfrm>
          <a:prstGeom prst="line">
            <a:avLst/>
          </a:prstGeom>
          <a:noFill/>
          <a:ln w="15875">
            <a:solidFill>
              <a:srgbClr val="8497B0"/>
            </a:solidFill>
            <a:prstDash val="solid"/>
          </a:ln>
        </p:spPr>
        <p:txBody>
          <a:bodyPr/>
          <a:lstStyle/>
          <a:p>
            <a:endParaRPr lang="en-US"/>
          </a:p>
        </p:txBody>
      </p:sp>
      <p:sp>
        <p:nvSpPr>
          <p:cNvPr id="29" name="Edge 30-35"/>
          <p:cNvSpPr/>
          <p:nvPr/>
        </p:nvSpPr>
        <p:spPr>
          <a:xfrm>
            <a:off x="8567928" y="3611880"/>
            <a:ext cx="320040" cy="548640"/>
          </a:xfrm>
          <a:prstGeom prst="line">
            <a:avLst/>
          </a:prstGeom>
          <a:noFill/>
          <a:ln w="15875">
            <a:solidFill>
              <a:srgbClr val="8497B0"/>
            </a:solidFill>
            <a:prstDash val="solid"/>
          </a:ln>
        </p:spPr>
        <p:txBody>
          <a:bodyPr/>
          <a:lstStyle/>
          <a:p>
            <a:endParaRPr lang="en-US"/>
          </a:p>
        </p:txBody>
      </p:sp>
      <p:sp>
        <p:nvSpPr>
          <p:cNvPr id="30" name="Node 40"/>
          <p:cNvSpPr/>
          <p:nvPr/>
        </p:nvSpPr>
        <p:spPr>
          <a:xfrm>
            <a:off x="8988552" y="2295144"/>
            <a:ext cx="438912" cy="438912"/>
          </a:xfrm>
          <a:prstGeom prst="ellipse">
            <a:avLst/>
          </a:prstGeom>
          <a:solidFill>
            <a:srgbClr val="FFFFFF"/>
          </a:solidFill>
          <a:ln w="15875">
            <a:solidFill>
              <a:schemeClr val="tx1"/>
            </a:solidFill>
            <a:prstDash val="solid"/>
          </a:ln>
        </p:spPr>
        <p:txBody>
          <a:bodyPr/>
          <a:lstStyle/>
          <a:p>
            <a:endParaRPr lang="en-US"/>
          </a:p>
        </p:txBody>
      </p:sp>
      <p:sp>
        <p:nvSpPr>
          <p:cNvPr id="31" name="Text 29"/>
          <p:cNvSpPr txBox="1"/>
          <p:nvPr/>
        </p:nvSpPr>
        <p:spPr>
          <a:xfrm>
            <a:off x="8988552" y="2295144"/>
            <a:ext cx="438912" cy="438912"/>
          </a:xfrm>
          <a:prstGeom prst="rect">
            <a:avLst/>
          </a:prstGeom>
          <a:noFill/>
          <a:ln/>
        </p:spPr>
        <p:txBody>
          <a:bodyPr wrap="square" lIns="0" tIns="0" rIns="0" bIns="0" rtlCol="0" anchor="ctr"/>
          <a:lstStyle/>
          <a:p>
            <a:pPr marL="0" indent="0" algn="ctr">
              <a:buNone/>
            </a:pPr>
            <a:r>
              <a:rPr lang="en-US" sz="1300" b="1" dirty="0">
                <a:solidFill>
                  <a:schemeClr val="tx1"/>
                </a:solidFill>
              </a:rPr>
              <a:t>40</a:t>
            </a:r>
            <a:endParaRPr lang="en-US" sz="1300" dirty="0"/>
          </a:p>
        </p:txBody>
      </p:sp>
      <p:sp>
        <p:nvSpPr>
          <p:cNvPr id="32" name="Node 25"/>
          <p:cNvSpPr/>
          <p:nvPr/>
        </p:nvSpPr>
        <p:spPr>
          <a:xfrm>
            <a:off x="7708392" y="2843784"/>
            <a:ext cx="438912" cy="438912"/>
          </a:xfrm>
          <a:prstGeom prst="ellipse">
            <a:avLst/>
          </a:prstGeom>
          <a:solidFill>
            <a:schemeClr val="accent2"/>
          </a:solidFill>
          <a:ln w="15875">
            <a:solidFill>
              <a:schemeClr val="accent2"/>
            </a:solidFill>
            <a:prstDash val="solid"/>
          </a:ln>
        </p:spPr>
        <p:txBody>
          <a:bodyPr/>
          <a:lstStyle/>
          <a:p>
            <a:endParaRPr lang="en-US"/>
          </a:p>
        </p:txBody>
      </p:sp>
      <p:sp>
        <p:nvSpPr>
          <p:cNvPr id="33" name="Text 31"/>
          <p:cNvSpPr txBox="1"/>
          <p:nvPr/>
        </p:nvSpPr>
        <p:spPr>
          <a:xfrm>
            <a:off x="7708392" y="2843784"/>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rPr>
              <a:t>25</a:t>
            </a:r>
            <a:endParaRPr lang="en-US" sz="1300" dirty="0"/>
          </a:p>
        </p:txBody>
      </p:sp>
      <p:sp>
        <p:nvSpPr>
          <p:cNvPr id="34" name="Node 60"/>
          <p:cNvSpPr/>
          <p:nvPr/>
        </p:nvSpPr>
        <p:spPr>
          <a:xfrm>
            <a:off x="10268712" y="2843784"/>
            <a:ext cx="438912" cy="438912"/>
          </a:xfrm>
          <a:prstGeom prst="ellipse">
            <a:avLst/>
          </a:prstGeom>
          <a:solidFill>
            <a:srgbClr val="FFFFFF"/>
          </a:solidFill>
          <a:ln w="15875">
            <a:solidFill>
              <a:schemeClr val="tx1"/>
            </a:solidFill>
            <a:prstDash val="solid"/>
          </a:ln>
        </p:spPr>
        <p:txBody>
          <a:bodyPr/>
          <a:lstStyle/>
          <a:p>
            <a:endParaRPr lang="en-US"/>
          </a:p>
        </p:txBody>
      </p:sp>
      <p:sp>
        <p:nvSpPr>
          <p:cNvPr id="35" name="Text 33"/>
          <p:cNvSpPr txBox="1"/>
          <p:nvPr/>
        </p:nvSpPr>
        <p:spPr>
          <a:xfrm>
            <a:off x="10268712" y="2843784"/>
            <a:ext cx="438912" cy="438912"/>
          </a:xfrm>
          <a:prstGeom prst="rect">
            <a:avLst/>
          </a:prstGeom>
          <a:noFill/>
          <a:ln/>
        </p:spPr>
        <p:txBody>
          <a:bodyPr wrap="square" lIns="0" tIns="0" rIns="0" bIns="0" rtlCol="0" anchor="ctr"/>
          <a:lstStyle/>
          <a:p>
            <a:pPr marL="0" indent="0" algn="ctr">
              <a:buNone/>
            </a:pPr>
            <a:r>
              <a:rPr lang="en-US" sz="1300" b="1" dirty="0">
                <a:solidFill>
                  <a:schemeClr val="tx1"/>
                </a:solidFill>
              </a:rPr>
              <a:t>60</a:t>
            </a:r>
            <a:endParaRPr lang="en-US" sz="1300" dirty="0"/>
          </a:p>
        </p:txBody>
      </p:sp>
      <p:sp>
        <p:nvSpPr>
          <p:cNvPr id="36" name="Node 10"/>
          <p:cNvSpPr/>
          <p:nvPr/>
        </p:nvSpPr>
        <p:spPr>
          <a:xfrm>
            <a:off x="7068312" y="3392424"/>
            <a:ext cx="438912" cy="438912"/>
          </a:xfrm>
          <a:prstGeom prst="ellipse">
            <a:avLst/>
          </a:prstGeom>
          <a:solidFill>
            <a:srgbClr val="FFFFFF"/>
          </a:solidFill>
          <a:ln w="15875">
            <a:solidFill>
              <a:schemeClr val="tx1"/>
            </a:solidFill>
            <a:prstDash val="solid"/>
          </a:ln>
        </p:spPr>
        <p:txBody>
          <a:bodyPr/>
          <a:lstStyle/>
          <a:p>
            <a:endParaRPr lang="en-US"/>
          </a:p>
        </p:txBody>
      </p:sp>
      <p:sp>
        <p:nvSpPr>
          <p:cNvPr id="37" name="Text 35"/>
          <p:cNvSpPr txBox="1"/>
          <p:nvPr/>
        </p:nvSpPr>
        <p:spPr>
          <a:xfrm>
            <a:off x="7068312" y="3392424"/>
            <a:ext cx="438912" cy="438912"/>
          </a:xfrm>
          <a:prstGeom prst="rect">
            <a:avLst/>
          </a:prstGeom>
          <a:noFill/>
          <a:ln/>
        </p:spPr>
        <p:txBody>
          <a:bodyPr wrap="square" lIns="0" tIns="0" rIns="0" bIns="0" rtlCol="0" anchor="ctr"/>
          <a:lstStyle/>
          <a:p>
            <a:pPr marL="0" indent="0" algn="ctr">
              <a:buNone/>
            </a:pPr>
            <a:r>
              <a:rPr lang="en-US" sz="1300" b="1" dirty="0">
                <a:solidFill>
                  <a:schemeClr val="tx1"/>
                </a:solidFill>
              </a:rPr>
              <a:t>10</a:t>
            </a:r>
            <a:endParaRPr lang="en-US" sz="1300" dirty="0"/>
          </a:p>
        </p:txBody>
      </p:sp>
      <p:sp>
        <p:nvSpPr>
          <p:cNvPr id="38" name="Node 30"/>
          <p:cNvSpPr/>
          <p:nvPr/>
        </p:nvSpPr>
        <p:spPr>
          <a:xfrm>
            <a:off x="8348472" y="3392424"/>
            <a:ext cx="438912" cy="438912"/>
          </a:xfrm>
          <a:prstGeom prst="ellipse">
            <a:avLst/>
          </a:prstGeom>
          <a:solidFill>
            <a:srgbClr val="FFFFFF"/>
          </a:solidFill>
          <a:ln w="15875">
            <a:solidFill>
              <a:schemeClr val="tx1"/>
            </a:solidFill>
            <a:prstDash val="solid"/>
          </a:ln>
        </p:spPr>
        <p:txBody>
          <a:bodyPr/>
          <a:lstStyle/>
          <a:p>
            <a:endParaRPr lang="en-US"/>
          </a:p>
        </p:txBody>
      </p:sp>
      <p:sp>
        <p:nvSpPr>
          <p:cNvPr id="39" name="Text 37"/>
          <p:cNvSpPr txBox="1"/>
          <p:nvPr/>
        </p:nvSpPr>
        <p:spPr>
          <a:xfrm>
            <a:off x="8348472" y="3392424"/>
            <a:ext cx="438912" cy="438912"/>
          </a:xfrm>
          <a:prstGeom prst="rect">
            <a:avLst/>
          </a:prstGeom>
          <a:noFill/>
          <a:ln/>
        </p:spPr>
        <p:txBody>
          <a:bodyPr wrap="square" lIns="0" tIns="0" rIns="0" bIns="0" rtlCol="0" anchor="ctr"/>
          <a:lstStyle/>
          <a:p>
            <a:pPr marL="0" indent="0" algn="ctr">
              <a:buNone/>
            </a:pPr>
            <a:r>
              <a:rPr lang="en-US" sz="1300" b="1" dirty="0">
                <a:solidFill>
                  <a:schemeClr val="tx1"/>
                </a:solidFill>
              </a:rPr>
              <a:t>30</a:t>
            </a:r>
            <a:endParaRPr lang="en-US" sz="1300" dirty="0"/>
          </a:p>
        </p:txBody>
      </p:sp>
      <p:sp>
        <p:nvSpPr>
          <p:cNvPr id="40" name="Node 70"/>
          <p:cNvSpPr/>
          <p:nvPr/>
        </p:nvSpPr>
        <p:spPr>
          <a:xfrm>
            <a:off x="10908792" y="3392424"/>
            <a:ext cx="438912" cy="438912"/>
          </a:xfrm>
          <a:prstGeom prst="ellipse">
            <a:avLst/>
          </a:prstGeom>
          <a:solidFill>
            <a:srgbClr val="FFFFFF"/>
          </a:solidFill>
          <a:ln w="15875">
            <a:solidFill>
              <a:schemeClr val="tx1"/>
            </a:solidFill>
            <a:prstDash val="solid"/>
          </a:ln>
        </p:spPr>
        <p:txBody>
          <a:bodyPr/>
          <a:lstStyle/>
          <a:p>
            <a:endParaRPr lang="en-US"/>
          </a:p>
        </p:txBody>
      </p:sp>
      <p:sp>
        <p:nvSpPr>
          <p:cNvPr id="41" name="Text 39"/>
          <p:cNvSpPr txBox="1"/>
          <p:nvPr/>
        </p:nvSpPr>
        <p:spPr>
          <a:xfrm>
            <a:off x="10908792" y="3392424"/>
            <a:ext cx="438912" cy="438912"/>
          </a:xfrm>
          <a:prstGeom prst="rect">
            <a:avLst/>
          </a:prstGeom>
          <a:noFill/>
          <a:ln/>
        </p:spPr>
        <p:txBody>
          <a:bodyPr wrap="square" lIns="0" tIns="0" rIns="0" bIns="0" rtlCol="0" anchor="ctr"/>
          <a:lstStyle/>
          <a:p>
            <a:pPr marL="0" indent="0" algn="ctr">
              <a:buNone/>
            </a:pPr>
            <a:r>
              <a:rPr lang="en-US" sz="1300" b="1" dirty="0">
                <a:solidFill>
                  <a:schemeClr val="tx1"/>
                </a:solidFill>
              </a:rPr>
              <a:t>70</a:t>
            </a:r>
            <a:endParaRPr lang="en-US" sz="1300" dirty="0"/>
          </a:p>
        </p:txBody>
      </p:sp>
      <p:sp>
        <p:nvSpPr>
          <p:cNvPr id="42" name="Node 27"/>
          <p:cNvSpPr/>
          <p:nvPr/>
        </p:nvSpPr>
        <p:spPr>
          <a:xfrm>
            <a:off x="8028432" y="3941064"/>
            <a:ext cx="438912" cy="438912"/>
          </a:xfrm>
          <a:prstGeom prst="ellipse">
            <a:avLst/>
          </a:prstGeom>
          <a:solidFill>
            <a:schemeClr val="accent1"/>
          </a:solidFill>
          <a:ln w="15875">
            <a:solidFill>
              <a:schemeClr val="accent1"/>
            </a:solidFill>
            <a:prstDash val="solid"/>
          </a:ln>
        </p:spPr>
        <p:txBody>
          <a:bodyPr/>
          <a:lstStyle/>
          <a:p>
            <a:endParaRPr lang="en-US"/>
          </a:p>
        </p:txBody>
      </p:sp>
      <p:sp>
        <p:nvSpPr>
          <p:cNvPr id="43" name="Text 41"/>
          <p:cNvSpPr txBox="1"/>
          <p:nvPr/>
        </p:nvSpPr>
        <p:spPr>
          <a:xfrm>
            <a:off x="8028432" y="3941064"/>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rPr>
              <a:t>27</a:t>
            </a:r>
            <a:endParaRPr lang="en-US" sz="1300" dirty="0"/>
          </a:p>
        </p:txBody>
      </p:sp>
      <p:sp>
        <p:nvSpPr>
          <p:cNvPr id="44" name="Node 35"/>
          <p:cNvSpPr/>
          <p:nvPr/>
        </p:nvSpPr>
        <p:spPr>
          <a:xfrm>
            <a:off x="8668512" y="3941064"/>
            <a:ext cx="438912" cy="438912"/>
          </a:xfrm>
          <a:prstGeom prst="ellipse">
            <a:avLst/>
          </a:prstGeom>
          <a:solidFill>
            <a:srgbClr val="FFFFFF"/>
          </a:solidFill>
          <a:ln w="15875">
            <a:solidFill>
              <a:schemeClr val="tx1"/>
            </a:solidFill>
            <a:prstDash val="solid"/>
          </a:ln>
        </p:spPr>
        <p:txBody>
          <a:bodyPr/>
          <a:lstStyle/>
          <a:p>
            <a:endParaRPr lang="en-US"/>
          </a:p>
        </p:txBody>
      </p:sp>
      <p:sp>
        <p:nvSpPr>
          <p:cNvPr id="45" name="Text 43"/>
          <p:cNvSpPr txBox="1"/>
          <p:nvPr/>
        </p:nvSpPr>
        <p:spPr>
          <a:xfrm>
            <a:off x="8668512" y="3941064"/>
            <a:ext cx="438912" cy="438912"/>
          </a:xfrm>
          <a:prstGeom prst="rect">
            <a:avLst/>
          </a:prstGeom>
          <a:noFill/>
          <a:ln/>
        </p:spPr>
        <p:txBody>
          <a:bodyPr wrap="square" lIns="0" tIns="0" rIns="0" bIns="0" rtlCol="0" anchor="ctr"/>
          <a:lstStyle/>
          <a:p>
            <a:pPr marL="0" indent="0" algn="ctr">
              <a:buNone/>
            </a:pPr>
            <a:r>
              <a:rPr lang="en-US" sz="1300" b="1" dirty="0">
                <a:solidFill>
                  <a:schemeClr val="tx1"/>
                </a:solidFill>
              </a:rPr>
              <a:t>35</a:t>
            </a:r>
            <a:endParaRPr lang="en-US" sz="1300" dirty="0"/>
          </a:p>
        </p:txBody>
      </p:sp>
      <p:sp>
        <p:nvSpPr>
          <p:cNvPr id="46" name="Text 44"/>
          <p:cNvSpPr txBox="1"/>
          <p:nvPr/>
        </p:nvSpPr>
        <p:spPr>
          <a:xfrm>
            <a:off x="6949440" y="4526280"/>
            <a:ext cx="4507992" cy="274320"/>
          </a:xfrm>
          <a:prstGeom prst="rect">
            <a:avLst/>
          </a:prstGeom>
          <a:noFill/>
          <a:ln/>
        </p:spPr>
        <p:txBody>
          <a:bodyPr wrap="square" lIns="0" tIns="0" rIns="0" bIns="0" rtlCol="0" anchor="ctr"/>
          <a:lstStyle/>
          <a:p>
            <a:pPr marL="0" indent="0">
              <a:buNone/>
            </a:pPr>
            <a:r>
              <a:rPr lang="en-US" sz="1100" dirty="0">
                <a:solidFill>
                  <a:schemeClr val="accent2"/>
                </a:solidFill>
              </a:rPr>
              <a:t>●  </a:t>
            </a:r>
            <a:r>
              <a:rPr lang="en-US" sz="1100" dirty="0">
                <a:solidFill>
                  <a:schemeClr val="tx2"/>
                </a:solidFill>
              </a:rPr>
              <a:t>moved up to replace 20     </a:t>
            </a:r>
            <a:r>
              <a:rPr lang="en-US" sz="1100" dirty="0">
                <a:solidFill>
                  <a:schemeClr val="accent1"/>
                </a:solidFill>
              </a:rPr>
              <a:t>●  </a:t>
            </a:r>
            <a:r>
              <a:rPr lang="en-US" sz="1100" dirty="0">
                <a:solidFill>
                  <a:schemeClr val="tx2"/>
                </a:solidFill>
              </a:rPr>
              <a:t>moved up to replace 25</a:t>
            </a:r>
            <a:endParaRPr lang="en-US" sz="1100" dirty="0"/>
          </a:p>
        </p:txBody>
      </p:sp>
      <p:sp>
        <p:nvSpPr>
          <p:cNvPr id="47" name="Takeaway"/>
          <p:cNvSpPr/>
          <p:nvPr/>
        </p:nvSpPr>
        <p:spPr>
          <a:xfrm>
            <a:off x="502920" y="5074920"/>
            <a:ext cx="11183112" cy="685800"/>
          </a:xfrm>
          <a:prstGeom prst="roundRect">
            <a:avLst>
              <a:gd name="adj" fmla="val 8000"/>
            </a:avLst>
          </a:prstGeom>
          <a:solidFill>
            <a:schemeClr val="accent5"/>
          </a:solidFill>
          <a:ln/>
        </p:spPr>
        <p:txBody>
          <a:bodyPr/>
          <a:lstStyle/>
          <a:p>
            <a:endParaRPr lang="en-US"/>
          </a:p>
        </p:txBody>
      </p:sp>
      <p:sp>
        <p:nvSpPr>
          <p:cNvPr id="48" name="Text 46"/>
          <p:cNvSpPr txBox="1"/>
          <p:nvPr/>
        </p:nvSpPr>
        <p:spPr>
          <a:xfrm>
            <a:off x="731520" y="5074920"/>
            <a:ext cx="10725912" cy="685800"/>
          </a:xfrm>
          <a:prstGeom prst="rect">
            <a:avLst/>
          </a:prstGeom>
          <a:noFill/>
          <a:ln/>
        </p:spPr>
        <p:txBody>
          <a:bodyPr wrap="square" lIns="0" tIns="0" rIns="0" bIns="0" rtlCol="0" anchor="ctr"/>
          <a:lstStyle/>
          <a:p>
            <a:pPr marL="0" indent="0">
              <a:buNone/>
            </a:pPr>
            <a:r>
              <a:rPr lang="en-US" sz="1400" b="1" dirty="0">
                <a:solidFill>
                  <a:schemeClr val="accent2"/>
                </a:solidFill>
              </a:rPr>
              <a:t>Check your answer:  </a:t>
            </a:r>
            <a:r>
              <a:rPr lang="en-US" sz="1400" dirty="0">
                <a:solidFill>
                  <a:schemeClr val="tx2"/>
                </a:solidFill>
              </a:rPr>
              <a:t>the inorder traversal must still be sorted: 10, 25, 27, 30, 35, 40, 60, 70.</a:t>
            </a:r>
            <a:endParaRPr lang="en-US" sz="1400" dirty="0"/>
          </a:p>
        </p:txBody>
      </p:sp>
      <p:sp>
        <p:nvSpPr>
          <p:cNvPr id="49" name="Slide Number Placeholder 0"/>
          <p:cNvSpPr>
            <a:spLocks noGrp="1"/>
          </p:cNvSpPr>
          <p:nvPr>
            <p:ph type="sldNum" sz="quarter" idx="4294967295"/>
          </p:nvPr>
        </p:nvSpPr>
        <p:spPr>
          <a:xfrm>
            <a:off x="11228832" y="6547104"/>
            <a:ext cx="457200" cy="237744"/>
          </a:xfrm>
          <a:prstGeom prst="rect">
            <a:avLst/>
          </a:prstGeom>
          <a:extLst>
            <a:ext uri="{C572A759-6A51-4108-AA02-DFA0A04FC94B}">
              <ma14:wrappingTextBoxFlag xmlns="" xmlns:ma14="http://schemas.microsoft.com/office/mac/drawingml/2011/main" val="0"/>
            </a:ext>
          </a:extLst>
        </p:spPr>
        <p:txBody>
          <a:bodyPr/>
          <a:lstStyle>
            <a:lvl1pPr>
              <a:defRPr sz="850">
                <a:solidFill>
                  <a:srgbClr val="595959"/>
                </a:solidFill>
              </a:defRPr>
            </a:lvl1pPr>
          </a:lstStyle>
          <a:p>
            <a:pPr algn="r"/>
            <a:fld id="{F7021451-1387-4CA6-816F-3879F97B5CBC}" type="slidenum">
              <a:rPr lang="en-US" b="0"/>
              <a:t>13</a:t>
            </a:fld>
            <a:endParaRPr lang="en-US"/>
          </a:p>
        </p:txBody>
      </p:sp>
    </p:spTree>
  </p:cSld>
  <p:clrMapOvr>
    <a:masterClrMapping/>
  </p:clrMapOvr>
</p:sld>
</file>

<file path=ppt/theme/theme1.xml><?xml version="1.0" encoding="utf-8"?>
<a:theme xmlns:a="http://schemas.openxmlformats.org/drawingml/2006/main" name="CS 383 Lecture">
  <a:themeElements>
    <a:clrScheme name="CS 383 Lecture">
      <a:dk1>
        <a:srgbClr val="1E2A44"/>
      </a:dk1>
      <a:lt1>
        <a:srgbClr val="FFFFFF"/>
      </a:lt1>
      <a:dk2>
        <a:srgbClr val="333F50"/>
      </a:dk2>
      <a:lt2>
        <a:srgbClr val="F4F5F7"/>
      </a:lt2>
      <a:accent1>
        <a:srgbClr val="4472C4"/>
      </a:accent1>
      <a:accent2>
        <a:srgbClr val="C55A11"/>
      </a:accent2>
      <a:accent3>
        <a:srgbClr val="24304A"/>
      </a:accent3>
      <a:accent4>
        <a:srgbClr val="F4B183"/>
      </a:accent4>
      <a:accent5>
        <a:srgbClr val="FBE4D5"/>
      </a:accent5>
      <a:accent6>
        <a:srgbClr val="9DB4E0"/>
      </a:accent6>
      <a:hlink>
        <a:srgbClr val="0563C1"/>
      </a:hlink>
      <a:folHlink>
        <a:srgbClr val="954F72"/>
      </a:folHlink>
    </a:clrScheme>
    <a:fontScheme name="CS 383 Lectur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2829</Words>
  <Application>Microsoft Macintosh PowerPoint</Application>
  <PresentationFormat>Widescreen</PresentationFormat>
  <Paragraphs>383</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Courier New</vt:lpstr>
      <vt:lpstr>CS 383 Lecture</vt:lpstr>
      <vt:lpstr>Midterm Review</vt:lpstr>
      <vt:lpstr>A Recipe for Counting Loops</vt:lpstr>
      <vt:lpstr>A Dependent Nested Loop</vt:lpstr>
      <vt:lpstr>Warm-up: The Count Is an Arithmetic Series</vt:lpstr>
      <vt:lpstr>A Loop That Stops Early</vt:lpstr>
      <vt:lpstr>The Loop Runs About √n Times</vt:lpstr>
      <vt:lpstr>Prove a Θ Bound</vt:lpstr>
      <vt:lpstr>Sandwich f(n) Between Two Multiples of n</vt:lpstr>
      <vt:lpstr>Trace MAX-HEAPIFY</vt:lpstr>
      <vt:lpstr>MAX-HEAPIFY Takes 2 Swaps</vt:lpstr>
      <vt:lpstr>Traverse, Find the Successor, Delete</vt:lpstr>
      <vt:lpstr>Postorder and the Successor of 20</vt:lpstr>
      <vt:lpstr>Deleting 20: Replace It With Its Successor</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383 Midterm Review</dc:title>
  <dc:subject>PptxGenJS Presentation</dc:subject>
  <dc:creator>Tanwistha Saha</dc:creator>
  <cp:lastModifiedBy>Tanwistha Saha</cp:lastModifiedBy>
  <cp:revision>4</cp:revision>
  <dcterms:created xsi:type="dcterms:W3CDTF">2026-10-16T02:50:41Z</dcterms:created>
  <dcterms:modified xsi:type="dcterms:W3CDTF">2026-10-16T17:46:06Z</dcterms:modified>
</cp:coreProperties>
</file>