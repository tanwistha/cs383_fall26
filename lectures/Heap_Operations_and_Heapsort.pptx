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0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0256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ocw.mit.edu/courses/6-006-introduction-to-algorithms-fall-2011/8ebfeb1c645b10b3709919603e7d51be_MIT6_006F11_lec04.pd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1188720"/>
            <a:ext cx="6949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Operations &amp;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Heapsort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min-heap move — then sorting with 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MIN-HEAPIFY, BUILD-MIN-HEAP, insert and extract-min, traced by hand — then Heapsort.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589520" y="1691640"/>
            <a:ext cx="3685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unsorted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89520" y="1965960"/>
            <a:ext cx="420624" cy="438912"/>
          </a:xfrm>
          <a:prstGeom prst="rect">
            <a:avLst/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89520" y="1965960"/>
            <a:ext cx="420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55864" y="1965960"/>
            <a:ext cx="420624" cy="438912"/>
          </a:xfrm>
          <a:prstGeom prst="rect">
            <a:avLst/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55864" y="1965960"/>
            <a:ext cx="420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522208" y="1965960"/>
            <a:ext cx="420624" cy="438912"/>
          </a:xfrm>
          <a:prstGeom prst="rect">
            <a:avLst/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22208" y="1965960"/>
            <a:ext cx="420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88552" y="1965960"/>
            <a:ext cx="420624" cy="438912"/>
          </a:xfrm>
          <a:prstGeom prst="rect">
            <a:avLst/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988552" y="1965960"/>
            <a:ext cx="420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454896" y="1965960"/>
            <a:ext cx="420624" cy="438912"/>
          </a:xfrm>
          <a:prstGeom prst="rect">
            <a:avLst/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454896" y="1965960"/>
            <a:ext cx="420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921240" y="1965960"/>
            <a:ext cx="420624" cy="438912"/>
          </a:xfrm>
          <a:prstGeom prst="rect">
            <a:avLst/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921240" y="1965960"/>
            <a:ext cx="420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387584" y="1965960"/>
            <a:ext cx="420624" cy="438912"/>
          </a:xfrm>
          <a:prstGeom prst="rect">
            <a:avLst/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387584" y="1965960"/>
            <a:ext cx="420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853928" y="1965960"/>
            <a:ext cx="420624" cy="438912"/>
          </a:xfrm>
          <a:prstGeom prst="rect">
            <a:avLst/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853928" y="1965960"/>
            <a:ext cx="420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589520" y="2487168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build-min-heap + sortdown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89520" y="2852928"/>
            <a:ext cx="3685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sorted, descending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589520" y="3127248"/>
            <a:ext cx="420624" cy="438912"/>
          </a:xfrm>
          <a:prstGeom prst="rect">
            <a:avLst/>
          </a:prstGeom>
          <a:solidFill>
            <a:srgbClr val="ED7D31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589520" y="3127248"/>
            <a:ext cx="420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55864" y="3127248"/>
            <a:ext cx="420624" cy="438912"/>
          </a:xfrm>
          <a:prstGeom prst="rect">
            <a:avLst/>
          </a:prstGeom>
          <a:solidFill>
            <a:srgbClr val="ED7D31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055864" y="3127248"/>
            <a:ext cx="420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522208" y="3127248"/>
            <a:ext cx="420624" cy="438912"/>
          </a:xfrm>
          <a:prstGeom prst="rect">
            <a:avLst/>
          </a:prstGeom>
          <a:solidFill>
            <a:srgbClr val="ED7D31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522208" y="3127248"/>
            <a:ext cx="420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988552" y="3127248"/>
            <a:ext cx="420624" cy="438912"/>
          </a:xfrm>
          <a:prstGeom prst="rect">
            <a:avLst/>
          </a:prstGeom>
          <a:solidFill>
            <a:srgbClr val="ED7D31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988552" y="3127248"/>
            <a:ext cx="420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454896" y="3127248"/>
            <a:ext cx="420624" cy="438912"/>
          </a:xfrm>
          <a:prstGeom prst="rect">
            <a:avLst/>
          </a:prstGeom>
          <a:solidFill>
            <a:srgbClr val="ED7D31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454896" y="3127248"/>
            <a:ext cx="420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921240" y="3127248"/>
            <a:ext cx="420624" cy="438912"/>
          </a:xfrm>
          <a:prstGeom prst="rect">
            <a:avLst/>
          </a:prstGeom>
          <a:solidFill>
            <a:srgbClr val="ED7D31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921240" y="3127248"/>
            <a:ext cx="420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10387584" y="3127248"/>
            <a:ext cx="420624" cy="438912"/>
          </a:xfrm>
          <a:prstGeom prst="rect">
            <a:avLst/>
          </a:prstGeom>
          <a:solidFill>
            <a:srgbClr val="ED7D31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387584" y="3127248"/>
            <a:ext cx="420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10853928" y="3127248"/>
            <a:ext cx="420624" cy="438912"/>
          </a:xfrm>
          <a:prstGeom prst="rect">
            <a:avLst/>
          </a:prstGeom>
          <a:solidFill>
            <a:srgbClr val="ED7D31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853928" y="3127248"/>
            <a:ext cx="420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589520" y="365760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Heapsort with a min-heap: sorted, in place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5" name="Shape 18">
            <a:extLst>
              <a:ext uri="{FF2B5EF4-FFF2-40B4-BE49-F238E27FC236}">
                <a16:creationId xmlns:a16="http://schemas.microsoft.com/office/drawing/2014/main" id="{97534FD5-966D-55BB-32D3-94F2574E09BD}"/>
              </a:ext>
            </a:extLst>
          </p:cNvPr>
          <p:cNvSpPr/>
          <p:nvPr/>
        </p:nvSpPr>
        <p:spPr>
          <a:xfrm>
            <a:off x="502920" y="5897880"/>
            <a:ext cx="69494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5E08CF8A-466D-B3AD-3846-29FEDF6FD1C9}"/>
              </a:ext>
            </a:extLst>
          </p:cNvPr>
          <p:cNvSpPr txBox="1"/>
          <p:nvPr/>
        </p:nvSpPr>
        <p:spPr>
          <a:xfrm>
            <a:off x="50292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Session 13  ·  September 30</a:t>
            </a:r>
            <a:endParaRPr lang="en-US" sz="1100" dirty="0"/>
          </a:p>
        </p:txBody>
      </p:sp>
      <p:sp>
        <p:nvSpPr>
          <p:cNvPr id="47" name="Text 19">
            <a:extLst>
              <a:ext uri="{FF2B5EF4-FFF2-40B4-BE49-F238E27FC236}">
                <a16:creationId xmlns:a16="http://schemas.microsoft.com/office/drawing/2014/main" id="{96C0F5F3-AE61-1855-4FEF-0D055537627F}"/>
              </a:ext>
            </a:extLst>
          </p:cNvPr>
          <p:cNvSpPr txBox="1"/>
          <p:nvPr/>
        </p:nvSpPr>
        <p:spPr>
          <a:xfrm>
            <a:off x="50292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Tanwistha Saha</a:t>
            </a:r>
            <a:endParaRPr lang="en-US" sz="1300" dirty="0"/>
          </a:p>
        </p:txBody>
      </p:sp>
      <p:sp>
        <p:nvSpPr>
          <p:cNvPr id="48" name="Text 0">
            <a:extLst>
              <a:ext uri="{FF2B5EF4-FFF2-40B4-BE49-F238E27FC236}">
                <a16:creationId xmlns:a16="http://schemas.microsoft.com/office/drawing/2014/main" id="{AB3B354B-23CC-8CE1-B97F-17C1657C102D}"/>
              </a:ext>
            </a:extLst>
          </p:cNvPr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383 ALGORITHMS ANALYSIS AND DESIGN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headed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core operation, reused four times.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1865376"/>
            <a:ext cx="1052748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2176272"/>
            <a:ext cx="10527487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heap we built last time — same array, same tree.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5568" y="2688336"/>
            <a:ext cx="1052748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MIN-HEAPIFY, then BUILD-MIN-HEAP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5568" y="2999232"/>
            <a:ext cx="10527487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primitive that fixes a violation — and how repeating it turns any array into a heap, in O(n).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703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5568" y="3648456"/>
            <a:ext cx="1052748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&amp; extract-min — with board work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5568" y="3959352"/>
            <a:ext cx="10527487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priority-queue operations, both O(log n), traced by hand.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45720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5568" y="4517136"/>
            <a:ext cx="1052748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Heapsort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15568" y="4828032"/>
            <a:ext cx="10527487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two pieces, one last time — O(n log n), in place.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 ·  Heap Operations &amp; Heapsort  ·  Sep 30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left off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array, same heap — let's put it to work.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1911096"/>
            <a:ext cx="555955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binary heap: complete tree + heap-order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2221992"/>
            <a:ext cx="5559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level full except possibly the last (left to right); every parent ≤ its children (min-heap).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5568" y="3145536"/>
            <a:ext cx="555955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a plain array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5568" y="3456432"/>
            <a:ext cx="55595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parent(i), left(i), right(i) are pure arithmetic — no pointers.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42519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5568" y="4197096"/>
            <a:ext cx="555955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= O(log n)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5568" y="4507992"/>
            <a:ext cx="55595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fact that makes everything today fast.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349240"/>
            <a:ext cx="6126480" cy="82296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534924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finally use that height bound: every operation will touch just one root-to-leaf path.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 flipH="1">
            <a:off x="8481060" y="2240280"/>
            <a:ext cx="754380" cy="347472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235440" y="2240280"/>
            <a:ext cx="754380" cy="23683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flipH="1">
            <a:off x="7863840" y="3017520"/>
            <a:ext cx="411480" cy="27432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275320" y="3017520"/>
            <a:ext cx="411472" cy="255118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 flipH="1">
            <a:off x="9784088" y="3017520"/>
            <a:ext cx="411472" cy="23683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195560" y="3017520"/>
            <a:ext cx="480060" cy="27432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 flipH="1">
            <a:off x="7520940" y="3794760"/>
            <a:ext cx="274320" cy="22860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961120" y="1691640"/>
            <a:ext cx="548640" cy="548640"/>
          </a:xfrm>
          <a:prstGeom prst="ellipse">
            <a:avLst/>
          </a:prstGeom>
          <a:solidFill>
            <a:srgbClr val="333F5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961120" y="1713586"/>
            <a:ext cx="548640" cy="2880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961120" y="1987906"/>
            <a:ext cx="548640" cy="233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001000" y="2468880"/>
            <a:ext cx="548640" cy="54864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001000" y="2490826"/>
            <a:ext cx="548640" cy="2880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001000" y="2765146"/>
            <a:ext cx="548640" cy="233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921240" y="2468880"/>
            <a:ext cx="548640" cy="54864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921240" y="2490826"/>
            <a:ext cx="548640" cy="2880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921240" y="2765146"/>
            <a:ext cx="548640" cy="233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520940" y="3246120"/>
            <a:ext cx="548640" cy="54864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520940" y="3268066"/>
            <a:ext cx="548640" cy="2880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520940" y="3542386"/>
            <a:ext cx="548640" cy="233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481060" y="3246120"/>
            <a:ext cx="548640" cy="54864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481060" y="3268066"/>
            <a:ext cx="548640" cy="2880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481060" y="3542386"/>
            <a:ext cx="548640" cy="233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441180" y="3246120"/>
            <a:ext cx="548640" cy="54864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441180" y="3268066"/>
            <a:ext cx="548640" cy="2880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9441180" y="3542386"/>
            <a:ext cx="548640" cy="233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0401300" y="3246120"/>
            <a:ext cx="548640" cy="54864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0401300" y="3268066"/>
            <a:ext cx="548640" cy="2880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10401300" y="3542386"/>
            <a:ext cx="548640" cy="233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280910" y="4023360"/>
            <a:ext cx="548640" cy="54864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280910" y="4045306"/>
            <a:ext cx="548640" cy="2880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7280910" y="4319626"/>
            <a:ext cx="548640" cy="233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15200" y="51206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heap from last class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 ·  Heap Operations &amp; Heapsort  ·  Sep 30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INVARIANT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to stay true, always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heap algorithm today leans on the same guarantee.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1911096"/>
            <a:ext cx="555955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invariant 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2221992"/>
            <a:ext cx="555955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property that must hold at a specific point in an algorithm, every single time — it's how we prove an algorithm is correct, not just watch it work once.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5568" y="3236976"/>
            <a:ext cx="555955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invariant MIN-HEAPIFY relies 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5568" y="3547872"/>
            <a:ext cx="55595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Assume: the subtrees rooted at left(i) and right(i) are ALREADY valid min-heaps. Node i itself may violate the property — that's the one thing MIN-HEAPIFY is allowed to fix.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709160"/>
            <a:ext cx="6126480" cy="1188720"/>
          </a:xfrm>
          <a:prstGeom prst="roundRect">
            <a:avLst>
              <a:gd name="adj" fmla="val 4615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4709160"/>
            <a:ext cx="5669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use this one primitive four times today: fixing extract-min's root, building a whole heap from scratch, and running Heapsort.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 flipH="1">
            <a:off x="8522208" y="2304288"/>
            <a:ext cx="896112" cy="603504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418320" y="2304288"/>
            <a:ext cx="896112" cy="576072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 flipH="1">
            <a:off x="7772400" y="3310128"/>
            <a:ext cx="548640" cy="585216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321040" y="3310128"/>
            <a:ext cx="548640" cy="530352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 flipH="1">
            <a:off x="9966960" y="3310128"/>
            <a:ext cx="548640" cy="493776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515600" y="3310128"/>
            <a:ext cx="548640" cy="402336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217152" y="1901952"/>
            <a:ext cx="402336" cy="402336"/>
          </a:xfrm>
          <a:prstGeom prst="ellipse">
            <a:avLst/>
          </a:prstGeom>
          <a:solidFill>
            <a:srgbClr val="ED7D31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119872" y="2907792"/>
            <a:ext cx="402336" cy="402336"/>
          </a:xfrm>
          <a:prstGeom prst="ellipse">
            <a:avLst/>
          </a:prstGeom>
          <a:solidFill>
            <a:srgbClr val="4472C4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314432" y="2907792"/>
            <a:ext cx="402336" cy="402336"/>
          </a:xfrm>
          <a:prstGeom prst="ellipse">
            <a:avLst/>
          </a:prstGeom>
          <a:solidFill>
            <a:srgbClr val="4472C4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571232" y="3913632"/>
            <a:ext cx="402336" cy="402336"/>
          </a:xfrm>
          <a:prstGeom prst="ellipse">
            <a:avLst/>
          </a:prstGeom>
          <a:solidFill>
            <a:srgbClr val="4472C4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668512" y="3913632"/>
            <a:ext cx="402336" cy="402336"/>
          </a:xfrm>
          <a:prstGeom prst="ellipse">
            <a:avLst/>
          </a:prstGeom>
          <a:solidFill>
            <a:srgbClr val="4472C4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765792" y="3913632"/>
            <a:ext cx="402336" cy="402336"/>
          </a:xfrm>
          <a:prstGeom prst="ellipse">
            <a:avLst/>
          </a:prstGeom>
          <a:solidFill>
            <a:srgbClr val="4472C4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1023923" y="3827180"/>
            <a:ext cx="402336" cy="402336"/>
          </a:xfrm>
          <a:prstGeom prst="ellipse">
            <a:avLst/>
          </a:prstGeom>
          <a:solidFill>
            <a:srgbClr val="4472C4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869680" y="160934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violate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06640" y="442569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a min-heap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601200" y="442569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a min-heap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 ·  Heap Operations &amp; Heapsort  ·  Sep 30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MIN-HEAPIFY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MIN-HEAPIFY: the idea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one violation at the root of a subtree, trickle it down to where it belongs.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1911096"/>
            <a:ext cx="54681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A[i] to its children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2221992"/>
            <a:ext cx="5468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smallest of A[i], A[left(i)], and A[right(i)].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5568" y="2825496"/>
            <a:ext cx="54681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child is smaller, swap with 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5568" y="3136392"/>
            <a:ext cx="54681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the SMALLER child — swapping with the larger one could leave a child still smaller than the new parent.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8862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5568" y="3831336"/>
            <a:ext cx="54681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Recurse into that child's position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5568" y="4142232"/>
            <a:ext cx="5468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A[i] is smaller than both children, or it reaches a leaf.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892040"/>
            <a:ext cx="6035040" cy="77724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489204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nodes on ONE root-to-leaf path are ever touched — the source of MIN-HEAPIFY's O(log n) bound.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 flipH="1">
            <a:off x="8540496" y="2093976"/>
            <a:ext cx="786384" cy="438912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326880" y="2093976"/>
            <a:ext cx="1005840" cy="713232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flipH="1">
            <a:off x="7720445" y="2779776"/>
            <a:ext cx="600595" cy="356616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321040" y="2807208"/>
            <a:ext cx="438908" cy="301752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 flipH="1">
            <a:off x="10049256" y="2807208"/>
            <a:ext cx="283464" cy="301752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332720" y="2807208"/>
            <a:ext cx="365760" cy="18288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107424" y="1655064"/>
            <a:ext cx="438912" cy="438912"/>
          </a:xfrm>
          <a:prstGeom prst="ellipse">
            <a:avLst/>
          </a:prstGeom>
          <a:solidFill>
            <a:srgbClr val="ED7D3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07424" y="16550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01584" y="2368296"/>
            <a:ext cx="438912" cy="438912"/>
          </a:xfrm>
          <a:prstGeom prst="ellipse">
            <a:avLst/>
          </a:prstGeom>
          <a:solidFill>
            <a:srgbClr val="ED7D3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101584" y="23682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113264" y="2368296"/>
            <a:ext cx="438912" cy="438912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113264" y="23682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598664" y="3081528"/>
            <a:ext cx="438912" cy="438912"/>
          </a:xfrm>
          <a:prstGeom prst="ellipse">
            <a:avLst/>
          </a:prstGeom>
          <a:solidFill>
            <a:srgbClr val="ED7D3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598664" y="3081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604504" y="3081528"/>
            <a:ext cx="438912" cy="438912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604504" y="3081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610344" y="3081528"/>
            <a:ext cx="438912" cy="438912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610344" y="3081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0616184" y="3081528"/>
            <a:ext cx="438912" cy="438912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0616184" y="3081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686800" y="20939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745382" y="2644693"/>
            <a:ext cx="274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223760" y="5166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MIN-HEAPIFY(A,0,7): 9 trickles past 2, then 5, then stops (leaf)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 ·  Heap Operations &amp; Heapsort  ·  Sep 30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MIN-HEAPIFY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MIN-HEAPIFY: pseudocode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6.006's algorithm, adapted to our 0-indexed, min-heap convention.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309360" cy="3017520"/>
          </a:xfrm>
          <a:prstGeom prst="roundRect">
            <a:avLst>
              <a:gd name="adj" fmla="val 1818"/>
            </a:avLst>
          </a:prstGeom>
          <a:solidFill>
            <a:srgbClr val="F5F5F5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2020824"/>
            <a:ext cx="590702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MIN-HEAPIFY(A, i, n):
</a:t>
            </a:r>
            <a:r>
              <a:rPr lang="en-US" sz="1350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 = LEFT(i)
    r = RIGHT(i)
    smallest = i
    if l &lt; n and A[l] &lt; A[smallest]:
        smallest = l
    if r &lt; n and A[r] &lt; A[smallest]:
        smallest = r
    if smallest ≠ i:
        exchange A[i] and A[smallest]
        MIN-HEAPIFY(A, smallest, n)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086600" y="1874520"/>
            <a:ext cx="45720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26948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per call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269480" y="2258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comparisons, at most one swap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921240" y="187452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086600" y="2926080"/>
            <a:ext cx="45720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26948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calls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269480" y="33101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level, along one root-to-leaf path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921240" y="292608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O(log n)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086600" y="3977640"/>
            <a:ext cx="45720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269480" y="4069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269480" y="43616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· O(log n) levels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921240" y="397764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ED7D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O(log n)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11094415" cy="77724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5029200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hlinkClick r:id="rId3"/>
              </a:rPr>
              <a:t>MIT Lecture Notes on Heaps and Heapsort</a:t>
            </a:r>
            <a:r>
              <a:rPr lang="en-US" sz="1250" dirty="0"/>
              <a:t>  (refers to Max-heaps-&gt; we adapted here for Min-Heaps)</a:t>
            </a:r>
          </a:p>
        </p:txBody>
      </p:sp>
      <p:sp>
        <p:nvSpPr>
          <p:cNvPr id="21" name="Text 19"/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 ·  Heap Operations &amp; Heapsort  ·  Sep 30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BUILD-HEAP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BUILD-MIN-HEAP: two ways to get there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is the obvious approach. The other is the surprising one.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18608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67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NAIVE WAY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467852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each of the n elements one at a time: place it at the next open leaf, then let it float (“swim”) up to its correct spot — we'll cover this operation in detail shortly.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insert costs O(log n) — n of them cost O(n log n) total.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24448" y="2011680"/>
            <a:ext cx="5318608" cy="3200400"/>
          </a:xfrm>
          <a:prstGeom prst="roundRect">
            <a:avLst>
              <a:gd name="adj" fmla="val 2286"/>
            </a:avLst>
          </a:prstGeom>
          <a:solidFill>
            <a:srgbClr val="E7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44488" y="2286000"/>
            <a:ext cx="467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CLEVER WAY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44488" y="2697480"/>
            <a:ext cx="467852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last non-leaf node and call MIN-HEAPIFY — right to left, bottom to top.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Surprisingly: </a:t>
            </a:r>
            <a:r>
              <a:rPr lang="en-US" sz="1400" b="1" i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total, not O(n log n).</a:t>
            </a:r>
            <a:endParaRPr lang="en-US" sz="1400" b="1" i="1" dirty="0"/>
          </a:p>
        </p:txBody>
      </p:sp>
      <p:sp>
        <p:nvSpPr>
          <p:cNvPr id="11" name="Shape 9"/>
          <p:cNvSpPr/>
          <p:nvPr/>
        </p:nvSpPr>
        <p:spPr>
          <a:xfrm>
            <a:off x="548640" y="5440680"/>
            <a:ext cx="11094415" cy="594360"/>
          </a:xfrm>
          <a:prstGeom prst="roundRect">
            <a:avLst>
              <a:gd name="adj" fmla="val 9231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prove that O(n) bound in a moment — it's one of the more delightful surprises in this course.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 ·  Heap Operations &amp; Heapsort  ·  Sep 30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BUILD-HEAP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nodes actually need MIN-HEAPIFY?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are already valid heaps of size one — nothing to fix.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 flipH="1">
            <a:off x="2340864" y="2249424"/>
            <a:ext cx="950976" cy="384048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91840" y="2249424"/>
            <a:ext cx="1072342" cy="329184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flipH="1">
            <a:off x="1568196" y="3054096"/>
            <a:ext cx="534924" cy="27432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103120" y="3054096"/>
            <a:ext cx="534920" cy="283464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flipH="1">
            <a:off x="4005072" y="3054096"/>
            <a:ext cx="475488" cy="292608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80560" y="3054096"/>
            <a:ext cx="475488" cy="292608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 flipH="1">
            <a:off x="1097585" y="3858768"/>
            <a:ext cx="411175" cy="283464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508760" y="3858768"/>
            <a:ext cx="297146" cy="246888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054096" y="1773936"/>
            <a:ext cx="475488" cy="475488"/>
          </a:xfrm>
          <a:prstGeom prst="ellipse">
            <a:avLst/>
          </a:prstGeom>
          <a:solidFill>
            <a:srgbClr val="333F5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54096" y="17739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865376" y="2578608"/>
            <a:ext cx="475488" cy="475488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865376" y="25786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42816" y="2578608"/>
            <a:ext cx="475488" cy="475488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42816" y="25786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271016" y="3383280"/>
            <a:ext cx="475488" cy="475488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71016" y="33832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459736" y="3383280"/>
            <a:ext cx="475488" cy="475488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459736" y="33832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48456" y="3383280"/>
            <a:ext cx="475488" cy="475488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48456" y="33832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37176" y="3383280"/>
            <a:ext cx="475488" cy="475488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37176" y="33832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73836" y="4187952"/>
            <a:ext cx="475488" cy="475488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73836" y="41879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568196" y="4187952"/>
            <a:ext cx="475488" cy="475488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568196" y="41879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054096" y="1773936"/>
            <a:ext cx="475488" cy="475488"/>
          </a:xfrm>
          <a:prstGeom prst="ellipse">
            <a:avLst/>
          </a:prstGeom>
          <a:solidFill>
            <a:srgbClr val="ED7D3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054096" y="17739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865376" y="2578608"/>
            <a:ext cx="475488" cy="475488"/>
          </a:xfrm>
          <a:prstGeom prst="ellipse">
            <a:avLst/>
          </a:prstGeom>
          <a:solidFill>
            <a:srgbClr val="ED7D3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865376" y="25786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i=1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242816" y="2578608"/>
            <a:ext cx="475488" cy="475488"/>
          </a:xfrm>
          <a:prstGeom prst="ellipse">
            <a:avLst/>
          </a:prstGeom>
          <a:solidFill>
            <a:srgbClr val="ED7D3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242816" y="25786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i=2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271016" y="3383280"/>
            <a:ext cx="475488" cy="475488"/>
          </a:xfrm>
          <a:prstGeom prst="ellipse">
            <a:avLst/>
          </a:prstGeom>
          <a:solidFill>
            <a:srgbClr val="ED7D3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271016" y="33832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i=3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459736" y="3383280"/>
            <a:ext cx="475488" cy="475488"/>
          </a:xfrm>
          <a:prstGeom prst="ellipse">
            <a:avLst/>
          </a:prstGeom>
          <a:solidFill>
            <a:srgbClr val="BFBFB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459736" y="33832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i=4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48456" y="3383280"/>
            <a:ext cx="475488" cy="475488"/>
          </a:xfrm>
          <a:prstGeom prst="ellipse">
            <a:avLst/>
          </a:prstGeom>
          <a:solidFill>
            <a:srgbClr val="BFBFB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648456" y="33832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i=5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837176" y="3383280"/>
            <a:ext cx="475488" cy="475488"/>
          </a:xfrm>
          <a:prstGeom prst="ellipse">
            <a:avLst/>
          </a:prstGeom>
          <a:solidFill>
            <a:srgbClr val="BFBFB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37176" y="33832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i=6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73836" y="4187952"/>
            <a:ext cx="475488" cy="475488"/>
          </a:xfrm>
          <a:prstGeom prst="ellipse">
            <a:avLst/>
          </a:prstGeom>
          <a:solidFill>
            <a:srgbClr val="BFBFB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73836" y="41879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i=7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568196" y="4187952"/>
            <a:ext cx="475488" cy="475488"/>
          </a:xfrm>
          <a:prstGeom prst="ellipse">
            <a:avLst/>
          </a:prstGeom>
          <a:solidFill>
            <a:srgbClr val="BFBFB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568196" y="41879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i=8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14400" y="44348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nodes (i = 0..3): get MIN-HEAPIFY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914400" y="47548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(i = 4..8): already valid heaps, skipped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7086600" y="210312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086600" y="21031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653528" y="2048256"/>
            <a:ext cx="344088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can't violate anything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653528" y="2359152"/>
            <a:ext cx="3440887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leaf has no children to compare against — it's trivially a valid min-heap all on its own.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7086600" y="324612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086600" y="32461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653528" y="3191256"/>
            <a:ext cx="344088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internal nodes need fixing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653528" y="3502152"/>
            <a:ext cx="3440887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 = 9, that's indices 0 through n // 2 − 1 = 3 — exactly what BUILD-MIN-HEAP's loop bound says.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 ·  Heap Operations &amp; Heapsort  ·  Sep 30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BUILD-HEAP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BUILD-MIN-HEAP: loop invariant, and pseudocode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invariant that makes calling MIN-HEAPIFY safe, every time.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4415" cy="1051560"/>
          </a:xfrm>
          <a:prstGeom prst="roundRect">
            <a:avLst>
              <a:gd name="adj" fmla="val 5217"/>
            </a:avLst>
          </a:prstGeom>
          <a:solidFill>
            <a:srgbClr val="E7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1054577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invariant:  </a:t>
            </a:r>
            <a:r>
              <a:rPr lang="en-US" sz="14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start of each iteration, every subtree rooted at an index greater than i is already a valid min-heap — exactly what MIN-HEAPIFY(A, i, n) needs to be safe to call.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6309360" cy="1371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3209544"/>
            <a:ext cx="590702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BUILD-MIN-HEAP(A, n):
</a:t>
            </a:r>
            <a:r>
              <a:rPr lang="en-US" sz="1350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= n // 2 - 1 downto 0:
        MIN-HEAPIFY(A, i, n)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086600" y="3063240"/>
            <a:ext cx="4556455" cy="1371600"/>
          </a:xfrm>
          <a:prstGeom prst="roundRect">
            <a:avLst>
              <a:gd name="adj" fmla="val 3158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0" y="3063240"/>
            <a:ext cx="4114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at 0, the last non-leaf index is n // 2 − 1 — exactly the boundary from the previous slide.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11094415" cy="731520"/>
          </a:xfrm>
          <a:prstGeom prst="roundRect">
            <a:avLst>
              <a:gd name="adj" fmla="val 7500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4709160"/>
            <a:ext cx="106372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high-to-low order matters: it guarantees both subtrees under i are already fixed by the time we reach i.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 ·  Heap Operations &amp; Heapsort  ·  Sep 30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THE 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demo: trace BUILD-MIN-HEAP by hand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39" y="1092708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8 (key, value) pairs — given to us in a different, unsorted order this time.</a:t>
            </a:r>
            <a:endParaRPr lang="en-US" sz="14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412996"/>
              </p:ext>
            </p:extLst>
          </p:nvPr>
        </p:nvGraphicFramePr>
        <p:xfrm>
          <a:off x="548640" y="2011680"/>
          <a:ext cx="11094415" cy="4352544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1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[(20,G), (13,E), (25,H), (2,A), (17,F), (8,D), (5,B), (7,C)] — n=8, loop starts at i = 8//2 − 1 = 3. [integers are keys, alphabets are values in this example; each node of the heap holds a tuple]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MIN-HEAPIFY(A,3,8)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(2,A) vs. only child (7,C) — already smaller, no swap needed.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MIN-HEAPIFY(A,2,8)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(25,H) vs. children (8,D),(5,B) — swap with the smaller, (5,B).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MIN-HEAPIFY(A,1,8)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(13,E) vs. children (2,A),(17,F) — swap with (2,A); recurse and swap again with (7,C). Two swaps, cascading down.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MIN-HEAPIFY(A,0,8)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(20,G) vs. children (2,A),(5,B) — swap with (2,A); recurse and swap again with (7,C); recurse once more and swap with (13,E). 20 sinks all the way to a leaf; root is now 2.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Final: [(2,A),(7,C),(5,B),(13,E),(17,F),(8,D),(25,H),(20,G)] — This is a valid binary heap BUT the keys are not in sorted order yet (we will address that in Heapsort)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 ·  Heap Operations &amp; Heapsort  ·  Sep 30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677DE95B-35E7-AC9B-CF29-B1B049339F0E}"/>
              </a:ext>
            </a:extLst>
          </p:cNvPr>
          <p:cNvSpPr/>
          <p:nvPr/>
        </p:nvSpPr>
        <p:spPr>
          <a:xfrm>
            <a:off x="6020488" y="1415240"/>
            <a:ext cx="420624" cy="438912"/>
          </a:xfrm>
          <a:prstGeom prst="rect">
            <a:avLst/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5843D5EF-18AE-2C83-80FE-6D072888EEDC}"/>
              </a:ext>
            </a:extLst>
          </p:cNvPr>
          <p:cNvSpPr/>
          <p:nvPr/>
        </p:nvSpPr>
        <p:spPr>
          <a:xfrm>
            <a:off x="6020488" y="1415240"/>
            <a:ext cx="420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150" dirty="0"/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69AAFA7A-AE28-771D-3AE0-48871CC43EB1}"/>
              </a:ext>
            </a:extLst>
          </p:cNvPr>
          <p:cNvSpPr/>
          <p:nvPr/>
        </p:nvSpPr>
        <p:spPr>
          <a:xfrm>
            <a:off x="6486832" y="1415240"/>
            <a:ext cx="420624" cy="438912"/>
          </a:xfrm>
          <a:prstGeom prst="rect">
            <a:avLst/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9934F4EF-846A-F47A-E0B4-0ECF54A72663}"/>
              </a:ext>
            </a:extLst>
          </p:cNvPr>
          <p:cNvSpPr/>
          <p:nvPr/>
        </p:nvSpPr>
        <p:spPr>
          <a:xfrm>
            <a:off x="6486832" y="1415240"/>
            <a:ext cx="420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150" dirty="0"/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3690BC77-2662-EACD-D2C9-315E49F6D714}"/>
              </a:ext>
            </a:extLst>
          </p:cNvPr>
          <p:cNvSpPr/>
          <p:nvPr/>
        </p:nvSpPr>
        <p:spPr>
          <a:xfrm>
            <a:off x="6953176" y="1415240"/>
            <a:ext cx="420624" cy="438912"/>
          </a:xfrm>
          <a:prstGeom prst="rect">
            <a:avLst/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CD702A0F-32D9-1C0E-3231-0A4A6367D25F}"/>
              </a:ext>
            </a:extLst>
          </p:cNvPr>
          <p:cNvSpPr/>
          <p:nvPr/>
        </p:nvSpPr>
        <p:spPr>
          <a:xfrm>
            <a:off x="6953176" y="1415240"/>
            <a:ext cx="420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150" dirty="0"/>
          </a:p>
        </p:txBody>
      </p:sp>
      <p:sp>
        <p:nvSpPr>
          <p:cNvPr id="24" name="Shape 12">
            <a:extLst>
              <a:ext uri="{FF2B5EF4-FFF2-40B4-BE49-F238E27FC236}">
                <a16:creationId xmlns:a16="http://schemas.microsoft.com/office/drawing/2014/main" id="{BEDC0F5B-377D-2B0B-C558-4588A34BF507}"/>
              </a:ext>
            </a:extLst>
          </p:cNvPr>
          <p:cNvSpPr/>
          <p:nvPr/>
        </p:nvSpPr>
        <p:spPr>
          <a:xfrm>
            <a:off x="7419520" y="1415240"/>
            <a:ext cx="420624" cy="438912"/>
          </a:xfrm>
          <a:prstGeom prst="rect">
            <a:avLst/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5CC471E8-B08F-DA38-33FC-F899D1FF710B}"/>
              </a:ext>
            </a:extLst>
          </p:cNvPr>
          <p:cNvSpPr/>
          <p:nvPr/>
        </p:nvSpPr>
        <p:spPr>
          <a:xfrm>
            <a:off x="7419520" y="1415240"/>
            <a:ext cx="420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50" dirty="0"/>
          </a:p>
        </p:txBody>
      </p:sp>
      <p:sp>
        <p:nvSpPr>
          <p:cNvPr id="27" name="Shape 16">
            <a:extLst>
              <a:ext uri="{FF2B5EF4-FFF2-40B4-BE49-F238E27FC236}">
                <a16:creationId xmlns:a16="http://schemas.microsoft.com/office/drawing/2014/main" id="{C51BF0A5-49C5-FBDF-EEEF-7864F440B922}"/>
              </a:ext>
            </a:extLst>
          </p:cNvPr>
          <p:cNvSpPr/>
          <p:nvPr/>
        </p:nvSpPr>
        <p:spPr>
          <a:xfrm>
            <a:off x="8352208" y="1415240"/>
            <a:ext cx="420624" cy="438912"/>
          </a:xfrm>
          <a:prstGeom prst="rect">
            <a:avLst/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2FF92FBA-EF05-760B-5B3D-6217203DB460}"/>
              </a:ext>
            </a:extLst>
          </p:cNvPr>
          <p:cNvSpPr/>
          <p:nvPr/>
        </p:nvSpPr>
        <p:spPr>
          <a:xfrm>
            <a:off x="8352208" y="1415240"/>
            <a:ext cx="420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50" dirty="0"/>
          </a:p>
        </p:txBody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943A8D24-E285-E42E-C935-6657AE4B69D5}"/>
              </a:ext>
            </a:extLst>
          </p:cNvPr>
          <p:cNvSpPr/>
          <p:nvPr/>
        </p:nvSpPr>
        <p:spPr>
          <a:xfrm>
            <a:off x="8818552" y="1415240"/>
            <a:ext cx="420624" cy="438912"/>
          </a:xfrm>
          <a:prstGeom prst="rect">
            <a:avLst/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E56580F3-EEE5-058A-18A3-FB76084D2CA3}"/>
              </a:ext>
            </a:extLst>
          </p:cNvPr>
          <p:cNvSpPr/>
          <p:nvPr/>
        </p:nvSpPr>
        <p:spPr>
          <a:xfrm>
            <a:off x="8818552" y="1415240"/>
            <a:ext cx="420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50" dirty="0"/>
          </a:p>
        </p:txBody>
      </p:sp>
      <p:sp>
        <p:nvSpPr>
          <p:cNvPr id="31" name="Shape 20">
            <a:extLst>
              <a:ext uri="{FF2B5EF4-FFF2-40B4-BE49-F238E27FC236}">
                <a16:creationId xmlns:a16="http://schemas.microsoft.com/office/drawing/2014/main" id="{C93E8AD8-049A-381B-F479-F943ED89BE97}"/>
              </a:ext>
            </a:extLst>
          </p:cNvPr>
          <p:cNvSpPr/>
          <p:nvPr/>
        </p:nvSpPr>
        <p:spPr>
          <a:xfrm>
            <a:off x="9284896" y="1415240"/>
            <a:ext cx="420624" cy="438912"/>
          </a:xfrm>
          <a:prstGeom prst="rect">
            <a:avLst/>
          </a:prstGeom>
          <a:solidFill>
            <a:srgbClr val="E7E6E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1">
            <a:extLst>
              <a:ext uri="{FF2B5EF4-FFF2-40B4-BE49-F238E27FC236}">
                <a16:creationId xmlns:a16="http://schemas.microsoft.com/office/drawing/2014/main" id="{26E74294-8AB6-919E-C210-BBC2A09516EE}"/>
              </a:ext>
            </a:extLst>
          </p:cNvPr>
          <p:cNvSpPr/>
          <p:nvPr/>
        </p:nvSpPr>
        <p:spPr>
          <a:xfrm>
            <a:off x="9284896" y="1415240"/>
            <a:ext cx="420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50" dirty="0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168B5467-8FDE-59C9-420D-6CFA9A0A1A9F}"/>
              </a:ext>
            </a:extLst>
          </p:cNvPr>
          <p:cNvSpPr/>
          <p:nvPr/>
        </p:nvSpPr>
        <p:spPr>
          <a:xfrm>
            <a:off x="7884622" y="1431036"/>
            <a:ext cx="420624" cy="438912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15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8FDBC9-499A-34EE-0545-7B81032025C9}"/>
              </a:ext>
            </a:extLst>
          </p:cNvPr>
          <p:cNvSpPr txBox="1"/>
          <p:nvPr/>
        </p:nvSpPr>
        <p:spPr>
          <a:xfrm>
            <a:off x="6071310" y="1805234"/>
            <a:ext cx="3433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i</a:t>
            </a:r>
            <a:r>
              <a:rPr lang="en-US" sz="1000" dirty="0"/>
              <a:t>=0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CE7E82-BD74-E278-D335-377A53E3D6BD}"/>
              </a:ext>
            </a:extLst>
          </p:cNvPr>
          <p:cNvSpPr txBox="1"/>
          <p:nvPr/>
        </p:nvSpPr>
        <p:spPr>
          <a:xfrm>
            <a:off x="9330590" y="1812160"/>
            <a:ext cx="3433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i</a:t>
            </a:r>
            <a:r>
              <a:rPr lang="en-US" sz="1000" dirty="0"/>
              <a:t>=7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BUILD-HEAP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BUILD-MIN-HEAP: why it's O(n), not O(n log n)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nodes live near the bottom, where MIN-HEAPIFY does almost no work.</a:t>
            </a:r>
            <a:endParaRPr lang="en-US" sz="14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6309360" cy="22860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height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nodes at that height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MIN-HEAPIFY 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(leaves)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086600" y="1965960"/>
            <a:ext cx="457200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269479" y="2057400"/>
            <a:ext cx="3459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 (see MIT notes/board work)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269480" y="23500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n/2·0 + n/4·1 + n/8·2 + … = converges to a constant * 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921240" y="1965960"/>
            <a:ext cx="1554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ED7D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086600" y="3611880"/>
            <a:ext cx="4572000" cy="1737360"/>
          </a:xfrm>
          <a:prstGeom prst="roundRect">
            <a:avLst>
              <a:gd name="adj" fmla="val 3158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8"/>
          <p:cNvSpPr/>
          <p:nvPr/>
        </p:nvSpPr>
        <p:spPr>
          <a:xfrm>
            <a:off x="7315200" y="3611880"/>
            <a:ext cx="4114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n inserts at O(log n) each — that sum is n · log n, which does NOT converge the same way. Building bottom-up is genuinely, asymptotically faster.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4160520"/>
            <a:ext cx="6309360" cy="100584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77240" y="416052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we build a heap from scratch using BUILD-MIN-HEAP, and not by calling insert n times — same end result, very different cost.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 ·  Heap Operations &amp; Heapsort  ·  Sep 30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add, then swim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the new key, then let it float up to where it belongs.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1956816"/>
            <a:ext cx="555955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at the next open leaf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2267712"/>
            <a:ext cx="55595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array slot that keeps the tree complete: index n, the next spot in line.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5568" y="2962656"/>
            <a:ext cx="555955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 (sift-up) while out of order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5568" y="3273552"/>
            <a:ext cx="55595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the parent. If the new key is smaller, swap. Repeat up the tree until it's not, or it reaches the root.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6126480" cy="77724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425196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“Swim” because the key floats upward, like a bubble, until it settles at a level where it belongs — the mirror image of MIN-HEAPIFY.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 flipH="1">
            <a:off x="8219209" y="2093976"/>
            <a:ext cx="924791" cy="356616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144000" y="2093976"/>
            <a:ext cx="832104" cy="310896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 flipH="1">
            <a:off x="7653528" y="2807208"/>
            <a:ext cx="438912" cy="256032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92440" y="2807208"/>
            <a:ext cx="438907" cy="256032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 flipH="1">
            <a:off x="9669780" y="2807208"/>
            <a:ext cx="525780" cy="22860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195560" y="2807208"/>
            <a:ext cx="438912" cy="22860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flipH="1">
            <a:off x="7223760" y="3520440"/>
            <a:ext cx="342900" cy="27432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566659" y="3520440"/>
            <a:ext cx="306323" cy="256032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924544" y="1655064"/>
            <a:ext cx="438912" cy="438912"/>
          </a:xfrm>
          <a:prstGeom prst="ellipse">
            <a:avLst/>
          </a:prstGeom>
          <a:solidFill>
            <a:srgbClr val="ED7D3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924544" y="16550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872984" y="2368296"/>
            <a:ext cx="438912" cy="438912"/>
          </a:xfrm>
          <a:prstGeom prst="ellipse">
            <a:avLst/>
          </a:prstGeom>
          <a:solidFill>
            <a:srgbClr val="ED7D3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872984" y="23682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976104" y="2368296"/>
            <a:ext cx="438912" cy="438912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976104" y="23682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47204" y="3081528"/>
            <a:ext cx="438912" cy="438912"/>
          </a:xfrm>
          <a:prstGeom prst="ellipse">
            <a:avLst/>
          </a:prstGeom>
          <a:solidFill>
            <a:srgbClr val="ED7D3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47204" y="3081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398764" y="3081528"/>
            <a:ext cx="438912" cy="438912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398764" y="3081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450324" y="3081528"/>
            <a:ext cx="438912" cy="438912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450324" y="3081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0501884" y="3081528"/>
            <a:ext cx="438912" cy="438912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501884" y="3081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084314" y="3794760"/>
            <a:ext cx="438912" cy="438912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084314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610094" y="3794760"/>
            <a:ext cx="438912" cy="438912"/>
          </a:xfrm>
          <a:prstGeom prst="ellipse">
            <a:avLst/>
          </a:prstGeom>
          <a:solidFill>
            <a:srgbClr val="ED7D3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610094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223760" y="52120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Inserting 1: swims past 8, then 5, then 2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 ·  Heap Operations &amp; Heapsort  ·  Sep 30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pseudocode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work per level, along a single upward path.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309360" cy="2286000"/>
          </a:xfrm>
          <a:prstGeom prst="roundRect">
            <a:avLst>
              <a:gd name="adj" fmla="val 2400"/>
            </a:avLst>
          </a:prstGeom>
          <a:solidFill>
            <a:srgbClr val="F5F5F5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2020824"/>
            <a:ext cx="590702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INSERT(A, n, key):
</a:t>
            </a:r>
            <a:r>
              <a:rPr lang="en-US" sz="1350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A[n] = key
    i = n
    n = n + 1
    while i &gt; 0 and A[PARENT(i)] &gt; A[i]:
        exchange A[i] and A[PARENT(i)]
        i = PARENT(i)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086600" y="1874520"/>
            <a:ext cx="45720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26948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per level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269480" y="2258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comparison, one swap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921240" y="187452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086600" y="2926080"/>
            <a:ext cx="45720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26948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touched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269480" y="33101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of the tree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921240" y="292608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O(log n)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086600" y="3977640"/>
            <a:ext cx="45720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269480" y="4069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269480" y="43616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· O(log n) levels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921240" y="397764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ED7D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O(log n)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6309360" cy="1371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4343400"/>
            <a:ext cx="5852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condition does double duty: “i &gt; 0” stops at the root, and “A[PARENT(i)] &gt; A[i]” stops the moment the heap property holds again.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 ·  Heap Operations &amp; Heapsort  ·  Sep 30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THE 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demo: trace insert by hand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heap as last class — let's grow it by one.</a:t>
            </a:r>
            <a:endParaRPr lang="en-US" sz="14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27432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57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draw / ask the 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Starting heap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 the tree for [(2,A), (5,B), (7,C), (8,D), (13,E), (17,F), (20,G), (25,H)] — same as last class.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(1, 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 at the next open leaf, index 8. Ask: “is the heap property broken? where?”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1 to parent 8 (index 3) — swap. Compare 1 to parent 5 (index 1) — swap. Compare 1 to parent 2 (index 0) — swap. Root reached, stop.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Cold-call: write the final array and confirm every parent ≤ child. New root should be (1, I).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 ·  Heap Operations &amp; Heapsort  ·  Sep 30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EXTRACT-MIN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Extract-min: remove, then MIN-HEAPIFY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root, patch the hole, then call the primitive we already know.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1956816"/>
            <a:ext cx="555955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last leaf into the root's place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2267712"/>
            <a:ext cx="5559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old root — that's the answer to return. Overwrite it with the last array element, then shrink by one.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5568" y="3054096"/>
            <a:ext cx="555955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MIN-HEAPIFY(A, 0, n)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5568" y="3364992"/>
            <a:ext cx="5559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root probably violates the heap property — that's exactly the one-violation situation MIN-HEAPIFY was built to fix.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11094415" cy="77724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4754880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new to learn here — extract-min IS “swap, shrink, then MIN-HEAPIFY,” reusing today's one primitive.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flipH="1">
            <a:off x="8398764" y="2093976"/>
            <a:ext cx="745236" cy="27432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144000" y="2093976"/>
            <a:ext cx="745236" cy="27432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 flipH="1">
            <a:off x="7653528" y="2807208"/>
            <a:ext cx="438912" cy="22860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92440" y="2807208"/>
            <a:ext cx="438899" cy="22860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 flipH="1">
            <a:off x="9756648" y="2807208"/>
            <a:ext cx="438912" cy="22860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195560" y="2807208"/>
            <a:ext cx="438898" cy="246888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flipH="1">
            <a:off x="7287768" y="3520440"/>
            <a:ext cx="278892" cy="22860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924544" y="1655064"/>
            <a:ext cx="438912" cy="438912"/>
          </a:xfrm>
          <a:prstGeom prst="ellipse">
            <a:avLst/>
          </a:prstGeom>
          <a:solidFill>
            <a:srgbClr val="ED7D3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924544" y="16550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872984" y="2368296"/>
            <a:ext cx="438912" cy="438912"/>
          </a:xfrm>
          <a:prstGeom prst="ellipse">
            <a:avLst/>
          </a:prstGeom>
          <a:solidFill>
            <a:srgbClr val="ED7D3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872984" y="23682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976104" y="2368296"/>
            <a:ext cx="438912" cy="438912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976104" y="23682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347204" y="3081528"/>
            <a:ext cx="438912" cy="438912"/>
          </a:xfrm>
          <a:prstGeom prst="ellipse">
            <a:avLst/>
          </a:prstGeom>
          <a:solidFill>
            <a:srgbClr val="ED7D3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47204" y="3081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398764" y="3081528"/>
            <a:ext cx="438912" cy="438912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398764" y="3081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450324" y="3081528"/>
            <a:ext cx="438912" cy="438912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450324" y="3081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0501884" y="3081528"/>
            <a:ext cx="438912" cy="438912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501884" y="3081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084314" y="3794760"/>
            <a:ext cx="438912" cy="438912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084314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223760" y="4343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the root: 8 sinks past 2, then 5, then stops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 ·  Heap Operations &amp; Heapsort  ·  Sep 30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EXTRACT-MIN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Extract-min: pseudocode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lines, thanks to MIN-HEAPIFY.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309360" cy="182880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2020824"/>
            <a:ext cx="590702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EXTRACT-MIN(A, n):
</a:t>
            </a:r>
            <a:r>
              <a:rPr lang="en-US" sz="1350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 = A[0]
    A[0] = A[n-1]
    MIN-HEAPIFY(A, 0, n-1)
    return min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086600" y="1874520"/>
            <a:ext cx="45720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26948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+ shrink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269480" y="2258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constant-time bookkeeping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921240" y="187452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086600" y="2926080"/>
            <a:ext cx="45720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26948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MIN-HEAPIFY call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269480" y="33101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root-to-leaf path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921240" y="292608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O(log n)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086600" y="3977640"/>
            <a:ext cx="45720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269480" y="4069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269480" y="43616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+ O(log n)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921240" y="397764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ED7D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O(log n)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6309360" cy="1371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3977640"/>
            <a:ext cx="5852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this to the Heapsort demo coming up — the “swap root with the last slot, shrink, MIN-HEAPIFY” pattern is IDENTICAL. Heapsort is just this, run n times in a row.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 ·  Heap Operations &amp; Heapsort  ·  Sep 30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THE 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demo: trace extract-min by hand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board — now let's remove the most urgent patient.</a:t>
            </a:r>
            <a:endParaRPr lang="en-US" sz="14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3392424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39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draw / ask the 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Starting heap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the 9-element result from the insert demo: root (1, I).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root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(1, I) as the return value. Move the last element (8, D) into the root slot. Shrink by one.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MIN-HEAPIFY, step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(8,D) to children (2,A) and (7,C). Smaller is (2,A) — swap.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MIN-HEAPIFY, step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(8,D) to its new children (5,B) and (13,E). Smaller is (5,B) — swap.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MIN-HEAPIFY, step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(8,D) now has one child, (25,H). 8 &lt; 25, so stop.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array should be back to exactly where we started last class — ask the class why that makes sense.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349240"/>
            <a:ext cx="11094415" cy="594360"/>
          </a:xfrm>
          <a:prstGeom prst="roundRect">
            <a:avLst>
              <a:gd name="adj" fmla="val 9231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5349240"/>
            <a:ext cx="106372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time: ~6 minutes. This is the same array as the start of class — a satisfying full-circle check.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 ·  Heap Operations &amp; Heapsort  ·  Sep 30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operations: the complete picture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priority queue needs, all at O(log n) or better.</a:t>
            </a:r>
            <a:endParaRPr lang="en-US" sz="14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4415" cy="27432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13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restores order by...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peek / find-min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(nothing to restore — root is always the answer)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swimming up from the new leaf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extract-min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call to MIN-HEAPIFY at the root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build-min-heap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n/2 calls to MIN-HEAPIFY, bottom-up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72000"/>
            <a:ext cx="11094415" cy="77724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4572000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goal we set two classes ago — O(log n) for both insert and remove — finally delivered, all built from one shared primitive.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 ·  Heap Operations &amp; Heapsort  ·  Sep 30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more trick: sorting with a heap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4415" cy="1371600"/>
          </a:xfrm>
          <a:prstGeom prst="roundRect">
            <a:avLst>
              <a:gd name="adj" fmla="val 5333"/>
            </a:avLst>
          </a:prstGeom>
          <a:solidFill>
            <a:srgbClr val="E7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extract-min always returns the smallest key still waiting … what happens if you call it n times in a row?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every key back — in sorted order.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4892040"/>
            <a:ext cx="11094415" cy="77724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4892040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entire idea behind Heapsort. Everything else is just making it fast and in-place.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 ·  Heap Operations &amp; Heapsort  ·  Sep 30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HEAPSORT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Heapsort, in two phases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array, start to finish — no second array required.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1911096"/>
            <a:ext cx="1052748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Build-min-heap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2221992"/>
            <a:ext cx="10527487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ENTIRE input array into a min-heap, using BUILD-MIN-HEAP from earlier.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5568" y="2779776"/>
            <a:ext cx="1052748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Sortdown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5568" y="3090672"/>
            <a:ext cx="10527487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Repeatedly move the min to the end of the remaining region, shrink, and call MIN-HEAPIFY on the new root.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794760"/>
            <a:ext cx="33284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384048" cy="384048"/>
          </a:xfrm>
          <a:prstGeom prst="rect">
            <a:avLst/>
          </a:prstGeom>
          <a:solidFill>
            <a:srgbClr val="4472C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4069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9264" y="4069080"/>
            <a:ext cx="384048" cy="384048"/>
          </a:xfrm>
          <a:prstGeom prst="rect">
            <a:avLst/>
          </a:prstGeom>
          <a:solidFill>
            <a:srgbClr val="4472C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9264" y="4069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389888" y="4069080"/>
            <a:ext cx="384048" cy="384048"/>
          </a:xfrm>
          <a:prstGeom prst="rect">
            <a:avLst/>
          </a:prstGeom>
          <a:solidFill>
            <a:srgbClr val="4472C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389888" y="4069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10512" y="4069080"/>
            <a:ext cx="384048" cy="384048"/>
          </a:xfrm>
          <a:prstGeom prst="rect">
            <a:avLst/>
          </a:prstGeom>
          <a:solidFill>
            <a:srgbClr val="4472C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810512" y="4069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31136" y="4069080"/>
            <a:ext cx="384048" cy="384048"/>
          </a:xfrm>
          <a:prstGeom prst="rect">
            <a:avLst/>
          </a:prstGeom>
          <a:solidFill>
            <a:srgbClr val="4472C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231136" y="4069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51760" y="4069080"/>
            <a:ext cx="384048" cy="384048"/>
          </a:xfrm>
          <a:prstGeom prst="rect">
            <a:avLst/>
          </a:prstGeom>
          <a:solidFill>
            <a:srgbClr val="4472C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651760" y="4069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072384" y="4069080"/>
            <a:ext cx="384048" cy="384048"/>
          </a:xfrm>
          <a:prstGeom prst="rect">
            <a:avLst/>
          </a:prstGeom>
          <a:solidFill>
            <a:srgbClr val="4472C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072384" y="4069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93008" y="4069080"/>
            <a:ext cx="384048" cy="384048"/>
          </a:xfrm>
          <a:prstGeom prst="rect">
            <a:avLst/>
          </a:prstGeom>
          <a:solidFill>
            <a:srgbClr val="4472C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93008" y="4069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31640" y="3794760"/>
            <a:ext cx="33284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midway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431640" y="4069080"/>
            <a:ext cx="384048" cy="384048"/>
          </a:xfrm>
          <a:prstGeom prst="rect">
            <a:avLst/>
          </a:prstGeom>
          <a:solidFill>
            <a:srgbClr val="4472C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431640" y="4069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52264" y="4069080"/>
            <a:ext cx="384048" cy="384048"/>
          </a:xfrm>
          <a:prstGeom prst="rect">
            <a:avLst/>
          </a:prstGeom>
          <a:solidFill>
            <a:srgbClr val="4472C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52264" y="4069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272888" y="4069080"/>
            <a:ext cx="384048" cy="384048"/>
          </a:xfrm>
          <a:prstGeom prst="rect">
            <a:avLst/>
          </a:prstGeom>
          <a:solidFill>
            <a:srgbClr val="4472C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272888" y="4069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693512" y="4069080"/>
            <a:ext cx="384048" cy="384048"/>
          </a:xfrm>
          <a:prstGeom prst="rect">
            <a:avLst/>
          </a:prstGeom>
          <a:solidFill>
            <a:srgbClr val="4472C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693512" y="4069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14136" y="4069080"/>
            <a:ext cx="384048" cy="384048"/>
          </a:xfrm>
          <a:prstGeom prst="rect">
            <a:avLst/>
          </a:prstGeom>
          <a:solidFill>
            <a:srgbClr val="ED7D3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114136" y="4069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34760" y="4069080"/>
            <a:ext cx="384048" cy="384048"/>
          </a:xfrm>
          <a:prstGeom prst="rect">
            <a:avLst/>
          </a:prstGeom>
          <a:solidFill>
            <a:srgbClr val="ED7D3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534760" y="4069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955384" y="4069080"/>
            <a:ext cx="384048" cy="384048"/>
          </a:xfrm>
          <a:prstGeom prst="rect">
            <a:avLst/>
          </a:prstGeom>
          <a:solidFill>
            <a:srgbClr val="ED7D3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955384" y="4069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376008" y="4069080"/>
            <a:ext cx="384048" cy="384048"/>
          </a:xfrm>
          <a:prstGeom prst="rect">
            <a:avLst/>
          </a:prstGeom>
          <a:solidFill>
            <a:srgbClr val="ED7D3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376008" y="4069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314639" y="3794760"/>
            <a:ext cx="33284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314639" y="4069080"/>
            <a:ext cx="384048" cy="384048"/>
          </a:xfrm>
          <a:prstGeom prst="rect">
            <a:avLst/>
          </a:prstGeom>
          <a:solidFill>
            <a:srgbClr val="ED7D3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314639" y="4069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735263" y="4069080"/>
            <a:ext cx="384048" cy="384048"/>
          </a:xfrm>
          <a:prstGeom prst="rect">
            <a:avLst/>
          </a:prstGeom>
          <a:solidFill>
            <a:srgbClr val="ED7D3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735263" y="4069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155887" y="4069080"/>
            <a:ext cx="384048" cy="384048"/>
          </a:xfrm>
          <a:prstGeom prst="rect">
            <a:avLst/>
          </a:prstGeom>
          <a:solidFill>
            <a:srgbClr val="ED7D3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9155887" y="4069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9576511" y="4069080"/>
            <a:ext cx="384048" cy="384048"/>
          </a:xfrm>
          <a:prstGeom prst="rect">
            <a:avLst/>
          </a:prstGeom>
          <a:solidFill>
            <a:srgbClr val="ED7D3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9576511" y="4069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9997135" y="4069080"/>
            <a:ext cx="384048" cy="384048"/>
          </a:xfrm>
          <a:prstGeom prst="rect">
            <a:avLst/>
          </a:prstGeom>
          <a:solidFill>
            <a:srgbClr val="ED7D3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9997135" y="4069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10417759" y="4069080"/>
            <a:ext cx="384048" cy="384048"/>
          </a:xfrm>
          <a:prstGeom prst="rect">
            <a:avLst/>
          </a:prstGeom>
          <a:solidFill>
            <a:srgbClr val="ED7D3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0417759" y="4069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10838383" y="4069080"/>
            <a:ext cx="384048" cy="384048"/>
          </a:xfrm>
          <a:prstGeom prst="rect">
            <a:avLst/>
          </a:prstGeom>
          <a:solidFill>
            <a:srgbClr val="ED7D3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10838383" y="4069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11259007" y="4069080"/>
            <a:ext cx="384048" cy="384048"/>
          </a:xfrm>
          <a:prstGeom prst="rect">
            <a:avLst/>
          </a:prstGeom>
          <a:solidFill>
            <a:srgbClr val="ED7D3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11259007" y="4069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48640" y="45720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= still a min-heap        orange = sorted (descending), locked in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48640" y="5029200"/>
            <a:ext cx="11094415" cy="77724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77240" y="5029200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phases happen IN PLACE, in the same array — no extra memory needed. That's Heapsort's signature advantage.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 ·  Heap Operations &amp; Heapsort  ·  Sep 30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HEAPSORT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Heapsort: pseudocode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lines, using the two pieces we already built.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309360" cy="1737360"/>
          </a:xfrm>
          <a:prstGeom prst="roundRect">
            <a:avLst>
              <a:gd name="adj" fmla="val 3158"/>
            </a:avLst>
          </a:prstGeom>
          <a:solidFill>
            <a:srgbClr val="F5F5F5"/>
          </a:solidFill>
          <a:ln w="9525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2020824"/>
            <a:ext cx="590702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HEAPSORT(A, n):
</a:t>
            </a:r>
            <a:r>
              <a:rPr lang="en-US" sz="1350" dirty="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BUILD-MIN-HEAP(A, n)
    for i = n - 1 downto 1:
        exchange A[0] and A[i]
        MIN-HEAPIFY(A, 0, i)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086600" y="1874520"/>
            <a:ext cx="45720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26948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Build-min-heap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269480" y="2258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call, up front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921240" y="187452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086600" y="2926080"/>
            <a:ext cx="45720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26948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Sortdown loop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269480" y="33101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− 1 swaps, each O(log n) MIN-HEAPIFY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921240" y="292608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ED7D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log n)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086600" y="3977640"/>
            <a:ext cx="45720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269480" y="4069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269480" y="43616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+ O(n log n)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921240" y="397764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ED7D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log n)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6309360" cy="164592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3840480"/>
            <a:ext cx="5852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 fully sorted, in place, when this returns. No second array, no extra memory beyond a few local variables — and because we used a MIN-heap, the result comes out in DESCENDING order (largest first). More on that in a moment.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 ·  Heap Operations &amp; Heapsort  ·  Sep 30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THE 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demo: trace sortdown by hand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Continuing from the build-min-heap demo — same array, same board.</a:t>
            </a:r>
            <a:endParaRPr lang="en-US" sz="14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3950208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8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(key:value)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happened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[2:A,7:C,5:B,13:E,17:F,8:D,25:H,20:G]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min-heap from the build-heap demo.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Swap+fix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[5:B,7:C,8:D,13:E,17:F,20:G,25:H | 2:A]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 A[0],A[7]; MIN-HEAPIFY(A,0,7).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Swap+fix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[7:C,13:E,8:D,25:H,17:F,20:G | 5:B,2:A]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 A[0],A[6]; MIN-HEAPIFY(A,0,6).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Swap+fix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[8:D,13:E,20:G,25:H,17:F | 7:C,5:B,2:A]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 A[0],A[5]; MIN-HEAPIFY(A,0,5).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Swap+fix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[13:E,17:F,20:G,25:H | 8:D,7:C,5:B,2:A]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 A[0],A[4]; MIN-HEAPIFY(A,0,4).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Swap+fix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[17:F,25:H,20:G | 13:E,8:D,7:C,5:B,2:A]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 A[0],A[3]; MIN-HEAPIFY(A,0,3).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Swap+fix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[20:G,25:H | 17:F,...,2:A]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 A[0],A[2]; already in order, no fix needed.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Swap, done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[25:H,20:G,17:F,13:E,8:D,7:C,5:B,2:A]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swap — fully sorted, largest first.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806440"/>
            <a:ext cx="11094415" cy="502920"/>
          </a:xfrm>
          <a:prstGeom prst="roundRect">
            <a:avLst>
              <a:gd name="adj" fmla="val 10909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5806440"/>
            <a:ext cx="106372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time: ~5 minutes. The bar ( | ) marks the boundary between the shrinking heap and the growing sorted region.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 ·  Heap Operations &amp; Heapsort  ·  Sep 30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asterisk, and how Heapsort compares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min-heap sorts descending — here's why, and what to do about 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1911096"/>
            <a:ext cx="1052748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descending?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2221992"/>
            <a:ext cx="10527487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swap moves the CURRENT minimum to the last remaining slot. The very first slot filled (the end of the array) gets the smallest key — so keys land largest-to-smallest, left to right.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5568" y="3008376"/>
            <a:ext cx="1052748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ascending instead?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5568" y="3319272"/>
            <a:ext cx="10527487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options: run the mirror-image algorithm with a MAX-heap, or reverse the final array — one extra O(n) pass, no change to the O(n log n) total.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51960"/>
          <a:ext cx="11094415" cy="18288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7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space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Heapsort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472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472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Mergesort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Quicksort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 avg / O(n²) worst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48640" y="6172200"/>
            <a:ext cx="11094415" cy="320040"/>
          </a:xfrm>
          <a:prstGeom prst="roundRect">
            <a:avLst>
              <a:gd name="adj" fmla="val 17143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77240" y="6172200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Heapsort's superpower: guaranteed O(n log n) AND in-place. The trade-off: not stable, and constant factors usually a bit worse than a tuned Quicksort.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 ·  Heap Operations &amp; Heapsort  ·  Sep 30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in three ideas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" y="1819656"/>
            <a:ext cx="1052748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primitive, reused everywhere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2130552"/>
            <a:ext cx="10527487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MIN-HEAPIFY fixes a single violation in O(log n) — extract-min, build-min-heap, and Heapsort are all built from 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5568" y="2916936"/>
            <a:ext cx="1052748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Build-min-heap is a pleasant surprise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5568" y="3227832"/>
            <a:ext cx="10527487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O(n), not O(n log n) — because most nodes live near the bottom, where MIN-HEAPIFY does almost nothing.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438912" cy="438912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15568" y="3922776"/>
            <a:ext cx="1052748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Heapsort = build-min-heap + repeated extraction, in place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5568" y="4233672"/>
            <a:ext cx="10527487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 time, O(1) extra space — sorts descending by default, with a min-heap.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11094415" cy="77724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5120640"/>
            <a:ext cx="106372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class: be able to state the loop invariant for BUILD-MIN-HEAP from memory, and trace MIN-HEAPIFY on paper for any small array.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 ·  Heap Operations &amp; Heapsort  ·  Sep 30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4128</Words>
  <Application>Microsoft Macintosh PowerPoint</Application>
  <PresentationFormat>Widescreen</PresentationFormat>
  <Paragraphs>534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Tanwistha Saha</cp:lastModifiedBy>
  <cp:revision>31</cp:revision>
  <cp:lastPrinted>2026-09-30T13:51:44Z</cp:lastPrinted>
  <dcterms:created xsi:type="dcterms:W3CDTF">2026-09-29T16:39:36Z</dcterms:created>
  <dcterms:modified xsi:type="dcterms:W3CDTF">2026-09-30T18:04:47Z</dcterms:modified>
</cp:coreProperties>
</file>