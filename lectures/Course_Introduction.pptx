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8" r:id="rId3"/>
    <p:sldId id="267" r:id="rId4"/>
    <p:sldId id="264" r:id="rId5"/>
    <p:sldId id="257" r:id="rId6"/>
    <p:sldId id="258" r:id="rId7"/>
    <p:sldId id="259" r:id="rId8"/>
    <p:sldId id="260" r:id="rId9"/>
    <p:sldId id="269" r:id="rId10"/>
    <p:sldId id="261" r:id="rId11"/>
    <p:sldId id="263" r:id="rId12"/>
    <p:sldId id="266" r:id="rId13"/>
    <p:sldId id="270" r:id="rId14"/>
    <p:sldId id="271" r:id="rId15"/>
    <p:sldId id="265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38"/>
    <p:restoredTop sz="94587"/>
  </p:normalViewPr>
  <p:slideViewPr>
    <p:cSldViewPr snapToGrid="0" snapToObjects="1">
      <p:cViewPr varScale="1">
        <p:scale>
          <a:sx n="112" d="100"/>
          <a:sy n="112" d="100"/>
        </p:scale>
        <p:origin x="2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0894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363FC-A8BD-6B0E-CB6A-C02ED0FA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B5448-077C-6CDC-0237-1A9940890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7E278-36AC-EA60-E3A4-9055A55D9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8FC77-1FAF-143A-1F6D-E1B69A1B8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51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reference from Stanford lectures https://</a:t>
            </a:r>
            <a:r>
              <a:rPr lang="en-US" dirty="0" err="1"/>
              <a:t>web.stanford.edu</a:t>
            </a:r>
            <a:r>
              <a:rPr lang="en-US" dirty="0"/>
              <a:t>/class/archive/cs/cs161/cs161.1176/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2589D3-3AF1-8A4E-B826-2981C3C48FD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36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Slide reference Stanford Lectures https://</a:t>
            </a:r>
            <a:r>
              <a:rPr lang="en-US" dirty="0" err="1"/>
              <a:t>web.stanford.edu</a:t>
            </a:r>
            <a:r>
              <a:rPr lang="en-US" dirty="0"/>
              <a:t>/class/archive/cs/cs161/cs161.1176/ </a:t>
            </a:r>
          </a:p>
        </p:txBody>
      </p:sp>
    </p:spTree>
    <p:extLst>
      <p:ext uri="{BB962C8B-B14F-4D97-AF65-F5344CB8AC3E}">
        <p14:creationId xmlns:p14="http://schemas.microsoft.com/office/powerpoint/2010/main" val="3657683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Slide reference Stanford Lectures https://</a:t>
            </a:r>
            <a:r>
              <a:rPr lang="en-US" dirty="0" err="1"/>
              <a:t>web.stanford.edu</a:t>
            </a:r>
            <a:r>
              <a:rPr lang="en-US" dirty="0"/>
              <a:t>/class/archive/cs/cs161/cs161.1176/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2589D3-3AF1-8A4E-B826-2981C3C48FD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98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Slide reference: https://</a:t>
            </a:r>
            <a:r>
              <a:rPr lang="en-US" dirty="0" err="1"/>
              <a:t>web.stanford.edu</a:t>
            </a:r>
            <a:r>
              <a:rPr lang="en-US" dirty="0"/>
              <a:t>/class/archive/cs/cs161/cs161.1176/</a:t>
            </a:r>
          </a:p>
          <a:p>
            <a:r>
              <a:rPr lang="en-US" dirty="0"/>
              <a:t>Text book ref: pp. 4 – 7 </a:t>
            </a:r>
          </a:p>
        </p:txBody>
      </p:sp>
    </p:spTree>
    <p:extLst>
      <p:ext uri="{BB962C8B-B14F-4D97-AF65-F5344CB8AC3E}">
        <p14:creationId xmlns:p14="http://schemas.microsoft.com/office/powerpoint/2010/main" val="2548645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02E4B-DD35-7918-B0FC-3A9C87213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5A761-DF1A-5A0F-A910-8A47993D6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09842-698F-3B12-58C4-5EFE53A98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5FA54-7C44-5BD6-B616-0A8819B09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76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7A41-912C-7A43-A022-11B816D1C429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6367B-7900-C844-8C5A-7A61280C44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9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dp/0999282980?lv=shuf&amp;channelId=500&amp;plpRedirect=mhFallbac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tanwistha/cs383_fall26/blob/main/README.md" TargetMode="External"/><Relationship Id="rId4" Type="http://schemas.openxmlformats.org/officeDocument/2006/relationships/hyperlink" Target="https://github.com/tanwistha/cs383_fall26/blob/main/schedule.m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nwistha/cs383_fall26/tree/mai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799832" y="1307592"/>
            <a:ext cx="731520" cy="749808"/>
          </a:xfrm>
          <a:prstGeom prst="line">
            <a:avLst/>
          </a:prstGeom>
          <a:noFill/>
          <a:ln w="12700">
            <a:solidFill>
              <a:srgbClr val="84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1188720"/>
            <a:ext cx="1097280" cy="1463040"/>
          </a:xfrm>
          <a:prstGeom prst="line">
            <a:avLst/>
          </a:prstGeom>
          <a:noFill/>
          <a:ln w="12700">
            <a:solidFill>
              <a:srgbClr val="84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14232" y="1188720"/>
            <a:ext cx="1463040" cy="352149"/>
          </a:xfrm>
          <a:prstGeom prst="line">
            <a:avLst/>
          </a:prstGeom>
          <a:noFill/>
          <a:ln w="12700">
            <a:solidFill>
              <a:srgbClr val="84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41280" y="1554480"/>
            <a:ext cx="822960" cy="548640"/>
          </a:xfrm>
          <a:prstGeom prst="line">
            <a:avLst/>
          </a:prstGeom>
          <a:noFill/>
          <a:ln w="12700">
            <a:solidFill>
              <a:srgbClr val="84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80960" y="2286000"/>
            <a:ext cx="548640" cy="1097280"/>
          </a:xfrm>
          <a:prstGeom prst="line">
            <a:avLst/>
          </a:prstGeom>
          <a:noFill/>
          <a:ln w="12700">
            <a:solidFill>
              <a:srgbClr val="84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91272" y="2441448"/>
            <a:ext cx="1682496" cy="297075"/>
          </a:xfrm>
          <a:prstGeom prst="line">
            <a:avLst/>
          </a:prstGeom>
          <a:noFill/>
          <a:ln w="12700">
            <a:solidFill>
              <a:srgbClr val="84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92640" y="2651760"/>
            <a:ext cx="365760" cy="1280160"/>
          </a:xfrm>
          <a:prstGeom prst="line">
            <a:avLst/>
          </a:prstGeom>
          <a:noFill/>
          <a:ln w="12700">
            <a:solidFill>
              <a:srgbClr val="84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9875520" y="1703677"/>
            <a:ext cx="365760" cy="864003"/>
          </a:xfrm>
          <a:prstGeom prst="line">
            <a:avLst/>
          </a:prstGeom>
          <a:noFill/>
          <a:ln w="12700">
            <a:solidFill>
              <a:srgbClr val="84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7470648" y="2532888"/>
            <a:ext cx="237744" cy="1627632"/>
          </a:xfrm>
          <a:prstGeom prst="line">
            <a:avLst/>
          </a:prstGeom>
          <a:noFill/>
          <a:ln w="12700">
            <a:solidFill>
              <a:srgbClr val="84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3383280"/>
            <a:ext cx="731520" cy="1463040"/>
          </a:xfrm>
          <a:prstGeom prst="line">
            <a:avLst/>
          </a:prstGeom>
          <a:noFill/>
          <a:ln w="12700">
            <a:solidFill>
              <a:srgbClr val="84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21040" y="3332883"/>
            <a:ext cx="1554480" cy="498453"/>
          </a:xfrm>
          <a:prstGeom prst="line">
            <a:avLst/>
          </a:prstGeom>
          <a:noFill/>
          <a:ln w="12700">
            <a:solidFill>
              <a:srgbClr val="84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0" y="3931920"/>
            <a:ext cx="1188720" cy="548640"/>
          </a:xfrm>
          <a:prstGeom prst="line">
            <a:avLst/>
          </a:prstGeom>
          <a:noFill/>
          <a:ln w="12700">
            <a:solidFill>
              <a:srgbClr val="84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76488" y="1069848"/>
            <a:ext cx="237744" cy="237744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122408" y="1435608"/>
            <a:ext cx="237744" cy="237744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62088" y="2167128"/>
            <a:ext cx="237744" cy="237744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73768" y="2532888"/>
            <a:ext cx="237744" cy="237744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45368" y="1984248"/>
            <a:ext cx="237744" cy="237744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10728" y="3264408"/>
            <a:ext cx="237744" cy="237744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939528" y="3813048"/>
            <a:ext cx="237744" cy="237744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79208" y="4087368"/>
            <a:ext cx="237744" cy="237744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128248" y="4361688"/>
            <a:ext cx="237744" cy="237744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42248" y="4727448"/>
            <a:ext cx="237744" cy="237744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21031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800" b="1" dirty="0">
                <a:solidFill>
                  <a:srgbClr val="ED7D31"/>
                </a:solidFill>
                <a:latin typeface="Calibri Light" pitchFamily="34" charset="0"/>
                <a:cs typeface="Calibri Light" pitchFamily="34" charset="-120"/>
              </a:rPr>
              <a:t>CS 383 ALGORITHM </a:t>
            </a:r>
          </a:p>
        </p:txBody>
      </p:sp>
      <p:sp>
        <p:nvSpPr>
          <p:cNvPr id="25" name="Text 23"/>
          <p:cNvSpPr/>
          <p:nvPr/>
        </p:nvSpPr>
        <p:spPr>
          <a:xfrm>
            <a:off x="731520" y="26974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800" b="1" dirty="0">
                <a:solidFill>
                  <a:srgbClr val="44546A"/>
                </a:solidFill>
                <a:latin typeface="Calibri Light" pitchFamily="34" charset="0"/>
                <a:cs typeface="Calibri Light" pitchFamily="34" charset="-120"/>
              </a:rPr>
              <a:t>DESIGN AND ANALYSIS</a:t>
            </a:r>
          </a:p>
        </p:txBody>
      </p:sp>
      <p:sp>
        <p:nvSpPr>
          <p:cNvPr id="26" name="Text 24"/>
          <p:cNvSpPr/>
          <p:nvPr/>
        </p:nvSpPr>
        <p:spPr>
          <a:xfrm>
            <a:off x="731520" y="35204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Welcome. Whatever you build next, this is how it runs well.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1520" y="4160520"/>
            <a:ext cx="1280160" cy="0"/>
          </a:xfrm>
          <a:prstGeom prst="line">
            <a:avLst/>
          </a:prstGeom>
          <a:noFill/>
          <a:ln w="381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4343399"/>
            <a:ext cx="5486400" cy="621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Tanwistha Saha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5079489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August 31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b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DIVE IN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are we? And, who are you?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6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WE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548640" y="2072640"/>
            <a:ext cx="5257800" cy="11887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0980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Tanwistha Saha  ·  Instructor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868680" y="262128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Lectures, course design, and office hours (MW 10-11, F by appointment, Olin 230)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257800" cy="11887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Eden Straitiff  ·  Teaching Assistant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92049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sessions, assignment help, and your first stop for questions (M 3-5 PM, W 6-7 PM, F 3-4 @ SQRC)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55080" y="1691640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6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6355080" y="2072640"/>
            <a:ext cx="5257800" cy="249936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2194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&amp; Clark students — from all over the map:</a:t>
            </a:r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6675120" y="2651760"/>
            <a:ext cx="2194560" cy="411480"/>
          </a:xfrm>
          <a:prstGeom prst="roundRect">
            <a:avLst>
              <a:gd name="adj" fmla="val 22000"/>
            </a:avLst>
          </a:prstGeom>
          <a:solidFill>
            <a:srgbClr val="4472C4"/>
          </a:solidFill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9098280" y="2651760"/>
            <a:ext cx="2194560" cy="411480"/>
          </a:xfrm>
          <a:prstGeom prst="roundRect">
            <a:avLst>
              <a:gd name="adj" fmla="val 22000"/>
            </a:avLst>
          </a:prstGeom>
          <a:solidFill>
            <a:srgbClr val="44546A"/>
          </a:solidFill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6675120" y="3154680"/>
            <a:ext cx="2194560" cy="411480"/>
          </a:xfrm>
          <a:prstGeom prst="roundRect">
            <a:avLst>
              <a:gd name="adj" fmla="val 22000"/>
            </a:avLst>
          </a:prstGeom>
          <a:solidFill>
            <a:srgbClr val="ED7D31"/>
          </a:solidFill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9098280" y="3154680"/>
            <a:ext cx="2194560" cy="411480"/>
          </a:xfrm>
          <a:prstGeom prst="roundRect">
            <a:avLst>
              <a:gd name="adj" fmla="val 22000"/>
            </a:avLst>
          </a:prstGeom>
          <a:solidFill>
            <a:srgbClr val="333F50"/>
          </a:solidFill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6675120" y="3657600"/>
            <a:ext cx="2194560" cy="411480"/>
          </a:xfrm>
          <a:prstGeom prst="roundRect">
            <a:avLst>
              <a:gd name="adj" fmla="val 22000"/>
            </a:avLst>
          </a:prstGeom>
          <a:solidFill>
            <a:srgbClr val="595959"/>
          </a:solidFill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9098280" y="3657600"/>
            <a:ext cx="2194560" cy="411480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6675120" y="41605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other majors not on this list, and also, students who are still deciding on their majors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7988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your major, you already think algorithmically — this course puts a structure to that thought process.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295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Welcome to the class!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173509"/>
            <a:ext cx="11064240" cy="2107151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8680" y="335050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55A11"/>
                </a:solidFill>
                <a:latin typeface="Calibri" pitchFamily="34" charset="0"/>
                <a:cs typeface="Calibri" pitchFamily="34" charset="-120"/>
              </a:rPr>
              <a:t>TEXT BOOK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8693" y="3730206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  <a:hlinkClick r:id="rId3"/>
              </a:rPr>
              <a:t>Algorithms Illuminated Omnibus Edition. By Tim Roughgarden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518876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https://github.com/tanwistha/cs383_fall26/blob/main/schedule.md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64240" cy="0"/>
          </a:xfrm>
          <a:prstGeom prst="line">
            <a:avLst/>
          </a:prstGeom>
          <a:noFill/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4E9DD1D-748A-624F-622B-8BD369534D1A}"/>
              </a:ext>
            </a:extLst>
          </p:cNvPr>
          <p:cNvSpPr/>
          <p:nvPr/>
        </p:nvSpPr>
        <p:spPr>
          <a:xfrm>
            <a:off x="563880" y="13373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you have satisfied the perquisites for this class (CS 172) – just bring in your curiosity and a willingness to get stuck on a problem for a while.</a:t>
            </a:r>
            <a:endParaRPr lang="en-US" sz="14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9D4E0799-595B-D758-ADAB-D9A25A65A272}"/>
              </a:ext>
            </a:extLst>
          </p:cNvPr>
          <p:cNvSpPr/>
          <p:nvPr/>
        </p:nvSpPr>
        <p:spPr>
          <a:xfrm>
            <a:off x="548640" y="1842133"/>
            <a:ext cx="11064240" cy="11256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4B351604-1FFF-A71D-3840-4808AA635018}"/>
              </a:ext>
            </a:extLst>
          </p:cNvPr>
          <p:cNvSpPr/>
          <p:nvPr/>
        </p:nvSpPr>
        <p:spPr>
          <a:xfrm>
            <a:off x="868680" y="2551736"/>
            <a:ext cx="1034892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(please refresh while revisiting):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  <a:hlinkClick r:id="rId5"/>
              </a:rPr>
              <a:t>https://github.com/tanwistha/cs383_fall26/blob/main/README.md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 </a:t>
            </a:r>
          </a:p>
          <a:p>
            <a:endParaRPr lang="en-US" sz="1400" dirty="0">
              <a:solidFill>
                <a:srgbClr val="595959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30D8DD4-7611-8E37-8432-E440A24FC48B}"/>
              </a:ext>
            </a:extLst>
          </p:cNvPr>
          <p:cNvSpPr/>
          <p:nvPr/>
        </p:nvSpPr>
        <p:spPr>
          <a:xfrm>
            <a:off x="858693" y="4181521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b="1" kern="0" spc="150" dirty="0">
              <a:solidFill>
                <a:srgbClr val="C55A11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kern="0" spc="150" dirty="0">
                <a:solidFill>
                  <a:srgbClr val="C55A11"/>
                </a:solidFill>
                <a:latin typeface="Calibri" pitchFamily="34" charset="0"/>
                <a:cs typeface="Calibri" pitchFamily="34" charset="-120"/>
              </a:rPr>
              <a:t>LECTURE SLIDES</a:t>
            </a:r>
            <a:endParaRPr lang="en-US" sz="11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79D096E8-5B01-0EEA-48A7-6FF328D2E77D}"/>
              </a:ext>
            </a:extLst>
          </p:cNvPr>
          <p:cNvSpPr/>
          <p:nvPr/>
        </p:nvSpPr>
        <p:spPr>
          <a:xfrm>
            <a:off x="868680" y="19902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6F1FD96A-D021-B10E-B205-C424EE65E3AE}"/>
              </a:ext>
            </a:extLst>
          </p:cNvPr>
          <p:cNvSpPr/>
          <p:nvPr/>
        </p:nvSpPr>
        <p:spPr>
          <a:xfrm>
            <a:off x="853440" y="2072527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55A11"/>
                </a:solidFill>
                <a:latin typeface="Calibri" pitchFamily="34" charset="0"/>
                <a:cs typeface="Calibri" pitchFamily="34" charset="-120"/>
              </a:rPr>
              <a:t>CLASS WEBSITE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roadmap — one semester, six phases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recursion, Big-O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40280" y="2674620"/>
            <a:ext cx="164592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04872" y="19659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96312" y="2103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Sorting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Priority Structures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96312" y="27432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algorithms,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96512" y="2674620"/>
            <a:ext cx="164592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61104" y="19659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52544" y="2103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Trees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Hashing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52544" y="27432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BST, Red-Black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Trees, hashing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52744" y="2674620"/>
            <a:ext cx="164592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17336" y="19659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08776" y="2103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Graph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Algorithms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08776" y="27432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BFS/DFS, shortest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paths, MST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08976" y="2674620"/>
            <a:ext cx="164592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73568" y="19659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65008" y="2103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Greedy &amp; Dynamic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Programming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65008" y="27432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greedy fails,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takes over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665208" y="2674620"/>
            <a:ext cx="164592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829800" y="19659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21240" y="21031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21240" y="27432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ANNOUNCED  by end of October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1737360"/>
            <a:ext cx="0" cy="1874520"/>
          </a:xfrm>
          <a:prstGeom prst="line">
            <a:avLst/>
          </a:prstGeom>
          <a:noFill/>
          <a:ln w="25400">
            <a:solidFill>
              <a:srgbClr val="333F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32120" y="146304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333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32120" y="1463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79476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68680" y="39776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43434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1–7 build your toolbox. The midterm checks it. Weeks 8–13 add graphs, greedy, and DP — the exact tools your final project needs. Week 14 onwards, you build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6232F"/>
                </a:solidFill>
                <a:latin typeface="Calibri" pitchFamily="34" charset="0"/>
                <a:cs typeface="Calibri" pitchFamily="34" charset="-120"/>
              </a:rPr>
              <a:t>4 programming assignments (3 before midterm, 1 after midterm)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an algorithm?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recipe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Preheat, mix, fold, bake — in that order, or it doesn't work.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GPS directions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steps that get you from A to B, recalculated on the fly.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7490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Doing laundry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2062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wash, dry, fold — skip a step and you regret it.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5080" y="356616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37490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Alphabetizing a bookshelf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42062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process, not a one-time trick.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all four of these have in common?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PRECISE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algorithm, defined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445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finite, well-defined sequence of steps that transforms an input into an output.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Finite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to end. "Repeat forever" isn't an algorithm.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43400" y="36576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3886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Well-defined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43434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unambiguous — no guessing what "some" or "a little" means.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36576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38862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 → Output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43434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something to something. No input, no transformation, no algorithm.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BIGGER THAN 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Algorithms are already running your life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Maps &amp; rideshare apps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fastest route, in real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21488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Netflix / Spotify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to recommend next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0" y="21488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0" y="2697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Protein folding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3108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3D shape from a sequence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" y="411480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4663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Drug discovery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074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molecules for the best fit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43400" y="38404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411480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17720" y="4663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MRI reconstruction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17720" y="5074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signals into an image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38404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12480" y="411480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12480" y="4663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markets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12480" y="5074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trading in microseconds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So... why are YOU here?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28768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78593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field you're in, you'll eventually run into the same three walls: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380294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works, but it's too slow."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2380294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works for small cases, but breaks at scale."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01000" y="2380294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 are 10 ways to solve this — which one is actually right?"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31888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445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97477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course is where you learn to answer those questions — with evidence, not guesswork.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68680" y="4614856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thinking isn't a CS-only skill. It's what separates "I tried something" from "I know this is the right approach, and here's why.”</a:t>
            </a:r>
          </a:p>
          <a:p>
            <a:pPr marL="0" indent="0">
              <a:buNone/>
            </a:pPr>
            <a:endParaRPr lang="en-US" sz="1400" i="1" dirty="0">
              <a:solidFill>
                <a:srgbClr val="D6DCE4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rgbClr val="D6DCE4"/>
                </a:solidFill>
                <a:latin typeface="Calibri" pitchFamily="34" charset="0"/>
                <a:cs typeface="Calibri" pitchFamily="34" charset="-120"/>
              </a:rPr>
              <a:t>A good algorithm designer should never stop asking this question: </a:t>
            </a:r>
            <a:r>
              <a:rPr lang="en-US" sz="1400" b="1" i="1" dirty="0">
                <a:solidFill>
                  <a:srgbClr val="D6DCE4"/>
                </a:solidFill>
                <a:latin typeface="Calibri" pitchFamily="34" charset="0"/>
                <a:cs typeface="Calibri" pitchFamily="34" charset="-120"/>
              </a:rPr>
              <a:t>“Can we do better?”</a:t>
            </a:r>
            <a:endParaRPr lang="en-US" sz="1400" b="1" dirty="0"/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301C555E-C84A-09DB-A87B-A914E8E05097}"/>
              </a:ext>
            </a:extLst>
          </p:cNvPr>
          <p:cNvSpPr/>
          <p:nvPr/>
        </p:nvSpPr>
        <p:spPr>
          <a:xfrm>
            <a:off x="8001000" y="5652129"/>
            <a:ext cx="2528888" cy="85840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 Can we quantify “better”?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D6A28-2A7D-A65F-E945-EAF3107A9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6548FD-C6E5-ED3F-A925-58D789ABDEB1}"/>
              </a:ext>
            </a:extLst>
          </p:cNvPr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5703AB-E7D5-1D3F-59E8-5FE7EBCA1B02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are you </a:t>
            </a:r>
            <a:r>
              <a:rPr lang="en-US" sz="2900" b="1" i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really</a:t>
            </a:r>
            <a:r>
              <a:rPr lang="en-US" sz="2900" b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here taking this course?</a:t>
            </a:r>
            <a:endParaRPr lang="en-US" sz="2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1F486D-659B-F518-2763-D09D56823BEA}"/>
              </a:ext>
            </a:extLst>
          </p:cNvPr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565AB0-8DA8-8A8B-E353-282BC0CC90F1}"/>
              </a:ext>
            </a:extLst>
          </p:cNvPr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5DDE392-4BD5-DC44-F9E1-2D0AE5FB7961}"/>
              </a:ext>
            </a:extLst>
          </p:cNvPr>
          <p:cNvSpPr/>
          <p:nvPr/>
        </p:nvSpPr>
        <p:spPr>
          <a:xfrm>
            <a:off x="548640" y="1457317"/>
            <a:ext cx="11064240" cy="1069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6EE590-459A-EEB6-2ECF-5682A980131F}"/>
              </a:ext>
            </a:extLst>
          </p:cNvPr>
          <p:cNvSpPr/>
          <p:nvPr/>
        </p:nvSpPr>
        <p:spPr>
          <a:xfrm>
            <a:off x="868680" y="171449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333F50"/>
                </a:solidFill>
                <a:latin typeface="Calibri" pitchFamily="34" charset="0"/>
                <a:cs typeface="Calibri" pitchFamily="34" charset="-120"/>
              </a:rPr>
              <a:t>It is required. But, why is it required?</a:t>
            </a:r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7C6DD3-73F2-2D66-4337-5540C8E22E39}"/>
              </a:ext>
            </a:extLst>
          </p:cNvPr>
          <p:cNvSpPr/>
          <p:nvPr/>
        </p:nvSpPr>
        <p:spPr>
          <a:xfrm>
            <a:off x="548640" y="3931920"/>
            <a:ext cx="11064240" cy="1828800"/>
          </a:xfrm>
          <a:prstGeom prst="roundRect">
            <a:avLst>
              <a:gd name="adj" fmla="val 6000"/>
            </a:avLst>
          </a:prstGeom>
          <a:noFill/>
          <a:ln/>
        </p:spPr>
        <p:txBody>
          <a:bodyPr/>
          <a:lstStyle/>
          <a:p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168AA6-8CB0-25C1-2413-2F86FD59D22D}"/>
              </a:ext>
            </a:extLst>
          </p:cNvPr>
          <p:cNvGrpSpPr/>
          <p:nvPr/>
        </p:nvGrpSpPr>
        <p:grpSpPr>
          <a:xfrm>
            <a:off x="548640" y="2827202"/>
            <a:ext cx="11064240" cy="1174438"/>
            <a:chOff x="548640" y="2827202"/>
            <a:chExt cx="11064240" cy="1174438"/>
          </a:xfrm>
        </p:grpSpPr>
        <p:sp>
          <p:nvSpPr>
            <p:cNvPr id="14" name="Shape 4">
              <a:extLst>
                <a:ext uri="{FF2B5EF4-FFF2-40B4-BE49-F238E27FC236}">
                  <a16:creationId xmlns:a16="http://schemas.microsoft.com/office/drawing/2014/main" id="{4DD48972-C412-240A-4E0E-36B7BCD65D31}"/>
                </a:ext>
              </a:extLst>
            </p:cNvPr>
            <p:cNvSpPr/>
            <p:nvPr/>
          </p:nvSpPr>
          <p:spPr>
            <a:xfrm>
              <a:off x="548640" y="2827202"/>
              <a:ext cx="11064240" cy="106984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E7E6E6"/>
              </a:solidFill>
              <a:prstDash val="solid"/>
            </a:ln>
            <a:effectLst>
              <a:outerShdw blurRad="101600" dist="25400" dir="5400000" algn="bl" rotWithShape="0">
                <a:srgbClr val="44546A">
                  <a:alpha val="1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EF06A7B6-7F4B-E4B0-9B6A-EFF78370DF52}"/>
                </a:ext>
              </a:extLst>
            </p:cNvPr>
            <p:cNvSpPr/>
            <p:nvPr/>
          </p:nvSpPr>
          <p:spPr>
            <a:xfrm>
              <a:off x="868680" y="2931791"/>
              <a:ext cx="10424160" cy="10698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700" b="1" dirty="0">
                  <a:solidFill>
                    <a:srgbClr val="333F50"/>
                  </a:solidFill>
                  <a:latin typeface="Calibri" pitchFamily="34" charset="0"/>
                  <a:cs typeface="Calibri" pitchFamily="34" charset="-120"/>
                </a:rPr>
                <a:t>It is fundamental for any computer science practitioner.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700" b="1" dirty="0">
                  <a:solidFill>
                    <a:srgbClr val="333F50"/>
                  </a:solidFill>
                  <a:latin typeface="Calibri" pitchFamily="34" charset="0"/>
                  <a:cs typeface="Calibri" pitchFamily="34" charset="-120"/>
                </a:rPr>
                <a:t>It is useful.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700" b="1" dirty="0">
                  <a:solidFill>
                    <a:srgbClr val="333F50"/>
                  </a:solidFill>
                  <a:latin typeface="Calibri" pitchFamily="34" charset="0"/>
                  <a:cs typeface="Calibri" pitchFamily="34" charset="-120"/>
                </a:rPr>
                <a:t>It is fun!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700" b="1" dirty="0">
                <a:solidFill>
                  <a:srgbClr val="333F50"/>
                </a:solidFill>
                <a:latin typeface="Calibri" pitchFamily="34" charset="0"/>
                <a:cs typeface="Calibri" pitchFamily="34" charset="-12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BC877F-5487-098D-78E0-7CE6A1C6EEB9}"/>
              </a:ext>
            </a:extLst>
          </p:cNvPr>
          <p:cNvGrpSpPr/>
          <p:nvPr/>
        </p:nvGrpSpPr>
        <p:grpSpPr>
          <a:xfrm>
            <a:off x="548640" y="4330834"/>
            <a:ext cx="11064240" cy="1828800"/>
            <a:chOff x="548640" y="4330834"/>
            <a:chExt cx="11064240" cy="1828800"/>
          </a:xfrm>
        </p:grpSpPr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9721D4BC-E9F4-BA64-C6AE-522275A02E31}"/>
                </a:ext>
              </a:extLst>
            </p:cNvPr>
            <p:cNvSpPr/>
            <p:nvPr/>
          </p:nvSpPr>
          <p:spPr>
            <a:xfrm>
              <a:off x="548640" y="4330834"/>
              <a:ext cx="11064240" cy="18288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E7E6E6"/>
              </a:solidFill>
              <a:prstDash val="solid"/>
            </a:ln>
            <a:effectLst>
              <a:outerShdw blurRad="101600" dist="25400" dir="5400000" algn="bl" rotWithShape="0">
                <a:srgbClr val="44546A">
                  <a:alpha val="1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02FE3CB4-B269-3E55-0D2E-B2DFF77033DF}"/>
                </a:ext>
              </a:extLst>
            </p:cNvPr>
            <p:cNvSpPr/>
            <p:nvPr/>
          </p:nvSpPr>
          <p:spPr>
            <a:xfrm>
              <a:off x="868680" y="4846320"/>
              <a:ext cx="10424160" cy="10698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700" b="1" dirty="0">
                  <a:solidFill>
                    <a:srgbClr val="333F50"/>
                  </a:solidFill>
                  <a:latin typeface="Calibri" pitchFamily="34" charset="0"/>
                  <a:cs typeface="Calibri" pitchFamily="34" charset="-120"/>
                </a:rPr>
                <a:t>CS 369 Artificial Intelligence and Machine Learning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700" b="1" dirty="0">
                  <a:solidFill>
                    <a:srgbClr val="333F50"/>
                  </a:solidFill>
                  <a:latin typeface="Calibri" pitchFamily="34" charset="0"/>
                  <a:cs typeface="Calibri" pitchFamily="34" charset="-120"/>
                </a:rPr>
                <a:t>CS 411 Advanced Cybersecurity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700" b="1" dirty="0">
                  <a:solidFill>
                    <a:srgbClr val="333F50"/>
                  </a:solidFill>
                  <a:latin typeface="Calibri" pitchFamily="34" charset="0"/>
                  <a:cs typeface="Calibri" pitchFamily="34" charset="-120"/>
                </a:rPr>
                <a:t>CS 469 Neural Networks for AI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700" b="1" dirty="0">
                  <a:solidFill>
                    <a:srgbClr val="333F50"/>
                  </a:solidFill>
                  <a:latin typeface="Calibri" pitchFamily="34" charset="0"/>
                  <a:cs typeface="Calibri" pitchFamily="34" charset="-120"/>
                </a:rPr>
                <a:t>CS 488 Software development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700" b="1" dirty="0">
                  <a:solidFill>
                    <a:srgbClr val="333F50"/>
                  </a:solidFill>
                  <a:latin typeface="Calibri" pitchFamily="34" charset="0"/>
                  <a:cs typeface="Calibri" pitchFamily="34" charset="-120"/>
                </a:rPr>
                <a:t>And many other cross disciplinary courses!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700" b="1" dirty="0">
                <a:solidFill>
                  <a:srgbClr val="333F50"/>
                </a:solidFill>
                <a:latin typeface="Calibri" pitchFamily="34" charset="0"/>
                <a:cs typeface="Calibri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17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RELEVANT TO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major, your algorithm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984248"/>
            <a:ext cx="2221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Computer Science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2221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systems everyone else on this list depends 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178308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11296" y="1984248"/>
            <a:ext cx="2221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Mathematics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11296" y="2606040"/>
            <a:ext cx="2221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Proof-writing meets real, running computation.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71616" y="178308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72784" y="1984248"/>
            <a:ext cx="2221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72784" y="2606040"/>
            <a:ext cx="2221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particles, fields, and galaxies — efficiently enough to finish.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33104" y="178308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34272" y="1984248"/>
            <a:ext cx="2221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4472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Biology / Biochem / Mol Bio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034272" y="2606040"/>
            <a:ext cx="2221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alignment, protein structure prediction.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445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4133088"/>
            <a:ext cx="2221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Chemistry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9808" y="4754880"/>
            <a:ext cx="2221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docking and reaction-network optimization.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10128" y="393192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445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11296" y="4133088"/>
            <a:ext cx="2221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Science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11296" y="4754880"/>
            <a:ext cx="2221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you'll ever train sits on top of an algorithm and a data structure.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71616" y="393192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445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72784" y="4133088"/>
            <a:ext cx="2221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Entrepreneurship / Leadership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72784" y="4754880"/>
            <a:ext cx="2221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allocation, scheduling, and scaling decisions — with a real framework.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33104" y="393192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445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034272" y="4133088"/>
            <a:ext cx="2221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ED7D3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Still undecided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034272" y="4754880"/>
            <a:ext cx="2221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place to find out what kind of problem-solving excites you.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EXCITING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taste of what you can build in the future..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0299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routing behind Google Maps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shortest-path algorithms — you’ll learn about it around week 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20299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Nobel Prize... for novel algorithm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606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Kidney-exchange matching (graph algorithms) has helped thousands of patients find compatible donors — and won a Nobel Prize in Economics.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22452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DNA sequence alignment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 programming you'll learn in week 12 is the same idea behind comparing genetic sequences.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402336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422452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final project</a:t>
            </a:r>
            <a:endParaRPr lang="en-US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29400" y="48006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 details to be disclosed on a specific date&gt; </a:t>
            </a: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 will be using your choice of the tools you'll have by then.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cs typeface="Calibri" pitchFamily="34" charset="-120"/>
              </a:rPr>
              <a:t>COURSE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you'll walk away with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choose among core data structures instead of defaulting to whatever's familiar.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whether a solution will hold up at scale, before you find out the hard way.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a problem calls for greedy, dynamic programming, or a graph algorithm — and explain why.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49834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trade-offs clearly — a skill that matters in every field of study in this room, not just CS – and for any profession you will choose in the future.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ATTACK PROBLEMS THROUGHOUT THE SEMESTER</a:t>
            </a:r>
            <a:endParaRPr lang="en-US" sz="1200" dirty="0"/>
          </a:p>
        </p:txBody>
      </p:sp>
      <p:sp>
        <p:nvSpPr>
          <p:cNvPr id="3" name="Text 3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ways to design algorithms (that we will explore)</a:t>
            </a:r>
            <a:endParaRPr lang="en-US" sz="2900" dirty="0"/>
          </a:p>
        </p:txBody>
      </p:sp>
      <p:sp>
        <p:nvSpPr>
          <p:cNvPr id="4" name="Text 4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/>
          </a:p>
        </p:txBody>
      </p:sp>
      <p:sp>
        <p:nvSpPr>
          <p:cNvPr id="5" name="Text 5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  <p:sp>
        <p:nvSpPr>
          <p:cNvPr id="6" name="Shape 6"/>
          <p:cNvSpPr/>
          <p:nvPr/>
        </p:nvSpPr>
        <p:spPr>
          <a:xfrm>
            <a:off x="548640" y="1920240"/>
            <a:ext cx="2011680" cy="265284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1325880" y="2148840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8" name="Text 8"/>
          <p:cNvSpPr/>
          <p:nvPr/>
        </p:nvSpPr>
        <p:spPr>
          <a:xfrm>
            <a:off x="685800" y="26974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Brute Force</a:t>
            </a:r>
            <a:endParaRPr lang="en-US" sz="1400"/>
          </a:p>
        </p:txBody>
      </p:sp>
      <p:sp>
        <p:nvSpPr>
          <p:cNvPr id="9" name="Text 9"/>
          <p:cNvSpPr/>
          <p:nvPr/>
        </p:nvSpPr>
        <p:spPr>
          <a:xfrm>
            <a:off x="685800" y="3383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/>
          </a:p>
        </p:txBody>
      </p:sp>
      <p:sp>
        <p:nvSpPr>
          <p:cNvPr id="10" name="Text 10"/>
          <p:cNvSpPr/>
          <p:nvPr/>
        </p:nvSpPr>
        <p:spPr>
          <a:xfrm>
            <a:off x="685800" y="3657600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every possibility — linear search, or checking all routes between cities.</a:t>
            </a:r>
            <a:endParaRPr lang="en-US" sz="1150"/>
          </a:p>
        </p:txBody>
      </p:sp>
      <p:sp>
        <p:nvSpPr>
          <p:cNvPr id="11" name="Shape 11"/>
          <p:cNvSpPr/>
          <p:nvPr/>
        </p:nvSpPr>
        <p:spPr>
          <a:xfrm>
            <a:off x="2811120" y="1920240"/>
            <a:ext cx="2011680" cy="265284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588360" y="2148840"/>
            <a:ext cx="457200" cy="457200"/>
          </a:xfrm>
          <a:prstGeom prst="ellipse">
            <a:avLst/>
          </a:prstGeom>
          <a:solidFill>
            <a:srgbClr val="ED7D3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3" name="Text 13"/>
          <p:cNvSpPr/>
          <p:nvPr/>
        </p:nvSpPr>
        <p:spPr>
          <a:xfrm>
            <a:off x="2948280" y="26974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Divide &amp; Conquer</a:t>
            </a:r>
            <a:endParaRPr lang="en-US" sz="1400"/>
          </a:p>
        </p:txBody>
      </p:sp>
      <p:sp>
        <p:nvSpPr>
          <p:cNvPr id="14" name="Text 14"/>
          <p:cNvSpPr/>
          <p:nvPr/>
        </p:nvSpPr>
        <p:spPr>
          <a:xfrm>
            <a:off x="2948280" y="3383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/>
          </a:p>
        </p:txBody>
      </p:sp>
      <p:sp>
        <p:nvSpPr>
          <p:cNvPr id="15" name="Text 15"/>
          <p:cNvSpPr/>
          <p:nvPr/>
        </p:nvSpPr>
        <p:spPr>
          <a:xfrm>
            <a:off x="2948280" y="3657600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solve, combine — merge sort, quicksort, binary search.</a:t>
            </a:r>
            <a:endParaRPr lang="en-US" sz="1150"/>
          </a:p>
        </p:txBody>
      </p:sp>
      <p:sp>
        <p:nvSpPr>
          <p:cNvPr id="16" name="Shape 16"/>
          <p:cNvSpPr/>
          <p:nvPr/>
        </p:nvSpPr>
        <p:spPr>
          <a:xfrm>
            <a:off x="5073600" y="1920240"/>
            <a:ext cx="2011680" cy="265284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5850840" y="2148840"/>
            <a:ext cx="457200" cy="457200"/>
          </a:xfrm>
          <a:prstGeom prst="ellipse">
            <a:avLst/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8" name="Text 18"/>
          <p:cNvSpPr/>
          <p:nvPr/>
        </p:nvSpPr>
        <p:spPr>
          <a:xfrm>
            <a:off x="5210760" y="26974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Transform</a:t>
            </a:r>
            <a:endParaRPr lang="en-US" sz="1400"/>
          </a:p>
        </p:txBody>
      </p:sp>
      <p:sp>
        <p:nvSpPr>
          <p:cNvPr id="19" name="Text 19"/>
          <p:cNvSpPr/>
          <p:nvPr/>
        </p:nvSpPr>
        <p:spPr>
          <a:xfrm>
            <a:off x="5210760" y="3383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/>
          </a:p>
        </p:txBody>
      </p:sp>
      <p:sp>
        <p:nvSpPr>
          <p:cNvPr id="20" name="Text 20"/>
          <p:cNvSpPr/>
          <p:nvPr/>
        </p:nvSpPr>
        <p:spPr>
          <a:xfrm>
            <a:off x="5210760" y="3657600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the problem first — sort before searching, or model a dataset as a tree.</a:t>
            </a:r>
            <a:endParaRPr lang="en-US" sz="1150" dirty="0"/>
          </a:p>
        </p:txBody>
      </p:sp>
      <p:sp>
        <p:nvSpPr>
          <p:cNvPr id="21" name="Shape 21"/>
          <p:cNvSpPr/>
          <p:nvPr/>
        </p:nvSpPr>
        <p:spPr>
          <a:xfrm>
            <a:off x="7336080" y="1920240"/>
            <a:ext cx="2011680" cy="265284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8113320" y="2148840"/>
            <a:ext cx="457200" cy="457200"/>
          </a:xfrm>
          <a:prstGeom prst="ellipse">
            <a:avLst/>
          </a:prstGeom>
          <a:solidFill>
            <a:srgbClr val="59595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3" name="Text 23"/>
          <p:cNvSpPr/>
          <p:nvPr/>
        </p:nvSpPr>
        <p:spPr>
          <a:xfrm>
            <a:off x="7473240" y="26974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Greedy</a:t>
            </a:r>
            <a:endParaRPr lang="en-US" sz="1400"/>
          </a:p>
        </p:txBody>
      </p:sp>
      <p:sp>
        <p:nvSpPr>
          <p:cNvPr id="24" name="Text 24"/>
          <p:cNvSpPr/>
          <p:nvPr/>
        </p:nvSpPr>
        <p:spPr>
          <a:xfrm>
            <a:off x="7473240" y="3383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/>
          </a:p>
        </p:txBody>
      </p:sp>
      <p:sp>
        <p:nvSpPr>
          <p:cNvPr id="25" name="Text 25"/>
          <p:cNvSpPr/>
          <p:nvPr/>
        </p:nvSpPr>
        <p:spPr>
          <a:xfrm>
            <a:off x="7473240" y="3657600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best step available now — finding shortest path.</a:t>
            </a:r>
            <a:endParaRPr lang="en-US" sz="1150" dirty="0"/>
          </a:p>
        </p:txBody>
      </p:sp>
      <p:sp>
        <p:nvSpPr>
          <p:cNvPr id="26" name="Shape 26"/>
          <p:cNvSpPr/>
          <p:nvPr/>
        </p:nvSpPr>
        <p:spPr>
          <a:xfrm>
            <a:off x="9598560" y="1920240"/>
            <a:ext cx="2011680" cy="265284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7"/>
          <p:cNvSpPr/>
          <p:nvPr/>
        </p:nvSpPr>
        <p:spPr>
          <a:xfrm>
            <a:off x="10375800" y="2148840"/>
            <a:ext cx="457200" cy="457200"/>
          </a:xfrm>
          <a:prstGeom prst="ellipse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28" name="Text 28"/>
          <p:cNvSpPr/>
          <p:nvPr/>
        </p:nvSpPr>
        <p:spPr>
          <a:xfrm>
            <a:off x="9735720" y="26974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Dynamic Programming</a:t>
            </a:r>
            <a:endParaRPr lang="en-US" sz="1400"/>
          </a:p>
        </p:txBody>
      </p:sp>
      <p:sp>
        <p:nvSpPr>
          <p:cNvPr id="29" name="Text 29"/>
          <p:cNvSpPr/>
          <p:nvPr/>
        </p:nvSpPr>
        <p:spPr>
          <a:xfrm>
            <a:off x="9735720" y="3383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2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/>
          </a:p>
        </p:txBody>
      </p:sp>
      <p:sp>
        <p:nvSpPr>
          <p:cNvPr id="30" name="Text 30"/>
          <p:cNvSpPr/>
          <p:nvPr/>
        </p:nvSpPr>
        <p:spPr>
          <a:xfrm>
            <a:off x="9735720" y="3657600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each subproblem once and reuse it — Fibonacci sequence.</a:t>
            </a:r>
            <a:endParaRPr lang="en-US" sz="1150" dirty="0"/>
          </a:p>
        </p:txBody>
      </p:sp>
      <p:sp>
        <p:nvSpPr>
          <p:cNvPr id="31" name="Text 31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five angles of attack — the real skill is choosing the right one.</a:t>
            </a:r>
            <a:endParaRPr 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7"/>
            <a:ext cx="11064240" cy="15933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YOU ALL KNOW HOW TO SOLVE</a:t>
            </a:r>
            <a:b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00" b="1" kern="0" spc="200" dirty="0">
              <a:solidFill>
                <a:srgbClr val="4472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2900" b="1" dirty="0">
                <a:solidFill>
                  <a:schemeClr val="accent1">
                    <a:lumMod val="75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Revisiting – how to define one approach is “better” than the other?</a:t>
            </a:r>
            <a:br>
              <a:rPr lang="en-US" sz="2900" b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</a:br>
            <a:br>
              <a:rPr lang="en-US" sz="2900" b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</a:br>
            <a:r>
              <a:rPr lang="en-US" sz="2900" b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Integer Multiplication</a:t>
            </a:r>
            <a:endParaRPr lang="en-US" sz="2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6388" y="3051730"/>
            <a:ext cx="1624084" cy="172279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sz="5400" dirty="0"/>
              <a:t>12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5400" dirty="0"/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2372" y="4032211"/>
            <a:ext cx="36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x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199787" y="4745097"/>
            <a:ext cx="1563826" cy="0"/>
          </a:xfrm>
          <a:prstGeom prst="line">
            <a:avLst/>
          </a:prstGeom>
          <a:ln w="222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 7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/>
          </a:p>
        </p:txBody>
      </p:sp>
      <p:sp>
        <p:nvSpPr>
          <p:cNvPr id="8" name="Text 8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DEFFCB-1460-ED64-151D-B841FD28D3AB}"/>
              </a:ext>
            </a:extLst>
          </p:cNvPr>
          <p:cNvSpPr txBox="1"/>
          <p:nvPr/>
        </p:nvSpPr>
        <p:spPr>
          <a:xfrm>
            <a:off x="5447591" y="4797964"/>
            <a:ext cx="1941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408</a:t>
            </a:r>
          </a:p>
        </p:txBody>
      </p:sp>
    </p:spTree>
    <p:extLst>
      <p:ext uri="{BB962C8B-B14F-4D97-AF65-F5344CB8AC3E}">
        <p14:creationId xmlns:p14="http://schemas.microsoft.com/office/powerpoint/2010/main" val="203597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YOU ALL KNOW HOW TO SOLVE</a:t>
            </a:r>
          </a:p>
          <a:p>
            <a:pPr marL="0" indent="0" algn="l">
              <a:buNone/>
            </a:pPr>
            <a:r>
              <a:rPr lang="en-US" sz="29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Integer Multiplication</a:t>
            </a:r>
            <a:endParaRPr lang="en-US" sz="29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8084" y="2494366"/>
            <a:ext cx="5909480" cy="172279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sz="5400" dirty="0"/>
              <a:t>1234567895931413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5400" dirty="0"/>
              <a:t>4563823520395533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2065" y="3632384"/>
            <a:ext cx="36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x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362405" y="4476466"/>
            <a:ext cx="7118241" cy="0"/>
          </a:xfrm>
          <a:prstGeom prst="line">
            <a:avLst/>
          </a:prstGeom>
          <a:ln w="222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 7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/>
          </a:p>
        </p:txBody>
      </p:sp>
      <p:sp>
        <p:nvSpPr>
          <p:cNvPr id="8" name="Text 8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9481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YOU ALL KNOW HOW TO SOLVE</a:t>
            </a:r>
          </a:p>
          <a:p>
            <a:pPr marL="0" indent="0" algn="l">
              <a:buNone/>
            </a:pPr>
            <a:r>
              <a:rPr lang="en-US" sz="2900" b="1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Integer Multiplication</a:t>
            </a:r>
            <a:endParaRPr lang="en-US" sz="29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751" y="2440321"/>
            <a:ext cx="7833815" cy="172279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sz="2400" dirty="0"/>
              <a:t>1233925720752752384623764283568364918374523856298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400" dirty="0"/>
              <a:t>4562323582342395285623467235019130750135350013753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2167" y="2757620"/>
            <a:ext cx="36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x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862167" y="3384643"/>
            <a:ext cx="8396398" cy="0"/>
          </a:xfrm>
          <a:prstGeom prst="line">
            <a:avLst/>
          </a:prstGeom>
          <a:ln w="222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26681" y="3583724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C55A11"/>
                </a:solidFill>
              </a:rPr>
              <a:t>???</a:t>
            </a:r>
          </a:p>
        </p:txBody>
      </p:sp>
      <p:sp>
        <p:nvSpPr>
          <p:cNvPr id="9" name="Right Brace 8"/>
          <p:cNvSpPr/>
          <p:nvPr/>
        </p:nvSpPr>
        <p:spPr>
          <a:xfrm rot="16200000">
            <a:off x="6104870" y="-1539055"/>
            <a:ext cx="365760" cy="7589520"/>
          </a:xfrm>
          <a:prstGeom prst="rightBrace">
            <a:avLst/>
          </a:prstGeom>
          <a:ln w="2222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082352" y="1487184"/>
            <a:ext cx="401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4472C4"/>
                </a:solidFill>
              </a:rPr>
              <a:t>n</a:t>
            </a:r>
            <a:endParaRPr lang="en-US">
              <a:solidFill>
                <a:srgbClr val="4472C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17019" y="3972555"/>
                <a:ext cx="8141547" cy="236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dirty="0">
                    <a:solidFill>
                      <a:srgbClr val="4472C4"/>
                    </a:solidFill>
                  </a:rPr>
                  <a:t>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4472C4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4472C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sz="2800" i="1">
                            <a:solidFill>
                              <a:srgbClr val="4472C4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4472C4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4472C4"/>
                    </a:solidFill>
                  </a:rPr>
                  <a:t>one-digit operations</a:t>
                </a:r>
              </a:p>
              <a:p>
                <a:pPr algn="r"/>
                <a:endParaRPr lang="en-US" sz="2000" dirty="0">
                  <a:solidFill>
                    <a:srgbClr val="C55A11"/>
                  </a:solidFill>
                </a:endParaRPr>
              </a:p>
              <a:p>
                <a:pPr algn="r"/>
                <a:r>
                  <a:rPr lang="en-US" sz="2000" dirty="0">
                    <a:solidFill>
                      <a:srgbClr val="C55A11"/>
                    </a:solidFill>
                  </a:rPr>
                  <a:t>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C55A1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C55A11"/>
                            </a:solidFill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solidFill>
                              <a:srgbClr val="C55A1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solidFill>
                          <a:srgbClr val="C55A1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C55A11"/>
                    </a:solidFill>
                  </a:rPr>
                  <a:t>multiplications,</a:t>
                </a:r>
              </a:p>
              <a:p>
                <a:pPr algn="r"/>
                <a:r>
                  <a:rPr lang="en-US" sz="2000" dirty="0">
                    <a:solidFill>
                      <a:srgbClr val="C55A11"/>
                    </a:solidFill>
                  </a:rPr>
                  <a:t> and then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C55A1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C55A11"/>
                            </a:solidFill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solidFill>
                              <a:srgbClr val="C55A1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C55A11"/>
                    </a:solidFill>
                  </a:rPr>
                  <a:t> additions (for carries) </a:t>
                </a:r>
              </a:p>
              <a:p>
                <a:pPr algn="r"/>
                <a:r>
                  <a:rPr lang="en-US" sz="2000" dirty="0">
                    <a:solidFill>
                      <a:srgbClr val="C55A11"/>
                    </a:solidFill>
                  </a:rPr>
                  <a:t>and then I have to add n different 2n-digit numbers</a:t>
                </a:r>
                <a:r>
                  <a:rPr lang="mr-IN" sz="2000" dirty="0">
                    <a:solidFill>
                      <a:srgbClr val="C55A11"/>
                    </a:solidFill>
                  </a:rPr>
                  <a:t>…</a:t>
                </a:r>
                <a:endParaRPr lang="en-US" sz="2000" dirty="0">
                  <a:solidFill>
                    <a:srgbClr val="C55A11"/>
                  </a:solidFill>
                </a:endParaRPr>
              </a:p>
              <a:p>
                <a:pPr algn="r"/>
                <a:endParaRPr lang="en-US" sz="2000" dirty="0">
                  <a:solidFill>
                    <a:srgbClr val="C55A11"/>
                  </a:solidFill>
                </a:endParaRPr>
              </a:p>
              <a:p>
                <a:pPr algn="r"/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And I take 1 second to multiply two one-digit numbers and .6 seconds to add, so</a:t>
                </a:r>
                <a:r>
                  <a:rPr lang="mr-IN" dirty="0">
                    <a:solidFill>
                      <a:schemeClr val="accent3">
                        <a:lumMod val="75000"/>
                      </a:schemeClr>
                    </a:solidFill>
                  </a:rPr>
                  <a:t>…</a:t>
                </a:r>
                <a:endParaRPr lang="en-US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019" y="3972555"/>
                <a:ext cx="8141547" cy="2369880"/>
              </a:xfrm>
              <a:prstGeom prst="rect">
                <a:avLst/>
              </a:prstGeom>
              <a:blipFill>
                <a:blip r:embed="rId3"/>
                <a:stretch>
                  <a:fillRect t="-2660" r="-1558" b="-1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043467" y="3862543"/>
            <a:ext cx="38945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would you solve this problem?</a:t>
            </a:r>
          </a:p>
          <a:p>
            <a:r>
              <a:rPr lang="en-US" sz="2000" dirty="0"/>
              <a:t>How long would it take you?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1198" y="4780315"/>
            <a:ext cx="879066" cy="1194674"/>
          </a:xfrm>
          <a:prstGeom prst="rect">
            <a:avLst/>
          </a:prstGeom>
        </p:spPr>
      </p:pic>
      <p:sp>
        <p:nvSpPr>
          <p:cNvPr id="13" name="Text 1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/>
          </a:p>
        </p:txBody>
      </p:sp>
      <p:sp>
        <p:nvSpPr>
          <p:cNvPr id="14" name="Text 14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C646443C-CDFB-8916-033D-5579D91B31FB}"/>
              </a:ext>
            </a:extLst>
          </p:cNvPr>
          <p:cNvSpPr/>
          <p:nvPr/>
        </p:nvSpPr>
        <p:spPr>
          <a:xfrm>
            <a:off x="10232102" y="3214693"/>
            <a:ext cx="1959898" cy="191655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we do better than n</a:t>
            </a:r>
            <a:r>
              <a:rPr lang="en-US" baseline="30000" dirty="0"/>
              <a:t>2 </a:t>
            </a:r>
            <a:r>
              <a:rPr lang="en-US" dirty="0"/>
              <a:t>one-digit operations? </a:t>
            </a:r>
          </a:p>
        </p:txBody>
      </p:sp>
    </p:spTree>
    <p:extLst>
      <p:ext uri="{BB962C8B-B14F-4D97-AF65-F5344CB8AC3E}">
        <p14:creationId xmlns:p14="http://schemas.microsoft.com/office/powerpoint/2010/main" val="214115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mph" presetSubtype="0" repeatCount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1" grpId="1" uiExpand="1" build="p"/>
      <p:bldP spid="12" grpId="0" build="p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880" y="371088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</a:t>
            </a:r>
          </a:p>
          <a:p>
            <a:pPr marL="0" indent="0" algn="l">
              <a:buNone/>
            </a:pPr>
            <a:r>
              <a:rPr lang="en-US" sz="2900" b="1" dirty="0">
                <a:solidFill>
                  <a:srgbClr val="333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Divide and conquer for multiplication</a:t>
            </a:r>
            <a:endParaRPr lang="en-US" sz="2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95303" y="2719628"/>
                <a:ext cx="18755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dirty="0"/>
                  <a:t>1234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× </m:t>
                    </m:r>
                  </m:oMath>
                </a14:m>
                <a:r>
                  <a:rPr lang="en-US" sz="2800" dirty="0"/>
                  <a:t>5678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303" y="2719628"/>
                <a:ext cx="1875513" cy="430887"/>
              </a:xfrm>
              <a:prstGeom prst="rect">
                <a:avLst/>
              </a:prstGeom>
              <a:blipFill>
                <a:blip r:embed="rId3"/>
                <a:stretch>
                  <a:fillRect l="-11486" t="-25714" r="-10811" b="-4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48640" y="1217541"/>
            <a:ext cx="3124638" cy="70673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sz="2800" dirty="0"/>
              <a:t>Break up an integer: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93661" y="1301232"/>
                <a:ext cx="2952731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dirty="0"/>
                  <a:t>1234 = 12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800" dirty="0">
                    <a:solidFill>
                      <a:schemeClr val="accent1"/>
                    </a:solidFill>
                  </a:rPr>
                  <a:t>100</a:t>
                </a:r>
                <a:r>
                  <a:rPr lang="en-US" sz="2800" dirty="0"/>
                  <a:t> + 34</a:t>
                </a:r>
              </a:p>
              <a:p>
                <a:r>
                  <a:rPr lang="en-US" sz="2800" dirty="0"/>
                  <a:t>5678 = 56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800" dirty="0">
                    <a:solidFill>
                      <a:schemeClr val="accent1"/>
                    </a:solidFill>
                  </a:rPr>
                  <a:t>100</a:t>
                </a:r>
                <a:r>
                  <a:rPr lang="en-US" sz="2800" dirty="0"/>
                  <a:t> + 78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661" y="1301232"/>
                <a:ext cx="2952731" cy="861774"/>
              </a:xfrm>
              <a:prstGeom prst="rect">
                <a:avLst/>
              </a:prstGeom>
              <a:blipFill>
                <a:blip r:embed="rId4"/>
                <a:stretch>
                  <a:fillRect l="-7265" t="-13043" r="-6410" b="-23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852257" y="3150515"/>
                <a:ext cx="8823249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= ( 12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800" dirty="0">
                    <a:solidFill>
                      <a:schemeClr val="accent1"/>
                    </a:solidFill>
                  </a:rPr>
                  <a:t>100</a:t>
                </a:r>
                <a:r>
                  <a:rPr lang="en-US" sz="2800" dirty="0"/>
                  <a:t> + 34 ) ( 56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800" dirty="0">
                    <a:solidFill>
                      <a:schemeClr val="accent1"/>
                    </a:solidFill>
                  </a:rPr>
                  <a:t>100</a:t>
                </a:r>
                <a:r>
                  <a:rPr lang="en-US" sz="2800" dirty="0"/>
                  <a:t> + 78 )</a:t>
                </a:r>
              </a:p>
              <a:p>
                <a:r>
                  <a:rPr lang="en-US" sz="2800" dirty="0"/>
                  <a:t>= ( 12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× </m:t>
                    </m:r>
                  </m:oMath>
                </a14:m>
                <a:r>
                  <a:rPr lang="en-US" sz="2800" dirty="0"/>
                  <a:t>56 )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10000</a:t>
                </a:r>
                <a:r>
                  <a:rPr lang="en-US" sz="2800" dirty="0"/>
                  <a:t> + ( 34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× </m:t>
                    </m:r>
                  </m:oMath>
                </a14:m>
                <a:r>
                  <a:rPr lang="en-US" sz="2800" dirty="0"/>
                  <a:t>56  +  12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× </m:t>
                    </m:r>
                  </m:oMath>
                </a14:m>
                <a:r>
                  <a:rPr lang="en-US" sz="2800" dirty="0"/>
                  <a:t>78 )</a:t>
                </a:r>
                <a:r>
                  <a:rPr lang="en-US" sz="2800" dirty="0">
                    <a:solidFill>
                      <a:schemeClr val="accent1"/>
                    </a:solidFill>
                  </a:rPr>
                  <a:t>100</a:t>
                </a:r>
                <a:r>
                  <a:rPr lang="en-US" sz="2800" dirty="0"/>
                  <a:t> + ( 34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× </m:t>
                    </m:r>
                  </m:oMath>
                </a14:m>
                <a:r>
                  <a:rPr lang="en-US" sz="2800" dirty="0"/>
                  <a:t>78 )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257" y="3150515"/>
                <a:ext cx="8823249" cy="954107"/>
              </a:xfrm>
              <a:prstGeom prst="rect">
                <a:avLst/>
              </a:prstGeom>
              <a:blipFill>
                <a:blip r:embed="rId5"/>
                <a:stretch>
                  <a:fillRect l="-1437" t="-7895" r="-431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/>
          <p:cNvSpPr/>
          <p:nvPr/>
        </p:nvSpPr>
        <p:spPr>
          <a:xfrm rot="5400000">
            <a:off x="2773458" y="3522243"/>
            <a:ext cx="354350" cy="1440364"/>
          </a:xfrm>
          <a:prstGeom prst="rightBrace">
            <a:avLst/>
          </a:prstGeom>
          <a:ln w="349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/>
          <p:cNvSpPr/>
          <p:nvPr/>
        </p:nvSpPr>
        <p:spPr>
          <a:xfrm rot="5400000">
            <a:off x="5519901" y="3508388"/>
            <a:ext cx="354350" cy="1440364"/>
          </a:xfrm>
          <a:prstGeom prst="rightBrace">
            <a:avLst/>
          </a:prstGeom>
          <a:ln w="349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/>
          <p:cNvSpPr/>
          <p:nvPr/>
        </p:nvSpPr>
        <p:spPr>
          <a:xfrm rot="5400000">
            <a:off x="7289399" y="3508387"/>
            <a:ext cx="354350" cy="1440364"/>
          </a:xfrm>
          <a:prstGeom prst="rightBrace">
            <a:avLst/>
          </a:prstGeom>
          <a:ln w="349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/>
          <p:cNvSpPr/>
          <p:nvPr/>
        </p:nvSpPr>
        <p:spPr>
          <a:xfrm rot="5400000">
            <a:off x="9548331" y="3508387"/>
            <a:ext cx="354350" cy="1440364"/>
          </a:xfrm>
          <a:prstGeom prst="rightBrace">
            <a:avLst/>
          </a:prstGeom>
          <a:ln w="349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564563" y="4496010"/>
            <a:ext cx="772141" cy="798828"/>
          </a:xfrm>
          <a:prstGeom prst="ellipse">
            <a:avLst/>
          </a:prstGeom>
          <a:solidFill>
            <a:schemeClr val="bg1"/>
          </a:solidFill>
          <a:ln w="349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5"/>
                </a:solidFill>
              </a:rPr>
              <a:t>1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5323860" y="4496010"/>
            <a:ext cx="772141" cy="798828"/>
          </a:xfrm>
          <a:prstGeom prst="ellipse">
            <a:avLst/>
          </a:prstGeom>
          <a:solidFill>
            <a:schemeClr val="bg1"/>
          </a:solidFill>
          <a:ln w="349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5"/>
                </a:solidFill>
              </a:rPr>
              <a:t>2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7080504" y="4496010"/>
            <a:ext cx="772141" cy="798828"/>
          </a:xfrm>
          <a:prstGeom prst="ellipse">
            <a:avLst/>
          </a:prstGeom>
          <a:solidFill>
            <a:schemeClr val="bg1"/>
          </a:solidFill>
          <a:ln w="349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5"/>
                </a:solidFill>
              </a:rPr>
              <a:t>3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9339436" y="4482491"/>
            <a:ext cx="772141" cy="798828"/>
          </a:xfrm>
          <a:prstGeom prst="ellipse">
            <a:avLst/>
          </a:prstGeom>
          <a:solidFill>
            <a:schemeClr val="bg1"/>
          </a:solidFill>
          <a:ln w="349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5"/>
                </a:solidFill>
              </a:rPr>
              <a:t>4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8559" y="5874442"/>
            <a:ext cx="26645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One 4-digit multiply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2958" y="5846617"/>
            <a:ext cx="291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Four 2-digit multiplies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475207" y="5846616"/>
            <a:ext cx="1241586" cy="51731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26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Course Introduction  ·  Aug 31</a:t>
            </a:r>
            <a:endParaRPr lang="en-US" sz="900"/>
          </a:p>
        </p:txBody>
      </p:sp>
      <p:sp>
        <p:nvSpPr>
          <p:cNvPr id="27" name="Text 27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5107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build="p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111D6-2167-6DF0-6747-7BFB3F82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973E57-EA2D-2F0E-99FF-2B13D921991B}"/>
              </a:ext>
            </a:extLst>
          </p:cNvPr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cs typeface="Calibri" pitchFamily="34" charset="-120"/>
              </a:rPr>
              <a:t>NEXT LECTURES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F039CB-1431-51E7-6171-484DA7AC781F}"/>
              </a:ext>
            </a:extLst>
          </p:cNvPr>
          <p:cNvSpPr/>
          <p:nvPr/>
        </p:nvSpPr>
        <p:spPr>
          <a:xfrm>
            <a:off x="548640" y="76295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454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 1 and 2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37EC35-9B9F-8702-87ED-A2B5A362268C}"/>
              </a:ext>
            </a:extLst>
          </p:cNvPr>
          <p:cNvSpPr/>
          <p:nvPr/>
        </p:nvSpPr>
        <p:spPr>
          <a:xfrm>
            <a:off x="563880" y="2926081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435861-93F5-84A1-7BA4-BD6195BFA72D}"/>
              </a:ext>
            </a:extLst>
          </p:cNvPr>
          <p:cNvSpPr/>
          <p:nvPr/>
        </p:nvSpPr>
        <p:spPr>
          <a:xfrm>
            <a:off x="840105" y="311754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94CBD0-F029-99DC-6D61-5BA0332A0DCE}"/>
              </a:ext>
            </a:extLst>
          </p:cNvPr>
          <p:cNvSpPr/>
          <p:nvPr/>
        </p:nvSpPr>
        <p:spPr>
          <a:xfrm>
            <a:off x="868680" y="3460443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 2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F2C147D-BCAA-D2BE-1176-F42186E1BE5A}"/>
              </a:ext>
            </a:extLst>
          </p:cNvPr>
          <p:cNvSpPr/>
          <p:nvPr/>
        </p:nvSpPr>
        <p:spPr>
          <a:xfrm>
            <a:off x="2148840" y="3460443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Setup/Structure 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EA9A32F-D95F-5BDF-5D0A-C241577F0A93}"/>
              </a:ext>
            </a:extLst>
          </p:cNvPr>
          <p:cNvSpPr/>
          <p:nvPr/>
        </p:nvSpPr>
        <p:spPr>
          <a:xfrm>
            <a:off x="868680" y="4009083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 4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620A515-2EC2-C9DD-5B20-3A06236E0907}"/>
              </a:ext>
            </a:extLst>
          </p:cNvPr>
          <p:cNvSpPr/>
          <p:nvPr/>
        </p:nvSpPr>
        <p:spPr>
          <a:xfrm>
            <a:off x="2148840" y="4009083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Recap: Arrays, Linked List, Stacks &amp; queues (survey due!)  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DC5ECCE-602F-1C30-CB65-7C6F8174F3BE}"/>
              </a:ext>
            </a:extLst>
          </p:cNvPr>
          <p:cNvSpPr/>
          <p:nvPr/>
        </p:nvSpPr>
        <p:spPr>
          <a:xfrm>
            <a:off x="868680" y="4557723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 9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93A463A-E051-99DC-9EB1-6A3655BE6ECF}"/>
              </a:ext>
            </a:extLst>
          </p:cNvPr>
          <p:cNvSpPr/>
          <p:nvPr/>
        </p:nvSpPr>
        <p:spPr>
          <a:xfrm>
            <a:off x="2148840" y="4557723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foundations  ·  Programming Assignment (PA) 1 released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27C8C56-FC4C-D6B3-0479-A6A611ACEE92}"/>
              </a:ext>
            </a:extLst>
          </p:cNvPr>
          <p:cNvSpPr/>
          <p:nvPr/>
        </p:nvSpPr>
        <p:spPr>
          <a:xfrm>
            <a:off x="548640" y="5486400"/>
            <a:ext cx="11064240" cy="0"/>
          </a:xfrm>
          <a:prstGeom prst="line">
            <a:avLst/>
          </a:prstGeom>
          <a:noFill/>
          <a:ln w="12700">
            <a:solidFill>
              <a:srgbClr val="D6D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C9E5E45-70FD-872D-62B7-160EB21A3297}"/>
              </a:ext>
            </a:extLst>
          </p:cNvPr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This is exactly what the first week is for.</a:t>
            </a:r>
            <a:endParaRPr lang="en-US" sz="15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18B32870-A9C8-EEF6-F7A5-FD7D761AE3F3}"/>
              </a:ext>
            </a:extLst>
          </p:cNvPr>
          <p:cNvSpPr/>
          <p:nvPr/>
        </p:nvSpPr>
        <p:spPr>
          <a:xfrm>
            <a:off x="879831" y="2317563"/>
            <a:ext cx="1034892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(please refresh while revisiting): 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  <a:hlinkClick r:id="rId3"/>
              </a:rPr>
              <a:t>https://github.com/tanwistha/cs383_fall26/tree/main</a:t>
            </a:r>
            <a:endParaRPr lang="en-US" sz="1400" dirty="0">
              <a:solidFill>
                <a:srgbClr val="595959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400" dirty="0">
              <a:solidFill>
                <a:srgbClr val="595959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813793D1-33CB-6EAE-D991-92635BFFEFBF}"/>
              </a:ext>
            </a:extLst>
          </p:cNvPr>
          <p:cNvSpPr/>
          <p:nvPr/>
        </p:nvSpPr>
        <p:spPr>
          <a:xfrm>
            <a:off x="864591" y="183835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21AC3EDD-028D-607F-8092-8CEB64F36662}"/>
              </a:ext>
            </a:extLst>
          </p:cNvPr>
          <p:cNvSpPr/>
          <p:nvPr/>
        </p:nvSpPr>
        <p:spPr>
          <a:xfrm>
            <a:off x="559791" y="1630262"/>
            <a:ext cx="11064240" cy="11256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5F9AF0FE-B72D-EA57-CAA2-1D505E1ACC04}"/>
              </a:ext>
            </a:extLst>
          </p:cNvPr>
          <p:cNvSpPr/>
          <p:nvPr/>
        </p:nvSpPr>
        <p:spPr>
          <a:xfrm>
            <a:off x="840105" y="2361724"/>
            <a:ext cx="1034892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Check email for invitation to Google classroom – CS 383 Fall 2026</a:t>
            </a:r>
          </a:p>
          <a:p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Assignment 0 (survey) posted. Due on Sep 4. 5 points - towards Class participation category.  </a:t>
            </a:r>
          </a:p>
          <a:p>
            <a:endParaRPr lang="en-US" sz="1400" b="1" dirty="0">
              <a:solidFill>
                <a:srgbClr val="595959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A0A0FF3-93EF-D9F5-90F5-C390EB1BC45F}"/>
              </a:ext>
            </a:extLst>
          </p:cNvPr>
          <p:cNvSpPr/>
          <p:nvPr/>
        </p:nvSpPr>
        <p:spPr>
          <a:xfrm>
            <a:off x="853440" y="1782601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55A11"/>
                </a:solidFill>
                <a:latin typeface="Calibri" pitchFamily="34" charset="0"/>
                <a:cs typeface="Calibri" pitchFamily="34" charset="-120"/>
              </a:rPr>
              <a:t>SURVEY POSTED (DUE END OF WEEK 1 – SEP 4)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59453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2786</TotalTime>
  <Words>1851</Words>
  <Application>Microsoft Macintosh PowerPoint</Application>
  <PresentationFormat>Widescreen</PresentationFormat>
  <Paragraphs>290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PROBLEM YOU ALL KNOW HOW TO SOLVE  Revisiting – how to define one approach is “better” than the other?  Integer Multiplication</vt:lpstr>
      <vt:lpstr>A PROBLEM YOU ALL KNOW HOW TO SOLVE Integer Multiplication</vt:lpstr>
      <vt:lpstr>A PROBLEM YOU ALL KNOW HOW TO SOLVE Integer Multiplication</vt:lpstr>
      <vt:lpstr>DIVIDE AND CONQUER Divide and conquer for multiplication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Tanwistha Saha</cp:lastModifiedBy>
  <cp:revision>105</cp:revision>
  <dcterms:created xsi:type="dcterms:W3CDTF">2026-08-25T16:51:38Z</dcterms:created>
  <dcterms:modified xsi:type="dcterms:W3CDTF">2026-08-31T19:48:50Z</dcterms:modified>
</cp:coreProperties>
</file>