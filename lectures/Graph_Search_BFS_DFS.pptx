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3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9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Algorithm Analysis and Design  ·  Graph Search: BFS and DFS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15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Algorithm Analysis and Design  ·  Graph Search: BFS and DFS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1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5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2"/>
                </a:solidFill>
              </a:rPr>
              <a:t>CS 383 ALGORITHMS ANALYSIS AND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Graph Search: BFS and DFS</a:t>
            </a:r>
            <a:endParaRPr lang="en-US" sz="4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Breadth-First and Depth-First Search</a:t>
            </a:r>
            <a:endParaRPr lang="en-US" sz="1900" dirty="0"/>
          </a:p>
        </p:txBody>
      </p:sp>
      <p:sp>
        <p:nvSpPr>
          <p:cNvPr id="5" name="text-1"/>
          <p:cNvSpPr txBox="1"/>
          <p:nvPr/>
        </p:nvSpPr>
        <p:spPr>
          <a:xfrm>
            <a:off x="502920" y="2331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Two ways to visit every vertex reachable from a start vertex, both in linear time. Today: how they work, how to trace them by hand, and what they are used for.</a:t>
            </a:r>
            <a:endParaRPr lang="en-US" sz="1400" dirty="0"/>
          </a:p>
        </p:txBody>
      </p:sp>
      <p:sp>
        <p:nvSpPr>
          <p:cNvPr id="6" name="badge"/>
          <p:cNvSpPr/>
          <p:nvPr/>
        </p:nvSpPr>
        <p:spPr>
          <a:xfrm>
            <a:off x="10104120" y="411480"/>
            <a:ext cx="1325880" cy="132588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 + E)</a:t>
            </a:r>
            <a:endParaRPr lang="en-US" sz="1300" dirty="0"/>
          </a:p>
        </p:txBody>
      </p:sp>
      <p:sp>
        <p:nvSpPr>
          <p:cNvPr id="7" name="edge-2"/>
          <p:cNvSpPr/>
          <p:nvPr/>
        </p:nvSpPr>
        <p:spPr>
          <a:xfrm flipV="1">
            <a:off x="7763031" y="2716533"/>
            <a:ext cx="1573217" cy="4648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3"/>
          <p:cNvSpPr/>
          <p:nvPr/>
        </p:nvSpPr>
        <p:spPr>
          <a:xfrm>
            <a:off x="7763031" y="3310893"/>
            <a:ext cx="1573217" cy="4648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4"/>
          <p:cNvSpPr/>
          <p:nvPr/>
        </p:nvSpPr>
        <p:spPr>
          <a:xfrm flipV="1">
            <a:off x="9781984" y="2408327"/>
            <a:ext cx="1558672" cy="21254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5"/>
          <p:cNvSpPr/>
          <p:nvPr/>
        </p:nvSpPr>
        <p:spPr>
          <a:xfrm>
            <a:off x="9774711" y="2716533"/>
            <a:ext cx="1573217" cy="4648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6"/>
          <p:cNvSpPr/>
          <p:nvPr/>
        </p:nvSpPr>
        <p:spPr>
          <a:xfrm>
            <a:off x="9781984" y="3871367"/>
            <a:ext cx="1558672" cy="21254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7"/>
          <p:cNvSpPr/>
          <p:nvPr/>
        </p:nvSpPr>
        <p:spPr>
          <a:xfrm>
            <a:off x="11567160" y="2606040"/>
            <a:ext cx="914" cy="4114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vertex-8"/>
          <p:cNvSpPr/>
          <p:nvPr/>
        </p:nvSpPr>
        <p:spPr>
          <a:xfrm>
            <a:off x="7315200" y="301752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vertex-9"/>
          <p:cNvSpPr/>
          <p:nvPr/>
        </p:nvSpPr>
        <p:spPr>
          <a:xfrm>
            <a:off x="9326880" y="2423160"/>
            <a:ext cx="457200" cy="4572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vertex-10"/>
          <p:cNvSpPr/>
          <p:nvPr/>
        </p:nvSpPr>
        <p:spPr>
          <a:xfrm>
            <a:off x="9326880" y="3611880"/>
            <a:ext cx="457200" cy="4572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vertex-11"/>
          <p:cNvSpPr/>
          <p:nvPr/>
        </p:nvSpPr>
        <p:spPr>
          <a:xfrm>
            <a:off x="11338560" y="214884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vertex-12"/>
          <p:cNvSpPr/>
          <p:nvPr/>
        </p:nvSpPr>
        <p:spPr>
          <a:xfrm>
            <a:off x="11338560" y="301752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vertex-13"/>
          <p:cNvSpPr/>
          <p:nvPr/>
        </p:nvSpPr>
        <p:spPr>
          <a:xfrm>
            <a:off x="11338560" y="388620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-14"/>
          <p:cNvSpPr txBox="1"/>
          <p:nvPr/>
        </p:nvSpPr>
        <p:spPr>
          <a:xfrm>
            <a:off x="7315200" y="4572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Running example: V = 6, E = 6, start s = 0</a:t>
            </a:r>
            <a:endParaRPr lang="en-US" sz="1200" dirty="0"/>
          </a:p>
        </p:txBody>
      </p:sp>
      <p:sp>
        <p:nvSpPr>
          <p:cNvPr id="20" name="text-15"/>
          <p:cNvSpPr txBox="1"/>
          <p:nvPr/>
        </p:nvSpPr>
        <p:spPr>
          <a:xfrm>
            <a:off x="7315200" y="4828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Shading shows the BFS layers: distance 0, 1, 2 from s.</a:t>
            </a:r>
            <a:endParaRPr lang="en-US" sz="1100" dirty="0"/>
          </a:p>
        </p:txBody>
      </p:sp>
      <p:sp>
        <p:nvSpPr>
          <p:cNvPr id="21" name="rule"/>
          <p:cNvSpPr/>
          <p:nvPr/>
        </p:nvSpPr>
        <p:spPr>
          <a:xfrm>
            <a:off x="502920" y="5715000"/>
            <a:ext cx="65836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16"/>
          <p:cNvSpPr txBox="1"/>
          <p:nvPr/>
        </p:nvSpPr>
        <p:spPr>
          <a:xfrm>
            <a:off x="50292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Tanwistha Saha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Search a Graph?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Goal: starting from a vertex s, find every vertex reachable from s, without exploring anything twice.</a:t>
            </a:r>
            <a:endParaRPr lang="en-US" sz="1350" dirty="0"/>
          </a:p>
        </p:txBody>
      </p:sp>
      <p:sp>
        <p:nvSpPr>
          <p:cNvPr id="5" name="card-17"/>
          <p:cNvSpPr/>
          <p:nvPr/>
        </p:nvSpPr>
        <p:spPr>
          <a:xfrm>
            <a:off x="502920" y="1691640"/>
            <a:ext cx="53949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18"/>
          <p:cNvSpPr txBox="1"/>
          <p:nvPr/>
        </p:nvSpPr>
        <p:spPr>
          <a:xfrm>
            <a:off x="685800" y="18105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QUESTIONS GRAPH SEARCH ANSWERS</a:t>
            </a:r>
            <a:endParaRPr lang="en-US" sz="1050" dirty="0"/>
          </a:p>
        </p:txBody>
      </p:sp>
      <p:sp>
        <p:nvSpPr>
          <p:cNvPr id="7" name="text-19"/>
          <p:cNvSpPr txBox="1"/>
          <p:nvPr/>
        </p:nvSpPr>
        <p:spPr>
          <a:xfrm>
            <a:off x="685800" y="2093976"/>
            <a:ext cx="5029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Reachability: </a:t>
            </a:r>
            <a:r>
              <a:rPr lang="en-US" sz="1250" dirty="0">
                <a:solidFill>
                  <a:schemeClr val="accent4"/>
                </a:solidFill>
              </a:rPr>
              <a:t>is there a path from s to t?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Shortest paths: </a:t>
            </a:r>
            <a:r>
              <a:rPr lang="en-US" sz="1250" dirty="0">
                <a:solidFill>
                  <a:schemeClr val="accent4"/>
                </a:solidFill>
              </a:rPr>
              <a:t>fewest edges from s to t?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Connectivity: </a:t>
            </a:r>
            <a:r>
              <a:rPr lang="en-US" sz="1250" dirty="0">
                <a:solidFill>
                  <a:schemeClr val="accent4"/>
                </a:solidFill>
              </a:rPr>
              <a:t>how many connected components?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Target speed: </a:t>
            </a:r>
            <a:r>
              <a:rPr lang="en-US" sz="1250" b="1" dirty="0">
                <a:solidFill>
                  <a:schemeClr val="accent1"/>
                </a:solidFill>
              </a:rPr>
              <a:t>O(V + E)</a:t>
            </a:r>
            <a:r>
              <a:rPr lang="en-US" sz="1250" dirty="0">
                <a:solidFill>
                  <a:schemeClr val="accent4"/>
                </a:solidFill>
              </a:rPr>
              <a:t>, as fast as reading the graph.</a:t>
            </a:r>
            <a:endParaRPr lang="en-US" sz="1250" dirty="0"/>
          </a:p>
        </p:txBody>
      </p:sp>
      <p:sp>
        <p:nvSpPr>
          <p:cNvPr id="8" name="card-20"/>
          <p:cNvSpPr/>
          <p:nvPr/>
        </p:nvSpPr>
        <p:spPr>
          <a:xfrm>
            <a:off x="502920" y="3493008"/>
            <a:ext cx="5394960" cy="2221992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-21"/>
          <p:cNvSpPr txBox="1"/>
          <p:nvPr/>
        </p:nvSpPr>
        <p:spPr>
          <a:xfrm>
            <a:off x="685800" y="3621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PSEUDOCODE: GENERIC SEARCH</a:t>
            </a:r>
            <a:endParaRPr lang="en-US" sz="1050" dirty="0"/>
          </a:p>
        </p:txBody>
      </p:sp>
      <p:sp>
        <p:nvSpPr>
          <p:cNvPr id="10" name="text-22"/>
          <p:cNvSpPr txBox="1"/>
          <p:nvPr/>
        </p:nvSpPr>
        <p:spPr>
          <a:xfrm>
            <a:off x="685800" y="393192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GenericSearch(G, s)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s as explored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some edge (v, w) has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explored and w unexplored: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2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choose one such edge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mark w as explored</a:t>
            </a:r>
            <a:endParaRPr lang="en-US" sz="1250" dirty="0"/>
          </a:p>
        </p:txBody>
      </p:sp>
      <p:sp>
        <p:nvSpPr>
          <p:cNvPr id="11" name="card-23"/>
          <p:cNvSpPr/>
          <p:nvPr/>
        </p:nvSpPr>
        <p:spPr>
          <a:xfrm>
            <a:off x="6126480" y="1691640"/>
            <a:ext cx="5559552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-24"/>
          <p:cNvSpPr txBox="1"/>
          <p:nvPr/>
        </p:nvSpPr>
        <p:spPr>
          <a:xfrm>
            <a:off x="6309360" y="181051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READING IT LINE BY LINE</a:t>
            </a:r>
            <a:endParaRPr lang="en-US" sz="1050" dirty="0"/>
          </a:p>
        </p:txBody>
      </p:sp>
      <p:sp>
        <p:nvSpPr>
          <p:cNvPr id="13" name="lineref-25"/>
          <p:cNvSpPr/>
          <p:nvPr/>
        </p:nvSpPr>
        <p:spPr>
          <a:xfrm>
            <a:off x="6309360" y="225933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-26"/>
          <p:cNvSpPr txBox="1"/>
          <p:nvPr/>
        </p:nvSpPr>
        <p:spPr>
          <a:xfrm>
            <a:off x="6995160" y="2103120"/>
            <a:ext cx="450799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We are given a graph G and a start vertex s.</a:t>
            </a:r>
            <a:endParaRPr lang="en-US" sz="1200" dirty="0"/>
          </a:p>
        </p:txBody>
      </p:sp>
      <p:sp>
        <p:nvSpPr>
          <p:cNvPr id="15" name="lineref-27"/>
          <p:cNvSpPr/>
          <p:nvPr/>
        </p:nvSpPr>
        <p:spPr>
          <a:xfrm>
            <a:off x="6309360" y="284607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-28"/>
          <p:cNvSpPr txBox="1"/>
          <p:nvPr/>
        </p:nvSpPr>
        <p:spPr>
          <a:xfrm>
            <a:off x="6995160" y="2689860"/>
            <a:ext cx="450799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“Explored” just means “already found”. We have found s.</a:t>
            </a:r>
            <a:endParaRPr lang="en-US" sz="1200" dirty="0"/>
          </a:p>
        </p:txBody>
      </p:sp>
      <p:sp>
        <p:nvSpPr>
          <p:cNvPr id="17" name="lineref-29"/>
          <p:cNvSpPr/>
          <p:nvPr/>
        </p:nvSpPr>
        <p:spPr>
          <a:xfrm>
            <a:off x="6309360" y="343281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3–4</a:t>
            </a:r>
            <a:endParaRPr lang="en-US" sz="1050" dirty="0"/>
          </a:p>
        </p:txBody>
      </p:sp>
      <p:sp>
        <p:nvSpPr>
          <p:cNvPr id="18" name="text-30"/>
          <p:cNvSpPr txBox="1"/>
          <p:nvPr/>
        </p:nvSpPr>
        <p:spPr>
          <a:xfrm>
            <a:off x="6995160" y="3276600"/>
            <a:ext cx="450799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Look for an edge that </a:t>
            </a:r>
            <a:r>
              <a:rPr lang="en-US" sz="1200" b="1" dirty="0">
                <a:solidFill>
                  <a:schemeClr val="tx1"/>
                </a:solidFill>
              </a:rPr>
              <a:t>crosses</a:t>
            </a:r>
            <a:r>
              <a:rPr lang="en-US" sz="1200" dirty="0">
                <a:solidFill>
                  <a:schemeClr val="tx1"/>
                </a:solidFill>
              </a:rPr>
              <a:t> from the found part of the graph to the unfound part.</a:t>
            </a:r>
            <a:endParaRPr lang="en-US" sz="1200" dirty="0"/>
          </a:p>
        </p:txBody>
      </p:sp>
      <p:sp>
        <p:nvSpPr>
          <p:cNvPr id="19" name="lineref-31"/>
          <p:cNvSpPr/>
          <p:nvPr/>
        </p:nvSpPr>
        <p:spPr>
          <a:xfrm>
            <a:off x="6309360" y="401955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-32"/>
          <p:cNvSpPr txBox="1"/>
          <p:nvPr/>
        </p:nvSpPr>
        <p:spPr>
          <a:xfrm>
            <a:off x="6995160" y="3863340"/>
            <a:ext cx="450799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There may be many. </a:t>
            </a:r>
            <a:r>
              <a:rPr lang="en-US" sz="1200" b="1" dirty="0">
                <a:solidFill>
                  <a:schemeClr val="accent2"/>
                </a:solidFill>
              </a:rPr>
              <a:t>How we pick one</a:t>
            </a:r>
            <a:r>
              <a:rPr lang="en-US" sz="1200" dirty="0">
                <a:solidFill>
                  <a:schemeClr val="tx1"/>
                </a:solidFill>
              </a:rPr>
              <a:t> is the only thing BFS and DFS do differently.</a:t>
            </a:r>
            <a:endParaRPr lang="en-US" sz="1200" dirty="0"/>
          </a:p>
        </p:txBody>
      </p:sp>
      <p:sp>
        <p:nvSpPr>
          <p:cNvPr id="21" name="lineref-33"/>
          <p:cNvSpPr/>
          <p:nvPr/>
        </p:nvSpPr>
        <p:spPr>
          <a:xfrm>
            <a:off x="6309360" y="460629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-34"/>
          <p:cNvSpPr txBox="1"/>
          <p:nvPr/>
        </p:nvSpPr>
        <p:spPr>
          <a:xfrm>
            <a:off x="6995160" y="4450080"/>
            <a:ext cx="450799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Walk across it: w is now found. Go back to line 3.</a:t>
            </a:r>
            <a:endParaRPr lang="en-US" sz="1200" dirty="0"/>
          </a:p>
        </p:txBody>
      </p:sp>
      <p:sp>
        <p:nvSpPr>
          <p:cNvPr id="23" name="lineref-35"/>
          <p:cNvSpPr/>
          <p:nvPr/>
        </p:nvSpPr>
        <p:spPr>
          <a:xfrm>
            <a:off x="6309360" y="519303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24" name="text-36"/>
          <p:cNvSpPr txBox="1"/>
          <p:nvPr/>
        </p:nvSpPr>
        <p:spPr>
          <a:xfrm>
            <a:off x="6995160" y="5036820"/>
            <a:ext cx="450799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When no crossing edge is left: </a:t>
            </a:r>
            <a:r>
              <a:rPr lang="en-US" sz="1200" dirty="0">
                <a:solidFill>
                  <a:schemeClr val="tx1"/>
                </a:solidFill>
              </a:rPr>
              <a:t>w is explored  ⇔  there is a path from s to w.</a:t>
            </a:r>
            <a:endParaRPr lang="en-US" sz="1200" dirty="0"/>
          </a:p>
        </p:txBody>
      </p:sp>
      <p:sp>
        <p:nvSpPr>
          <p:cNvPr id="25" name="card-37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-38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BFS: </a:t>
            </a:r>
            <a:r>
              <a:rPr lang="en-US" sz="1350" dirty="0">
                <a:solidFill>
                  <a:schemeClr val="tx1"/>
                </a:solidFill>
              </a:rPr>
              <a:t>explore cautiously, layer by layer (a queue).     </a:t>
            </a:r>
            <a:r>
              <a:rPr lang="en-US" sz="1350" b="1" dirty="0">
                <a:solidFill>
                  <a:schemeClr val="tx1"/>
                </a:solidFill>
              </a:rPr>
              <a:t>DFS: </a:t>
            </a:r>
            <a:r>
              <a:rPr lang="en-US" sz="1350" dirty="0">
                <a:solidFill>
                  <a:schemeClr val="tx1"/>
                </a:solidFill>
              </a:rPr>
              <a:t>explore aggressively, back up only when stuck (a stack).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BREADTH-FIRST SEARCH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BFS: Explore in Layers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Visit everything 1 edge away, then everything 2 edges away, and so on, like ripples spreading from s.</a:t>
            </a:r>
            <a:endParaRPr lang="en-US" sz="1350" dirty="0"/>
          </a:p>
        </p:txBody>
      </p:sp>
      <p:sp>
        <p:nvSpPr>
          <p:cNvPr id="5" name="card-39"/>
          <p:cNvSpPr/>
          <p:nvPr/>
        </p:nvSpPr>
        <p:spPr>
          <a:xfrm>
            <a:off x="502920" y="1691640"/>
            <a:ext cx="603504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nd-40"/>
          <p:cNvSpPr/>
          <p:nvPr/>
        </p:nvSpPr>
        <p:spPr>
          <a:xfrm>
            <a:off x="868680" y="2011680"/>
            <a:ext cx="914400" cy="288036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-41"/>
          <p:cNvSpPr txBox="1"/>
          <p:nvPr/>
        </p:nvSpPr>
        <p:spPr>
          <a:xfrm>
            <a:off x="86868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L0</a:t>
            </a:r>
            <a:endParaRPr lang="en-US" sz="1200" dirty="0"/>
          </a:p>
        </p:txBody>
      </p:sp>
      <p:sp>
        <p:nvSpPr>
          <p:cNvPr id="8" name="band-42"/>
          <p:cNvSpPr/>
          <p:nvPr/>
        </p:nvSpPr>
        <p:spPr>
          <a:xfrm>
            <a:off x="2880360" y="2011680"/>
            <a:ext cx="914400" cy="288036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43"/>
          <p:cNvSpPr txBox="1"/>
          <p:nvPr/>
        </p:nvSpPr>
        <p:spPr>
          <a:xfrm>
            <a:off x="288036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L1</a:t>
            </a:r>
            <a:endParaRPr lang="en-US" sz="1200" dirty="0"/>
          </a:p>
        </p:txBody>
      </p:sp>
      <p:sp>
        <p:nvSpPr>
          <p:cNvPr id="10" name="band-44"/>
          <p:cNvSpPr/>
          <p:nvPr/>
        </p:nvSpPr>
        <p:spPr>
          <a:xfrm>
            <a:off x="4892040" y="2011680"/>
            <a:ext cx="914400" cy="28803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-45"/>
          <p:cNvSpPr txBox="1"/>
          <p:nvPr/>
        </p:nvSpPr>
        <p:spPr>
          <a:xfrm>
            <a:off x="489204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L2</a:t>
            </a:r>
            <a:endParaRPr lang="en-US" sz="1200" dirty="0"/>
          </a:p>
        </p:txBody>
      </p:sp>
      <p:sp>
        <p:nvSpPr>
          <p:cNvPr id="12" name="edge-46"/>
          <p:cNvSpPr/>
          <p:nvPr/>
        </p:nvSpPr>
        <p:spPr>
          <a:xfrm flipV="1">
            <a:off x="1536342" y="3079702"/>
            <a:ext cx="1590756" cy="46999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47"/>
          <p:cNvSpPr/>
          <p:nvPr/>
        </p:nvSpPr>
        <p:spPr>
          <a:xfrm>
            <a:off x="1536342" y="3674062"/>
            <a:ext cx="1590756" cy="46999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48"/>
          <p:cNvSpPr/>
          <p:nvPr/>
        </p:nvSpPr>
        <p:spPr>
          <a:xfrm flipV="1">
            <a:off x="3555004" y="2772851"/>
            <a:ext cx="1576793" cy="21501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49"/>
          <p:cNvSpPr/>
          <p:nvPr/>
        </p:nvSpPr>
        <p:spPr>
          <a:xfrm>
            <a:off x="3548022" y="3079702"/>
            <a:ext cx="1590756" cy="46999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50"/>
          <p:cNvSpPr/>
          <p:nvPr/>
        </p:nvSpPr>
        <p:spPr>
          <a:xfrm>
            <a:off x="3555004" y="4235891"/>
            <a:ext cx="1576793" cy="21501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dge-51"/>
          <p:cNvSpPr/>
          <p:nvPr/>
        </p:nvSpPr>
        <p:spPr>
          <a:xfrm>
            <a:off x="5349240" y="2962656"/>
            <a:ext cx="914" cy="42976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vertex-52"/>
          <p:cNvSpPr/>
          <p:nvPr/>
        </p:nvSpPr>
        <p:spPr>
          <a:xfrm>
            <a:off x="1106424" y="3392424"/>
            <a:ext cx="438912" cy="43891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vertex-53"/>
          <p:cNvSpPr/>
          <p:nvPr/>
        </p:nvSpPr>
        <p:spPr>
          <a:xfrm>
            <a:off x="3118104" y="279806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vertex-54"/>
          <p:cNvSpPr/>
          <p:nvPr/>
        </p:nvSpPr>
        <p:spPr>
          <a:xfrm>
            <a:off x="3118104" y="398678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vertex-55"/>
          <p:cNvSpPr/>
          <p:nvPr/>
        </p:nvSpPr>
        <p:spPr>
          <a:xfrm>
            <a:off x="5129784" y="252374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vertex-56"/>
          <p:cNvSpPr/>
          <p:nvPr/>
        </p:nvSpPr>
        <p:spPr>
          <a:xfrm>
            <a:off x="5129784" y="339242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vertex-57"/>
          <p:cNvSpPr/>
          <p:nvPr/>
        </p:nvSpPr>
        <p:spPr>
          <a:xfrm>
            <a:off x="5129784" y="4261104"/>
            <a:ext cx="438912" cy="4389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-58"/>
          <p:cNvSpPr txBox="1"/>
          <p:nvPr/>
        </p:nvSpPr>
        <p:spPr>
          <a:xfrm>
            <a:off x="731520" y="498348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= {0}    L1 = {1, 2}    L2 = {3, 4, 5}</a:t>
            </a:r>
            <a:endParaRPr lang="en-US" sz="1200" dirty="0"/>
          </a:p>
        </p:txBody>
      </p:sp>
      <p:sp>
        <p:nvSpPr>
          <p:cNvPr id="25" name="card-59"/>
          <p:cNvSpPr/>
          <p:nvPr/>
        </p:nvSpPr>
        <p:spPr>
          <a:xfrm>
            <a:off x="6766560" y="1691640"/>
            <a:ext cx="4919472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-60"/>
          <p:cNvSpPr txBox="1"/>
          <p:nvPr/>
        </p:nvSpPr>
        <p:spPr>
          <a:xfrm>
            <a:off x="6949440" y="1810512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LAYERS</a:t>
            </a:r>
            <a:endParaRPr lang="en-US" sz="1050" dirty="0"/>
          </a:p>
        </p:txBody>
      </p:sp>
      <p:sp>
        <p:nvSpPr>
          <p:cNvPr id="27" name="text-61"/>
          <p:cNvSpPr txBox="1"/>
          <p:nvPr/>
        </p:nvSpPr>
        <p:spPr>
          <a:xfrm>
            <a:off x="6949440" y="2093976"/>
            <a:ext cx="4553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Layer 0: </a:t>
            </a:r>
            <a:r>
              <a:rPr lang="en-US" sz="1250" dirty="0">
                <a:solidFill>
                  <a:schemeClr val="accent4"/>
                </a:solidFill>
              </a:rPr>
              <a:t>just s.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Layer i + 1: </a:t>
            </a:r>
            <a:r>
              <a:rPr lang="en-US" sz="1250" dirty="0">
                <a:solidFill>
                  <a:schemeClr val="accent4"/>
                </a:solidFill>
              </a:rPr>
              <a:t>unexplored neighbors of vertices in layer i.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Each vertex lands in exactly one layer.</a:t>
            </a:r>
            <a:endParaRPr lang="en-US" sz="1250" dirty="0"/>
          </a:p>
        </p:txBody>
      </p:sp>
      <p:sp>
        <p:nvSpPr>
          <p:cNvPr id="28" name="card-62"/>
          <p:cNvSpPr/>
          <p:nvPr/>
        </p:nvSpPr>
        <p:spPr>
          <a:xfrm>
            <a:off x="6766560" y="3310128"/>
            <a:ext cx="4919472" cy="2404872"/>
          </a:xfrm>
          <a:prstGeom prst="roundRect">
            <a:avLst>
              <a:gd name="adj" fmla="val 22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-63"/>
          <p:cNvSpPr txBox="1"/>
          <p:nvPr/>
        </p:nvSpPr>
        <p:spPr>
          <a:xfrm>
            <a:off x="6949440" y="342900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THE TOOL: A QUEUE (FIRST IN, FIRST OUT)</a:t>
            </a:r>
            <a:endParaRPr lang="en-US" sz="1050" dirty="0"/>
          </a:p>
        </p:txBody>
      </p:sp>
      <p:sp>
        <p:nvSpPr>
          <p:cNvPr id="30" name="text-64"/>
          <p:cNvSpPr txBox="1"/>
          <p:nvPr/>
        </p:nvSpPr>
        <p:spPr>
          <a:xfrm>
            <a:off x="6949440" y="3712464"/>
            <a:ext cx="45537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Add newly found vertices at the back; take the next vertex from the front. So vertices leave in layer order.</a:t>
            </a:r>
            <a:endParaRPr lang="en-US" sz="1250" dirty="0"/>
          </a:p>
        </p:txBody>
      </p:sp>
      <p:sp>
        <p:nvSpPr>
          <p:cNvPr id="31" name="q-65"/>
          <p:cNvSpPr/>
          <p:nvPr/>
        </p:nvSpPr>
        <p:spPr>
          <a:xfrm>
            <a:off x="7772400" y="4617720"/>
            <a:ext cx="566928" cy="4572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q-66"/>
          <p:cNvSpPr/>
          <p:nvPr/>
        </p:nvSpPr>
        <p:spPr>
          <a:xfrm>
            <a:off x="8339328" y="4617720"/>
            <a:ext cx="566928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q-67"/>
          <p:cNvSpPr/>
          <p:nvPr/>
        </p:nvSpPr>
        <p:spPr>
          <a:xfrm>
            <a:off x="8906256" y="4617720"/>
            <a:ext cx="566928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q-68"/>
          <p:cNvSpPr/>
          <p:nvPr/>
        </p:nvSpPr>
        <p:spPr>
          <a:xfrm>
            <a:off x="9473184" y="4617720"/>
            <a:ext cx="566928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-69"/>
          <p:cNvSpPr txBox="1"/>
          <p:nvPr/>
        </p:nvSpPr>
        <p:spPr>
          <a:xfrm>
            <a:off x="7040880" y="46177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front</a:t>
            </a:r>
            <a:endParaRPr lang="en-US" sz="1100" dirty="0"/>
          </a:p>
        </p:txBody>
      </p:sp>
      <p:sp>
        <p:nvSpPr>
          <p:cNvPr id="36" name="text-70"/>
          <p:cNvSpPr txBox="1"/>
          <p:nvPr/>
        </p:nvSpPr>
        <p:spPr>
          <a:xfrm>
            <a:off x="10085832" y="4617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back</a:t>
            </a:r>
            <a:endParaRPr lang="en-US" sz="1100" dirty="0"/>
          </a:p>
        </p:txBody>
      </p:sp>
      <p:sp>
        <p:nvSpPr>
          <p:cNvPr id="37" name="text-71"/>
          <p:cNvSpPr txBox="1"/>
          <p:nvPr/>
        </p:nvSpPr>
        <p:spPr>
          <a:xfrm>
            <a:off x="7772400" y="509320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4"/>
                </a:solidFill>
              </a:rPr>
              <a:t>remove ←                              ← add</a:t>
            </a:r>
            <a:endParaRPr lang="en-US" sz="950" dirty="0"/>
          </a:p>
        </p:txBody>
      </p:sp>
      <p:sp>
        <p:nvSpPr>
          <p:cNvPr id="38" name="card-72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-73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Key fact: </a:t>
            </a:r>
            <a:r>
              <a:rPr lang="en-US" sz="1350" dirty="0">
                <a:solidFill>
                  <a:schemeClr val="tx1"/>
                </a:solidFill>
              </a:rPr>
              <a:t>a vertex's layer number is the number of edges on a shortest path from s to it.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BREADTH-FIRST SEARCH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BFS: Pseudocode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Generic search where the next vertex to expand is always the one found earliest. A queue enforces that.</a:t>
            </a:r>
            <a:endParaRPr lang="en-US" sz="1350" dirty="0"/>
          </a:p>
        </p:txBody>
      </p:sp>
      <p:sp>
        <p:nvSpPr>
          <p:cNvPr id="5" name="card-74"/>
          <p:cNvSpPr/>
          <p:nvPr/>
        </p:nvSpPr>
        <p:spPr>
          <a:xfrm>
            <a:off x="502920" y="1691640"/>
            <a:ext cx="6309360" cy="4023360"/>
          </a:xfrm>
          <a:prstGeom prst="roundRect">
            <a:avLst>
              <a:gd name="adj" fmla="val 1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75"/>
          <p:cNvSpPr txBox="1"/>
          <p:nvPr/>
        </p:nvSpPr>
        <p:spPr>
          <a:xfrm>
            <a:off x="685800" y="18196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PSEUDOCODE</a:t>
            </a:r>
            <a:endParaRPr lang="en-US" sz="1050" dirty="0"/>
          </a:p>
        </p:txBody>
      </p:sp>
      <p:sp>
        <p:nvSpPr>
          <p:cNvPr id="7" name="text-76"/>
          <p:cNvSpPr txBox="1"/>
          <p:nvPr/>
        </p:nvSpPr>
        <p:spPr>
          <a:xfrm>
            <a:off x="685800" y="2130552"/>
            <a:ext cx="598932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BFS(G, s)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s as explored; all others unexplored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:= a queue, initialized with 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is not empty: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 := remove the vertex at the front of Q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each edge (v, w) in v's adjacency list: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w is unexplored: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3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mark w as explored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add w to the end of Q</a:t>
            </a:r>
            <a:endParaRPr lang="en-US" sz="1350" dirty="0"/>
          </a:p>
        </p:txBody>
      </p:sp>
      <p:sp>
        <p:nvSpPr>
          <p:cNvPr id="8" name="card-77"/>
          <p:cNvSpPr/>
          <p:nvPr/>
        </p:nvSpPr>
        <p:spPr>
          <a:xfrm>
            <a:off x="7040880" y="1691640"/>
            <a:ext cx="4645152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78"/>
          <p:cNvSpPr txBox="1"/>
          <p:nvPr/>
        </p:nvSpPr>
        <p:spPr>
          <a:xfrm>
            <a:off x="7223760" y="181051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WHAT EACH LINE DOES</a:t>
            </a:r>
            <a:endParaRPr lang="en-US" sz="1050" dirty="0"/>
          </a:p>
        </p:txBody>
      </p:sp>
      <p:sp>
        <p:nvSpPr>
          <p:cNvPr id="10" name="lineref-79"/>
          <p:cNvSpPr/>
          <p:nvPr/>
        </p:nvSpPr>
        <p:spPr>
          <a:xfrm>
            <a:off x="7223760" y="218598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-80"/>
          <p:cNvSpPr txBox="1"/>
          <p:nvPr/>
        </p:nvSpPr>
        <p:spPr>
          <a:xfrm>
            <a:off x="7909560" y="210312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Input: graph G (as adjacency lists) and a start vertex s.</a:t>
            </a:r>
            <a:endParaRPr lang="en-US" sz="1200" dirty="0"/>
          </a:p>
        </p:txBody>
      </p:sp>
      <p:sp>
        <p:nvSpPr>
          <p:cNvPr id="12" name="lineref-81"/>
          <p:cNvSpPr/>
          <p:nvPr/>
        </p:nvSpPr>
        <p:spPr>
          <a:xfrm>
            <a:off x="7223760" y="262604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-82"/>
          <p:cNvSpPr txBox="1"/>
          <p:nvPr/>
        </p:nvSpPr>
        <p:spPr>
          <a:xfrm>
            <a:off x="7909560" y="254317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“Explored” = already found. At first, only s is found.</a:t>
            </a:r>
            <a:endParaRPr lang="en-US" sz="1200" dirty="0"/>
          </a:p>
        </p:txBody>
      </p:sp>
      <p:sp>
        <p:nvSpPr>
          <p:cNvPr id="14" name="lineref-83"/>
          <p:cNvSpPr/>
          <p:nvPr/>
        </p:nvSpPr>
        <p:spPr>
          <a:xfrm>
            <a:off x="7223760" y="306609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-84"/>
          <p:cNvSpPr txBox="1"/>
          <p:nvPr/>
        </p:nvSpPr>
        <p:spPr>
          <a:xfrm>
            <a:off x="7909560" y="298323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Q is a </a:t>
            </a:r>
            <a:r>
              <a:rPr lang="en-US" sz="1200" b="1" dirty="0">
                <a:solidFill>
                  <a:schemeClr val="tx1"/>
                </a:solidFill>
              </a:rPr>
              <a:t>waiting line</a:t>
            </a:r>
            <a:r>
              <a:rPr lang="en-US" sz="1200" dirty="0">
                <a:solidFill>
                  <a:schemeClr val="tx1"/>
                </a:solidFill>
              </a:rPr>
              <a:t> of found vertices whose neighbors we still need to check. s is first in line.</a:t>
            </a:r>
            <a:endParaRPr lang="en-US" sz="1200" dirty="0"/>
          </a:p>
        </p:txBody>
      </p:sp>
      <p:sp>
        <p:nvSpPr>
          <p:cNvPr id="16" name="lineref-85"/>
          <p:cNvSpPr/>
          <p:nvPr/>
        </p:nvSpPr>
        <p:spPr>
          <a:xfrm>
            <a:off x="7223760" y="350615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-86"/>
          <p:cNvSpPr txBox="1"/>
          <p:nvPr/>
        </p:nvSpPr>
        <p:spPr>
          <a:xfrm>
            <a:off x="7909560" y="342328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Keep going until nobody is waiting.</a:t>
            </a:r>
            <a:endParaRPr lang="en-US" sz="1200" dirty="0"/>
          </a:p>
        </p:txBody>
      </p:sp>
      <p:sp>
        <p:nvSpPr>
          <p:cNvPr id="18" name="lineref-87"/>
          <p:cNvSpPr/>
          <p:nvPr/>
        </p:nvSpPr>
        <p:spPr>
          <a:xfrm>
            <a:off x="7223760" y="394620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-88"/>
          <p:cNvSpPr txBox="1"/>
          <p:nvPr/>
        </p:nvSpPr>
        <p:spPr>
          <a:xfrm>
            <a:off x="7909560" y="386334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Take the vertex that has waited longest: the front of the line.</a:t>
            </a:r>
            <a:endParaRPr lang="en-US" sz="1200" dirty="0"/>
          </a:p>
        </p:txBody>
      </p:sp>
      <p:sp>
        <p:nvSpPr>
          <p:cNvPr id="20" name="lineref-89"/>
          <p:cNvSpPr/>
          <p:nvPr/>
        </p:nvSpPr>
        <p:spPr>
          <a:xfrm>
            <a:off x="7223760" y="438626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-90"/>
          <p:cNvSpPr txBox="1"/>
          <p:nvPr/>
        </p:nvSpPr>
        <p:spPr>
          <a:xfrm>
            <a:off x="7909560" y="430339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Look at each neighbor w of v, one at a time.</a:t>
            </a:r>
            <a:endParaRPr lang="en-US" sz="1200" dirty="0"/>
          </a:p>
        </p:txBody>
      </p:sp>
      <p:sp>
        <p:nvSpPr>
          <p:cNvPr id="22" name="lineref-91"/>
          <p:cNvSpPr/>
          <p:nvPr/>
        </p:nvSpPr>
        <p:spPr>
          <a:xfrm>
            <a:off x="7223760" y="482631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3" name="text-92"/>
          <p:cNvSpPr txBox="1"/>
          <p:nvPr/>
        </p:nvSpPr>
        <p:spPr>
          <a:xfrm>
            <a:off x="7909560" y="474345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Is this the first time we have seen w?</a:t>
            </a:r>
            <a:endParaRPr lang="en-US" sz="1200" dirty="0"/>
          </a:p>
        </p:txBody>
      </p:sp>
      <p:sp>
        <p:nvSpPr>
          <p:cNvPr id="24" name="lineref-93"/>
          <p:cNvSpPr/>
          <p:nvPr/>
        </p:nvSpPr>
        <p:spPr>
          <a:xfrm>
            <a:off x="7223760" y="526637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8–9</a:t>
            </a:r>
            <a:endParaRPr lang="en-US" sz="1050" dirty="0"/>
          </a:p>
        </p:txBody>
      </p:sp>
      <p:sp>
        <p:nvSpPr>
          <p:cNvPr id="25" name="text-94"/>
          <p:cNvSpPr txBox="1"/>
          <p:nvPr/>
        </p:nvSpPr>
        <p:spPr>
          <a:xfrm>
            <a:off x="7909560" y="518350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Yes: </a:t>
            </a:r>
            <a:r>
              <a:rPr lang="en-US" sz="1200" b="1" dirty="0">
                <a:solidFill>
                  <a:schemeClr val="accent2"/>
                </a:solidFill>
              </a:rPr>
              <a:t>tick w off now</a:t>
            </a:r>
            <a:r>
              <a:rPr lang="en-US" sz="1200" dirty="0">
                <a:solidFill>
                  <a:schemeClr val="tx1"/>
                </a:solidFill>
              </a:rPr>
              <a:t> (so it is never added twice), then send it to the back of the line.</a:t>
            </a:r>
            <a:endParaRPr lang="en-US" sz="1200" dirty="0"/>
          </a:p>
        </p:txBody>
      </p:sp>
      <p:sp>
        <p:nvSpPr>
          <p:cNvPr id="26" name="card-95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-96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In Python: </a:t>
            </a:r>
            <a:r>
              <a:rPr lang="en-US" sz="1350" dirty="0">
                <a:solidFill>
                  <a:schemeClr val="tx1"/>
                </a:solidFill>
              </a:rPr>
              <a:t>use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collections.deque</a:t>
            </a:r>
            <a:r>
              <a:rPr lang="en-US" sz="1350" dirty="0">
                <a:solidFill>
                  <a:schemeClr val="tx1"/>
                </a:solidFill>
              </a:rPr>
              <a:t> (append / popleft are O(1); list.pop(0) is O(V)) and a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350" dirty="0">
                <a:solidFill>
                  <a:schemeClr val="tx1"/>
                </a:solidFill>
              </a:rPr>
              <a:t> for explored.</a:t>
            </a:r>
            <a:endParaRPr lang="en-US" sz="13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BOARD WORK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Tracing BFS from s = 0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Process neighbors in increasing order. Track the queue after every removal.</a:t>
            </a:r>
            <a:endParaRPr lang="en-US" sz="1350" dirty="0"/>
          </a:p>
        </p:txBody>
      </p:sp>
      <p:sp>
        <p:nvSpPr>
          <p:cNvPr id="5" name="card-97"/>
          <p:cNvSpPr/>
          <p:nvPr/>
        </p:nvSpPr>
        <p:spPr>
          <a:xfrm>
            <a:off x="502920" y="1691640"/>
            <a:ext cx="516636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dge-98"/>
          <p:cNvSpPr/>
          <p:nvPr/>
        </p:nvSpPr>
        <p:spPr>
          <a:xfrm flipV="1">
            <a:off x="1207533" y="2528471"/>
            <a:ext cx="1608294" cy="47517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99"/>
          <p:cNvSpPr/>
          <p:nvPr/>
        </p:nvSpPr>
        <p:spPr>
          <a:xfrm>
            <a:off x="1207533" y="3122831"/>
            <a:ext cx="1608294" cy="47517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100"/>
          <p:cNvSpPr/>
          <p:nvPr/>
        </p:nvSpPr>
        <p:spPr>
          <a:xfrm flipV="1">
            <a:off x="3225903" y="2222976"/>
            <a:ext cx="1594913" cy="21748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101"/>
          <p:cNvSpPr/>
          <p:nvPr/>
        </p:nvSpPr>
        <p:spPr>
          <a:xfrm>
            <a:off x="3219213" y="2528471"/>
            <a:ext cx="1608294" cy="47517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102"/>
          <p:cNvSpPr/>
          <p:nvPr/>
        </p:nvSpPr>
        <p:spPr>
          <a:xfrm>
            <a:off x="3225903" y="3686016"/>
            <a:ext cx="1594913" cy="21748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103"/>
          <p:cNvSpPr/>
          <p:nvPr/>
        </p:nvSpPr>
        <p:spPr>
          <a:xfrm>
            <a:off x="5029200" y="2404872"/>
            <a:ext cx="914" cy="44805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vertex-104"/>
          <p:cNvSpPr/>
          <p:nvPr/>
        </p:nvSpPr>
        <p:spPr>
          <a:xfrm>
            <a:off x="795528" y="2852928"/>
            <a:ext cx="420624" cy="42062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vertex-105"/>
          <p:cNvSpPr/>
          <p:nvPr/>
        </p:nvSpPr>
        <p:spPr>
          <a:xfrm>
            <a:off x="2807208" y="225856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vertex-106"/>
          <p:cNvSpPr/>
          <p:nvPr/>
        </p:nvSpPr>
        <p:spPr>
          <a:xfrm>
            <a:off x="2807208" y="344728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vertex-107"/>
          <p:cNvSpPr/>
          <p:nvPr/>
        </p:nvSpPr>
        <p:spPr>
          <a:xfrm>
            <a:off x="4818888" y="198424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vertex-108"/>
          <p:cNvSpPr/>
          <p:nvPr/>
        </p:nvSpPr>
        <p:spPr>
          <a:xfrm>
            <a:off x="4818888" y="285292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vertex-109"/>
          <p:cNvSpPr/>
          <p:nvPr/>
        </p:nvSpPr>
        <p:spPr>
          <a:xfrm>
            <a:off x="4818888" y="372160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-110"/>
          <p:cNvSpPr txBox="1"/>
          <p:nvPr/>
        </p:nvSpPr>
        <p:spPr>
          <a:xfrm>
            <a:off x="731520" y="43434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chemeClr val="accent2"/>
                </a:solidFill>
              </a:rPr>
              <a:t>Adjacency lists (neighbors in increasing order)</a:t>
            </a:r>
            <a:endParaRPr lang="en-US" sz="1050" dirty="0"/>
          </a:p>
        </p:txBody>
      </p:sp>
      <p:sp>
        <p:nvSpPr>
          <p:cNvPr id="19" name="text-111"/>
          <p:cNvSpPr txBox="1"/>
          <p:nvPr/>
        </p:nvSpPr>
        <p:spPr>
          <a:xfrm>
            <a:off x="731520" y="46177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1,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0, 3,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0, 5</a:t>
            </a:r>
            <a:endParaRPr lang="en-US" sz="1100" dirty="0"/>
          </a:p>
        </p:txBody>
      </p:sp>
      <p:sp>
        <p:nvSpPr>
          <p:cNvPr id="20" name="text-112"/>
          <p:cNvSpPr txBox="1"/>
          <p:nvPr/>
        </p:nvSpPr>
        <p:spPr>
          <a:xfrm>
            <a:off x="3108960" y="46177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1,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1,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2</a:t>
            </a:r>
            <a:endParaRPr lang="en-US" sz="1100" dirty="0"/>
          </a:p>
        </p:txBody>
      </p:sp>
      <p:graphicFrame>
        <p:nvGraphicFramePr>
          <p:cNvPr id="21" name="table-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691640"/>
          <a:ext cx="5788152" cy="380390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Newly explored (added)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 (front → back)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 2]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   (0 already explored)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[2, 3, 4]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 (0 already explored)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[3, 4, 5]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  (1, 4 already explored)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[4, 5]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  (1, 3 already explored)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  (2 already explored)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 ]  done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card-114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-115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BFS order: </a:t>
            </a:r>
            <a:r>
              <a:rPr lang="en-US" sz="13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0, 1, 2, 3, 4, 5</a:t>
            </a:r>
            <a:r>
              <a:rPr lang="en-US" sz="1350" dirty="0">
                <a:solidFill>
                  <a:schemeClr val="tx1"/>
                </a:solidFill>
              </a:rPr>
              <a:t>     Blue edges form the BFS tree (the edge that first found each vertex).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BREADTH-FIRST SEARCH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BFS Finds Shortest Paths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Same BFS plus four new lines (orange): record each vertex's distance from s and who discovered it.</a:t>
            </a:r>
            <a:endParaRPr lang="en-US" sz="1350" dirty="0"/>
          </a:p>
        </p:txBody>
      </p:sp>
      <p:sp>
        <p:nvSpPr>
          <p:cNvPr id="5" name="card-116"/>
          <p:cNvSpPr/>
          <p:nvPr/>
        </p:nvSpPr>
        <p:spPr>
          <a:xfrm>
            <a:off x="502920" y="1691640"/>
            <a:ext cx="5852160" cy="4023360"/>
          </a:xfrm>
          <a:prstGeom prst="roundRect">
            <a:avLst>
              <a:gd name="adj" fmla="val 1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17"/>
          <p:cNvSpPr txBox="1"/>
          <p:nvPr/>
        </p:nvSpPr>
        <p:spPr>
          <a:xfrm>
            <a:off x="685800" y="1819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PSEUDOCODE</a:t>
            </a:r>
            <a:endParaRPr lang="en-US" sz="1050" dirty="0"/>
          </a:p>
        </p:txBody>
      </p:sp>
      <p:sp>
        <p:nvSpPr>
          <p:cNvPr id="7" name="text-118"/>
          <p:cNvSpPr txBox="1"/>
          <p:nvPr/>
        </p:nvSpPr>
        <p:spPr>
          <a:xfrm>
            <a:off x="685800" y="2130552"/>
            <a:ext cx="553212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BFS-Paths(G, s)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s as explored; all others unexplored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2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dist(s) := 0;  dist(v) := ∞ for v ≠ 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2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parent(s) := none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:= a queue, initialized with 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is not empty: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 := remove the vertex at the front of Q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each edge (v, w) in v's adjacency list: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w is unexplored: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mark w as explored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2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dist(w) := dist(v) + 1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2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parent(w) := v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add w to the end of Q</a:t>
            </a:r>
            <a:endParaRPr lang="en-US" sz="1250" dirty="0"/>
          </a:p>
        </p:txBody>
      </p:sp>
      <p:sp>
        <p:nvSpPr>
          <p:cNvPr id="8" name="card-119"/>
          <p:cNvSpPr/>
          <p:nvPr/>
        </p:nvSpPr>
        <p:spPr>
          <a:xfrm>
            <a:off x="6583680" y="1691640"/>
            <a:ext cx="5102352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120"/>
          <p:cNvSpPr txBox="1"/>
          <p:nvPr/>
        </p:nvSpPr>
        <p:spPr>
          <a:xfrm>
            <a:off x="6766560" y="1810512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THE NEW LINES</a:t>
            </a:r>
            <a:endParaRPr lang="en-US" sz="1050" dirty="0"/>
          </a:p>
        </p:txBody>
      </p:sp>
      <p:sp>
        <p:nvSpPr>
          <p:cNvPr id="10" name="lineref-121"/>
          <p:cNvSpPr/>
          <p:nvPr/>
        </p:nvSpPr>
        <p:spPr>
          <a:xfrm>
            <a:off x="6766560" y="2165985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text-122"/>
          <p:cNvSpPr txBox="1"/>
          <p:nvPr/>
        </p:nvSpPr>
        <p:spPr>
          <a:xfrm>
            <a:off x="7452360" y="2103120"/>
            <a:ext cx="4050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dist(v) = edges from s to v. ∞ means “not reached yet”.</a:t>
            </a:r>
            <a:endParaRPr lang="en-US" sz="1200" dirty="0"/>
          </a:p>
        </p:txBody>
      </p:sp>
      <p:sp>
        <p:nvSpPr>
          <p:cNvPr id="12" name="lineref-123"/>
          <p:cNvSpPr/>
          <p:nvPr/>
        </p:nvSpPr>
        <p:spPr>
          <a:xfrm>
            <a:off x="6766560" y="2566035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text-124"/>
          <p:cNvSpPr txBox="1"/>
          <p:nvPr/>
        </p:nvSpPr>
        <p:spPr>
          <a:xfrm>
            <a:off x="7452360" y="2503170"/>
            <a:ext cx="4050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parent remembers who found each vertex. s has none.</a:t>
            </a:r>
            <a:endParaRPr lang="en-US" sz="1200" dirty="0"/>
          </a:p>
        </p:txBody>
      </p:sp>
      <p:sp>
        <p:nvSpPr>
          <p:cNvPr id="14" name="lineref-125"/>
          <p:cNvSpPr/>
          <p:nvPr/>
        </p:nvSpPr>
        <p:spPr>
          <a:xfrm>
            <a:off x="6766560" y="2966085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5" name="text-126"/>
          <p:cNvSpPr txBox="1"/>
          <p:nvPr/>
        </p:nvSpPr>
        <p:spPr>
          <a:xfrm>
            <a:off x="7452360" y="2903220"/>
            <a:ext cx="4050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 was found from v, so it is one edge farther from s.</a:t>
            </a:r>
            <a:endParaRPr lang="en-US" sz="1200" dirty="0"/>
          </a:p>
        </p:txBody>
      </p:sp>
      <p:sp>
        <p:nvSpPr>
          <p:cNvPr id="16" name="lineref-127"/>
          <p:cNvSpPr/>
          <p:nvPr/>
        </p:nvSpPr>
        <p:spPr>
          <a:xfrm>
            <a:off x="6766560" y="3366135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7" name="text-128"/>
          <p:cNvSpPr txBox="1"/>
          <p:nvPr/>
        </p:nvSpPr>
        <p:spPr>
          <a:xfrm>
            <a:off x="7452360" y="3303270"/>
            <a:ext cx="4050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Record that v found w. Used to rebuild the path.</a:t>
            </a:r>
            <a:endParaRPr lang="en-US" sz="1200" dirty="0"/>
          </a:p>
        </p:txBody>
      </p:sp>
      <p:sp>
        <p:nvSpPr>
          <p:cNvPr id="18" name="card-129"/>
          <p:cNvSpPr/>
          <p:nvPr/>
        </p:nvSpPr>
        <p:spPr>
          <a:xfrm>
            <a:off x="6583680" y="3904488"/>
            <a:ext cx="510235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edge-130"/>
          <p:cNvSpPr/>
          <p:nvPr/>
        </p:nvSpPr>
        <p:spPr>
          <a:xfrm flipV="1">
            <a:off x="6957325" y="4381807"/>
            <a:ext cx="931548" cy="27523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dge-131"/>
          <p:cNvSpPr/>
          <p:nvPr/>
        </p:nvSpPr>
        <p:spPr>
          <a:xfrm>
            <a:off x="6957325" y="4750310"/>
            <a:ext cx="931548" cy="27523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dge-132"/>
          <p:cNvSpPr/>
          <p:nvPr/>
        </p:nvSpPr>
        <p:spPr>
          <a:xfrm flipV="1">
            <a:off x="8209803" y="4187331"/>
            <a:ext cx="921076" cy="125601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dge-133"/>
          <p:cNvSpPr/>
          <p:nvPr/>
        </p:nvSpPr>
        <p:spPr>
          <a:xfrm>
            <a:off x="8204567" y="4381807"/>
            <a:ext cx="931548" cy="27523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dge-134"/>
          <p:cNvSpPr/>
          <p:nvPr/>
        </p:nvSpPr>
        <p:spPr>
          <a:xfrm>
            <a:off x="8209803" y="5094415"/>
            <a:ext cx="921076" cy="125601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dge-135"/>
          <p:cNvSpPr/>
          <p:nvPr/>
        </p:nvSpPr>
        <p:spPr>
          <a:xfrm>
            <a:off x="9293962" y="4329684"/>
            <a:ext cx="914" cy="20939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vertex-136"/>
          <p:cNvSpPr/>
          <p:nvPr/>
        </p:nvSpPr>
        <p:spPr>
          <a:xfrm>
            <a:off x="6634886" y="4539082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badge-137"/>
          <p:cNvSpPr/>
          <p:nvPr/>
        </p:nvSpPr>
        <p:spPr>
          <a:xfrm>
            <a:off x="6890004" y="4356202"/>
            <a:ext cx="246888" cy="246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0</a:t>
            </a:r>
            <a:endParaRPr lang="en-US" sz="950" dirty="0"/>
          </a:p>
        </p:txBody>
      </p:sp>
      <p:sp>
        <p:nvSpPr>
          <p:cNvPr id="27" name="vertex-138"/>
          <p:cNvSpPr/>
          <p:nvPr/>
        </p:nvSpPr>
        <p:spPr>
          <a:xfrm>
            <a:off x="7882128" y="4170578"/>
            <a:ext cx="329184" cy="32918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badge-139"/>
          <p:cNvSpPr/>
          <p:nvPr/>
        </p:nvSpPr>
        <p:spPr>
          <a:xfrm>
            <a:off x="8137246" y="3987698"/>
            <a:ext cx="246888" cy="246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1</a:t>
            </a:r>
            <a:endParaRPr lang="en-US" sz="950" dirty="0"/>
          </a:p>
        </p:txBody>
      </p:sp>
      <p:sp>
        <p:nvSpPr>
          <p:cNvPr id="29" name="vertex-140"/>
          <p:cNvSpPr/>
          <p:nvPr/>
        </p:nvSpPr>
        <p:spPr>
          <a:xfrm>
            <a:off x="7882128" y="4907585"/>
            <a:ext cx="329184" cy="32918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badge-141"/>
          <p:cNvSpPr/>
          <p:nvPr/>
        </p:nvSpPr>
        <p:spPr>
          <a:xfrm>
            <a:off x="8137246" y="4724705"/>
            <a:ext cx="246888" cy="246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1</a:t>
            </a:r>
            <a:endParaRPr lang="en-US" sz="950" dirty="0"/>
          </a:p>
        </p:txBody>
      </p:sp>
      <p:sp>
        <p:nvSpPr>
          <p:cNvPr id="31" name="vertex-142"/>
          <p:cNvSpPr/>
          <p:nvPr/>
        </p:nvSpPr>
        <p:spPr>
          <a:xfrm>
            <a:off x="9129370" y="4000500"/>
            <a:ext cx="329184" cy="32918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badge-143"/>
          <p:cNvSpPr/>
          <p:nvPr/>
        </p:nvSpPr>
        <p:spPr>
          <a:xfrm>
            <a:off x="9384487" y="3817620"/>
            <a:ext cx="246888" cy="246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2</a:t>
            </a:r>
            <a:endParaRPr lang="en-US" sz="950" dirty="0"/>
          </a:p>
        </p:txBody>
      </p:sp>
      <p:sp>
        <p:nvSpPr>
          <p:cNvPr id="33" name="vertex-144"/>
          <p:cNvSpPr/>
          <p:nvPr/>
        </p:nvSpPr>
        <p:spPr>
          <a:xfrm>
            <a:off x="9129370" y="4539082"/>
            <a:ext cx="329184" cy="32918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badge-145"/>
          <p:cNvSpPr/>
          <p:nvPr/>
        </p:nvSpPr>
        <p:spPr>
          <a:xfrm>
            <a:off x="9384487" y="4356202"/>
            <a:ext cx="246888" cy="246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2</a:t>
            </a:r>
            <a:endParaRPr lang="en-US" sz="950" dirty="0"/>
          </a:p>
        </p:txBody>
      </p:sp>
      <p:sp>
        <p:nvSpPr>
          <p:cNvPr id="35" name="vertex-146"/>
          <p:cNvSpPr/>
          <p:nvPr/>
        </p:nvSpPr>
        <p:spPr>
          <a:xfrm>
            <a:off x="9129370" y="5077663"/>
            <a:ext cx="329184" cy="32918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badge-147"/>
          <p:cNvSpPr/>
          <p:nvPr/>
        </p:nvSpPr>
        <p:spPr>
          <a:xfrm>
            <a:off x="9384487" y="4894783"/>
            <a:ext cx="246888" cy="246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2</a:t>
            </a:r>
            <a:endParaRPr lang="en-US" sz="950" dirty="0"/>
          </a:p>
        </p:txBody>
      </p:sp>
      <p:sp>
        <p:nvSpPr>
          <p:cNvPr id="37" name="text-148"/>
          <p:cNvSpPr txBox="1"/>
          <p:nvPr/>
        </p:nvSpPr>
        <p:spPr>
          <a:xfrm>
            <a:off x="9875520" y="39776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Badges: </a:t>
            </a:r>
            <a:r>
              <a:rPr lang="en-US" sz="1100" dirty="0">
                <a:solidFill>
                  <a:schemeClr val="accent4"/>
                </a:solidFill>
              </a:rPr>
              <a:t>dist(v)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Path to 4: </a:t>
            </a:r>
            <a:r>
              <a:rPr lang="en-US" sz="1100" dirty="0">
                <a:solidFill>
                  <a:schemeClr val="accent4"/>
                </a:solidFill>
              </a:rPr>
              <a:t>follow parents back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4 ← 1 ←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then reverse it: 0 → 1 → 4, 2 edges.</a:t>
            </a:r>
            <a:endParaRPr lang="en-US" sz="1100" dirty="0"/>
          </a:p>
        </p:txBody>
      </p:sp>
      <p:sp>
        <p:nvSpPr>
          <p:cNvPr id="38" name="card-149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-150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Claim: </a:t>
            </a:r>
            <a:r>
              <a:rPr lang="en-US" sz="1350" dirty="0">
                <a:solidFill>
                  <a:schemeClr val="tx1"/>
                </a:solidFill>
              </a:rPr>
              <a:t>at the end, dist(v) = fewest edges on any s–v path (∞ if unreachable). Only for unweighted graphs.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DEPTH-FIRST SEARCH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DFS: Go Deep, Then Backtrack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Follow one path as far as it goes. At a dead end, back up to the most recent vertex that still has an unexplored neighbor.</a:t>
            </a:r>
            <a:endParaRPr lang="en-US" sz="1350" dirty="0"/>
          </a:p>
        </p:txBody>
      </p:sp>
      <p:sp>
        <p:nvSpPr>
          <p:cNvPr id="5" name="card-151"/>
          <p:cNvSpPr/>
          <p:nvPr/>
        </p:nvSpPr>
        <p:spPr>
          <a:xfrm>
            <a:off x="502920" y="1691640"/>
            <a:ext cx="603504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dge-152"/>
          <p:cNvSpPr/>
          <p:nvPr/>
        </p:nvSpPr>
        <p:spPr>
          <a:xfrm flipV="1">
            <a:off x="1407951" y="2899413"/>
            <a:ext cx="1573217" cy="4648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153"/>
          <p:cNvSpPr/>
          <p:nvPr/>
        </p:nvSpPr>
        <p:spPr>
          <a:xfrm>
            <a:off x="1407951" y="3493773"/>
            <a:ext cx="1573217" cy="4648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154"/>
          <p:cNvSpPr/>
          <p:nvPr/>
        </p:nvSpPr>
        <p:spPr>
          <a:xfrm flipV="1">
            <a:off x="3426904" y="2591207"/>
            <a:ext cx="1558672" cy="212546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155"/>
          <p:cNvSpPr/>
          <p:nvPr/>
        </p:nvSpPr>
        <p:spPr>
          <a:xfrm>
            <a:off x="3419631" y="2899413"/>
            <a:ext cx="1573217" cy="4648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156"/>
          <p:cNvSpPr/>
          <p:nvPr/>
        </p:nvSpPr>
        <p:spPr>
          <a:xfrm>
            <a:off x="3426904" y="4054247"/>
            <a:ext cx="1558672" cy="212546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157"/>
          <p:cNvSpPr/>
          <p:nvPr/>
        </p:nvSpPr>
        <p:spPr>
          <a:xfrm>
            <a:off x="5212080" y="2788920"/>
            <a:ext cx="914" cy="41148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vertex-158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badge-159"/>
          <p:cNvSpPr/>
          <p:nvPr/>
        </p:nvSpPr>
        <p:spPr>
          <a:xfrm>
            <a:off x="1314450" y="3017520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1</a:t>
            </a:r>
            <a:endParaRPr lang="en-US" sz="950" dirty="0"/>
          </a:p>
        </p:txBody>
      </p:sp>
      <p:sp>
        <p:nvSpPr>
          <p:cNvPr id="14" name="vertex-160"/>
          <p:cNvSpPr/>
          <p:nvPr/>
        </p:nvSpPr>
        <p:spPr>
          <a:xfrm>
            <a:off x="2971800" y="260604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badge-161"/>
          <p:cNvSpPr/>
          <p:nvPr/>
        </p:nvSpPr>
        <p:spPr>
          <a:xfrm>
            <a:off x="3326130" y="2423160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2</a:t>
            </a:r>
            <a:endParaRPr lang="en-US" sz="950" dirty="0"/>
          </a:p>
        </p:txBody>
      </p:sp>
      <p:sp>
        <p:nvSpPr>
          <p:cNvPr id="16" name="vertex-162"/>
          <p:cNvSpPr/>
          <p:nvPr/>
        </p:nvSpPr>
        <p:spPr>
          <a:xfrm>
            <a:off x="2971800" y="379476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badge-163"/>
          <p:cNvSpPr/>
          <p:nvPr/>
        </p:nvSpPr>
        <p:spPr>
          <a:xfrm>
            <a:off x="3326130" y="3611880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5</a:t>
            </a:r>
            <a:endParaRPr lang="en-US" sz="950" dirty="0"/>
          </a:p>
        </p:txBody>
      </p:sp>
      <p:sp>
        <p:nvSpPr>
          <p:cNvPr id="18" name="vertex-164"/>
          <p:cNvSpPr/>
          <p:nvPr/>
        </p:nvSpPr>
        <p:spPr>
          <a:xfrm>
            <a:off x="4983480" y="233172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badge-165"/>
          <p:cNvSpPr/>
          <p:nvPr/>
        </p:nvSpPr>
        <p:spPr>
          <a:xfrm>
            <a:off x="5337810" y="2148840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3</a:t>
            </a:r>
            <a:endParaRPr lang="en-US" sz="950" dirty="0"/>
          </a:p>
        </p:txBody>
      </p:sp>
      <p:sp>
        <p:nvSpPr>
          <p:cNvPr id="20" name="vertex-166"/>
          <p:cNvSpPr/>
          <p:nvPr/>
        </p:nvSpPr>
        <p:spPr>
          <a:xfrm>
            <a:off x="4983480" y="320040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badge-167"/>
          <p:cNvSpPr/>
          <p:nvPr/>
        </p:nvSpPr>
        <p:spPr>
          <a:xfrm>
            <a:off x="5337810" y="3017520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vertex-168"/>
          <p:cNvSpPr/>
          <p:nvPr/>
        </p:nvSpPr>
        <p:spPr>
          <a:xfrm>
            <a:off x="4983480" y="406908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badge-169"/>
          <p:cNvSpPr/>
          <p:nvPr/>
        </p:nvSpPr>
        <p:spPr>
          <a:xfrm>
            <a:off x="5337810" y="3886200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6</a:t>
            </a:r>
            <a:endParaRPr lang="en-US" sz="950" dirty="0"/>
          </a:p>
        </p:txBody>
      </p:sp>
      <p:sp>
        <p:nvSpPr>
          <p:cNvPr id="24" name="text-170"/>
          <p:cNvSpPr txBox="1"/>
          <p:nvPr/>
        </p:nvSpPr>
        <p:spPr>
          <a:xfrm>
            <a:off x="731520" y="50292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Orange: </a:t>
            </a:r>
            <a:r>
              <a:rPr lang="en-US" sz="1150" dirty="0">
                <a:solidFill>
                  <a:schemeClr val="accent4"/>
                </a:solidFill>
              </a:rPr>
              <a:t>the edges DFS follows (DFS tree).  </a:t>
            </a:r>
            <a:r>
              <a:rPr lang="en-US" sz="1150" b="1" dirty="0">
                <a:solidFill>
                  <a:schemeClr val="tx1"/>
                </a:solidFill>
              </a:rPr>
              <a:t>Blue badge: </a:t>
            </a:r>
            <a:r>
              <a:rPr lang="en-US" sz="1150" dirty="0">
                <a:solidFill>
                  <a:schemeClr val="accent4"/>
                </a:solidFill>
              </a:rPr>
              <a:t>the order vertices are first visited.</a:t>
            </a:r>
            <a:endParaRPr lang="en-US" sz="1150" dirty="0"/>
          </a:p>
        </p:txBody>
      </p:sp>
      <p:sp>
        <p:nvSpPr>
          <p:cNvPr id="25" name="card-171"/>
          <p:cNvSpPr/>
          <p:nvPr/>
        </p:nvSpPr>
        <p:spPr>
          <a:xfrm>
            <a:off x="6766560" y="1691640"/>
            <a:ext cx="4919472" cy="19659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-172"/>
          <p:cNvSpPr txBox="1"/>
          <p:nvPr/>
        </p:nvSpPr>
        <p:spPr>
          <a:xfrm>
            <a:off x="6949440" y="1810512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THE RULE</a:t>
            </a:r>
            <a:endParaRPr lang="en-US" sz="1050" dirty="0"/>
          </a:p>
        </p:txBody>
      </p:sp>
      <p:sp>
        <p:nvSpPr>
          <p:cNvPr id="27" name="text-173"/>
          <p:cNvSpPr txBox="1"/>
          <p:nvPr/>
        </p:nvSpPr>
        <p:spPr>
          <a:xfrm>
            <a:off x="6949440" y="2093976"/>
            <a:ext cx="45537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Always take an unexplored edge out of the </a:t>
            </a:r>
            <a:r>
              <a:rPr lang="en-US" sz="1250" b="1" dirty="0">
                <a:solidFill>
                  <a:schemeClr val="tx1"/>
                </a:solidFill>
              </a:rPr>
              <a:t>most recently</a:t>
            </a:r>
            <a:r>
              <a:rPr lang="en-US" sz="1250" dirty="0">
                <a:solidFill>
                  <a:schemeClr val="accent4"/>
                </a:solidFill>
              </a:rPr>
              <a:t> discovered vertex.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No such edge? </a:t>
            </a:r>
            <a:r>
              <a:rPr lang="en-US" sz="1250" b="1" dirty="0">
                <a:solidFill>
                  <a:schemeClr val="tx1"/>
                </a:solidFill>
              </a:rPr>
              <a:t>Backtrack</a:t>
            </a:r>
            <a:r>
              <a:rPr lang="en-US" sz="1250" dirty="0">
                <a:solidFill>
                  <a:schemeClr val="accent4"/>
                </a:solidFill>
              </a:rPr>
              <a:t> one step and try again.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Like a maze with a ball of string: forward until stuck, then rewind.</a:t>
            </a:r>
            <a:endParaRPr lang="en-US" sz="1250" dirty="0"/>
          </a:p>
        </p:txBody>
      </p:sp>
      <p:sp>
        <p:nvSpPr>
          <p:cNvPr id="28" name="card-174"/>
          <p:cNvSpPr/>
          <p:nvPr/>
        </p:nvSpPr>
        <p:spPr>
          <a:xfrm>
            <a:off x="6766560" y="3767328"/>
            <a:ext cx="2377440" cy="1947672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-175"/>
          <p:cNvSpPr txBox="1"/>
          <p:nvPr/>
        </p:nvSpPr>
        <p:spPr>
          <a:xfrm>
            <a:off x="6949440" y="3886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THE TOOL: A STACK</a:t>
            </a:r>
            <a:endParaRPr lang="en-US" sz="1050" dirty="0"/>
          </a:p>
        </p:txBody>
      </p:sp>
      <p:sp>
        <p:nvSpPr>
          <p:cNvPr id="30" name="text-176"/>
          <p:cNvSpPr txBox="1"/>
          <p:nvPr/>
        </p:nvSpPr>
        <p:spPr>
          <a:xfrm>
            <a:off x="6949440" y="4169664"/>
            <a:ext cx="2011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Last in, first out. Recursion gives you one for free: the call stack.</a:t>
            </a:r>
            <a:endParaRPr lang="en-US" sz="1250" dirty="0"/>
          </a:p>
        </p:txBody>
      </p:sp>
      <p:sp>
        <p:nvSpPr>
          <p:cNvPr id="31" name="stack-177"/>
          <p:cNvSpPr/>
          <p:nvPr/>
        </p:nvSpPr>
        <p:spPr>
          <a:xfrm>
            <a:off x="9509760" y="4562856"/>
            <a:ext cx="822960" cy="2560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stack-178"/>
          <p:cNvSpPr/>
          <p:nvPr/>
        </p:nvSpPr>
        <p:spPr>
          <a:xfrm>
            <a:off x="9509760" y="4306824"/>
            <a:ext cx="822960" cy="2560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tack-179"/>
          <p:cNvSpPr/>
          <p:nvPr/>
        </p:nvSpPr>
        <p:spPr>
          <a:xfrm>
            <a:off x="9509760" y="4050792"/>
            <a:ext cx="822960" cy="2560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tack-180"/>
          <p:cNvSpPr/>
          <p:nvPr/>
        </p:nvSpPr>
        <p:spPr>
          <a:xfrm>
            <a:off x="9509760" y="3794760"/>
            <a:ext cx="822960" cy="25603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-181"/>
          <p:cNvSpPr txBox="1"/>
          <p:nvPr/>
        </p:nvSpPr>
        <p:spPr>
          <a:xfrm>
            <a:off x="10378440" y="3794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← top</a:t>
            </a:r>
            <a:endParaRPr lang="en-US" sz="1050" dirty="0"/>
          </a:p>
        </p:txBody>
      </p:sp>
      <p:sp>
        <p:nvSpPr>
          <p:cNvPr id="36" name="text-182"/>
          <p:cNvSpPr txBox="1"/>
          <p:nvPr/>
        </p:nvSpPr>
        <p:spPr>
          <a:xfrm>
            <a:off x="9281160" y="48371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4"/>
                </a:solidFill>
              </a:rPr>
              <a:t>stack when 4 is reached</a:t>
            </a:r>
            <a:endParaRPr lang="en-US" sz="900" dirty="0"/>
          </a:p>
        </p:txBody>
      </p:sp>
      <p:sp>
        <p:nvSpPr>
          <p:cNvPr id="37" name="card-183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-184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Contrast with BFS: </a:t>
            </a:r>
            <a:r>
              <a:rPr lang="en-US" sz="1350" dirty="0">
                <a:solidFill>
                  <a:schemeClr val="tx1"/>
                </a:solidFill>
              </a:rPr>
              <a:t>DFS reaches 4 along 0–1–3–4 (3 edges), but BFS finds 0–1–4 (2 edges). DFS does not find shortest paths.</a:t>
            </a:r>
            <a:endParaRPr lang="en-US" sz="13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DEPTH-FIRST SEARCH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DFS: Recursive Pseudocode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Short and natural: the computer's call stack does the remembering for us.</a:t>
            </a:r>
            <a:endParaRPr lang="en-US" sz="1350" dirty="0"/>
          </a:p>
        </p:txBody>
      </p:sp>
      <p:sp>
        <p:nvSpPr>
          <p:cNvPr id="5" name="card-185"/>
          <p:cNvSpPr/>
          <p:nvPr/>
        </p:nvSpPr>
        <p:spPr>
          <a:xfrm>
            <a:off x="502920" y="1691640"/>
            <a:ext cx="5760720" cy="214884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86"/>
          <p:cNvSpPr txBox="1"/>
          <p:nvPr/>
        </p:nvSpPr>
        <p:spPr>
          <a:xfrm>
            <a:off x="685800" y="181965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PSEUDOCODE (FIRST CALL: DFS(G, s), ALL VERTICES UNEXPLORED)</a:t>
            </a:r>
            <a:endParaRPr lang="en-US" sz="1050" dirty="0"/>
          </a:p>
        </p:txBody>
      </p:sp>
      <p:sp>
        <p:nvSpPr>
          <p:cNvPr id="7" name="text-187"/>
          <p:cNvSpPr txBox="1"/>
          <p:nvPr/>
        </p:nvSpPr>
        <p:spPr>
          <a:xfrm>
            <a:off x="685800" y="2130552"/>
            <a:ext cx="54406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DFS(G, v)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3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v as explored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edge (v, w) in v's adjacency list: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w is unexplored: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DFS(G, w)</a:t>
            </a:r>
            <a:endParaRPr lang="en-US" sz="1350" dirty="0"/>
          </a:p>
        </p:txBody>
      </p:sp>
      <p:sp>
        <p:nvSpPr>
          <p:cNvPr id="8" name="card-188"/>
          <p:cNvSpPr/>
          <p:nvPr/>
        </p:nvSpPr>
        <p:spPr>
          <a:xfrm>
            <a:off x="502920" y="3950208"/>
            <a:ext cx="5760720" cy="1764792"/>
          </a:xfrm>
          <a:prstGeom prst="roundRect">
            <a:avLst>
              <a:gd name="adj" fmla="val 31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189"/>
          <p:cNvSpPr txBox="1"/>
          <p:nvPr/>
        </p:nvSpPr>
        <p:spPr>
          <a:xfrm>
            <a:off x="685800" y="406908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HOW THE BACKTRACKING HAPPENS</a:t>
            </a:r>
            <a:endParaRPr lang="en-US" sz="1050" dirty="0"/>
          </a:p>
        </p:txBody>
      </p:sp>
      <p:sp>
        <p:nvSpPr>
          <p:cNvPr id="10" name="text-190"/>
          <p:cNvSpPr txBox="1"/>
          <p:nvPr/>
        </p:nvSpPr>
        <p:spPr>
          <a:xfrm>
            <a:off x="685800" y="4352544"/>
            <a:ext cx="53949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Each call that is waiting for a deeper call to finish sits on the </a:t>
            </a:r>
            <a:r>
              <a:rPr lang="en-US" sz="1250" b="1" dirty="0">
                <a:solidFill>
                  <a:schemeClr val="tx1"/>
                </a:solidFill>
              </a:rPr>
              <a:t>call stack</a:t>
            </a:r>
            <a:r>
              <a:rPr lang="en-US" sz="1250" dirty="0">
                <a:solidFill>
                  <a:schemeClr val="accent4"/>
                </a:solidFill>
              </a:rPr>
              <a:t>. When a call ends, the computer resumes the one below it, right where it left off.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4"/>
                </a:solidFill>
              </a:rPr>
              <a:t>Example: while exploring 4, the waiting calls are DFS(0), DFS(1) and DFS(3).</a:t>
            </a:r>
            <a:endParaRPr lang="en-US" sz="1250" dirty="0"/>
          </a:p>
        </p:txBody>
      </p:sp>
      <p:sp>
        <p:nvSpPr>
          <p:cNvPr id="11" name="card-191"/>
          <p:cNvSpPr/>
          <p:nvPr/>
        </p:nvSpPr>
        <p:spPr>
          <a:xfrm>
            <a:off x="6492240" y="1691640"/>
            <a:ext cx="5193792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-192"/>
          <p:cNvSpPr txBox="1"/>
          <p:nvPr/>
        </p:nvSpPr>
        <p:spPr>
          <a:xfrm>
            <a:off x="6675120" y="1810512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WHAT EACH LINE DOES</a:t>
            </a:r>
            <a:endParaRPr lang="en-US" sz="1050" dirty="0"/>
          </a:p>
        </p:txBody>
      </p:sp>
      <p:sp>
        <p:nvSpPr>
          <p:cNvPr id="13" name="lineref-193"/>
          <p:cNvSpPr/>
          <p:nvPr/>
        </p:nvSpPr>
        <p:spPr>
          <a:xfrm>
            <a:off x="6675120" y="225933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-194"/>
          <p:cNvSpPr txBox="1"/>
          <p:nvPr/>
        </p:nvSpPr>
        <p:spPr>
          <a:xfrm>
            <a:off x="7360920" y="2103120"/>
            <a:ext cx="414223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Explore everything reachable from vertex v.</a:t>
            </a:r>
            <a:endParaRPr lang="en-US" sz="1200" dirty="0"/>
          </a:p>
        </p:txBody>
      </p:sp>
      <p:sp>
        <p:nvSpPr>
          <p:cNvPr id="15" name="lineref-195"/>
          <p:cNvSpPr/>
          <p:nvPr/>
        </p:nvSpPr>
        <p:spPr>
          <a:xfrm>
            <a:off x="6675120" y="284607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-196"/>
          <p:cNvSpPr txBox="1"/>
          <p:nvPr/>
        </p:nvSpPr>
        <p:spPr>
          <a:xfrm>
            <a:off x="7360920" y="2689860"/>
            <a:ext cx="414223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We have just found v: tick it off.</a:t>
            </a:r>
            <a:endParaRPr lang="en-US" sz="1200" dirty="0"/>
          </a:p>
        </p:txBody>
      </p:sp>
      <p:sp>
        <p:nvSpPr>
          <p:cNvPr id="17" name="lineref-197"/>
          <p:cNvSpPr/>
          <p:nvPr/>
        </p:nvSpPr>
        <p:spPr>
          <a:xfrm>
            <a:off x="6675120" y="343281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-198"/>
          <p:cNvSpPr txBox="1"/>
          <p:nvPr/>
        </p:nvSpPr>
        <p:spPr>
          <a:xfrm>
            <a:off x="7360920" y="3276600"/>
            <a:ext cx="414223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Look at v's neighbors one at a time, in list order.</a:t>
            </a:r>
            <a:endParaRPr lang="en-US" sz="1200" dirty="0"/>
          </a:p>
        </p:txBody>
      </p:sp>
      <p:sp>
        <p:nvSpPr>
          <p:cNvPr id="19" name="lineref-199"/>
          <p:cNvSpPr/>
          <p:nvPr/>
        </p:nvSpPr>
        <p:spPr>
          <a:xfrm>
            <a:off x="6675120" y="401955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-200"/>
          <p:cNvSpPr txBox="1"/>
          <p:nvPr/>
        </p:nvSpPr>
        <p:spPr>
          <a:xfrm>
            <a:off x="7360920" y="3863340"/>
            <a:ext cx="414223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Skip any neighbor we have already found.</a:t>
            </a:r>
            <a:endParaRPr lang="en-US" sz="1200" dirty="0"/>
          </a:p>
        </p:txBody>
      </p:sp>
      <p:sp>
        <p:nvSpPr>
          <p:cNvPr id="21" name="lineref-201"/>
          <p:cNvSpPr/>
          <p:nvPr/>
        </p:nvSpPr>
        <p:spPr>
          <a:xfrm>
            <a:off x="6675120" y="460629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-202"/>
          <p:cNvSpPr txBox="1"/>
          <p:nvPr/>
        </p:nvSpPr>
        <p:spPr>
          <a:xfrm>
            <a:off x="7360920" y="4450080"/>
            <a:ext cx="414223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New neighbor: </a:t>
            </a:r>
            <a:r>
              <a:rPr lang="en-US" sz="1200" b="1" dirty="0">
                <a:solidFill>
                  <a:schemeClr val="accent1"/>
                </a:solidFill>
              </a:rPr>
              <a:t>go deeper right away</a:t>
            </a:r>
            <a:r>
              <a:rPr lang="en-US" sz="1200" dirty="0">
                <a:solidFill>
                  <a:schemeClr val="tx1"/>
                </a:solidFill>
              </a:rPr>
              <a:t>, before checking v's other neighbors.</a:t>
            </a:r>
            <a:endParaRPr lang="en-US" sz="1200" dirty="0"/>
          </a:p>
        </p:txBody>
      </p:sp>
      <p:sp>
        <p:nvSpPr>
          <p:cNvPr id="23" name="lineref-203"/>
          <p:cNvSpPr/>
          <p:nvPr/>
        </p:nvSpPr>
        <p:spPr>
          <a:xfrm>
            <a:off x="6675120" y="519303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24" name="text-204"/>
          <p:cNvSpPr txBox="1"/>
          <p:nvPr/>
        </p:nvSpPr>
        <p:spPr>
          <a:xfrm>
            <a:off x="7360920" y="5036820"/>
            <a:ext cx="414223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Loop finished: this call returns to the vertex that called it. </a:t>
            </a:r>
            <a:r>
              <a:rPr lang="en-US" sz="1200" b="1" dirty="0">
                <a:solidFill>
                  <a:schemeClr val="accent2"/>
                </a:solidFill>
              </a:rPr>
              <a:t>That return is the backtrack.</a:t>
            </a:r>
            <a:endParaRPr lang="en-US" sz="1200" dirty="0"/>
          </a:p>
        </p:txBody>
      </p:sp>
      <p:sp>
        <p:nvSpPr>
          <p:cNvPr id="25" name="card-205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-206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In Python: </a:t>
            </a:r>
            <a:r>
              <a:rPr lang="en-US" sz="1350" dirty="0">
                <a:solidFill>
                  <a:schemeClr val="tx1"/>
                </a:solidFill>
              </a:rPr>
              <a:t>recursion stops at a depth of about 1000 by default. For long paths use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sys.setrecursionlimit</a:t>
            </a:r>
            <a:r>
              <a:rPr lang="en-US" sz="1350" dirty="0">
                <a:solidFill>
                  <a:schemeClr val="tx1"/>
                </a:solidFill>
              </a:rPr>
              <a:t> or the iterative version (next slide).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DEPTH-FIRST SEARCH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DFS: Iterative Pseudocode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Same search, but we keep the stack ourselves. No recursion, so no depth limit.</a:t>
            </a:r>
            <a:endParaRPr lang="en-US" sz="1350" dirty="0"/>
          </a:p>
        </p:txBody>
      </p:sp>
      <p:sp>
        <p:nvSpPr>
          <p:cNvPr id="5" name="card-207"/>
          <p:cNvSpPr/>
          <p:nvPr/>
        </p:nvSpPr>
        <p:spPr>
          <a:xfrm>
            <a:off x="502920" y="1691640"/>
            <a:ext cx="6309360" cy="4023360"/>
          </a:xfrm>
          <a:prstGeom prst="roundRect">
            <a:avLst>
              <a:gd name="adj" fmla="val 1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208"/>
          <p:cNvSpPr txBox="1"/>
          <p:nvPr/>
        </p:nvSpPr>
        <p:spPr>
          <a:xfrm>
            <a:off x="685800" y="18196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PSEUDOCODE</a:t>
            </a:r>
            <a:endParaRPr lang="en-US" sz="1050" dirty="0"/>
          </a:p>
        </p:txBody>
      </p:sp>
      <p:sp>
        <p:nvSpPr>
          <p:cNvPr id="7" name="text-209"/>
          <p:cNvSpPr txBox="1"/>
          <p:nvPr/>
        </p:nvSpPr>
        <p:spPr>
          <a:xfrm>
            <a:off x="685800" y="2130552"/>
            <a:ext cx="598932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DFS-Iterative(G, s)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all vertices unexplored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:= a stack, initialized with 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S is not empty: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 := pop the top of 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v is unexplored: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3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mark v as explored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 each edge (v, w), in reverse order: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push w onto S</a:t>
            </a:r>
            <a:endParaRPr lang="en-US" sz="1350" dirty="0"/>
          </a:p>
        </p:txBody>
      </p:sp>
      <p:sp>
        <p:nvSpPr>
          <p:cNvPr id="8" name="card-210"/>
          <p:cNvSpPr/>
          <p:nvPr/>
        </p:nvSpPr>
        <p:spPr>
          <a:xfrm>
            <a:off x="7040880" y="1691640"/>
            <a:ext cx="4645152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211"/>
          <p:cNvSpPr txBox="1"/>
          <p:nvPr/>
        </p:nvSpPr>
        <p:spPr>
          <a:xfrm>
            <a:off x="7223760" y="181051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WHAT EACH LINE DOES</a:t>
            </a:r>
            <a:endParaRPr lang="en-US" sz="1050" dirty="0"/>
          </a:p>
        </p:txBody>
      </p:sp>
      <p:sp>
        <p:nvSpPr>
          <p:cNvPr id="10" name="lineref-212"/>
          <p:cNvSpPr/>
          <p:nvPr/>
        </p:nvSpPr>
        <p:spPr>
          <a:xfrm>
            <a:off x="7223760" y="218598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-213"/>
          <p:cNvSpPr txBox="1"/>
          <p:nvPr/>
        </p:nvSpPr>
        <p:spPr>
          <a:xfrm>
            <a:off x="7909560" y="210312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Input: graph G and a start vertex s.</a:t>
            </a:r>
            <a:endParaRPr lang="en-US" sz="1200" dirty="0"/>
          </a:p>
        </p:txBody>
      </p:sp>
      <p:sp>
        <p:nvSpPr>
          <p:cNvPr id="12" name="lineref-214"/>
          <p:cNvSpPr/>
          <p:nvPr/>
        </p:nvSpPr>
        <p:spPr>
          <a:xfrm>
            <a:off x="7223760" y="262604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-215"/>
          <p:cNvSpPr txBox="1"/>
          <p:nvPr/>
        </p:nvSpPr>
        <p:spPr>
          <a:xfrm>
            <a:off x="7909560" y="254317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Nothing has been found yet.</a:t>
            </a:r>
            <a:endParaRPr lang="en-US" sz="1200" dirty="0"/>
          </a:p>
        </p:txBody>
      </p:sp>
      <p:sp>
        <p:nvSpPr>
          <p:cNvPr id="14" name="lineref-216"/>
          <p:cNvSpPr/>
          <p:nvPr/>
        </p:nvSpPr>
        <p:spPr>
          <a:xfrm>
            <a:off x="7223760" y="306609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-217"/>
          <p:cNvSpPr txBox="1"/>
          <p:nvPr/>
        </p:nvSpPr>
        <p:spPr>
          <a:xfrm>
            <a:off x="7909560" y="298323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 is a </a:t>
            </a:r>
            <a:r>
              <a:rPr lang="en-US" sz="1200" b="1" dirty="0">
                <a:solidFill>
                  <a:schemeClr val="tx1"/>
                </a:solidFill>
              </a:rPr>
              <a:t>pile</a:t>
            </a:r>
            <a:r>
              <a:rPr lang="en-US" sz="1200" dirty="0">
                <a:solidFill>
                  <a:schemeClr val="tx1"/>
                </a:solidFill>
              </a:rPr>
              <a:t>: add to the top, take from the top. Start with s on it.</a:t>
            </a:r>
            <a:endParaRPr lang="en-US" sz="1200" dirty="0"/>
          </a:p>
        </p:txBody>
      </p:sp>
      <p:sp>
        <p:nvSpPr>
          <p:cNvPr id="16" name="lineref-218"/>
          <p:cNvSpPr/>
          <p:nvPr/>
        </p:nvSpPr>
        <p:spPr>
          <a:xfrm>
            <a:off x="7223760" y="350615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-219"/>
          <p:cNvSpPr txBox="1"/>
          <p:nvPr/>
        </p:nvSpPr>
        <p:spPr>
          <a:xfrm>
            <a:off x="7909560" y="342328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Repeat until the pile is empty.</a:t>
            </a:r>
            <a:endParaRPr lang="en-US" sz="1200" dirty="0"/>
          </a:p>
        </p:txBody>
      </p:sp>
      <p:sp>
        <p:nvSpPr>
          <p:cNvPr id="18" name="lineref-220"/>
          <p:cNvSpPr/>
          <p:nvPr/>
        </p:nvSpPr>
        <p:spPr>
          <a:xfrm>
            <a:off x="7223760" y="394620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-221"/>
          <p:cNvSpPr txBox="1"/>
          <p:nvPr/>
        </p:nvSpPr>
        <p:spPr>
          <a:xfrm>
            <a:off x="7909560" y="386334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Take the most recently added vertex (the top).</a:t>
            </a:r>
            <a:endParaRPr lang="en-US" sz="1200" dirty="0"/>
          </a:p>
        </p:txBody>
      </p:sp>
      <p:sp>
        <p:nvSpPr>
          <p:cNvPr id="20" name="lineref-222"/>
          <p:cNvSpPr/>
          <p:nvPr/>
        </p:nvSpPr>
        <p:spPr>
          <a:xfrm>
            <a:off x="7223760" y="438626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-223"/>
          <p:cNvSpPr txBox="1"/>
          <p:nvPr/>
        </p:nvSpPr>
        <p:spPr>
          <a:xfrm>
            <a:off x="7909560" y="430339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It may already be explored (it can be pushed twice). If so, skip it.</a:t>
            </a:r>
            <a:endParaRPr lang="en-US" sz="1200" dirty="0"/>
          </a:p>
        </p:txBody>
      </p:sp>
      <p:sp>
        <p:nvSpPr>
          <p:cNvPr id="22" name="lineref-224"/>
          <p:cNvSpPr/>
          <p:nvPr/>
        </p:nvSpPr>
        <p:spPr>
          <a:xfrm>
            <a:off x="7223760" y="4826318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3" name="text-225"/>
          <p:cNvSpPr txBox="1"/>
          <p:nvPr/>
        </p:nvSpPr>
        <p:spPr>
          <a:xfrm>
            <a:off x="7909560" y="4743450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Otherwise we have just found v.</a:t>
            </a:r>
            <a:endParaRPr lang="en-US" sz="1200" dirty="0"/>
          </a:p>
        </p:txBody>
      </p:sp>
      <p:sp>
        <p:nvSpPr>
          <p:cNvPr id="24" name="lineref-226"/>
          <p:cNvSpPr/>
          <p:nvPr/>
        </p:nvSpPr>
        <p:spPr>
          <a:xfrm>
            <a:off x="7223760" y="5266373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8–9</a:t>
            </a:r>
            <a:endParaRPr lang="en-US" sz="1050" dirty="0"/>
          </a:p>
        </p:txBody>
      </p:sp>
      <p:sp>
        <p:nvSpPr>
          <p:cNvPr id="25" name="text-227"/>
          <p:cNvSpPr txBox="1"/>
          <p:nvPr/>
        </p:nvSpPr>
        <p:spPr>
          <a:xfrm>
            <a:off x="7909560" y="5183505"/>
            <a:ext cx="3593592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Pile up all of v's neighbors, </a:t>
            </a:r>
            <a:r>
              <a:rPr lang="en-US" sz="1200" b="1" dirty="0">
                <a:solidFill>
                  <a:schemeClr val="accent2"/>
                </a:solidFill>
              </a:rPr>
              <a:t>in reverse</a:t>
            </a:r>
            <a:r>
              <a:rPr lang="en-US" sz="1200" dirty="0">
                <a:solidFill>
                  <a:schemeClr val="tx1"/>
                </a:solidFill>
              </a:rPr>
              <a:t>, so the smallest ends on top and is visited next.</a:t>
            </a:r>
            <a:endParaRPr lang="en-US" sz="1200" dirty="0"/>
          </a:p>
        </p:txBody>
      </p:sp>
      <p:sp>
        <p:nvSpPr>
          <p:cNvPr id="26" name="card-228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-229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vs. BFS: </a:t>
            </a:r>
            <a:r>
              <a:rPr lang="en-US" sz="1350" dirty="0">
                <a:solidFill>
                  <a:schemeClr val="tx1"/>
                </a:solidFill>
              </a:rPr>
              <a:t>a stack instead of a queue, and vertices are marked when taken off, not when added.  </a:t>
            </a:r>
            <a:r>
              <a:rPr lang="en-US" sz="1350" b="1" dirty="0">
                <a:solidFill>
                  <a:schemeClr val="tx1"/>
                </a:solidFill>
              </a:rPr>
              <a:t>In Python: </a:t>
            </a:r>
            <a:r>
              <a:rPr lang="en-US" sz="1350" dirty="0">
                <a:solidFill>
                  <a:schemeClr val="tx1"/>
                </a:solidFill>
              </a:rPr>
              <a:t>a list with append / pop.</a:t>
            </a:r>
            <a:endParaRPr lang="en-US" sz="13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BOARD WORK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Tracing DFS from s = 0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Recursive version, neighbors in increasing order. “v → w” means: from v, call DFS(G, w).</a:t>
            </a:r>
            <a:endParaRPr lang="en-US" sz="1350" dirty="0"/>
          </a:p>
        </p:txBody>
      </p:sp>
      <p:sp>
        <p:nvSpPr>
          <p:cNvPr id="5" name="card-230"/>
          <p:cNvSpPr/>
          <p:nvPr/>
        </p:nvSpPr>
        <p:spPr>
          <a:xfrm>
            <a:off x="502920" y="1691640"/>
            <a:ext cx="516636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dge-231"/>
          <p:cNvSpPr/>
          <p:nvPr/>
        </p:nvSpPr>
        <p:spPr>
          <a:xfrm flipV="1">
            <a:off x="1207533" y="2528471"/>
            <a:ext cx="1608294" cy="47517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232"/>
          <p:cNvSpPr/>
          <p:nvPr/>
        </p:nvSpPr>
        <p:spPr>
          <a:xfrm>
            <a:off x="1207533" y="3122831"/>
            <a:ext cx="1608294" cy="47517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233"/>
          <p:cNvSpPr/>
          <p:nvPr/>
        </p:nvSpPr>
        <p:spPr>
          <a:xfrm flipV="1">
            <a:off x="3225903" y="2222976"/>
            <a:ext cx="1594913" cy="21748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234"/>
          <p:cNvSpPr/>
          <p:nvPr/>
        </p:nvSpPr>
        <p:spPr>
          <a:xfrm>
            <a:off x="3219213" y="2528471"/>
            <a:ext cx="1608294" cy="47517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235"/>
          <p:cNvSpPr/>
          <p:nvPr/>
        </p:nvSpPr>
        <p:spPr>
          <a:xfrm>
            <a:off x="3225903" y="3686016"/>
            <a:ext cx="1594913" cy="21748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236"/>
          <p:cNvSpPr/>
          <p:nvPr/>
        </p:nvSpPr>
        <p:spPr>
          <a:xfrm>
            <a:off x="5029200" y="2404872"/>
            <a:ext cx="914" cy="448056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vertex-237"/>
          <p:cNvSpPr/>
          <p:nvPr/>
        </p:nvSpPr>
        <p:spPr>
          <a:xfrm>
            <a:off x="795528" y="2852928"/>
            <a:ext cx="420624" cy="42062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badge-238"/>
          <p:cNvSpPr/>
          <p:nvPr/>
        </p:nvSpPr>
        <p:spPr>
          <a:xfrm>
            <a:off x="1121512" y="2670048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1</a:t>
            </a:r>
            <a:endParaRPr lang="en-US" sz="950" dirty="0"/>
          </a:p>
        </p:txBody>
      </p:sp>
      <p:sp>
        <p:nvSpPr>
          <p:cNvPr id="14" name="vertex-239"/>
          <p:cNvSpPr/>
          <p:nvPr/>
        </p:nvSpPr>
        <p:spPr>
          <a:xfrm>
            <a:off x="2807208" y="225856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badge-240"/>
          <p:cNvSpPr/>
          <p:nvPr/>
        </p:nvSpPr>
        <p:spPr>
          <a:xfrm>
            <a:off x="3133192" y="2075688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2</a:t>
            </a:r>
            <a:endParaRPr lang="en-US" sz="950" dirty="0"/>
          </a:p>
        </p:txBody>
      </p:sp>
      <p:sp>
        <p:nvSpPr>
          <p:cNvPr id="16" name="vertex-241"/>
          <p:cNvSpPr/>
          <p:nvPr/>
        </p:nvSpPr>
        <p:spPr>
          <a:xfrm>
            <a:off x="2807208" y="344728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badge-242"/>
          <p:cNvSpPr/>
          <p:nvPr/>
        </p:nvSpPr>
        <p:spPr>
          <a:xfrm>
            <a:off x="3133192" y="3264408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5</a:t>
            </a:r>
            <a:endParaRPr lang="en-US" sz="950" dirty="0"/>
          </a:p>
        </p:txBody>
      </p:sp>
      <p:sp>
        <p:nvSpPr>
          <p:cNvPr id="18" name="vertex-243"/>
          <p:cNvSpPr/>
          <p:nvPr/>
        </p:nvSpPr>
        <p:spPr>
          <a:xfrm>
            <a:off x="4818888" y="198424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badge-244"/>
          <p:cNvSpPr/>
          <p:nvPr/>
        </p:nvSpPr>
        <p:spPr>
          <a:xfrm>
            <a:off x="5144872" y="1801368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3</a:t>
            </a:r>
            <a:endParaRPr lang="en-US" sz="950" dirty="0"/>
          </a:p>
        </p:txBody>
      </p:sp>
      <p:sp>
        <p:nvSpPr>
          <p:cNvPr id="20" name="vertex-245"/>
          <p:cNvSpPr/>
          <p:nvPr/>
        </p:nvSpPr>
        <p:spPr>
          <a:xfrm>
            <a:off x="4818888" y="285292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badge-246"/>
          <p:cNvSpPr/>
          <p:nvPr/>
        </p:nvSpPr>
        <p:spPr>
          <a:xfrm>
            <a:off x="5144872" y="2670048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vertex-247"/>
          <p:cNvSpPr/>
          <p:nvPr/>
        </p:nvSpPr>
        <p:spPr>
          <a:xfrm>
            <a:off x="4818888" y="3721608"/>
            <a:ext cx="420624" cy="42062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badge-248"/>
          <p:cNvSpPr/>
          <p:nvPr/>
        </p:nvSpPr>
        <p:spPr>
          <a:xfrm>
            <a:off x="5144872" y="3538728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6</a:t>
            </a:r>
            <a:endParaRPr lang="en-US" sz="950" dirty="0"/>
          </a:p>
        </p:txBody>
      </p:sp>
      <p:sp>
        <p:nvSpPr>
          <p:cNvPr id="24" name="text-249"/>
          <p:cNvSpPr txBox="1"/>
          <p:nvPr/>
        </p:nvSpPr>
        <p:spPr>
          <a:xfrm>
            <a:off x="731520" y="43434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chemeClr val="accent2"/>
                </a:solidFill>
              </a:rPr>
              <a:t>Adjacency lists (neighbors in increasing order)</a:t>
            </a:r>
            <a:endParaRPr lang="en-US" sz="1050" dirty="0"/>
          </a:p>
        </p:txBody>
      </p:sp>
      <p:sp>
        <p:nvSpPr>
          <p:cNvPr id="25" name="text-250"/>
          <p:cNvSpPr txBox="1"/>
          <p:nvPr/>
        </p:nvSpPr>
        <p:spPr>
          <a:xfrm>
            <a:off x="731520" y="46177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1,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0, 3,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0, 5</a:t>
            </a:r>
            <a:endParaRPr lang="en-US" sz="1100" dirty="0"/>
          </a:p>
        </p:txBody>
      </p:sp>
      <p:sp>
        <p:nvSpPr>
          <p:cNvPr id="26" name="text-251"/>
          <p:cNvSpPr txBox="1"/>
          <p:nvPr/>
        </p:nvSpPr>
        <p:spPr>
          <a:xfrm>
            <a:off x="3108960" y="46177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1,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1,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2</a:t>
            </a:r>
            <a:endParaRPr lang="en-US" sz="1100" dirty="0"/>
          </a:p>
        </p:txBody>
      </p:sp>
      <p:graphicFrame>
        <p:nvGraphicFramePr>
          <p:cNvPr id="27" name="table-2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691640"/>
          <a:ext cx="5788152" cy="393192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stack (bottom → top)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Visited so far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DFS(0)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3   (skip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→ 4   (skip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0 1 3 4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0 1 3 4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finishes (1, 3 done): back to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(no change)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1 finish (4 done): back to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(no change)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0 1 3 4 2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→ 5   (skip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0 2 5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0 1 3 4 2 5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2, 0 finish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(empty)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" name="card-253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-254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DFS order: </a:t>
            </a:r>
            <a:r>
              <a:rPr lang="en-US" sz="13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0, 1, 3, 4, 2, 5</a:t>
            </a:r>
            <a:r>
              <a:rPr lang="en-US" sz="1350" dirty="0">
                <a:solidFill>
                  <a:schemeClr val="tx1"/>
                </a:solidFill>
              </a:rPr>
              <a:t>     vs. BFS order: </a:t>
            </a:r>
            <a:r>
              <a:rPr lang="en-US" sz="13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0, 1, 2, 3, 4, 5</a:t>
            </a:r>
            <a:endParaRPr lang="en-US" sz="13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Running Time and BFS vs. DFS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Both searches do a constant amount of work per vertex and per edge, so both run in linear time.</a:t>
            </a:r>
            <a:endParaRPr lang="en-US" sz="1350" dirty="0"/>
          </a:p>
        </p:txBody>
      </p:sp>
      <p:sp>
        <p:nvSpPr>
          <p:cNvPr id="5" name="card-255"/>
          <p:cNvSpPr/>
          <p:nvPr/>
        </p:nvSpPr>
        <p:spPr>
          <a:xfrm>
            <a:off x="502920" y="1691640"/>
            <a:ext cx="443484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-256"/>
          <p:cNvSpPr txBox="1"/>
          <p:nvPr/>
        </p:nvSpPr>
        <p:spPr>
          <a:xfrm>
            <a:off x="685800" y="1828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PROOF: O(V + E) WITH ADJACENCY LISTS</a:t>
            </a:r>
            <a:endParaRPr lang="en-US" sz="1050" dirty="0"/>
          </a:p>
        </p:txBody>
      </p:sp>
      <p:sp>
        <p:nvSpPr>
          <p:cNvPr id="7" name="step-257"/>
          <p:cNvSpPr/>
          <p:nvPr/>
        </p:nvSpPr>
        <p:spPr>
          <a:xfrm>
            <a:off x="685800" y="224028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-258"/>
          <p:cNvSpPr txBox="1"/>
          <p:nvPr/>
        </p:nvSpPr>
        <p:spPr>
          <a:xfrm>
            <a:off x="105156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Each vertex is </a:t>
            </a:r>
            <a:r>
              <a:rPr lang="en-US" sz="1200" b="1" dirty="0">
                <a:solidFill>
                  <a:schemeClr val="tx1"/>
                </a:solidFill>
              </a:rPr>
              <a:t>explored once</a:t>
            </a:r>
            <a:r>
              <a:rPr lang="en-US" sz="1200" dirty="0">
                <a:solidFill>
                  <a:schemeClr val="accent4"/>
                </a:solidFill>
              </a:rPr>
              <a:t>: it enters the queue (or is visited) at most once. Total </a:t>
            </a:r>
            <a:r>
              <a:rPr lang="en-US" sz="1200" b="1" dirty="0">
                <a:solidFill>
                  <a:schemeClr val="accent1"/>
                </a:solidFill>
              </a:rPr>
              <a:t>O(V)</a:t>
            </a:r>
            <a:endParaRPr lang="en-US" sz="1200" dirty="0"/>
          </a:p>
        </p:txBody>
      </p:sp>
      <p:sp>
        <p:nvSpPr>
          <p:cNvPr id="9" name="step-259"/>
          <p:cNvSpPr/>
          <p:nvPr/>
        </p:nvSpPr>
        <p:spPr>
          <a:xfrm>
            <a:off x="685800" y="3090672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-260"/>
          <p:cNvSpPr txBox="1"/>
          <p:nvPr/>
        </p:nvSpPr>
        <p:spPr>
          <a:xfrm>
            <a:off x="1051560" y="30449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When v is processed, its list is scanned </a:t>
            </a:r>
            <a:r>
              <a:rPr lang="en-US" sz="1200" b="1" dirty="0">
                <a:solidFill>
                  <a:schemeClr val="tx1"/>
                </a:solidFill>
              </a:rPr>
              <a:t>once</a:t>
            </a:r>
            <a:r>
              <a:rPr lang="en-US" sz="1200" dirty="0">
                <a:solidFill>
                  <a:schemeClr val="accent4"/>
                </a:solidFill>
              </a:rPr>
              <a:t>, costing O(deg(v)).</a:t>
            </a:r>
            <a:endParaRPr lang="en-US" sz="1200" dirty="0"/>
          </a:p>
        </p:txBody>
      </p:sp>
      <p:sp>
        <p:nvSpPr>
          <p:cNvPr id="11" name="step-261"/>
          <p:cNvSpPr/>
          <p:nvPr/>
        </p:nvSpPr>
        <p:spPr>
          <a:xfrm>
            <a:off x="685800" y="394106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-262"/>
          <p:cNvSpPr txBox="1"/>
          <p:nvPr/>
        </p:nvSpPr>
        <p:spPr>
          <a:xfrm>
            <a:off x="1051560" y="389534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Summing: Σ deg(v) = </a:t>
            </a:r>
            <a:r>
              <a:rPr lang="en-US" sz="1200" b="1" dirty="0">
                <a:solidFill>
                  <a:schemeClr val="tx1"/>
                </a:solidFill>
              </a:rPr>
              <a:t>2E. </a:t>
            </a:r>
            <a:r>
              <a:rPr lang="en-US" sz="1200" dirty="0">
                <a:solidFill>
                  <a:schemeClr val="accent4"/>
                </a:solidFill>
              </a:rPr>
              <a:t> Total </a:t>
            </a:r>
            <a:r>
              <a:rPr lang="en-US" sz="1200" b="1" dirty="0">
                <a:solidFill>
                  <a:schemeClr val="accent1"/>
                </a:solidFill>
              </a:rPr>
              <a:t>O(V + E)</a:t>
            </a:r>
            <a:endParaRPr lang="en-US" sz="1200" dirty="0"/>
          </a:p>
        </p:txBody>
      </p:sp>
      <p:sp>
        <p:nvSpPr>
          <p:cNvPr id="13" name="step-263"/>
          <p:cNvSpPr/>
          <p:nvPr/>
        </p:nvSpPr>
        <p:spPr>
          <a:xfrm>
            <a:off x="685800" y="4791456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-264"/>
          <p:cNvSpPr txBox="1"/>
          <p:nvPr/>
        </p:nvSpPr>
        <p:spPr>
          <a:xfrm>
            <a:off x="1051560" y="474573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With an adjacency matrix, scanning a row costs O(V), so the total is </a:t>
            </a:r>
            <a:r>
              <a:rPr lang="en-US" sz="1200" b="1" dirty="0">
                <a:solidFill>
                  <a:schemeClr val="accent2"/>
                </a:solidFill>
              </a:rPr>
              <a:t>O(V²)</a:t>
            </a:r>
            <a:endParaRPr lang="en-US" sz="1200" dirty="0"/>
          </a:p>
        </p:txBody>
      </p:sp>
      <p:graphicFrame>
        <p:nvGraphicFramePr>
          <p:cNvPr id="15" name="table-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691640"/>
          <a:ext cx="6519672" cy="40233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(LIFO) or recursion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by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path deep, then backtracks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on 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0 1 2 3 4 5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0 1 3 4 2 5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paths (fewest edges)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(adjacency lists)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 for queue + 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 for stack + 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paths, components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Cycles, topological sort, SCCs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card-266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-267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Rule of thumb: </a:t>
            </a:r>
            <a:r>
              <a:rPr lang="en-US" sz="1350" dirty="0">
                <a:solidFill>
                  <a:schemeClr val="tx1"/>
                </a:solidFill>
              </a:rPr>
              <a:t>need fewest edges? BFS. Need to go deep, detect cycles, or order tasks? DFS. Just need reachability? Either.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Finding All Connected Components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One search finds one component. To find them all, start a new search from every vertex not yet explored.</a:t>
            </a:r>
            <a:endParaRPr lang="en-US" sz="1350" dirty="0"/>
          </a:p>
        </p:txBody>
      </p:sp>
      <p:sp>
        <p:nvSpPr>
          <p:cNvPr id="5" name="card-268"/>
          <p:cNvSpPr/>
          <p:nvPr/>
        </p:nvSpPr>
        <p:spPr>
          <a:xfrm>
            <a:off x="502920" y="1691640"/>
            <a:ext cx="5669280" cy="20574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269"/>
          <p:cNvSpPr txBox="1"/>
          <p:nvPr/>
        </p:nvSpPr>
        <p:spPr>
          <a:xfrm>
            <a:off x="685800" y="18196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PSEUDOCODE (UNDIRECTED GRAPH)</a:t>
            </a:r>
            <a:endParaRPr lang="en-US" sz="1050" dirty="0"/>
          </a:p>
        </p:txBody>
      </p:sp>
      <p:sp>
        <p:nvSpPr>
          <p:cNvPr id="7" name="text-270"/>
          <p:cNvSpPr txBox="1"/>
          <p:nvPr/>
        </p:nvSpPr>
        <p:spPr>
          <a:xfrm>
            <a:off x="685800" y="2130552"/>
            <a:ext cx="53492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UCC(G)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all vertices unexplored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1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numCC := 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:= 0 to V − 1: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i is unexplored: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1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numCC := numCC + 1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BFS(G, i); set cc(v) := numCC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for every v that BFS explores</a:t>
            </a:r>
            <a:endParaRPr lang="en-US" sz="1150" dirty="0"/>
          </a:p>
        </p:txBody>
      </p:sp>
      <p:sp>
        <p:nvSpPr>
          <p:cNvPr id="8" name="card-271"/>
          <p:cNvSpPr/>
          <p:nvPr/>
        </p:nvSpPr>
        <p:spPr>
          <a:xfrm>
            <a:off x="502920" y="3840480"/>
            <a:ext cx="566928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-272"/>
          <p:cNvSpPr txBox="1"/>
          <p:nvPr/>
        </p:nvSpPr>
        <p:spPr>
          <a:xfrm>
            <a:off x="685800" y="39593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WHAT EACH LINE DOES</a:t>
            </a:r>
            <a:endParaRPr lang="en-US" sz="1050" dirty="0"/>
          </a:p>
        </p:txBody>
      </p:sp>
      <p:sp>
        <p:nvSpPr>
          <p:cNvPr id="10" name="lineref-273"/>
          <p:cNvSpPr/>
          <p:nvPr/>
        </p:nvSpPr>
        <p:spPr>
          <a:xfrm>
            <a:off x="685800" y="428625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text-274"/>
          <p:cNvSpPr txBox="1"/>
          <p:nvPr/>
        </p:nvSpPr>
        <p:spPr>
          <a:xfrm>
            <a:off x="1371600" y="4251960"/>
            <a:ext cx="4617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numCC counts the components found so far.</a:t>
            </a:r>
            <a:endParaRPr lang="en-US" sz="1200" dirty="0"/>
          </a:p>
        </p:txBody>
      </p:sp>
      <p:sp>
        <p:nvSpPr>
          <p:cNvPr id="12" name="lineref-275"/>
          <p:cNvSpPr/>
          <p:nvPr/>
        </p:nvSpPr>
        <p:spPr>
          <a:xfrm>
            <a:off x="685800" y="462915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text-276"/>
          <p:cNvSpPr txBox="1"/>
          <p:nvPr/>
        </p:nvSpPr>
        <p:spPr>
          <a:xfrm>
            <a:off x="1371600" y="4594860"/>
            <a:ext cx="4617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Try every vertex, in order, as a starting point.</a:t>
            </a:r>
            <a:endParaRPr lang="en-US" sz="1200" dirty="0"/>
          </a:p>
        </p:txBody>
      </p:sp>
      <p:sp>
        <p:nvSpPr>
          <p:cNvPr id="14" name="lineref-277"/>
          <p:cNvSpPr/>
          <p:nvPr/>
        </p:nvSpPr>
        <p:spPr>
          <a:xfrm>
            <a:off x="685800" y="497205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5" name="text-278"/>
          <p:cNvSpPr txBox="1"/>
          <p:nvPr/>
        </p:nvSpPr>
        <p:spPr>
          <a:xfrm>
            <a:off x="1371600" y="4937760"/>
            <a:ext cx="4617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Already explored? It is in a component we already have.</a:t>
            </a:r>
            <a:endParaRPr lang="en-US" sz="1200" dirty="0"/>
          </a:p>
        </p:txBody>
      </p:sp>
      <p:sp>
        <p:nvSpPr>
          <p:cNvPr id="16" name="lineref-279"/>
          <p:cNvSpPr/>
          <p:nvPr/>
        </p:nvSpPr>
        <p:spPr>
          <a:xfrm>
            <a:off x="685800" y="5314950"/>
            <a:ext cx="566928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6–8</a:t>
            </a:r>
            <a:endParaRPr lang="en-US" sz="1050" dirty="0"/>
          </a:p>
        </p:txBody>
      </p:sp>
      <p:sp>
        <p:nvSpPr>
          <p:cNvPr id="17" name="text-280"/>
          <p:cNvSpPr txBox="1"/>
          <p:nvPr/>
        </p:nvSpPr>
        <p:spPr>
          <a:xfrm>
            <a:off x="1371600" y="5280660"/>
            <a:ext cx="4617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If not: new component. BFS from i finds all of it; label each.</a:t>
            </a:r>
            <a:endParaRPr lang="en-US" sz="1200" dirty="0"/>
          </a:p>
        </p:txBody>
      </p:sp>
      <p:sp>
        <p:nvSpPr>
          <p:cNvPr id="18" name="card-281"/>
          <p:cNvSpPr/>
          <p:nvPr/>
        </p:nvSpPr>
        <p:spPr>
          <a:xfrm>
            <a:off x="6400800" y="1691640"/>
            <a:ext cx="5285232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-282"/>
          <p:cNvSpPr txBox="1"/>
          <p:nvPr/>
        </p:nvSpPr>
        <p:spPr>
          <a:xfrm>
            <a:off x="6583680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accent2"/>
                </a:solidFill>
              </a:rPr>
              <a:t>EXAMPLE (FROM THE INTRO LECTURE)</a:t>
            </a:r>
            <a:endParaRPr lang="en-US" sz="1050" dirty="0"/>
          </a:p>
        </p:txBody>
      </p:sp>
      <p:sp>
        <p:nvSpPr>
          <p:cNvPr id="20" name="component-283"/>
          <p:cNvSpPr/>
          <p:nvPr/>
        </p:nvSpPr>
        <p:spPr>
          <a:xfrm>
            <a:off x="6629400" y="2240280"/>
            <a:ext cx="2103120" cy="1874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-284"/>
          <p:cNvSpPr txBox="1"/>
          <p:nvPr/>
        </p:nvSpPr>
        <p:spPr>
          <a:xfrm>
            <a:off x="6629400" y="41422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cc = 1</a:t>
            </a:r>
            <a:endParaRPr lang="en-US" sz="1100" dirty="0"/>
          </a:p>
        </p:txBody>
      </p:sp>
      <p:sp>
        <p:nvSpPr>
          <p:cNvPr id="22" name="component-285"/>
          <p:cNvSpPr/>
          <p:nvPr/>
        </p:nvSpPr>
        <p:spPr>
          <a:xfrm>
            <a:off x="8915400" y="2240280"/>
            <a:ext cx="1417320" cy="155448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286"/>
          <p:cNvSpPr txBox="1"/>
          <p:nvPr/>
        </p:nvSpPr>
        <p:spPr>
          <a:xfrm>
            <a:off x="8915400" y="3822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cc = 2</a:t>
            </a:r>
            <a:endParaRPr lang="en-US" sz="1100" dirty="0"/>
          </a:p>
        </p:txBody>
      </p:sp>
      <p:sp>
        <p:nvSpPr>
          <p:cNvPr id="24" name="component-287"/>
          <p:cNvSpPr/>
          <p:nvPr/>
        </p:nvSpPr>
        <p:spPr>
          <a:xfrm>
            <a:off x="10515600" y="269748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-288"/>
          <p:cNvSpPr txBox="1"/>
          <p:nvPr/>
        </p:nvSpPr>
        <p:spPr>
          <a:xfrm>
            <a:off x="10515600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cc = 3</a:t>
            </a:r>
            <a:endParaRPr lang="en-US" sz="1100" dirty="0"/>
          </a:p>
        </p:txBody>
      </p:sp>
      <p:sp>
        <p:nvSpPr>
          <p:cNvPr id="26" name="edge-289"/>
          <p:cNvSpPr/>
          <p:nvPr/>
        </p:nvSpPr>
        <p:spPr>
          <a:xfrm flipV="1">
            <a:off x="7177035" y="2533745"/>
            <a:ext cx="504930" cy="5315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-290"/>
          <p:cNvSpPr/>
          <p:nvPr/>
        </p:nvSpPr>
        <p:spPr>
          <a:xfrm>
            <a:off x="7014305" y="2787915"/>
            <a:ext cx="53150" cy="50493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-291"/>
          <p:cNvSpPr/>
          <p:nvPr/>
        </p:nvSpPr>
        <p:spPr>
          <a:xfrm>
            <a:off x="7863840" y="2697480"/>
            <a:ext cx="914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dge-292"/>
          <p:cNvSpPr/>
          <p:nvPr/>
        </p:nvSpPr>
        <p:spPr>
          <a:xfrm flipV="1">
            <a:off x="7266697" y="3369342"/>
            <a:ext cx="417046" cy="7359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dge-293"/>
          <p:cNvSpPr/>
          <p:nvPr/>
        </p:nvSpPr>
        <p:spPr>
          <a:xfrm>
            <a:off x="8007642" y="3450547"/>
            <a:ext cx="352476" cy="27694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vertex-294"/>
          <p:cNvSpPr/>
          <p:nvPr/>
        </p:nvSpPr>
        <p:spPr>
          <a:xfrm>
            <a:off x="6812280" y="242316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vertex-295"/>
          <p:cNvSpPr/>
          <p:nvPr/>
        </p:nvSpPr>
        <p:spPr>
          <a:xfrm>
            <a:off x="7680960" y="233172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vertex-296"/>
          <p:cNvSpPr/>
          <p:nvPr/>
        </p:nvSpPr>
        <p:spPr>
          <a:xfrm>
            <a:off x="6903720" y="329184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vertex-297"/>
          <p:cNvSpPr/>
          <p:nvPr/>
        </p:nvSpPr>
        <p:spPr>
          <a:xfrm>
            <a:off x="7680960" y="315468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vertex-298"/>
          <p:cNvSpPr/>
          <p:nvPr/>
        </p:nvSpPr>
        <p:spPr>
          <a:xfrm>
            <a:off x="8321040" y="365760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edge-299"/>
          <p:cNvSpPr/>
          <p:nvPr/>
        </p:nvSpPr>
        <p:spPr>
          <a:xfrm>
            <a:off x="9372600" y="2560320"/>
            <a:ext cx="502920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dge-300"/>
          <p:cNvSpPr/>
          <p:nvPr/>
        </p:nvSpPr>
        <p:spPr>
          <a:xfrm>
            <a:off x="10058400" y="2743200"/>
            <a:ext cx="914" cy="4572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dge-301"/>
          <p:cNvSpPr/>
          <p:nvPr/>
        </p:nvSpPr>
        <p:spPr>
          <a:xfrm flipH="1">
            <a:off x="9372600" y="3383280"/>
            <a:ext cx="502920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dge-302"/>
          <p:cNvSpPr/>
          <p:nvPr/>
        </p:nvSpPr>
        <p:spPr>
          <a:xfrm>
            <a:off x="9322482" y="2686095"/>
            <a:ext cx="603156" cy="571411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vertex-303"/>
          <p:cNvSpPr/>
          <p:nvPr/>
        </p:nvSpPr>
        <p:spPr>
          <a:xfrm>
            <a:off x="9006840" y="2377440"/>
            <a:ext cx="365760" cy="3657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vertex-304"/>
          <p:cNvSpPr/>
          <p:nvPr/>
        </p:nvSpPr>
        <p:spPr>
          <a:xfrm>
            <a:off x="9875520" y="2377440"/>
            <a:ext cx="365760" cy="3657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vertex-305"/>
          <p:cNvSpPr/>
          <p:nvPr/>
        </p:nvSpPr>
        <p:spPr>
          <a:xfrm>
            <a:off x="9875520" y="3200400"/>
            <a:ext cx="365760" cy="3657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vertex-306"/>
          <p:cNvSpPr/>
          <p:nvPr/>
        </p:nvSpPr>
        <p:spPr>
          <a:xfrm>
            <a:off x="9006840" y="3200400"/>
            <a:ext cx="365760" cy="3657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vertex-307"/>
          <p:cNvSpPr/>
          <p:nvPr/>
        </p:nvSpPr>
        <p:spPr>
          <a:xfrm>
            <a:off x="10652760" y="2834640"/>
            <a:ext cx="365760" cy="36576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45" name="text-308"/>
          <p:cNvSpPr txBox="1"/>
          <p:nvPr/>
        </p:nvSpPr>
        <p:spPr>
          <a:xfrm>
            <a:off x="658368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r>
              <a:rPr lang="en-US" sz="1150" dirty="0">
                <a:solidFill>
                  <a:schemeClr val="accent4"/>
                </a:solidFill>
              </a:rPr>
              <a:t>: new component 1, BFS explores 0 1 2 3 4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1–4</a:t>
            </a:r>
            <a:r>
              <a:rPr lang="en-US" sz="1150" dirty="0">
                <a:solidFill>
                  <a:schemeClr val="accent4"/>
                </a:solidFill>
              </a:rPr>
              <a:t>: already explored, skip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5</a:t>
            </a:r>
            <a:r>
              <a:rPr lang="en-US" sz="1150" dirty="0">
                <a:solidFill>
                  <a:schemeClr val="accent4"/>
                </a:solidFill>
              </a:rPr>
              <a:t>: new component 2, BFS explores 5 6 7 8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9</a:t>
            </a:r>
            <a:r>
              <a:rPr lang="en-US" sz="1150" dirty="0">
                <a:solidFill>
                  <a:schemeClr val="accent4"/>
                </a:solidFill>
              </a:rPr>
              <a:t>: new component 3, just 9</a:t>
            </a:r>
            <a:endParaRPr lang="en-US" sz="1150" dirty="0"/>
          </a:p>
        </p:txBody>
      </p:sp>
      <p:sp>
        <p:nvSpPr>
          <p:cNvPr id="46" name="card-309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-310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Still O(V + E) in total: </a:t>
            </a:r>
            <a:r>
              <a:rPr lang="en-US" sz="1350" dirty="0">
                <a:solidFill>
                  <a:schemeClr val="tx1"/>
                </a:solidFill>
              </a:rPr>
              <a:t>vertices are never un-marked, so each vertex and edge is handled once across all the searches. DFS works too.</a:t>
            </a:r>
            <a:endParaRPr lang="en-US" sz="13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BFS and DFS Show Up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4"/>
                </a:solidFill>
              </a:rPr>
              <a:t>Linear-time graph search is the first tool to reach for on almost any graph problem.</a:t>
            </a:r>
            <a:endParaRPr lang="en-US" sz="1350" dirty="0"/>
          </a:p>
        </p:txBody>
      </p:sp>
      <p:sp>
        <p:nvSpPr>
          <p:cNvPr id="5" name="colhead-346"/>
          <p:cNvSpPr/>
          <p:nvPr/>
        </p:nvSpPr>
        <p:spPr>
          <a:xfrm>
            <a:off x="502920" y="1691640"/>
            <a:ext cx="3575304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BFS</a:t>
            </a:r>
            <a:endParaRPr lang="en-US" sz="1400" dirty="0"/>
          </a:p>
        </p:txBody>
      </p:sp>
      <p:sp>
        <p:nvSpPr>
          <p:cNvPr id="6" name="card-347"/>
          <p:cNvSpPr/>
          <p:nvPr/>
        </p:nvSpPr>
        <p:spPr>
          <a:xfrm>
            <a:off x="502920" y="2194560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-348"/>
          <p:cNvSpPr txBox="1"/>
          <p:nvPr/>
        </p:nvSpPr>
        <p:spPr>
          <a:xfrm>
            <a:off x="685800" y="226771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Fewest hops</a:t>
            </a:r>
            <a:endParaRPr lang="en-US" sz="1300" dirty="0"/>
          </a:p>
        </p:txBody>
      </p:sp>
      <p:sp>
        <p:nvSpPr>
          <p:cNvPr id="8" name="text-349"/>
          <p:cNvSpPr txBox="1"/>
          <p:nvPr/>
        </p:nvSpPr>
        <p:spPr>
          <a:xfrm>
            <a:off x="685800" y="2532888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Network routing; “degrees of separation” in social networks</a:t>
            </a:r>
            <a:endParaRPr lang="en-US" sz="1150" dirty="0"/>
          </a:p>
        </p:txBody>
      </p:sp>
      <p:sp>
        <p:nvSpPr>
          <p:cNvPr id="9" name="card-350"/>
          <p:cNvSpPr/>
          <p:nvPr/>
        </p:nvSpPr>
        <p:spPr>
          <a:xfrm>
            <a:off x="502920" y="3081528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-351"/>
          <p:cNvSpPr txBox="1"/>
          <p:nvPr/>
        </p:nvSpPr>
        <p:spPr>
          <a:xfrm>
            <a:off x="685800" y="3154680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Puzzles and games</a:t>
            </a:r>
            <a:endParaRPr lang="en-US" sz="1300" dirty="0"/>
          </a:p>
        </p:txBody>
      </p:sp>
      <p:sp>
        <p:nvSpPr>
          <p:cNvPr id="11" name="text-352"/>
          <p:cNvSpPr txBox="1"/>
          <p:nvPr/>
        </p:nvSpPr>
        <p:spPr>
          <a:xfrm>
            <a:off x="685800" y="3419856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Fewest moves to solve a maze, sliding puzzle or Rubik's cube</a:t>
            </a:r>
            <a:endParaRPr lang="en-US" sz="1150" dirty="0"/>
          </a:p>
        </p:txBody>
      </p:sp>
      <p:sp>
        <p:nvSpPr>
          <p:cNvPr id="12" name="card-353"/>
          <p:cNvSpPr/>
          <p:nvPr/>
        </p:nvSpPr>
        <p:spPr>
          <a:xfrm>
            <a:off x="502920" y="3968496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-354"/>
          <p:cNvSpPr txBox="1"/>
          <p:nvPr/>
        </p:nvSpPr>
        <p:spPr>
          <a:xfrm>
            <a:off x="685800" y="404164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Web crawling</a:t>
            </a:r>
            <a:endParaRPr lang="en-US" sz="1300" dirty="0"/>
          </a:p>
        </p:txBody>
      </p:sp>
      <p:sp>
        <p:nvSpPr>
          <p:cNvPr id="14" name="text-355"/>
          <p:cNvSpPr txBox="1"/>
          <p:nvPr/>
        </p:nvSpPr>
        <p:spPr>
          <a:xfrm>
            <a:off x="685800" y="4306824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Visit pages level by level outward from seed pages</a:t>
            </a:r>
            <a:endParaRPr lang="en-US" sz="1150" dirty="0"/>
          </a:p>
        </p:txBody>
      </p:sp>
      <p:sp>
        <p:nvSpPr>
          <p:cNvPr id="15" name="card-356"/>
          <p:cNvSpPr/>
          <p:nvPr/>
        </p:nvSpPr>
        <p:spPr>
          <a:xfrm>
            <a:off x="502920" y="4855464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-357"/>
          <p:cNvSpPr txBox="1"/>
          <p:nvPr/>
        </p:nvSpPr>
        <p:spPr>
          <a:xfrm>
            <a:off x="685800" y="4928616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Two-coloring</a:t>
            </a:r>
            <a:endParaRPr lang="en-US" sz="1300" dirty="0"/>
          </a:p>
        </p:txBody>
      </p:sp>
      <p:sp>
        <p:nvSpPr>
          <p:cNvPr id="17" name="text-358"/>
          <p:cNvSpPr txBox="1"/>
          <p:nvPr/>
        </p:nvSpPr>
        <p:spPr>
          <a:xfrm>
            <a:off x="685800" y="51937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Check if a graph is bipartite using the layers</a:t>
            </a:r>
            <a:endParaRPr lang="en-US" sz="1150" dirty="0"/>
          </a:p>
        </p:txBody>
      </p:sp>
      <p:sp>
        <p:nvSpPr>
          <p:cNvPr id="18" name="colhead-359"/>
          <p:cNvSpPr/>
          <p:nvPr/>
        </p:nvSpPr>
        <p:spPr>
          <a:xfrm>
            <a:off x="4306824" y="1691640"/>
            <a:ext cx="3575304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DFS</a:t>
            </a:r>
            <a:endParaRPr lang="en-US" sz="1400" dirty="0"/>
          </a:p>
        </p:txBody>
      </p:sp>
      <p:sp>
        <p:nvSpPr>
          <p:cNvPr id="19" name="card-360"/>
          <p:cNvSpPr/>
          <p:nvPr/>
        </p:nvSpPr>
        <p:spPr>
          <a:xfrm>
            <a:off x="4306824" y="2194560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-361"/>
          <p:cNvSpPr txBox="1"/>
          <p:nvPr/>
        </p:nvSpPr>
        <p:spPr>
          <a:xfrm>
            <a:off x="4489704" y="226771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Task ordering</a:t>
            </a:r>
            <a:endParaRPr lang="en-US" sz="1300" dirty="0"/>
          </a:p>
        </p:txBody>
      </p:sp>
      <p:sp>
        <p:nvSpPr>
          <p:cNvPr id="21" name="text-362"/>
          <p:cNvSpPr txBox="1"/>
          <p:nvPr/>
        </p:nvSpPr>
        <p:spPr>
          <a:xfrm>
            <a:off x="4489704" y="2532888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Topological sort: build systems, course prerequisites</a:t>
            </a:r>
            <a:endParaRPr lang="en-US" sz="1150" dirty="0"/>
          </a:p>
        </p:txBody>
      </p:sp>
      <p:sp>
        <p:nvSpPr>
          <p:cNvPr id="22" name="card-363"/>
          <p:cNvSpPr/>
          <p:nvPr/>
        </p:nvSpPr>
        <p:spPr>
          <a:xfrm>
            <a:off x="4306824" y="3081528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-364"/>
          <p:cNvSpPr txBox="1"/>
          <p:nvPr/>
        </p:nvSpPr>
        <p:spPr>
          <a:xfrm>
            <a:off x="4489704" y="3154680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Cycle detection</a:t>
            </a:r>
            <a:endParaRPr lang="en-US" sz="1300" dirty="0"/>
          </a:p>
        </p:txBody>
      </p:sp>
      <p:sp>
        <p:nvSpPr>
          <p:cNvPr id="24" name="text-365"/>
          <p:cNvSpPr txBox="1"/>
          <p:nvPr/>
        </p:nvSpPr>
        <p:spPr>
          <a:xfrm>
            <a:off x="4489704" y="3419856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Deadlocks, circular imports and dependencies</a:t>
            </a:r>
            <a:endParaRPr lang="en-US" sz="1150" dirty="0"/>
          </a:p>
        </p:txBody>
      </p:sp>
      <p:sp>
        <p:nvSpPr>
          <p:cNvPr id="25" name="card-366"/>
          <p:cNvSpPr/>
          <p:nvPr/>
        </p:nvSpPr>
        <p:spPr>
          <a:xfrm>
            <a:off x="4306824" y="3968496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-367"/>
          <p:cNvSpPr txBox="1"/>
          <p:nvPr/>
        </p:nvSpPr>
        <p:spPr>
          <a:xfrm>
            <a:off x="4489704" y="404164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Strongly connected components</a:t>
            </a:r>
            <a:endParaRPr lang="en-US" sz="1300" dirty="0"/>
          </a:p>
        </p:txBody>
      </p:sp>
      <p:sp>
        <p:nvSpPr>
          <p:cNvPr id="27" name="text-368"/>
          <p:cNvSpPr txBox="1"/>
          <p:nvPr/>
        </p:nvSpPr>
        <p:spPr>
          <a:xfrm>
            <a:off x="4489704" y="4306824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SCCs of a directed graph (two DFS passes)</a:t>
            </a:r>
            <a:endParaRPr lang="en-US" sz="1150" dirty="0"/>
          </a:p>
        </p:txBody>
      </p:sp>
      <p:sp>
        <p:nvSpPr>
          <p:cNvPr id="28" name="card-369"/>
          <p:cNvSpPr/>
          <p:nvPr/>
        </p:nvSpPr>
        <p:spPr>
          <a:xfrm>
            <a:off x="4306824" y="4855464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-370"/>
          <p:cNvSpPr txBox="1"/>
          <p:nvPr/>
        </p:nvSpPr>
        <p:spPr>
          <a:xfrm>
            <a:off x="4489704" y="4928616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Backtracking</a:t>
            </a:r>
            <a:endParaRPr lang="en-US" sz="1300" dirty="0"/>
          </a:p>
        </p:txBody>
      </p:sp>
      <p:sp>
        <p:nvSpPr>
          <p:cNvPr id="30" name="text-371"/>
          <p:cNvSpPr txBox="1"/>
          <p:nvPr/>
        </p:nvSpPr>
        <p:spPr>
          <a:xfrm>
            <a:off x="4489704" y="51937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Sudoku solvers, maze generation</a:t>
            </a:r>
            <a:endParaRPr lang="en-US" sz="1150" dirty="0"/>
          </a:p>
        </p:txBody>
      </p:sp>
      <p:sp>
        <p:nvSpPr>
          <p:cNvPr id="31" name="colhead-372"/>
          <p:cNvSpPr/>
          <p:nvPr/>
        </p:nvSpPr>
        <p:spPr>
          <a:xfrm>
            <a:off x="8110728" y="1691640"/>
            <a:ext cx="3575304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BOTH</a:t>
            </a:r>
            <a:endParaRPr lang="en-US" sz="1400" dirty="0"/>
          </a:p>
        </p:txBody>
      </p:sp>
      <p:sp>
        <p:nvSpPr>
          <p:cNvPr id="32" name="card-373"/>
          <p:cNvSpPr/>
          <p:nvPr/>
        </p:nvSpPr>
        <p:spPr>
          <a:xfrm>
            <a:off x="8110728" y="2194560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-374"/>
          <p:cNvSpPr txBox="1"/>
          <p:nvPr/>
        </p:nvSpPr>
        <p:spPr>
          <a:xfrm>
            <a:off x="8293608" y="226771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Connected components</a:t>
            </a:r>
            <a:endParaRPr lang="en-US" sz="1300" dirty="0"/>
          </a:p>
        </p:txBody>
      </p:sp>
      <p:sp>
        <p:nvSpPr>
          <p:cNvPr id="34" name="text-375"/>
          <p:cNvSpPr txBox="1"/>
          <p:nvPr/>
        </p:nvSpPr>
        <p:spPr>
          <a:xfrm>
            <a:off x="8293608" y="2532888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“Paint bucket” flood fill; regions in an image</a:t>
            </a:r>
            <a:endParaRPr lang="en-US" sz="1150" dirty="0"/>
          </a:p>
        </p:txBody>
      </p:sp>
      <p:sp>
        <p:nvSpPr>
          <p:cNvPr id="35" name="card-376"/>
          <p:cNvSpPr/>
          <p:nvPr/>
        </p:nvSpPr>
        <p:spPr>
          <a:xfrm>
            <a:off x="8110728" y="3081528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-377"/>
          <p:cNvSpPr txBox="1"/>
          <p:nvPr/>
        </p:nvSpPr>
        <p:spPr>
          <a:xfrm>
            <a:off x="8293608" y="3154680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Reachability</a:t>
            </a:r>
            <a:endParaRPr lang="en-US" sz="1300" dirty="0"/>
          </a:p>
        </p:txBody>
      </p:sp>
      <p:sp>
        <p:nvSpPr>
          <p:cNvPr id="37" name="text-378"/>
          <p:cNvSpPr txBox="1"/>
          <p:nvPr/>
        </p:nvSpPr>
        <p:spPr>
          <a:xfrm>
            <a:off x="8293608" y="3419856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Garbage collection marks objects reachable from roots</a:t>
            </a:r>
            <a:endParaRPr lang="en-US" sz="1150" dirty="0"/>
          </a:p>
        </p:txBody>
      </p:sp>
      <p:sp>
        <p:nvSpPr>
          <p:cNvPr id="38" name="card-379"/>
          <p:cNvSpPr/>
          <p:nvPr/>
        </p:nvSpPr>
        <p:spPr>
          <a:xfrm>
            <a:off x="8110728" y="3968496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-380"/>
          <p:cNvSpPr txBox="1"/>
          <p:nvPr/>
        </p:nvSpPr>
        <p:spPr>
          <a:xfrm>
            <a:off x="8293608" y="404164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Is it connected?</a:t>
            </a:r>
            <a:endParaRPr lang="en-US" sz="1300" dirty="0"/>
          </a:p>
        </p:txBody>
      </p:sp>
      <p:sp>
        <p:nvSpPr>
          <p:cNvPr id="40" name="text-381"/>
          <p:cNvSpPr txBox="1"/>
          <p:nvPr/>
        </p:nvSpPr>
        <p:spPr>
          <a:xfrm>
            <a:off x="8293608" y="4306824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Can every computer in the network reach every other?</a:t>
            </a:r>
            <a:endParaRPr lang="en-US" sz="1150" dirty="0"/>
          </a:p>
        </p:txBody>
      </p:sp>
      <p:sp>
        <p:nvSpPr>
          <p:cNvPr id="41" name="card-382"/>
          <p:cNvSpPr/>
          <p:nvPr/>
        </p:nvSpPr>
        <p:spPr>
          <a:xfrm>
            <a:off x="8110728" y="4855464"/>
            <a:ext cx="3575304" cy="795528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-383"/>
          <p:cNvSpPr txBox="1"/>
          <p:nvPr/>
        </p:nvSpPr>
        <p:spPr>
          <a:xfrm>
            <a:off x="8293608" y="4928616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Path finding</a:t>
            </a:r>
            <a:endParaRPr lang="en-US" sz="1300" dirty="0"/>
          </a:p>
        </p:txBody>
      </p:sp>
      <p:sp>
        <p:nvSpPr>
          <p:cNvPr id="43" name="text-384"/>
          <p:cNvSpPr txBox="1"/>
          <p:nvPr/>
        </p:nvSpPr>
        <p:spPr>
          <a:xfrm>
            <a:off x="8293608" y="51937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Does any route exist from s to t?</a:t>
            </a:r>
            <a:endParaRPr lang="en-US" sz="1150" dirty="0"/>
          </a:p>
        </p:txBody>
      </p:sp>
      <p:sp>
        <p:nvSpPr>
          <p:cNvPr id="44" name="card-385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-386"/>
          <p:cNvSpPr txBox="1"/>
          <p:nvPr/>
        </p:nvSpPr>
        <p:spPr>
          <a:xfrm>
            <a:off x="685800" y="5852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</a:rPr>
              <a:t>Takeaway: </a:t>
            </a:r>
            <a:r>
              <a:rPr lang="en-US" sz="1350" dirty="0">
                <a:solidFill>
                  <a:schemeClr val="tx1"/>
                </a:solidFill>
              </a:rPr>
              <a:t>same O(V + E) skeleton every time; only the data structure (queue vs. stack) and what you record (dist, parent, cc) change.</a:t>
            </a:r>
            <a:endParaRPr lang="en-US" sz="13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orithms Course">
  <a:themeElements>
    <a:clrScheme name="Algorithms Course">
      <a:dk1>
        <a:srgbClr val="1E2A44"/>
      </a:dk1>
      <a:lt1>
        <a:srgbClr val="FFFFFF"/>
      </a:lt1>
      <a:dk2>
        <a:srgbClr val="333F50"/>
      </a:dk2>
      <a:lt2>
        <a:srgbClr val="EEF3FC"/>
      </a:lt2>
      <a:accent1>
        <a:srgbClr val="4472C4"/>
      </a:accent1>
      <a:accent2>
        <a:srgbClr val="C55A11"/>
      </a:accent2>
      <a:accent3>
        <a:srgbClr val="FBE4D5"/>
      </a:accent3>
      <a:accent4>
        <a:srgbClr val="595959"/>
      </a:accent4>
      <a:accent5>
        <a:srgbClr val="D9D9D9"/>
      </a:accent5>
      <a:accent6>
        <a:srgbClr val="DCE6F7"/>
      </a:accent6>
      <a:hlink>
        <a:srgbClr val="0563C1"/>
      </a:hlink>
      <a:folHlink>
        <a:srgbClr val="954F72"/>
      </a:folHlink>
    </a:clrScheme>
    <a:fontScheme name="Algorithms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2911</Words>
  <Application>Microsoft Macintosh PowerPoint</Application>
  <PresentationFormat>Widescreen</PresentationFormat>
  <Paragraphs>474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Algorithms Course</vt:lpstr>
      <vt:lpstr>Graph Search: BFS and DFS</vt:lpstr>
      <vt:lpstr>Why Search a Graph?</vt:lpstr>
      <vt:lpstr>BFS: Explore in Layers</vt:lpstr>
      <vt:lpstr>BFS: Pseudocode</vt:lpstr>
      <vt:lpstr>Tracing BFS from s = 0</vt:lpstr>
      <vt:lpstr>BFS Finds Shortest Paths</vt:lpstr>
      <vt:lpstr>DFS: Go Deep, Then Backtrack</vt:lpstr>
      <vt:lpstr>DFS: Recursive Pseudocode</vt:lpstr>
      <vt:lpstr>DFS: Iterative Pseudocode</vt:lpstr>
      <vt:lpstr>Tracing DFS from s = 0</vt:lpstr>
      <vt:lpstr>Running Time and BFS vs. DFS</vt:lpstr>
      <vt:lpstr>Finding All Connected Components</vt:lpstr>
      <vt:lpstr>Where BFS and DFS Show Up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Search: BFS and DFS</dc:title>
  <dc:subject>PptxGenJS Presentation</dc:subject>
  <dc:creator>Tanwistha Saha</dc:creator>
  <cp:lastModifiedBy>Tanwistha Saha</cp:lastModifiedBy>
  <cp:revision>4</cp:revision>
  <dcterms:created xsi:type="dcterms:W3CDTF">2026-10-29T18:28:38Z</dcterms:created>
  <dcterms:modified xsi:type="dcterms:W3CDTF">2026-10-30T18:12:25Z</dcterms:modified>
</cp:coreProperties>
</file>