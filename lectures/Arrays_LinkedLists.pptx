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71" r:id="rId4"/>
    <p:sldId id="257" r:id="rId5"/>
    <p:sldId id="269" r:id="rId6"/>
    <p:sldId id="270" r:id="rId7"/>
    <p:sldId id="258" r:id="rId8"/>
    <p:sldId id="259" r:id="rId9"/>
    <p:sldId id="260" r:id="rId10"/>
    <p:sldId id="261" r:id="rId11"/>
    <p:sldId id="262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6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891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osalind.info/problems/location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anwistha/cs383_fall26/blob/main/inclass/circularlist.py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8803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39912" y="28803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4472C4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90304" y="28803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4472C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3749040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589520" y="420624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49640" y="4480560"/>
            <a:ext cx="50292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0" y="420624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12680" y="4480560"/>
            <a:ext cx="50292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15600" y="420624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89520" y="48463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- I 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D7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and Linked Lists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everything else in this course is built 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434840"/>
            <a:ext cx="1280160" cy="0"/>
          </a:xfrm>
          <a:prstGeom prst="line">
            <a:avLst/>
          </a:prstGeom>
          <a:noFill/>
          <a:ln w="381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6280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rgbClr val="59595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Tanwistha Saha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152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Sep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RECAP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your Python setup ready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Arrays, Linked Lists, Stacks &amp; Queues  ·  Sep 4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578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INSTALL PYTHON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 3.9 or newer. If you want a version newer than 3.9, download a current release from Python.org.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0" u="sng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Python  →  https://www.python.org/downloads/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5257800" cy="3017520"/>
          </a:xfrm>
          <a:prstGeom prst="roundRect">
            <a:avLst>
              <a:gd name="adj" fmla="val 3636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CHOOSE AN IDE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675120" y="265176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is my preferred IDE, but you are welcome to use another IDE or editor if you are already familiar with it.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38862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0" u="sng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VS Code  →  https://code.visualstudio.com/download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 ·  Open a terminal and run  python --version  — then create a .py file that prints “Hello, world!”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OPTIONAL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399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to Practice Python? Start here, then choose a track</a:t>
            </a:r>
          </a:p>
          <a:p>
            <a:r>
              <a:rPr lang="en-US" sz="2900" dirty="0">
                <a:hlinkClick r:id="rId3"/>
              </a:rPr>
              <a:t>https://rosalind.info/problems/locations/</a:t>
            </a:r>
            <a:r>
              <a:rPr lang="en-US" sz="2900" dirty="0"/>
              <a:t> 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Arrays, Linked Lists, Stacks &amp; Queues  ·  Sep 4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— PYTHON VILLAGE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steps — INI1 Installing Python; INI2 Variables + arithmetic.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syntax — INI3 Strings + lists; INI4 Conditions + loops.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 — INI5 Files; INI6 Dictionaries. Finish all six before moving on.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PICK YOUR NEXT CHALLENGE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675120" y="26517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Stronghold — implement algorithms across bioinformatics topics.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6675120" y="35661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Heights — practise introductory algorithms such as search, sorting, and graphs.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6675120" y="4480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or tool-based — use Textbook Track with Bioinformatics Algorithms, or Armory to work with existing software.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vs. data structures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Arrays, Linked Lists, Stacks &amp; Queues  ·  Sep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578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 step-by-step process for solving a problem or transforming an input into an output.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search for a value?"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5257800" cy="3017520"/>
          </a:xfrm>
          <a:prstGeom prst="roundRect">
            <a:avLst>
              <a:gd name="adj" fmla="val 3636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65176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of organizing data so it can be accessed and modified efficiently.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38862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is that value stored?"</a:t>
            </a:r>
            <a:endParaRPr lang="en-US" sz="13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four foundational data structures — arrays, linked lists, stacks, and queues — that you will be using in majority of the software applications you develop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PROBLEM, TWO DECISIONS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do vs. what you do it to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Arrays, Linked Lists, Stacks &amp; Queues  ·  Sep 4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— THE PLAN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steps: compare, move, repeat until the answer appears.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how the step count grows as the input gets bigger.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Swappable: the same data can be searched or sorted many different ways.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STRUCTURE — THE LAYOUT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675120" y="26517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about where each value lives and how the values are connected.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6675120" y="35661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fixes which operations are cheap and which are expensive.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6675120" y="4480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layout and you change the set of algorithms available to you.</a:t>
            </a:r>
            <a:endParaRPr lang="en-US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 TOGETHER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pairing decides your speed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 sets the ceiling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1280160" y="221284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needs values stored in order in one block; on a chain of scattered nodes the same idea collapses into a walk.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1280160" y="3017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 spends the budget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1280160" y="344728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million sorted values, scanning every item takes about a million comparisons; binary search takes about twenty.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always choose both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1280160" y="468172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layout for the operations you repeat most, then the algorithm that takes advantage of that layout.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the simplest layout there is: one contiguous block of memory.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block of memory, indexed by position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Arrays, Linked Lists, Stacks &amp; Queues  ·  Sep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ONE CONTIGUOUS BLOCK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2514600"/>
            <a:ext cx="1234440" cy="731520"/>
          </a:xfrm>
          <a:prstGeom prst="roundRect">
            <a:avLst>
              <a:gd name="adj" fmla="val 6250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25146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3009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2514600"/>
            <a:ext cx="1234440" cy="731520"/>
          </a:xfrm>
          <a:prstGeom prst="roundRect">
            <a:avLst>
              <a:gd name="adj" fmla="val 6250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25146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33009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514600"/>
            <a:ext cx="1234440" cy="731520"/>
          </a:xfrm>
          <a:prstGeom prst="roundRect">
            <a:avLst>
              <a:gd name="adj" fmla="val 6250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9040" y="25146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33009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514600"/>
            <a:ext cx="1234440" cy="731520"/>
          </a:xfrm>
          <a:prstGeom prst="roundRect">
            <a:avLst>
              <a:gd name="adj" fmla="val 6250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5146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33009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514600"/>
            <a:ext cx="1234440" cy="731520"/>
          </a:xfrm>
          <a:prstGeom prst="roundRect">
            <a:avLst>
              <a:gd name="adj" fmla="val 6250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25146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33009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0" y="2514600"/>
            <a:ext cx="1234440" cy="731520"/>
          </a:xfrm>
          <a:prstGeom prst="roundRect">
            <a:avLst>
              <a:gd name="adj" fmla="val 6250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9520" y="25146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89520" y="33009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27939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INDEXING IS INSTANT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6177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address(i) = base_address + i × element_size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68680" y="51206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multiplication and one addition — no matter how big the array is, or which index you ask for.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to read, expensive to reshape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Arrays, Linked Lists, Stacks &amp; Queues  ·  Sep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636776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514600"/>
            <a:ext cx="10332720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by index — arr[i]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2651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— one step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36499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(value unknown, unsorted)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35040" y="33649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check each one in turn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078224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delete at the 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407822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instant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79145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delete at the front or middle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0" y="479145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everything after has to shift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5486400"/>
            <a:ext cx="10332720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5577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list occasionally needs to grow into a bigger block of memory behind the scenes, copying everything over — rare, but worth knowing about.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in memory, connected by pointers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Arrays, Linked Lists, Stacks &amp; Queues  ·  Sep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HOLDS DATA + A POINTER TO THE NEXT NODE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5146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45843" y="2514600"/>
            <a:ext cx="0" cy="10058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107716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45843" y="2514600"/>
            <a:ext cx="66019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3017520"/>
            <a:ext cx="7772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83280" y="25146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60443" y="2514600"/>
            <a:ext cx="0" cy="10058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2514600"/>
            <a:ext cx="107716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60443" y="2514600"/>
            <a:ext cx="66019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3017520"/>
            <a:ext cx="7772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97880" y="25146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75043" y="2514600"/>
            <a:ext cx="0" cy="10058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97880" y="2514600"/>
            <a:ext cx="107716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75043" y="2514600"/>
            <a:ext cx="66019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3017520"/>
            <a:ext cx="7772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12480" y="25146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89643" y="2514600"/>
            <a:ext cx="0" cy="10058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12480" y="2514600"/>
            <a:ext cx="107716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89643" y="2514600"/>
            <a:ext cx="66019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149840" y="3017520"/>
            <a:ext cx="5486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652760" y="28072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448056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8006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contiguous block means no index arithmetic — reaching node i means walking i pointers from the head. But inserting or removing a node is just relinking a couple of pointers.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Singly vs. doubly, and what it costs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Arrays, Linked Lists, Stacks &amp; Queues  ·  Sep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2788920"/>
            <a:ext cx="41148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40280" y="25146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40280" y="2514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46120" y="2788920"/>
            <a:ext cx="41148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0" y="25146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0" y="2514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2004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only  →  can't walk backward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07254" y="1828800"/>
            <a:ext cx="5605626" cy="1691640"/>
          </a:xfrm>
          <a:prstGeom prst="roundRect">
            <a:avLst>
              <a:gd name="adj" fmla="val 6486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29400" y="20116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25146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2514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35240" y="2670048"/>
            <a:ext cx="41148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35240" y="2907792"/>
            <a:ext cx="41148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46720" y="25146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6720" y="2514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52560" y="2670048"/>
            <a:ext cx="41148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52560" y="2907792"/>
            <a:ext cx="411480" cy="0"/>
          </a:xfrm>
          <a:prstGeom prst="line">
            <a:avLst/>
          </a:prstGeom>
          <a:noFill/>
          <a:ln w="19050">
            <a:solidFill>
              <a:srgbClr val="E7E6E6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464040" y="25146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464040" y="25146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29400" y="32004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AND </a:t>
            </a:r>
            <a:r>
              <a:rPr lang="en-US" sz="1200" i="1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</a:t>
            </a: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walk either direction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70332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8680" y="4251960"/>
            <a:ext cx="10332720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437083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by index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437083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walk from the start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" y="480974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delete at the head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94960" y="480974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" y="524865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delete at the tail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524865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(doubly) · slow (singly — no way back)</a:t>
            </a: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D4955C-77C2-3381-BE63-5B0D2F5E4ECE}"/>
              </a:ext>
            </a:extLst>
          </p:cNvPr>
          <p:cNvSpPr txBox="1"/>
          <p:nvPr/>
        </p:nvSpPr>
        <p:spPr>
          <a:xfrm>
            <a:off x="579120" y="5864197"/>
            <a:ext cx="11288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Single linked list: each node has single pointer pointing to next node </a:t>
            </a:r>
          </a:p>
          <a:p>
            <a:r>
              <a:rPr lang="en-US" sz="1400" dirty="0"/>
              <a:t>Doubly linked list: each node has 2 pointers – one pointing to next node, other pointing to previous node. Head node’s previous pointer points to None/null. Last node’s next pointer points to None/null.</a:t>
            </a:r>
          </a:p>
          <a:p>
            <a:endParaRPr lang="en-US" sz="14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99BDCA5-7CE7-B192-992E-E5F5C4613E18}"/>
              </a:ext>
            </a:extLst>
          </p:cNvPr>
          <p:cNvCxnSpPr>
            <a:endCxn id="27" idx="1"/>
          </p:cNvCxnSpPr>
          <p:nvPr/>
        </p:nvCxnSpPr>
        <p:spPr>
          <a:xfrm>
            <a:off x="9052560" y="2788920"/>
            <a:ext cx="411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0FA4C01-0612-E237-8D09-0AB57AA373C4}"/>
              </a:ext>
            </a:extLst>
          </p:cNvPr>
          <p:cNvCxnSpPr/>
          <p:nvPr/>
        </p:nvCxnSpPr>
        <p:spPr>
          <a:xfrm flipH="1">
            <a:off x="9052560" y="2907792"/>
            <a:ext cx="411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AD30AFB-BC76-EEF8-4DEA-34B6E04CC7DD}"/>
              </a:ext>
            </a:extLst>
          </p:cNvPr>
          <p:cNvCxnSpPr/>
          <p:nvPr/>
        </p:nvCxnSpPr>
        <p:spPr>
          <a:xfrm>
            <a:off x="7597386" y="2779092"/>
            <a:ext cx="411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F6AB825-19A6-1AC5-4A4A-4E6D24FC7999}"/>
              </a:ext>
            </a:extLst>
          </p:cNvPr>
          <p:cNvCxnSpPr/>
          <p:nvPr/>
        </p:nvCxnSpPr>
        <p:spPr>
          <a:xfrm flipH="1">
            <a:off x="7597386" y="2897964"/>
            <a:ext cx="411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5CE33A2-9758-8588-092A-24C823C9E4DE}"/>
              </a:ext>
            </a:extLst>
          </p:cNvPr>
          <p:cNvCxnSpPr/>
          <p:nvPr/>
        </p:nvCxnSpPr>
        <p:spPr>
          <a:xfrm>
            <a:off x="10469880" y="2779092"/>
            <a:ext cx="411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AAA13B5-3750-B898-3E66-659040A7E348}"/>
              </a:ext>
            </a:extLst>
          </p:cNvPr>
          <p:cNvSpPr txBox="1"/>
          <p:nvPr/>
        </p:nvSpPr>
        <p:spPr>
          <a:xfrm>
            <a:off x="10945014" y="2670048"/>
            <a:ext cx="705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none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4FE3C07-C3D7-DBC1-6AB7-E49047052468}"/>
              </a:ext>
            </a:extLst>
          </p:cNvPr>
          <p:cNvCxnSpPr/>
          <p:nvPr/>
        </p:nvCxnSpPr>
        <p:spPr>
          <a:xfrm flipH="1">
            <a:off x="6223478" y="2779092"/>
            <a:ext cx="4059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378AA34-6C95-EF48-DFDA-B45F4867B9FF}"/>
              </a:ext>
            </a:extLst>
          </p:cNvPr>
          <p:cNvSpPr txBox="1"/>
          <p:nvPr/>
        </p:nvSpPr>
        <p:spPr>
          <a:xfrm>
            <a:off x="5979727" y="2822448"/>
            <a:ext cx="705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none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BC1447F-7827-5AB7-2A53-1F6D738192CF}"/>
              </a:ext>
            </a:extLst>
          </p:cNvPr>
          <p:cNvCxnSpPr/>
          <p:nvPr/>
        </p:nvCxnSpPr>
        <p:spPr>
          <a:xfrm>
            <a:off x="4683958" y="2773838"/>
            <a:ext cx="41148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9D0CE39-18F1-8EF8-9101-9D91C261DDBC}"/>
              </a:ext>
            </a:extLst>
          </p:cNvPr>
          <p:cNvSpPr txBox="1"/>
          <p:nvPr/>
        </p:nvSpPr>
        <p:spPr>
          <a:xfrm>
            <a:off x="5159092" y="2664794"/>
            <a:ext cx="705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or linked list — when does each win?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Arrays, Linked Lists, Stacks &amp; Queues  ·  Sep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AN ARRAY WHEN…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fast lookups by position or index.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is known, or roughly stable.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locality / cache performance matters.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LINKED LIST WHEN…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6517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frequently inserting/removing at the ends or middle.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35661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the size in advance, or it changes a lot.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4480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need to jump to "the 500th item" directly.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ON LINKED LIST - CIRCULAR LINKED LISTS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 node points back to the first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Arrays, Linked Lists, Stacks &amp; Queues  ·  Sep 4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tail's next pointer links to the head instead of None — there is no end.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anywhere, you can reach every node by walking forward.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singly or doubly linked; a doubly circular list loops in both directions.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YOU'D USE ONE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675120" y="26517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scheduling — the CPU cycles through processes forever.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6675120" y="35661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playlists, turn order in games, buffers that wrap around.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6675120" y="4480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traversal needs a stop condition, or you loop forever.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EXERCISE (IF TIME PERMITS)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append a node to a circular linked list</a:t>
            </a:r>
          </a:p>
          <a:p>
            <a:r>
              <a:rPr lang="en-US" sz="1400" dirty="0">
                <a:hlinkClick r:id="rId2"/>
              </a:rPr>
              <a:t>https://github.com/tanwistha/cs383_fall26/blob/main/inclass/circularlist.py</a:t>
            </a:r>
            <a:r>
              <a:rPr lang="en-US" sz="1400" dirty="0"/>
              <a:t> 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Arrays, Linked Lists, Stacks &amp; Queues  ·  Sep 4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662939" y="1828800"/>
            <a:ext cx="5537835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CODE — FILL IN THE TODOs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5227320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class Node: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def __</a:t>
            </a:r>
            <a:r>
              <a:rPr lang="en-US" sz="1000" dirty="0" err="1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__(self, data):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000" dirty="0" err="1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self.data</a:t>
            </a:r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=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000" dirty="0" err="1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self.next</a:t>
            </a:r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= None</a:t>
            </a:r>
          </a:p>
          <a:p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000" dirty="0" err="1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CircularLinkedList</a:t>
            </a:r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def __</a:t>
            </a:r>
            <a:r>
              <a:rPr lang="en-US" sz="1000" dirty="0" err="1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__(self):</a:t>
            </a:r>
          </a:p>
          <a:p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    # Initialize an empty circular linked list with head pointer pointing to None</a:t>
            </a:r>
          </a:p>
          <a:p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000" dirty="0" err="1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self.head</a:t>
            </a:r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= None</a:t>
            </a:r>
          </a:p>
          <a:p>
            <a:endParaRPr lang="en-US" sz="1000" dirty="0">
              <a:solidFill>
                <a:srgbClr val="333F5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sz="1000" dirty="0">
              <a:solidFill>
                <a:srgbClr val="333F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def insert(self, data):</a:t>
            </a:r>
          </a:p>
          <a:p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    # Append a new node with data to the end of the circular linked list</a:t>
            </a:r>
          </a:p>
          <a:p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    # TODO</a:t>
            </a:r>
          </a:p>
          <a:p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 </a:t>
            </a:r>
          </a:p>
          <a:p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def traverse(self):</a:t>
            </a:r>
          </a:p>
          <a:p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    # Traverse and display the elements of the circular linked list</a:t>
            </a:r>
          </a:p>
          <a:p>
            <a:r>
              <a:rPr lang="en-US" sz="1000" dirty="0">
                <a:solidFill>
                  <a:srgbClr val="333F50"/>
                </a:solidFill>
                <a:latin typeface="Courier New" pitchFamily="49" charset="0"/>
                <a:cs typeface="Courier New" pitchFamily="49" charset="0"/>
              </a:rPr>
              <a:t>        # TODO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675120" y="26517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the empty list first: one node whose next points to itself.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6675120" y="35661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list is empty. Add accordingly. For a non-empty list, add a node to the end of the list</a:t>
            </a:r>
            <a:r>
              <a:rPr lang="en-US" sz="15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448056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the list before addition (display the elements) and after addition. </a:t>
            </a:r>
            <a:endParaRPr lang="en-US" sz="1500" dirty="0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5018FE33-0BD4-78CC-5C58-C7AC5C3C80E9}"/>
              </a:ext>
            </a:extLst>
          </p:cNvPr>
          <p:cNvSpPr/>
          <p:nvPr/>
        </p:nvSpPr>
        <p:spPr>
          <a:xfrm>
            <a:off x="662939" y="58978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·  Sep 9</a:t>
            </a:r>
            <a:endParaRPr lang="en-US" sz="12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D637CA14-023F-2832-6526-57A2BF1A3188}"/>
              </a:ext>
            </a:extLst>
          </p:cNvPr>
          <p:cNvSpPr/>
          <p:nvPr/>
        </p:nvSpPr>
        <p:spPr>
          <a:xfrm>
            <a:off x="662939" y="6174197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II - Stacks, Queues &amp; Recursion foundations (using the call stack)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2804</TotalTime>
  <Words>1550</Words>
  <Application>Microsoft Macintosh PowerPoint</Application>
  <PresentationFormat>Widescreen</PresentationFormat>
  <Paragraphs>206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Tanwistha Saha</cp:lastModifiedBy>
  <cp:revision>44</cp:revision>
  <dcterms:created xsi:type="dcterms:W3CDTF">2026-08-21T23:36:36Z</dcterms:created>
  <dcterms:modified xsi:type="dcterms:W3CDTF">2026-09-04T20:09:04Z</dcterms:modified>
</cp:coreProperties>
</file>