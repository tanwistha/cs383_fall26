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602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ANALYSIS AND DESIGN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949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Queues &amp;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Heaps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Abstract Data Type (ADT), elementary implementations, and meet the heap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build the case for a better structure — and get our first look at it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 flipH="1">
            <a:off x="8915400" y="1828800"/>
            <a:ext cx="685800" cy="32004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0" y="1828800"/>
            <a:ext cx="754380" cy="25511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>
            <a:off x="8252460" y="2606040"/>
            <a:ext cx="388620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41080" y="2606040"/>
            <a:ext cx="480058" cy="22860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H="1">
            <a:off x="10160000" y="2606040"/>
            <a:ext cx="401320" cy="18288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561320" y="2606040"/>
            <a:ext cx="548640" cy="18288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flipH="1">
            <a:off x="7863840" y="3383280"/>
            <a:ext cx="297180" cy="19476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26880" y="1280160"/>
            <a:ext cx="548640" cy="548640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0" y="130210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0" y="157642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366760" y="205740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207934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66760" y="235366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287000" y="205740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87000" y="207934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287000" y="235366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86700" y="283464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86700" y="285658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86700" y="313090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846820" y="283464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846820" y="285658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846820" y="313090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806940" y="283464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806940" y="285658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806940" y="313090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767060" y="283464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767060" y="285658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767060" y="313090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46670" y="361188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646670" y="363382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646670" y="390814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80960" y="3977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running example, as a min-heap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CBE5663C-C893-C80D-C0E7-E7215BE71373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88E8AC91-DBDD-4DF2-E9B1-8A3EF617366F}"/>
              </a:ext>
            </a:extLst>
          </p:cNvPr>
          <p:cNvSpPr/>
          <p:nvPr/>
        </p:nvSpPr>
        <p:spPr>
          <a:xfrm>
            <a:off x="502920" y="5897880"/>
            <a:ext cx="69494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B9EB96F6-1C48-AFEC-A238-9BF2A85099A0}"/>
              </a:ext>
            </a:extLst>
          </p:cNvPr>
          <p:cNvSpPr txBox="1"/>
          <p:nvPr/>
        </p:nvSpPr>
        <p:spPr>
          <a:xfrm>
            <a:off x="50292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Session 12  ·  September 28</a:t>
            </a:r>
            <a:endParaRPr lang="en-US" sz="11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4E65D0EF-43CE-3452-0BF1-610B4FD4C1FA}"/>
              </a:ext>
            </a:extLst>
          </p:cNvPr>
          <p:cNvSpPr txBox="1"/>
          <p:nvPr/>
        </p:nvSpPr>
        <p:spPr>
          <a:xfrm>
            <a:off x="50292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Tanwistha Saha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stops, then a clean handoff to next class.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86537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stacks and queues to priority queues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176272"/>
            <a:ext cx="1052748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kind of collection: remove by priority, not by arrival order.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68833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elementary implementations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2999232"/>
            <a:ext cx="1052748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Python-style method signatures, plus the honest cost of the simple approaches.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5661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351129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then a complexity wrap-up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3822192"/>
            <a:ext cx="1052748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priority queues show up, and why we still want something faster.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389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" y="433425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binary heap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5568" y="4645152"/>
            <a:ext cx="1052748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running example, reorganized as a tree — structure only, today.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539496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(Sep 30): heap operations continued — insert and delete, in full — and Heapsort.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08D24418-F481-BA2F-87CA-FF652DFF2664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queue, and now... priority queue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— insert and remove items — but a different rule for what comes out.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982429"/>
              </p:ext>
            </p:extLst>
          </p:nvPr>
        </p:nvGraphicFramePr>
        <p:xfrm>
          <a:off x="548640" y="1920240"/>
          <a:ext cx="11094415" cy="226771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3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operations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item comes out?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push, pop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most recently added item (LIFO).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enqueue, dequeue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least recently added item (FIFO).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insert, remove-max (or -min)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item with the largest (or smallest) key (or priority) — arrival order doesn't matter.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4343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5568" y="428853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Max-oriented priority queue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15568" y="4599432"/>
            <a:ext cx="5559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largest key each time. Used when “biggest wins” — top-k, load shedding, event priority.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0" y="434340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0" y="4343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24928" y="4288536"/>
            <a:ext cx="421812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Min-oriented priority queue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24928" y="4599432"/>
            <a:ext cx="421812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smallest key each time. Used when “smallest wins” — shortest known distance, next deadline.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62356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queue generalizes both stack and queue: instead of fixing order by arrival time, it orders by a key you choose.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97BE3FAE-F71F-57E1-C08B-BA3BD720E75F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queue, as an array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pairs a key (priority) with a value (the item) — inserted together, at the same index.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773936" y="2103120"/>
            <a:ext cx="1188720" cy="1051560"/>
          </a:xfrm>
          <a:prstGeom prst="roundRect">
            <a:avLst>
              <a:gd name="adj" fmla="val 5217"/>
            </a:avLst>
          </a:prstGeom>
          <a:solidFill>
            <a:srgbClr val="333F50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73936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73936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73936" y="31821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08960" y="2103120"/>
            <a:ext cx="1188720" cy="1051560"/>
          </a:xfrm>
          <a:prstGeom prst="roundRect">
            <a:avLst>
              <a:gd name="adj" fmla="val 5217"/>
            </a:avLst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0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10896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31821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43984" y="2103120"/>
            <a:ext cx="1188720" cy="1051560"/>
          </a:xfrm>
          <a:prstGeom prst="roundRect">
            <a:avLst>
              <a:gd name="adj" fmla="val 5217"/>
            </a:avLst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43984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43984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43984" y="31821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52744" y="22128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(priority)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52744" y="2724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(the item)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52744" y="31638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index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6309360" cy="123444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3666744"/>
            <a:ext cx="59070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self.a = [(2, 'A'), (5, 'B'), (1, 'C')]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def insert(self, key, value):
    self.a.append((key, value))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086600" y="3520440"/>
            <a:ext cx="45720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6948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insert(key, value)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269480" y="3904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one (key, value) pair to the end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921240" y="3520440"/>
            <a:ext cx="1554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507492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array we'll trace on the next slide. Where a pair ends up moving after that — and how we find the max quickly — is exactly what today's implementations, and next class's heap operations, are about.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9EB243B9-84BB-310F-0B1A-78F7C68328A4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max-PQ, one operation at a time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tickets, each tagged with an urgency 1 (low) to 5 (critical).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332841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1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 afterward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insert(A, 2)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{A:2}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insert(B, 5)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{A:2, B:5}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insert(C, 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{A:2, B:5, C:1}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remove_max()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47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{A:2, C:1}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insert(D, 4)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{A:2, C:1, D:4}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remove_max()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47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{A:2, C:1}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534924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D was inserted after A and C, but came out first — because its key (4) was larger. Order of arrival never mattered.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2714640-9951-8B5D-9A71-333A694E3481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Max-oriented priority queue: the API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Python-style method signatures — and what “fast” will actually mean for each one.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309360" cy="3749040"/>
          </a:xfrm>
          <a:prstGeom prst="roundRect">
            <a:avLst>
              <a:gd name="adj" fmla="val 1463"/>
            </a:avLst>
          </a:prstGeom>
          <a:solidFill>
            <a:srgbClr val="F5F5F5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020824"/>
            <a:ext cx="590702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MaxPQ: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  def __init__(self):
        self.a = []
    def insert(self, key): ...
    def del_max(self): ...     # remove &amp; return
    def max(self): ...         # peek, don't remove
    def is_empty(self): ...
    def __len__(self): ...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87452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694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constant time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69480" y="2258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effort, no matter how big the queue gets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921240" y="18745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086600" y="292608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694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— our goal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69480" y="3310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grows very slowly as the queue grows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921240" y="29260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D7D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~20 steps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086600" y="397764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6948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linear time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6948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grows in direct proportion to queue size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921240" y="39776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1,000,000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86600" y="4956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three assuming a queue of n = 1,000,000 keys)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571500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for insert, del_max, and max: O(log n) each — far better than checking every item (O(n)), though not quite instant (O(1)). Exactly how we'll hit that target is what binary heaps are for.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B8028311-8B06-7241-EA27-B6653ECC3340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Min-oriented priority queue: the API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same shape — every comparison just flips direction.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309360" cy="3749040"/>
          </a:xfrm>
          <a:prstGeom prst="roundRect">
            <a:avLst>
              <a:gd name="adj" fmla="val 1463"/>
            </a:avLst>
          </a:prstGeom>
          <a:solidFill>
            <a:srgbClr val="F5F5F5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020824"/>
            <a:ext cx="590702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MinPQ: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  def __init__(self):
        self.a = []
    def insert(self, key): ...
    def del_min(self): ...     # remove &amp; return
    def min(self): ...         # peek, don't remove
    def is_empty(self): ...
    def __len__(self): ...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965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8660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53528" y="1911096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API, opposite key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53528" y="2221992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del_max → del_min, max → min. Everything else is identical.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86600" y="31546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86600" y="3154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53528" y="3099816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performance goal, in concrete terms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53528" y="3410712"/>
            <a:ext cx="40050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per operation — for a million-key queue, that's about 20 steps, instead of up to a million. Same target as MaxPQ.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44805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86600" y="4480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53528" y="4425696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for what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53528" y="4736592"/>
            <a:ext cx="40050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MaxPQ: top-k, scheduling by importance. MinPQ: shortest-known-distance (Dijkstra), soonest deadline.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580644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 on we'll write MaxPQ in code, but every idea has an equally valid min-oriented twin.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555B3F30-D5CA-1B12-63E5-2E9DF46E35AA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queues, everywhere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list of places this exact abstraction shows up.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11096"/>
            <a:ext cx="475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algorithms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2221992"/>
            <a:ext cx="475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and Prim's algorithms always expand the closest known vertex next — a min-PQ, one step at a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24448" y="1965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24448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91376" y="1911096"/>
            <a:ext cx="475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91376" y="2221992"/>
            <a:ext cx="475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Schedulers decide which process runs next by priority, not by arrival order — load balancing and interrupt handling both lean on this.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3236976"/>
            <a:ext cx="475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A* search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475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whichever node looks most promising next, ranked by estimated distance to the goal.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24448" y="329184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24448" y="3291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91376" y="3236976"/>
            <a:ext cx="475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91376" y="3547872"/>
            <a:ext cx="475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caches and routers decide what to evict or forward next using a priority ordering.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51206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whenever “process the most urgent thing next” matters, a priority queue is the natural fit.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69FB6B9E-E8C4-C2CD-D9E5-BC6C6A4C5930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IMPLEMENTATIONS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an unordered Python 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keys in whatever order they arrive.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309360" cy="2651760"/>
          </a:xfrm>
          <a:prstGeom prst="roundRect">
            <a:avLst>
              <a:gd name="adj" fmla="val 2069"/>
            </a:avLst>
          </a:prstGeom>
          <a:solidFill>
            <a:srgbClr val="F5F5F5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496" y="1838960"/>
            <a:ext cx="590702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UnorderedMaxPQ: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
        self.a = []
    def insert(self, key):
</a:t>
            </a:r>
            <a:r>
              <a:rPr lang="en-US" sz="1350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self.a.append(key)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  def del_max(self):
</a:t>
            </a:r>
            <a:r>
              <a:rPr lang="en-US" sz="1350" dirty="0">
                <a:solidFill>
                  <a:srgbClr val="ED7D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= self.a.index(max(self.a))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self.a[i], self.a[-1] = self.a[-1], self.a[i]
        return self.a.pop()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874520"/>
            <a:ext cx="45720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87768" y="1984248"/>
            <a:ext cx="4169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 </a:t>
            </a:r>
            <a:r>
              <a:rPr lang="en-US" sz="155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en-US" sz="155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287768" y="2313432"/>
            <a:ext cx="416966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self.a.append(key) adds one key to the end of the list. Python does this in a single step, no matter how many keys are already there — constant effort.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7086600" y="3246120"/>
            <a:ext cx="45720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87768" y="3355848"/>
            <a:ext cx="4169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del_max  </a:t>
            </a:r>
            <a:r>
              <a:rPr lang="en-US" sz="155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en-US" sz="1550" b="1" dirty="0">
                <a:solidFill>
                  <a:srgbClr val="ED7D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287768" y="3685032"/>
            <a:ext cx="416966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max(self.a) has to check every key to find the largest, one by one, then index(...) scans again to find where it is. Checking all n keys takes n steps — more keys, more work.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 for today: 8 keys, each paired with a value (any datatype):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7152" y="4983480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7152" y="560527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54774" y="4990364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7976" y="5013198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2837" y="5322085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14704" y="560527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02256" y="4983480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02256" y="5013198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302256" y="5340096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02256" y="560527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89808" y="4997958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89808" y="5013198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89808" y="5340096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89808" y="560527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77360" y="4983480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77360" y="5013198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277360" y="5340096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77360" y="560527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64912" y="4983480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64912" y="5013198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64912" y="5340096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64912" y="560527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52464" y="4983480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52464" y="5003787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52464" y="5340096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cs typeface="Courier New" pitchFamily="34" charset="-120"/>
              </a:rPr>
              <a:t>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52464" y="560527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40016" y="4983480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240016" y="5013198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40016" y="5340096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cs typeface="Courier New" pitchFamily="34" charset="-120"/>
              </a:rPr>
              <a:t>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40016" y="560527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589788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724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8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unordered view, pairs stay in whatever order they were inserted — the key decides priority, the value just rides along.</a:t>
            </a:r>
            <a:endParaRPr lang="en-US" sz="1180" dirty="0"/>
          </a:p>
        </p:txBody>
      </p:sp>
      <p:sp>
        <p:nvSpPr>
          <p:cNvPr id="49" name="Text 47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C59AC8E3-4007-E6D0-23D5-71DD445E07F0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66074" y="5006663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54774" y="5309597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2A35138-7B45-38FC-37C3-232EB2A19C48}"/>
              </a:ext>
            </a:extLst>
          </p:cNvPr>
          <p:cNvGrpSpPr/>
          <p:nvPr/>
        </p:nvGrpSpPr>
        <p:grpSpPr>
          <a:xfrm>
            <a:off x="8507042" y="4965192"/>
            <a:ext cx="973183" cy="819282"/>
            <a:chOff x="9755472" y="5017257"/>
            <a:chExt cx="973183" cy="819282"/>
          </a:xfrm>
        </p:grpSpPr>
        <p:sp>
          <p:nvSpPr>
            <p:cNvPr id="51" name="Shape 40">
              <a:extLst>
                <a:ext uri="{FF2B5EF4-FFF2-40B4-BE49-F238E27FC236}">
                  <a16:creationId xmlns:a16="http://schemas.microsoft.com/office/drawing/2014/main" id="{A09C8111-EA7A-F19F-797A-A20786F44C43}"/>
                </a:ext>
              </a:extLst>
            </p:cNvPr>
            <p:cNvSpPr/>
            <p:nvPr/>
          </p:nvSpPr>
          <p:spPr>
            <a:xfrm>
              <a:off x="9832543" y="5017257"/>
              <a:ext cx="896112" cy="594360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" name="Text 41">
              <a:extLst>
                <a:ext uri="{FF2B5EF4-FFF2-40B4-BE49-F238E27FC236}">
                  <a16:creationId xmlns:a16="http://schemas.microsoft.com/office/drawing/2014/main" id="{6AC33C5E-CEB2-8EEB-2290-29A5EE4B1D70}"/>
                </a:ext>
              </a:extLst>
            </p:cNvPr>
            <p:cNvSpPr/>
            <p:nvPr/>
          </p:nvSpPr>
          <p:spPr>
            <a:xfrm>
              <a:off x="9832543" y="5037801"/>
              <a:ext cx="896112" cy="332842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33F50"/>
                  </a:solidFill>
                  <a:latin typeface="Courier New" pitchFamily="34" charset="0"/>
                  <a:cs typeface="Courier New" pitchFamily="34" charset="-120"/>
                </a:rPr>
                <a:t>10</a:t>
              </a:r>
              <a:endParaRPr lang="en-US" sz="1400" dirty="0"/>
            </a:p>
          </p:txBody>
        </p:sp>
        <p:sp>
          <p:nvSpPr>
            <p:cNvPr id="53" name="Text 42">
              <a:extLst>
                <a:ext uri="{FF2B5EF4-FFF2-40B4-BE49-F238E27FC236}">
                  <a16:creationId xmlns:a16="http://schemas.microsoft.com/office/drawing/2014/main" id="{A593D905-1D79-D9F7-D8C5-F7F219365028}"/>
                </a:ext>
              </a:extLst>
            </p:cNvPr>
            <p:cNvSpPr/>
            <p:nvPr/>
          </p:nvSpPr>
          <p:spPr>
            <a:xfrm>
              <a:off x="9755472" y="5340096"/>
              <a:ext cx="896112" cy="21397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95959"/>
                  </a:solidFill>
                  <a:latin typeface="Courier New" pitchFamily="34" charset="0"/>
                  <a:cs typeface="Courier New" pitchFamily="34" charset="-120"/>
                </a:rPr>
                <a:t>I</a:t>
              </a:r>
              <a:endParaRPr lang="en-US" sz="1000" dirty="0"/>
            </a:p>
          </p:txBody>
        </p:sp>
        <p:sp>
          <p:nvSpPr>
            <p:cNvPr id="54" name="Text 43">
              <a:extLst>
                <a:ext uri="{FF2B5EF4-FFF2-40B4-BE49-F238E27FC236}">
                  <a16:creationId xmlns:a16="http://schemas.microsoft.com/office/drawing/2014/main" id="{23016F1D-AE44-0FC0-EB68-DF9FC24436FF}"/>
                </a:ext>
              </a:extLst>
            </p:cNvPr>
            <p:cNvSpPr/>
            <p:nvPr/>
          </p:nvSpPr>
          <p:spPr>
            <a:xfrm>
              <a:off x="9755472" y="5653659"/>
              <a:ext cx="896112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595959"/>
                  </a:solidFill>
                  <a:latin typeface="Calibri" pitchFamily="34" charset="0"/>
                  <a:cs typeface="Calibri" pitchFamily="34" charset="-120"/>
                </a:rPr>
                <a:t>8</a:t>
              </a:r>
              <a:endParaRPr lang="en-US" sz="9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IMPLEMENTATIONS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a Python list kept sorted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the sorting cost at insert time, so removal is instant.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309360" cy="2423160"/>
          </a:xfrm>
          <a:prstGeom prst="roundRect">
            <a:avLst>
              <a:gd name="adj" fmla="val 2264"/>
            </a:avLst>
          </a:prstGeom>
          <a:solidFill>
            <a:srgbClr val="F5F5F5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5472" y="1847088"/>
            <a:ext cx="590702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OrderedMaxPQ: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
        self.a = []          # kept ascending
    def insert(self, key):
</a:t>
            </a:r>
            <a:r>
              <a:rPr lang="en-US" sz="1350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= bisect.bisect_left(self.a, key)
</a:t>
            </a:r>
            <a:r>
              <a:rPr lang="en-US" sz="1350" dirty="0">
                <a:solidFill>
                  <a:srgbClr val="ED7D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self.a.insert(i, key)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  def del_max(self):
</a:t>
            </a:r>
            <a:r>
              <a:rPr lang="en-US" sz="1350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self.a.pop()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874520"/>
            <a:ext cx="45720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87768" y="1984248"/>
            <a:ext cx="4169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 </a:t>
            </a:r>
            <a:r>
              <a:rPr lang="en-US" sz="155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en-US" sz="1550" b="1" dirty="0">
                <a:solidFill>
                  <a:srgbClr val="ED7D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287768" y="2313432"/>
            <a:ext cx="416966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bisect_left finds the right spot fast — like flipping straight to a page in a phone book (that part alone is O(log n)). But self.a.insert(i, key) then has to shift every later key one slot over to make room. That shifting is what costs O(n).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7086600" y="3429000"/>
            <a:ext cx="45720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87768" y="3538728"/>
            <a:ext cx="4169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del_max  </a:t>
            </a:r>
            <a:r>
              <a:rPr lang="en-US" sz="155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en-US" sz="155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287768" y="3867912"/>
            <a:ext cx="416966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self.a.pop() removes the very last slot in the list. Nothing else has to move — one step, no matter how many keys are in the queue.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running example, now sorted ascending — each key paired with its value: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7152" y="4892040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5976" y="4933188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7152" y="5248656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7152" y="551383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14704" y="4892040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14704" y="4921758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14704" y="5248656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14704" y="551383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02256" y="4892040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02256" y="4921758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302256" y="5248656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02256" y="551383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00984" y="4892040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89808" y="4921758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89808" y="5248656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89808" y="551383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77360" y="4892040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77360" y="4921758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266184" y="5263286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77360" y="551383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64912" y="4882896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64912" y="4921758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64912" y="5248656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64912" y="551383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52464" y="4892040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52464" y="4921758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52464" y="5248656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52464" y="551383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40016" y="4892040"/>
            <a:ext cx="896112" cy="59436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240016" y="4921758"/>
            <a:ext cx="896112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51192" y="5236007"/>
            <a:ext cx="896112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40016" y="551383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6847" y="5916168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90738" y="5934486"/>
            <a:ext cx="1063721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10 needs to go to array index 4 and all the previous array elements from index 4 onwards, need to shift right. Keep this exact array in mind — we'll reuse it (keys and values both) when we meet the binary heap.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B408D79A-4612-D789-29E1-23AC250E914E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2C4B0F2-246A-4F95-9785-E5A6A5A392B1}"/>
              </a:ext>
            </a:extLst>
          </p:cNvPr>
          <p:cNvGrpSpPr/>
          <p:nvPr/>
        </p:nvGrpSpPr>
        <p:grpSpPr>
          <a:xfrm>
            <a:off x="4277360" y="4882896"/>
            <a:ext cx="5899767" cy="819282"/>
            <a:chOff x="4277360" y="4882896"/>
            <a:chExt cx="5899767" cy="819282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9829B35-1966-C4E5-EB26-069D11A8C19B}"/>
                </a:ext>
              </a:extLst>
            </p:cNvPr>
            <p:cNvGrpSpPr/>
            <p:nvPr/>
          </p:nvGrpSpPr>
          <p:grpSpPr>
            <a:xfrm>
              <a:off x="9203944" y="4882896"/>
              <a:ext cx="973183" cy="819282"/>
              <a:chOff x="9755472" y="5017257"/>
              <a:chExt cx="973183" cy="819282"/>
            </a:xfrm>
          </p:grpSpPr>
          <p:sp>
            <p:nvSpPr>
              <p:cNvPr id="62" name="Shape 40">
                <a:extLst>
                  <a:ext uri="{FF2B5EF4-FFF2-40B4-BE49-F238E27FC236}">
                    <a16:creationId xmlns:a16="http://schemas.microsoft.com/office/drawing/2014/main" id="{E49D61CF-CCB4-60C7-217C-CF6CC790461A}"/>
                  </a:ext>
                </a:extLst>
              </p:cNvPr>
              <p:cNvSpPr/>
              <p:nvPr/>
            </p:nvSpPr>
            <p:spPr>
              <a:xfrm>
                <a:off x="9832543" y="5017257"/>
                <a:ext cx="896112" cy="594360"/>
              </a:xfrm>
              <a:prstGeom prst="rect">
                <a:avLst/>
              </a:prstGeom>
              <a:solidFill>
                <a:srgbClr val="E7E6E6"/>
              </a:solidFill>
              <a:ln w="9525">
                <a:solidFill>
                  <a:srgbClr val="BFBFBF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3" name="Text 41">
                <a:extLst>
                  <a:ext uri="{FF2B5EF4-FFF2-40B4-BE49-F238E27FC236}">
                    <a16:creationId xmlns:a16="http://schemas.microsoft.com/office/drawing/2014/main" id="{6E27F438-A1F1-FA35-5DD4-8EE28631DE26}"/>
                  </a:ext>
                </a:extLst>
              </p:cNvPr>
              <p:cNvSpPr/>
              <p:nvPr/>
            </p:nvSpPr>
            <p:spPr>
              <a:xfrm>
                <a:off x="9832543" y="5037801"/>
                <a:ext cx="896112" cy="332842"/>
              </a:xfrm>
              <a:prstGeom prst="rect">
                <a:avLst/>
              </a:prstGeom>
              <a:noFill/>
              <a:ln/>
            </p:spPr>
            <p:txBody>
              <a:bodyPr wrap="square" rtlCol="0" anchor="b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333F50"/>
                    </a:solidFill>
                    <a:latin typeface="Courier New" pitchFamily="34" charset="0"/>
                    <a:cs typeface="Courier New" pitchFamily="34" charset="-120"/>
                  </a:rPr>
                  <a:t>10</a:t>
                </a:r>
                <a:endParaRPr lang="en-US" sz="1400" dirty="0"/>
              </a:p>
            </p:txBody>
          </p:sp>
          <p:sp>
            <p:nvSpPr>
              <p:cNvPr id="64" name="Text 42">
                <a:extLst>
                  <a:ext uri="{FF2B5EF4-FFF2-40B4-BE49-F238E27FC236}">
                    <a16:creationId xmlns:a16="http://schemas.microsoft.com/office/drawing/2014/main" id="{3781D0F9-74DE-8977-34E7-C69EFDB0DCD5}"/>
                  </a:ext>
                </a:extLst>
              </p:cNvPr>
              <p:cNvSpPr/>
              <p:nvPr/>
            </p:nvSpPr>
            <p:spPr>
              <a:xfrm>
                <a:off x="9755472" y="5340096"/>
                <a:ext cx="896112" cy="21397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595959"/>
                    </a:solidFill>
                    <a:latin typeface="Courier New" pitchFamily="34" charset="0"/>
                    <a:cs typeface="Courier New" pitchFamily="34" charset="-120"/>
                  </a:rPr>
                  <a:t>I</a:t>
                </a:r>
                <a:endParaRPr lang="en-US" sz="1000" dirty="0"/>
              </a:p>
            </p:txBody>
          </p:sp>
          <p:sp>
            <p:nvSpPr>
              <p:cNvPr id="65" name="Text 43">
                <a:extLst>
                  <a:ext uri="{FF2B5EF4-FFF2-40B4-BE49-F238E27FC236}">
                    <a16:creationId xmlns:a16="http://schemas.microsoft.com/office/drawing/2014/main" id="{2F1676D1-EEFD-B40A-F7B7-81979C5D9E9E}"/>
                  </a:ext>
                </a:extLst>
              </p:cNvPr>
              <p:cNvSpPr/>
              <p:nvPr/>
            </p:nvSpPr>
            <p:spPr>
              <a:xfrm>
                <a:off x="9755472" y="5653659"/>
                <a:ext cx="896112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595959"/>
                    </a:solidFill>
                    <a:latin typeface="Calibri" pitchFamily="34" charset="0"/>
                    <a:cs typeface="Calibri" pitchFamily="34" charset="-120"/>
                  </a:rPr>
                  <a:t>8</a:t>
                </a:r>
                <a:endParaRPr lang="en-US" sz="950" dirty="0"/>
              </a:p>
            </p:txBody>
          </p:sp>
        </p:grpSp>
        <p:cxnSp>
          <p:nvCxnSpPr>
            <p:cNvPr id="67" name="Elbow Connector 66">
              <a:extLst>
                <a:ext uri="{FF2B5EF4-FFF2-40B4-BE49-F238E27FC236}">
                  <a16:creationId xmlns:a16="http://schemas.microsoft.com/office/drawing/2014/main" id="{B8696E75-11D5-04AE-6AC3-D397EE19BF39}"/>
                </a:ext>
              </a:extLst>
            </p:cNvPr>
            <p:cNvCxnSpPr>
              <a:stCxn id="65" idx="2"/>
              <a:endCxn id="33" idx="1"/>
            </p:cNvCxnSpPr>
            <p:nvPr/>
          </p:nvCxnSpPr>
          <p:spPr>
            <a:xfrm rot="5400000" flipH="1">
              <a:off x="6916227" y="2966405"/>
              <a:ext cx="96906" cy="5374640"/>
            </a:xfrm>
            <a:prstGeom prst="bentConnector4">
              <a:avLst>
                <a:gd name="adj1" fmla="val -235899"/>
                <a:gd name="adj2" fmla="val 104253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8FDB829-CFA2-253E-3961-9E0D85E088C1}"/>
              </a:ext>
            </a:extLst>
          </p:cNvPr>
          <p:cNvGrpSpPr/>
          <p:nvPr/>
        </p:nvGrpSpPr>
        <p:grpSpPr>
          <a:xfrm>
            <a:off x="5052166" y="4744290"/>
            <a:ext cx="3553918" cy="383275"/>
            <a:chOff x="5052166" y="4744290"/>
            <a:chExt cx="3553918" cy="383275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0419C127-5148-BF41-8D03-F48665756C29}"/>
                </a:ext>
              </a:extLst>
            </p:cNvPr>
            <p:cNvGrpSpPr/>
            <p:nvPr/>
          </p:nvGrpSpPr>
          <p:grpSpPr>
            <a:xfrm>
              <a:off x="8136128" y="4744290"/>
              <a:ext cx="469956" cy="343889"/>
              <a:chOff x="8136128" y="4744290"/>
              <a:chExt cx="469956" cy="343889"/>
            </a:xfrm>
          </p:grpSpPr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1C1DCAF8-41B6-9358-72C7-96A896CEFE88}"/>
                  </a:ext>
                </a:extLst>
              </p:cNvPr>
              <p:cNvCxnSpPr>
                <a:stCxn id="43" idx="3"/>
              </p:cNvCxnSpPr>
              <p:nvPr/>
            </p:nvCxnSpPr>
            <p:spPr>
              <a:xfrm>
                <a:off x="8136128" y="5088179"/>
                <a:ext cx="298955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C46013E-66AE-C600-EE94-222CF470E72F}"/>
                  </a:ext>
                </a:extLst>
              </p:cNvPr>
              <p:cNvSpPr txBox="1"/>
              <p:nvPr/>
            </p:nvSpPr>
            <p:spPr>
              <a:xfrm>
                <a:off x="8147304" y="4744290"/>
                <a:ext cx="45878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shift</a:t>
                </a:r>
              </a:p>
            </p:txBody>
          </p:sp>
        </p:grp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EBBAB4E-AF52-CD95-E59E-B7A4E17D7493}"/>
                </a:ext>
              </a:extLst>
            </p:cNvPr>
            <p:cNvCxnSpPr>
              <a:cxnSpLocks/>
            </p:cNvCxnSpPr>
            <p:nvPr/>
          </p:nvCxnSpPr>
          <p:spPr>
            <a:xfrm>
              <a:off x="7065906" y="5117291"/>
              <a:ext cx="29895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4F5BF20B-38F5-DA54-311D-67D38C17C491}"/>
                </a:ext>
              </a:extLst>
            </p:cNvPr>
            <p:cNvCxnSpPr/>
            <p:nvPr/>
          </p:nvCxnSpPr>
          <p:spPr>
            <a:xfrm>
              <a:off x="6048762" y="5117291"/>
              <a:ext cx="29895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CB1DFA1C-F7F5-429B-9953-57D947EF0692}"/>
                </a:ext>
              </a:extLst>
            </p:cNvPr>
            <p:cNvCxnSpPr/>
            <p:nvPr/>
          </p:nvCxnSpPr>
          <p:spPr>
            <a:xfrm>
              <a:off x="5052166" y="5127565"/>
              <a:ext cx="29895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implementations: the honest cost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operation is cheap — never both, at the same time.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6" cy="23774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del_max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Unordered array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array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 (binary heap, next)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447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447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06240"/>
            <a:ext cx="11094415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20624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elementary option gets both operations fast. The challenge: is there a structure that supports insert AND del_max in O(log n) — a compromise between “fully unordered” and “fully sorted”? That's exactly what a binary heap is.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D513C44A-483C-2200-840C-D2D10E1ACF3E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binary tree?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underneath every binary heap.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1109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edges, and one root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21992"/>
            <a:ext cx="5559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is a set of nodes connected by edges, with exactly one root and no cycles — every other node has exactly one parent.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09981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two children per node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410712"/>
            <a:ext cx="5559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BINARY tree specifically, each node has at most two children — a left child and a right child (either may be missing).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343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428853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Leaves, and a tree's height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4599432"/>
            <a:ext cx="5559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with no children is a leaf. A tree's height is its longest root-to-leaf path, measured in edges.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6126480" cy="6858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562356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trees, heaps, and many other structures are all binary trees underneath — this shape is the common foundation.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flipH="1">
            <a:off x="8494776" y="2185416"/>
            <a:ext cx="969264" cy="63093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464040" y="2185416"/>
            <a:ext cx="1188720" cy="109728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H="1">
            <a:off x="7644384" y="3282696"/>
            <a:ext cx="630936" cy="72237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H="1">
            <a:off x="9921240" y="3282696"/>
            <a:ext cx="731520" cy="72237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652760" y="3282696"/>
            <a:ext cx="548640" cy="109728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244584" y="1746504"/>
            <a:ext cx="438912" cy="438912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244584" y="1746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55864" y="2843784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55864" y="28437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433304" y="2843784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433304" y="28437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70648" y="3950208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70648" y="3950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884664" y="3941064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884664" y="3941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981944" y="3941064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981944" y="3941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06840" y="145389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80860" y="444398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(no children)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69480" y="3008376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child — fine for a</a:t>
            </a:r>
            <a:endParaRPr lang="en-US" sz="950" dirty="0"/>
          </a:p>
          <a:p>
            <a:pPr marL="0" indent="0" algn="r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binary tree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92691CD9-EC21-BFF6-2907-66B2EFFA9310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binary trees, and their height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shape constraint every binary heap follows.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1109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21992"/>
            <a:ext cx="1052748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level is completely filled, except possibly the last — which fills left to right, with no gaps.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87121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 the key payoff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182112"/>
            <a:ext cx="1052748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binary tree with n nodes has height ⌊log₂ n⌋ — for n = 1,000,000, that's only about 20.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H="1">
            <a:off x="2624328" y="4133088"/>
            <a:ext cx="393192" cy="31089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17520" y="4133088"/>
            <a:ext cx="548616" cy="329184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H="1">
            <a:off x="2194560" y="4773168"/>
            <a:ext cx="274320" cy="32004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68879" y="4773168"/>
            <a:ext cx="310895" cy="31089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62072" y="3822192"/>
            <a:ext cx="310896" cy="310896"/>
          </a:xfrm>
          <a:prstGeom prst="ellipse">
            <a:avLst/>
          </a:prstGeom>
          <a:solidFill>
            <a:srgbClr val="333F50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313432" y="4462272"/>
            <a:ext cx="310896" cy="310896"/>
          </a:xfrm>
          <a:prstGeom prst="ellipse">
            <a:avLst/>
          </a:prstGeom>
          <a:solidFill>
            <a:srgbClr val="4472C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10712" y="4462272"/>
            <a:ext cx="310896" cy="310896"/>
          </a:xfrm>
          <a:prstGeom prst="ellipse">
            <a:avLst/>
          </a:prstGeom>
          <a:solidFill>
            <a:srgbClr val="4472C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39112" y="5102352"/>
            <a:ext cx="310896" cy="310896"/>
          </a:xfrm>
          <a:prstGeom prst="ellipse">
            <a:avLst/>
          </a:prstGeom>
          <a:solidFill>
            <a:srgbClr val="4472C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87752" y="5102352"/>
            <a:ext cx="310896" cy="310896"/>
          </a:xfrm>
          <a:prstGeom prst="ellipse">
            <a:avLst/>
          </a:prstGeom>
          <a:solidFill>
            <a:srgbClr val="4472C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5448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440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level fills left → right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flipH="1">
            <a:off x="7315200" y="4133088"/>
            <a:ext cx="548640" cy="31089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863840" y="4133088"/>
            <a:ext cx="477520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0" y="4773168"/>
            <a:ext cx="310895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08392" y="3822192"/>
            <a:ext cx="310896" cy="310896"/>
          </a:xfrm>
          <a:prstGeom prst="ellipse">
            <a:avLst/>
          </a:prstGeom>
          <a:solidFill>
            <a:srgbClr val="333F50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59752" y="4462272"/>
            <a:ext cx="310896" cy="310896"/>
          </a:xfrm>
          <a:prstGeom prst="ellipse">
            <a:avLst/>
          </a:prstGeom>
          <a:solidFill>
            <a:srgbClr val="4472C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57032" y="4462272"/>
            <a:ext cx="310896" cy="310896"/>
          </a:xfrm>
          <a:prstGeom prst="ellipse">
            <a:avLst/>
          </a:prstGeom>
          <a:solidFill>
            <a:srgbClr val="4472C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479792" y="5102352"/>
            <a:ext cx="310896" cy="310896"/>
          </a:xfrm>
          <a:prstGeom prst="ellipse">
            <a:avLst/>
          </a:prstGeom>
          <a:solidFill>
            <a:srgbClr val="4472C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complete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0" y="5440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the last level (no left child)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89788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height bound holds for ANY complete binary tree, </a:t>
            </a: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heap-ordered </a:t>
            </a: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not — exactly why binary heaps, coming up, can be so fast.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D2CDB3DD-7B27-0ADE-EE5C-A8FFC32C79BA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HEAP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binary heap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heap is conceptually a tree-based data structure (visualized as a complete binary tree) implemented as an array — plus one more rule.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1109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 complete binary tree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21992"/>
            <a:ext cx="5559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the last two slides applies directly: same shape, same height bound.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09981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heap-order property (min-heap)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410712"/>
            <a:ext cx="5559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node's key is ≤ its children's keys. The root is therefore always the minimum.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6126480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our sorted array from earlier already satisfies heap-order (any ascending array does). A heap is a deliberately relaxed, cheaper-to-maintain version of full sorting.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flipH="1">
            <a:off x="8549640" y="2240280"/>
            <a:ext cx="685800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35440" y="2240280"/>
            <a:ext cx="754380" cy="22860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H="1">
            <a:off x="7863840" y="3017520"/>
            <a:ext cx="411480" cy="20939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75320" y="3017520"/>
            <a:ext cx="548640" cy="23865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H="1">
            <a:off x="9715500" y="3017520"/>
            <a:ext cx="480060" cy="23865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195559" y="3017520"/>
            <a:ext cx="548639" cy="24780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H="1">
            <a:off x="7589520" y="3794760"/>
            <a:ext cx="205740" cy="20939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961120" y="1691640"/>
            <a:ext cx="548640" cy="548640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61120" y="171358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961120" y="198790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01000" y="246888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01000" y="249082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01000" y="276514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921240" y="246888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921240" y="249082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921240" y="276514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20940" y="324612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520940" y="326806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520940" y="354238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481060" y="324612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81060" y="326806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481060" y="354238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441180" y="324612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41180" y="326806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441180" y="354238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401300" y="324612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401300" y="326806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0401300" y="354238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80910" y="402336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280910" y="404530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280910" y="431962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517459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8 (key, value) pairs, as a tree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B6111C4D-A33E-E7FD-5C1E-D65B409B55BC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  <p:sp>
        <p:nvSpPr>
          <p:cNvPr id="50" name="Cloud 49">
            <a:extLst>
              <a:ext uri="{FF2B5EF4-FFF2-40B4-BE49-F238E27FC236}">
                <a16:creationId xmlns:a16="http://schemas.microsoft.com/office/drawing/2014/main" id="{B002EEAB-CBCE-83E7-514E-4525FD0AE5D1}"/>
              </a:ext>
            </a:extLst>
          </p:cNvPr>
          <p:cNvSpPr/>
          <p:nvPr/>
        </p:nvSpPr>
        <p:spPr>
          <a:xfrm>
            <a:off x="10195559" y="4246880"/>
            <a:ext cx="1447496" cy="1005840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For maxheap key of the parent is &gt;= keys of its children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Max-heap vs. min-heap, as trees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mirrored comparison — now drawn out.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 flipH="1">
            <a:off x="2683764" y="3054096"/>
            <a:ext cx="608076" cy="33832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91840" y="3054096"/>
            <a:ext cx="608076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H="1">
            <a:off x="2075688" y="3831336"/>
            <a:ext cx="438912" cy="33832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14600" y="3831336"/>
            <a:ext cx="388617" cy="30175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072384" y="2615184"/>
            <a:ext cx="438912" cy="438912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72384" y="26151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95144" y="3392424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95144" y="33924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9624" y="3392424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9624" y="33924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06524" y="4169664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06524" y="41696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83764" y="4169664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83764" y="41696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2331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≤ child — root is the minimum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 flipH="1">
            <a:off x="8122922" y="3054096"/>
            <a:ext cx="746758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69680" y="3054096"/>
            <a:ext cx="746758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H="1">
            <a:off x="7653528" y="3831336"/>
            <a:ext cx="438912" cy="30175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92440" y="3831336"/>
            <a:ext cx="388617" cy="30175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650224" y="2615184"/>
            <a:ext cx="438912" cy="438912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50224" y="26151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72984" y="3392424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72984" y="33924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427464" y="3392424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427464" y="33924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84364" y="4169664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84364" y="41696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61604" y="4169664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61604" y="41696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Max-heap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15200" y="2331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≥ child — root is the maximum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5394960"/>
            <a:ext cx="11094415" cy="82296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7240" y="539496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= what you'll remove next: smallest for a min-heap, largest for a max-heap — exactly matching del_min / del_max from the API slides earlier.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F7351A10-2801-3D13-8769-BA434FC94C57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81FB1E49-0E83-CC2C-8281-2C6B7E00583E}"/>
              </a:ext>
            </a:extLst>
          </p:cNvPr>
          <p:cNvSpPr/>
          <p:nvPr/>
        </p:nvSpPr>
        <p:spPr>
          <a:xfrm>
            <a:off x="4473956" y="21076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cs typeface="Calibri" pitchFamily="34" charset="-120"/>
              </a:rPr>
              <a:t>Complete Binary Tree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cs typeface="Calibri" pitchFamily="34" charset="-120"/>
              </a:rPr>
              <a:t>Neither max- nor min- heap</a:t>
            </a:r>
            <a:endParaRPr lang="en-US" sz="160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C2A4BE1-778A-6F6E-4DC2-0851C23E9043}"/>
              </a:ext>
            </a:extLst>
          </p:cNvPr>
          <p:cNvGrpSpPr/>
          <p:nvPr/>
        </p:nvGrpSpPr>
        <p:grpSpPr>
          <a:xfrm>
            <a:off x="4977384" y="2767584"/>
            <a:ext cx="1993392" cy="2062286"/>
            <a:chOff x="4977384" y="2767584"/>
            <a:chExt cx="1993392" cy="2062286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1E748DA-22EF-8244-9761-DEF574BA9777}"/>
                </a:ext>
              </a:extLst>
            </p:cNvPr>
            <p:cNvGrpSpPr/>
            <p:nvPr/>
          </p:nvGrpSpPr>
          <p:grpSpPr>
            <a:xfrm>
              <a:off x="4977384" y="2767584"/>
              <a:ext cx="1993392" cy="1216152"/>
              <a:chOff x="4977384" y="2767584"/>
              <a:chExt cx="1993392" cy="1216152"/>
            </a:xfrm>
          </p:grpSpPr>
          <p:sp>
            <p:nvSpPr>
              <p:cNvPr id="42" name="Shape 3">
                <a:extLst>
                  <a:ext uri="{FF2B5EF4-FFF2-40B4-BE49-F238E27FC236}">
                    <a16:creationId xmlns:a16="http://schemas.microsoft.com/office/drawing/2014/main" id="{91C22083-B0A2-92FD-82C6-C638E1546673}"/>
                  </a:ext>
                </a:extLst>
              </p:cNvPr>
              <p:cNvSpPr/>
              <p:nvPr/>
            </p:nvSpPr>
            <p:spPr>
              <a:xfrm flipH="1">
                <a:off x="5366004" y="3206496"/>
                <a:ext cx="608076" cy="338328"/>
              </a:xfrm>
              <a:prstGeom prst="line">
                <a:avLst/>
              </a:prstGeom>
              <a:noFill/>
              <a:ln w="19050">
                <a:solidFill>
                  <a:srgbClr val="BFBFB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Shape 4">
                <a:extLst>
                  <a:ext uri="{FF2B5EF4-FFF2-40B4-BE49-F238E27FC236}">
                    <a16:creationId xmlns:a16="http://schemas.microsoft.com/office/drawing/2014/main" id="{22BAA433-FF7C-ED14-C4A8-C0FF37015D98}"/>
                  </a:ext>
                </a:extLst>
              </p:cNvPr>
              <p:cNvSpPr/>
              <p:nvPr/>
            </p:nvSpPr>
            <p:spPr>
              <a:xfrm>
                <a:off x="5974080" y="3206496"/>
                <a:ext cx="608076" cy="274320"/>
              </a:xfrm>
              <a:prstGeom prst="line">
                <a:avLst/>
              </a:prstGeom>
              <a:noFill/>
              <a:ln w="19050">
                <a:solidFill>
                  <a:srgbClr val="BFBFB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Shape 7">
                <a:extLst>
                  <a:ext uri="{FF2B5EF4-FFF2-40B4-BE49-F238E27FC236}">
                    <a16:creationId xmlns:a16="http://schemas.microsoft.com/office/drawing/2014/main" id="{A933BD5A-105D-95AE-F279-1118200D900C}"/>
                  </a:ext>
                </a:extLst>
              </p:cNvPr>
              <p:cNvSpPr/>
              <p:nvPr/>
            </p:nvSpPr>
            <p:spPr>
              <a:xfrm>
                <a:off x="5754624" y="2767584"/>
                <a:ext cx="438912" cy="438912"/>
              </a:xfrm>
              <a:prstGeom prst="ellipse">
                <a:avLst/>
              </a:prstGeom>
              <a:solidFill>
                <a:srgbClr val="333F50"/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400" b="1" dirty="0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2</a:t>
                </a:r>
                <a:endParaRPr lang="en-US" sz="1400" dirty="0"/>
              </a:p>
            </p:txBody>
          </p:sp>
          <p:sp>
            <p:nvSpPr>
              <p:cNvPr id="45" name="Shape 9">
                <a:extLst>
                  <a:ext uri="{FF2B5EF4-FFF2-40B4-BE49-F238E27FC236}">
                    <a16:creationId xmlns:a16="http://schemas.microsoft.com/office/drawing/2014/main" id="{F7C72B23-4DC1-6975-C9BE-8E10772C4B26}"/>
                  </a:ext>
                </a:extLst>
              </p:cNvPr>
              <p:cNvSpPr/>
              <p:nvPr/>
            </p:nvSpPr>
            <p:spPr>
              <a:xfrm>
                <a:off x="4977384" y="3544824"/>
                <a:ext cx="438912" cy="438912"/>
              </a:xfrm>
              <a:prstGeom prst="ellipse">
                <a:avLst/>
              </a:prstGeom>
              <a:solidFill>
                <a:srgbClr val="4472C4"/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400" b="1" dirty="0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4</a:t>
                </a:r>
                <a:endParaRPr lang="en-US" sz="1400" dirty="0"/>
              </a:p>
            </p:txBody>
          </p:sp>
          <p:sp>
            <p:nvSpPr>
              <p:cNvPr id="46" name="Shape 11">
                <a:extLst>
                  <a:ext uri="{FF2B5EF4-FFF2-40B4-BE49-F238E27FC236}">
                    <a16:creationId xmlns:a16="http://schemas.microsoft.com/office/drawing/2014/main" id="{DEC58214-5C90-32AD-5485-B0795B159F92}"/>
                  </a:ext>
                </a:extLst>
              </p:cNvPr>
              <p:cNvSpPr/>
              <p:nvPr/>
            </p:nvSpPr>
            <p:spPr>
              <a:xfrm>
                <a:off x="6531864" y="3544824"/>
                <a:ext cx="438912" cy="438912"/>
              </a:xfrm>
              <a:prstGeom prst="ellipse">
                <a:avLst/>
              </a:prstGeom>
              <a:solidFill>
                <a:srgbClr val="4472C4"/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4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</a:t>
                </a:r>
                <a:endParaRPr lang="en-US" sz="1400" dirty="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BB99ECC-0FF5-63B7-842D-1DDAE61A6D60}"/>
                </a:ext>
              </a:extLst>
            </p:cNvPr>
            <p:cNvSpPr txBox="1"/>
            <p:nvPr/>
          </p:nvSpPr>
          <p:spPr>
            <a:xfrm>
              <a:off x="5699760" y="4429760"/>
              <a:ext cx="822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??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the heap in a plain Python 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tree needs no pointers — position alone tells you the shape.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 flipH="1">
            <a:off x="2194560" y="2020824"/>
            <a:ext cx="1005840" cy="340889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0" y="2020824"/>
            <a:ext cx="1065276" cy="29334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H="1">
            <a:off x="1325880" y="2770632"/>
            <a:ext cx="640080" cy="29334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65960" y="2770632"/>
            <a:ext cx="566918" cy="254203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>
            <a:off x="3867912" y="2770632"/>
            <a:ext cx="566928" cy="340889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34840" y="2770632"/>
            <a:ext cx="594360" cy="273223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H="1">
            <a:off x="960120" y="3520440"/>
            <a:ext cx="388620" cy="29187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62656" y="1545336"/>
            <a:ext cx="475488" cy="475488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62656" y="1564356"/>
            <a:ext cx="475488" cy="24963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62656" y="1802100"/>
            <a:ext cx="475488" cy="202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80360" y="203911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28216" y="2295144"/>
            <a:ext cx="475488" cy="47548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28216" y="2314164"/>
            <a:ext cx="475488" cy="24963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728216" y="2551908"/>
            <a:ext cx="475488" cy="202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5920" y="27889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97096" y="2295144"/>
            <a:ext cx="475488" cy="47548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97096" y="2314164"/>
            <a:ext cx="475488" cy="24963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97096" y="2551908"/>
            <a:ext cx="475488" cy="202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27889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10996" y="3044952"/>
            <a:ext cx="475488" cy="47548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10996" y="3063972"/>
            <a:ext cx="475488" cy="24963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10996" y="3301716"/>
            <a:ext cx="475488" cy="202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8700" y="353872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45436" y="3044952"/>
            <a:ext cx="475488" cy="47548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345436" y="3063972"/>
            <a:ext cx="475488" cy="24963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345436" y="3301716"/>
            <a:ext cx="475488" cy="202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63140" y="353872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79876" y="3044952"/>
            <a:ext cx="475488" cy="47548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79876" y="3063972"/>
            <a:ext cx="475488" cy="24963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579876" y="3301716"/>
            <a:ext cx="475488" cy="202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97580" y="353872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14316" y="3044952"/>
            <a:ext cx="475488" cy="47548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14316" y="3063972"/>
            <a:ext cx="475488" cy="24963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814316" y="3301716"/>
            <a:ext cx="475488" cy="202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32020" y="353872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2386" y="3794760"/>
            <a:ext cx="475488" cy="47548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02386" y="3813780"/>
            <a:ext cx="475488" cy="24963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02386" y="4051524"/>
            <a:ext cx="475488" cy="202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0090" y="428853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i=7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5508" y="4754880"/>
            <a:ext cx="566928" cy="502920"/>
          </a:xfrm>
          <a:prstGeom prst="rect">
            <a:avLst/>
          </a:prstGeom>
          <a:solidFill>
            <a:srgbClr val="333F50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5508" y="4780026"/>
            <a:ext cx="566928" cy="2816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5508" y="5056632"/>
            <a:ext cx="566928" cy="181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5508" y="528523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248156" y="4754880"/>
            <a:ext cx="566928" cy="50292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248156" y="4780026"/>
            <a:ext cx="566928" cy="2816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48156" y="5056632"/>
            <a:ext cx="566928" cy="181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248156" y="528523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860804" y="4754880"/>
            <a:ext cx="566928" cy="50292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860804" y="4780026"/>
            <a:ext cx="566928" cy="2816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860804" y="5056632"/>
            <a:ext cx="566928" cy="181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860804" y="528523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473452" y="4754880"/>
            <a:ext cx="566928" cy="50292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473452" y="4780026"/>
            <a:ext cx="566928" cy="2816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473452" y="5056632"/>
            <a:ext cx="566928" cy="181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473452" y="528523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086100" y="4754880"/>
            <a:ext cx="566928" cy="50292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086100" y="4780026"/>
            <a:ext cx="566928" cy="2816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3086100" y="5056632"/>
            <a:ext cx="566928" cy="181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086100" y="528523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698748" y="4754880"/>
            <a:ext cx="566928" cy="50292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698748" y="4780026"/>
            <a:ext cx="566928" cy="2816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3698748" y="5056632"/>
            <a:ext cx="566928" cy="181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698748" y="528523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311396" y="4754880"/>
            <a:ext cx="566928" cy="50292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311396" y="4780026"/>
            <a:ext cx="566928" cy="2816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311396" y="5056632"/>
            <a:ext cx="566928" cy="181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311396" y="528523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924044" y="4754880"/>
            <a:ext cx="566928" cy="502920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924044" y="4780026"/>
            <a:ext cx="566928" cy="2816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4924044" y="5056632"/>
            <a:ext cx="566928" cy="181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924044" y="528523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635508" y="5532120"/>
            <a:ext cx="4855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index →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6428232" y="1783080"/>
            <a:ext cx="523036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949440" y="198424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arithmetic (Python, 0-indexed)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6830567" y="2377440"/>
            <a:ext cx="4812487" cy="1434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element of the array : root of the tree (</a:t>
            </a:r>
            <a:r>
              <a:rPr lang="en-US" sz="1650" b="1" dirty="0" err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6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parent(i) = (i - 1) // 2 [int floor]
left(i)   = 2*i + 1
right(i)  = 2*i + 2</a:t>
            </a:r>
            <a:endParaRPr lang="en-US" sz="1650" dirty="0"/>
          </a:p>
        </p:txBody>
      </p:sp>
      <p:sp>
        <p:nvSpPr>
          <p:cNvPr id="80" name="Text 78"/>
          <p:cNvSpPr/>
          <p:nvPr/>
        </p:nvSpPr>
        <p:spPr>
          <a:xfrm>
            <a:off x="6949440" y="39319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on the diagram: index 3 holds (8, D) — its parent is index 1 (5, B), its left child is index 7 (25, H), and it has no right child (index 8 doesn't exist).</a:t>
            </a:r>
            <a:endParaRPr lang="en-US" sz="1250" dirty="0"/>
          </a:p>
        </p:txBody>
      </p:sp>
      <p:sp>
        <p:nvSpPr>
          <p:cNvPr id="81" name="Shape 79"/>
          <p:cNvSpPr/>
          <p:nvPr/>
        </p:nvSpPr>
        <p:spPr>
          <a:xfrm>
            <a:off x="548640" y="580644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77240" y="580644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pointers needed — a child's or parent's position is pure arithmetic. Keys decide the order; values (any datatype) just ride along at the same index.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85" name="Text 9">
            <a:extLst>
              <a:ext uri="{FF2B5EF4-FFF2-40B4-BE49-F238E27FC236}">
                <a16:creationId xmlns:a16="http://schemas.microsoft.com/office/drawing/2014/main" id="{39CCBA5E-4C0E-10B1-3695-ED74F94C9F1F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queues vs. binary heaps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 the abstraction. The other is how we build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1109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concept, concrete implementation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21992"/>
            <a:ext cx="1052748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queue is an ABSTRACT idea — it only promises insert and remove-max/min. A binary heap is a CONCRETE data structure that delivers on that promise efficiently. That's exactly why we spent today studying heaps.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19125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contract, new backing store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502152"/>
            <a:ext cx="1052748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and remove-max/min are still exactly the MaxPQ API from a few slides ago — only the array's internal organization has changed.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419709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reaches the goal we set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4507992"/>
            <a:ext cx="1052748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the cost-summary target: O(log n) for both operations. A binary heap is the structure that actually achieves 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priority queue = the WHAT (the abstract operations). Binary heap = the HOW (one efficient way to build them).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9B9C276-7052-DD32-1265-F19BD2B90D48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: heap operations, in full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gave us the shape. Next class, we make it move.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18608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6785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queue ADT, and why neither elementary array beats the other.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trees, complete binary trees, and the binary heap: heap-ordered, stored with zero pointers as a plain Python list.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arithmetic: parent, left, and right, all O(1).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4448" y="2011680"/>
            <a:ext cx="5318608" cy="3566160"/>
          </a:xfrm>
          <a:prstGeom prst="roundRect">
            <a:avLst>
              <a:gd name="adj" fmla="val 2051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44488" y="2286000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44488" y="2697480"/>
            <a:ext cx="46785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operations, in full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operation is O(log n)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Decrease-key and other heap variants, time permitting.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Analysis and Design  ·  Priority Queues &amp; Binary Heaps  ·  Sep 28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3190</Words>
  <Application>Microsoft Macintosh PowerPoint</Application>
  <PresentationFormat>Widescreen</PresentationFormat>
  <Paragraphs>471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Tanwistha Saha</cp:lastModifiedBy>
  <cp:revision>45</cp:revision>
  <dcterms:created xsi:type="dcterms:W3CDTF">2026-09-27T21:03:05Z</dcterms:created>
  <dcterms:modified xsi:type="dcterms:W3CDTF">2026-09-28T18:25:41Z</dcterms:modified>
</cp:coreProperties>
</file>