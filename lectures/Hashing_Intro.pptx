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587A72F-3937-5058-E997-DC5AAD9760CD}">
          <p14:sldIdLst>
            <p14:sldId id="256"/>
          </p14:sldIdLst>
        </p14:section>
        <p14:section name="Motivation" id="{D9E605DE-EBED-C942-2790-E4681CB95F67}">
          <p14:sldIdLst>
            <p14:sldId id="274"/>
            <p14:sldId id="257"/>
            <p14:sldId id="258"/>
          </p14:sldIdLst>
        </p14:section>
        <p14:section name="Operations &amp; Applications" id="{AA9A780D-C520-91DA-9E8D-C34DFFBEA25D}">
          <p14:sldIdLst>
            <p14:sldId id="259"/>
            <p14:sldId id="260"/>
          </p14:sldIdLst>
        </p14:section>
        <p14:section name="How Hashing Works" id="{9E163527-2B7C-BB01-9B5D-7A07BC801A2A}">
          <p14:sldIdLst>
            <p14:sldId id="261"/>
            <p14:sldId id="262"/>
            <p14:sldId id="263"/>
            <p14:sldId id="264"/>
            <p14:sldId id="265"/>
          </p14:sldIdLst>
        </p14:section>
        <p14:section name="Implementation" id="{3B1F6A2E-8C4D-4E7A-9F21-6D5C0A1B2C31}">
          <p14:sldIdLst>
            <p14:sldId id="267"/>
            <p14:sldId id="268"/>
          </p14:sldIdLst>
        </p14:section>
        <p14:section name="Wrap-up" id="{A7809674-7C67-D765-B8A5-087590969935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44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E2A44"/>
                </a:solidFill>
                <a:latin typeface="+mn-lt"/>
              </a:rPr>
              <a:t>P(at least two share a birthday) vs. people in room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P(shared birthday)</c:v>
                </c:pt>
              </c:strCache>
            </c:strRef>
          </c:tx>
          <c:spPr>
            <a:ln w="31750" cap="flat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Sheet1!$A$2:$A$61</c:f>
              <c:strCache>
                <c:ptCount val="60"/>
                <c:pt idx="9">
                  <c:v>10</c:v>
                </c:pt>
                <c:pt idx="19">
                  <c:v>20</c:v>
                </c:pt>
                <c:pt idx="29">
                  <c:v>30</c:v>
                </c:pt>
                <c:pt idx="39">
                  <c:v>40</c:v>
                </c:pt>
                <c:pt idx="49">
                  <c:v>50</c:v>
                </c:pt>
                <c:pt idx="59">
                  <c:v>60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2.7000000000000001E-3</c:v>
                </c:pt>
                <c:pt idx="2">
                  <c:v>8.2000000000000007E-3</c:v>
                </c:pt>
                <c:pt idx="3">
                  <c:v>1.6400000000000001E-2</c:v>
                </c:pt>
                <c:pt idx="4">
                  <c:v>2.7099999999999999E-2</c:v>
                </c:pt>
                <c:pt idx="5">
                  <c:v>4.0500000000000001E-2</c:v>
                </c:pt>
                <c:pt idx="6">
                  <c:v>5.62E-2</c:v>
                </c:pt>
                <c:pt idx="7">
                  <c:v>7.4300000000000005E-2</c:v>
                </c:pt>
                <c:pt idx="8">
                  <c:v>9.4600000000000004E-2</c:v>
                </c:pt>
                <c:pt idx="9">
                  <c:v>0.1169</c:v>
                </c:pt>
                <c:pt idx="10">
                  <c:v>0.1411</c:v>
                </c:pt>
                <c:pt idx="11">
                  <c:v>0.16700000000000001</c:v>
                </c:pt>
                <c:pt idx="12">
                  <c:v>0.19439999999999999</c:v>
                </c:pt>
                <c:pt idx="13">
                  <c:v>0.22309999999999999</c:v>
                </c:pt>
                <c:pt idx="14">
                  <c:v>0.25290000000000001</c:v>
                </c:pt>
                <c:pt idx="15">
                  <c:v>0.28360000000000002</c:v>
                </c:pt>
                <c:pt idx="16">
                  <c:v>0.315</c:v>
                </c:pt>
                <c:pt idx="17">
                  <c:v>0.34689999999999999</c:v>
                </c:pt>
                <c:pt idx="18">
                  <c:v>0.37909999999999999</c:v>
                </c:pt>
                <c:pt idx="19">
                  <c:v>0.41139999999999999</c:v>
                </c:pt>
                <c:pt idx="20">
                  <c:v>0.44369999999999998</c:v>
                </c:pt>
                <c:pt idx="21">
                  <c:v>0.47570000000000001</c:v>
                </c:pt>
                <c:pt idx="22">
                  <c:v>0.50729999999999997</c:v>
                </c:pt>
                <c:pt idx="23">
                  <c:v>0.5383</c:v>
                </c:pt>
                <c:pt idx="24">
                  <c:v>0.56869999999999998</c:v>
                </c:pt>
                <c:pt idx="25">
                  <c:v>0.59819999999999995</c:v>
                </c:pt>
                <c:pt idx="26">
                  <c:v>0.62690000000000001</c:v>
                </c:pt>
                <c:pt idx="27">
                  <c:v>0.65449999999999997</c:v>
                </c:pt>
                <c:pt idx="28">
                  <c:v>0.68100000000000005</c:v>
                </c:pt>
                <c:pt idx="29">
                  <c:v>0.70630000000000004</c:v>
                </c:pt>
                <c:pt idx="30">
                  <c:v>0.73050000000000004</c:v>
                </c:pt>
                <c:pt idx="31">
                  <c:v>0.75329999999999997</c:v>
                </c:pt>
                <c:pt idx="32">
                  <c:v>0.77500000000000002</c:v>
                </c:pt>
                <c:pt idx="33">
                  <c:v>0.79530000000000001</c:v>
                </c:pt>
                <c:pt idx="34">
                  <c:v>0.81440000000000001</c:v>
                </c:pt>
                <c:pt idx="35">
                  <c:v>0.83220000000000005</c:v>
                </c:pt>
                <c:pt idx="36">
                  <c:v>0.84870000000000001</c:v>
                </c:pt>
                <c:pt idx="37">
                  <c:v>0.86409999999999998</c:v>
                </c:pt>
                <c:pt idx="38">
                  <c:v>0.87819999999999998</c:v>
                </c:pt>
                <c:pt idx="39">
                  <c:v>0.89119999999999999</c:v>
                </c:pt>
                <c:pt idx="40">
                  <c:v>0.9032</c:v>
                </c:pt>
                <c:pt idx="41">
                  <c:v>0.91400000000000003</c:v>
                </c:pt>
                <c:pt idx="42">
                  <c:v>0.92390000000000005</c:v>
                </c:pt>
                <c:pt idx="43">
                  <c:v>0.93289999999999995</c:v>
                </c:pt>
                <c:pt idx="44">
                  <c:v>0.94099999999999995</c:v>
                </c:pt>
                <c:pt idx="45">
                  <c:v>0.94830000000000003</c:v>
                </c:pt>
                <c:pt idx="46">
                  <c:v>0.95479999999999998</c:v>
                </c:pt>
                <c:pt idx="47">
                  <c:v>0.96060000000000001</c:v>
                </c:pt>
                <c:pt idx="48">
                  <c:v>0.96579999999999999</c:v>
                </c:pt>
                <c:pt idx="49">
                  <c:v>0.97040000000000004</c:v>
                </c:pt>
                <c:pt idx="50">
                  <c:v>0.97440000000000004</c:v>
                </c:pt>
                <c:pt idx="51">
                  <c:v>0.97799999999999998</c:v>
                </c:pt>
                <c:pt idx="52">
                  <c:v>0.98109999999999997</c:v>
                </c:pt>
                <c:pt idx="53">
                  <c:v>0.9839</c:v>
                </c:pt>
                <c:pt idx="54">
                  <c:v>0.98629999999999995</c:v>
                </c:pt>
                <c:pt idx="55">
                  <c:v>0.98829999999999996</c:v>
                </c:pt>
                <c:pt idx="56">
                  <c:v>0.99009999999999998</c:v>
                </c:pt>
                <c:pt idx="57">
                  <c:v>0.99170000000000003</c:v>
                </c:pt>
                <c:pt idx="58">
                  <c:v>0.99299999999999999</c:v>
                </c:pt>
                <c:pt idx="59">
                  <c:v>0.99409999999999998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46-AB44-B8BC-108AE93F39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95959"/>
                    </a:solidFill>
                    <a:latin typeface="Arial"/>
                  </a:rPr>
                  <a:t>number of people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37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Algorithm Analysis and Design  ·  Hash Tables &amp; Hashing  ·  Week 8  ·  Session 18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5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96012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9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Algorithm Analysis and Design  ·  Hash Tables &amp; Hashing  ·  Week 8  ·  Session 18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5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chemeClr val="accent2"/>
                </a:solidFill>
              </a:rPr>
              <a:t>CS 383 ALGORITHMS ANALYSIS AND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960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tx1"/>
                </a:solidFill>
              </a:rPr>
              <a:t>Hash Tables &amp; Hashing</a:t>
            </a:r>
            <a:endParaRPr lang="en-US" sz="4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2"/>
                </a:solidFill>
              </a:rPr>
              <a:t>From Fast Lookups to Collision Resolution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31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Sorted arrays and search trees answer lookups in O(log n). Hashing gets Insert, Lookup and Delete down to O(1).</a:t>
            </a:r>
            <a:endParaRPr lang="en-US" sz="1400" dirty="0"/>
          </a:p>
        </p:txBody>
      </p:sp>
      <p:sp>
        <p:nvSpPr>
          <p:cNvPr id="6" name="Sorted cell"/>
          <p:cNvSpPr/>
          <p:nvPr/>
        </p:nvSpPr>
        <p:spPr>
          <a:xfrm>
            <a:off x="7772400" y="2606040"/>
            <a:ext cx="4572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orted cell"/>
          <p:cNvSpPr/>
          <p:nvPr/>
        </p:nvSpPr>
        <p:spPr>
          <a:xfrm>
            <a:off x="8257032" y="2606040"/>
            <a:ext cx="4572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57032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Sorted cell"/>
          <p:cNvSpPr/>
          <p:nvPr/>
        </p:nvSpPr>
        <p:spPr>
          <a:xfrm>
            <a:off x="8741664" y="2606040"/>
            <a:ext cx="4572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741664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12" name="Sorted cell"/>
          <p:cNvSpPr/>
          <p:nvPr/>
        </p:nvSpPr>
        <p:spPr>
          <a:xfrm>
            <a:off x="9226296" y="2606040"/>
            <a:ext cx="457200" cy="502920"/>
          </a:xfrm>
          <a:prstGeom prst="rect">
            <a:avLst/>
          </a:prstGeom>
          <a:solidFill>
            <a:srgbClr val="F4B183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226296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17736" y="224028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317736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Sorted cell"/>
          <p:cNvSpPr/>
          <p:nvPr/>
        </p:nvSpPr>
        <p:spPr>
          <a:xfrm>
            <a:off x="9710928" y="2606040"/>
            <a:ext cx="45720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710928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02368" y="224028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80236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orted cell"/>
          <p:cNvSpPr/>
          <p:nvPr/>
        </p:nvSpPr>
        <p:spPr>
          <a:xfrm>
            <a:off x="10195560" y="2606040"/>
            <a:ext cx="457200" cy="502920"/>
          </a:xfrm>
          <a:prstGeom prst="rect">
            <a:avLst/>
          </a:prstGeom>
          <a:solidFill>
            <a:srgbClr val="F4B183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19556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87000" y="224028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2870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Sorted cell"/>
          <p:cNvSpPr/>
          <p:nvPr/>
        </p:nvSpPr>
        <p:spPr>
          <a:xfrm>
            <a:off x="10680192" y="2606040"/>
            <a:ext cx="4572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680192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00" dirty="0"/>
          </a:p>
        </p:txBody>
      </p:sp>
      <p:sp>
        <p:nvSpPr>
          <p:cNvPr id="26" name="Sorted cell"/>
          <p:cNvSpPr/>
          <p:nvPr/>
        </p:nvSpPr>
        <p:spPr>
          <a:xfrm>
            <a:off x="11164824" y="2606040"/>
            <a:ext cx="4572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1164824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Before: binary search for 23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3 probes = log₂ 8  →  O(log n)</a:t>
            </a:r>
            <a:endParaRPr lang="en-US" sz="1100" dirty="0"/>
          </a:p>
        </p:txBody>
      </p:sp>
      <p:sp>
        <p:nvSpPr>
          <p:cNvPr id="30" name="Bucket cell"/>
          <p:cNvSpPr/>
          <p:nvPr/>
        </p:nvSpPr>
        <p:spPr>
          <a:xfrm>
            <a:off x="7772400" y="4572000"/>
            <a:ext cx="4572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772400" y="5093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32" name="Bucket cell"/>
          <p:cNvSpPr/>
          <p:nvPr/>
        </p:nvSpPr>
        <p:spPr>
          <a:xfrm>
            <a:off x="8257032" y="4572000"/>
            <a:ext cx="457200" cy="502920"/>
          </a:xfrm>
          <a:prstGeom prst="rect">
            <a:avLst/>
          </a:prstGeom>
          <a:solidFill>
            <a:srgbClr val="9DB4E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257032" y="4572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57032" y="5093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Bucket cell"/>
          <p:cNvSpPr/>
          <p:nvPr/>
        </p:nvSpPr>
        <p:spPr>
          <a:xfrm>
            <a:off x="8741664" y="4572000"/>
            <a:ext cx="4572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741664" y="5093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Bucket cell"/>
          <p:cNvSpPr/>
          <p:nvPr/>
        </p:nvSpPr>
        <p:spPr>
          <a:xfrm>
            <a:off x="9226296" y="4572000"/>
            <a:ext cx="457200" cy="502920"/>
          </a:xfrm>
          <a:prstGeom prst="rect">
            <a:avLst/>
          </a:prstGeom>
          <a:solidFill>
            <a:srgbClr val="9DB4E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226296" y="4572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226296" y="5093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Bucket cell"/>
          <p:cNvSpPr/>
          <p:nvPr/>
        </p:nvSpPr>
        <p:spPr>
          <a:xfrm>
            <a:off x="9710928" y="4572000"/>
            <a:ext cx="457200" cy="502920"/>
          </a:xfrm>
          <a:prstGeom prst="rect">
            <a:avLst/>
          </a:prstGeom>
          <a:solidFill>
            <a:srgbClr val="9DB4E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710928" y="4572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710928" y="5093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Bucket cell"/>
          <p:cNvSpPr/>
          <p:nvPr/>
        </p:nvSpPr>
        <p:spPr>
          <a:xfrm>
            <a:off x="10195560" y="4572000"/>
            <a:ext cx="45720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195560" y="5093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Bucket cell"/>
          <p:cNvSpPr/>
          <p:nvPr/>
        </p:nvSpPr>
        <p:spPr>
          <a:xfrm>
            <a:off x="10680192" y="4572000"/>
            <a:ext cx="457200" cy="502920"/>
          </a:xfrm>
          <a:prstGeom prst="rect">
            <a:avLst/>
          </a:prstGeom>
          <a:solidFill>
            <a:srgbClr val="9DB4E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0680192" y="4572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680192" y="5093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Bucket cell"/>
          <p:cNvSpPr/>
          <p:nvPr/>
        </p:nvSpPr>
        <p:spPr>
          <a:xfrm>
            <a:off x="11164824" y="4572000"/>
            <a:ext cx="45720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11164824" y="4572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1164824" y="5093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51" name="Hash pill"/>
          <p:cNvSpPr/>
          <p:nvPr/>
        </p:nvSpPr>
        <p:spPr>
          <a:xfrm>
            <a:off x="9144000" y="3977640"/>
            <a:ext cx="141732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9144000" y="3977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h(23) = 7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579608" y="4151376"/>
            <a:ext cx="813816" cy="40233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7772400" y="5394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After: hashing finds 23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772400" y="5650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1 probe, whatever n is  →  O(1)</a:t>
            </a:r>
            <a:endParaRPr lang="en-US" sz="1100" dirty="0"/>
          </a:p>
        </p:txBody>
      </p:sp>
      <p:sp>
        <p:nvSpPr>
          <p:cNvPr id="56" name="Badge"/>
          <p:cNvSpPr/>
          <p:nvPr/>
        </p:nvSpPr>
        <p:spPr>
          <a:xfrm>
            <a:off x="9921240" y="502920"/>
            <a:ext cx="1417320" cy="1417320"/>
          </a:xfrm>
          <a:prstGeom prst="ellipse">
            <a:avLst/>
          </a:prstGeom>
          <a:solidFill>
            <a:schemeClr val="bg2"/>
          </a:solidFill>
          <a:ln w="19050">
            <a:solidFill>
              <a:srgbClr val="C9D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9921240" y="5029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key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bucket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02920" y="5897880"/>
            <a:ext cx="69494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Tanwistha Saha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029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Week 8  ·  Session 18  ·  October 21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You Use Hash Tables Every Day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A hash table stores pairs of a key and a value, and finds any value from its key almost instantly.</a:t>
            </a:r>
            <a:endParaRPr lang="en-US" sz="1350" dirty="0"/>
          </a:p>
        </p:txBody>
      </p:sp>
      <p:sp>
        <p:nvSpPr>
          <p:cNvPr id="5" name="Idea panel"/>
          <p:cNvSpPr/>
          <p:nvPr/>
        </p:nvSpPr>
        <p:spPr>
          <a:xfrm>
            <a:off x="502920" y="1783080"/>
            <a:ext cx="5120640" cy="3749040"/>
          </a:xfrm>
          <a:prstGeom prst="roundRect">
            <a:avLst>
              <a:gd name="adj" fmla="val 146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THE IDEA:  KEY  →  VALUE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key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0320" y="283464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2606040"/>
            <a:ext cx="210312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24612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555-1234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227832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227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60320" y="3456432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3227832"/>
            <a:ext cx="21031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246120" y="3227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555-9876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3849624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38496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560320" y="4078224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46120" y="3849624"/>
            <a:ext cx="210312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246120" y="38496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555-4321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526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Look up “bob” → 555-9876 in one step.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 scanning through the whole list, even with millions of names.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1737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Everyday examples</a:t>
            </a:r>
            <a:endParaRPr lang="en-US" sz="1500" dirty="0"/>
          </a:p>
        </p:txBody>
      </p:sp>
      <p:sp>
        <p:nvSpPr>
          <p:cNvPr id="26" name="Example card"/>
          <p:cNvSpPr/>
          <p:nvPr/>
        </p:nvSpPr>
        <p:spPr>
          <a:xfrm>
            <a:off x="5897880" y="2103120"/>
            <a:ext cx="57881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126480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Phone contacts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2103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→  phone number</a:t>
            </a:r>
            <a:endParaRPr lang="en-US" sz="1300" dirty="0"/>
          </a:p>
        </p:txBody>
      </p:sp>
      <p:sp>
        <p:nvSpPr>
          <p:cNvPr id="29" name="Example card"/>
          <p:cNvSpPr/>
          <p:nvPr/>
        </p:nvSpPr>
        <p:spPr>
          <a:xfrm>
            <a:off x="5897880" y="2971800"/>
            <a:ext cx="57881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12648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dictionary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732520" y="2971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 →  meaning</a:t>
            </a:r>
            <a:endParaRPr lang="en-US" sz="1300" dirty="0"/>
          </a:p>
        </p:txBody>
      </p:sp>
      <p:sp>
        <p:nvSpPr>
          <p:cNvPr id="32" name="Example card"/>
          <p:cNvSpPr/>
          <p:nvPr/>
        </p:nvSpPr>
        <p:spPr>
          <a:xfrm>
            <a:off x="5897880" y="3840480"/>
            <a:ext cx="57881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126480" y="3840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Signing up for a website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732520" y="3840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 →  already taken?</a:t>
            </a:r>
            <a:endParaRPr lang="en-US" sz="1300" dirty="0"/>
          </a:p>
        </p:txBody>
      </p:sp>
      <p:sp>
        <p:nvSpPr>
          <p:cNvPr id="35" name="Example card"/>
          <p:cNvSpPr/>
          <p:nvPr/>
        </p:nvSpPr>
        <p:spPr>
          <a:xfrm>
            <a:off x="5897880" y="4709160"/>
            <a:ext cx="5788152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126480" y="4709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shopping cart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732520" y="4709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 →  quantity</a:t>
            </a:r>
            <a:endParaRPr lang="en-US" sz="1300" dirty="0"/>
          </a:p>
        </p:txBody>
      </p:sp>
      <p:sp>
        <p:nvSpPr>
          <p:cNvPr id="38" name="Takeaway bar"/>
          <p:cNvSpPr/>
          <p:nvPr/>
        </p:nvSpPr>
        <p:spPr>
          <a:xfrm>
            <a:off x="502920" y="5760720"/>
            <a:ext cx="11183112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In code you already use them: Python dict  ·  Java HashMap  ·  C++ unordered_map  ·  JavaScript Map</a:t>
            </a:r>
            <a:endParaRPr lang="en-US" sz="15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Question: “Have I Seen This Before?”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Many programs boil down to keeping a changing set of items and asking whether something is in it, millions of times.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0208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56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Web crawler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167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Has this URL already been visited?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8986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0449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8803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Compiler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31912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Is this identifier already declared? (symbol table)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39227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0690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904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Router / firewall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325880" y="4215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Is this IP address on the blocklist?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02920" y="494690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09320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49286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Game-playing AI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325880" y="5239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Have I already explored this board position?</a:t>
            </a:r>
            <a:endParaRPr lang="en-US" sz="1400" dirty="0"/>
          </a:p>
        </p:txBody>
      </p:sp>
      <p:sp>
        <p:nvSpPr>
          <p:cNvPr id="21" name="What we want panel"/>
          <p:cNvSpPr/>
          <p:nvPr/>
        </p:nvSpPr>
        <p:spPr>
          <a:xfrm>
            <a:off x="6675120" y="1828800"/>
            <a:ext cx="5010912" cy="4023360"/>
          </a:xfrm>
          <a:prstGeom prst="roundRect">
            <a:avLst>
              <a:gd name="adj" fmla="val 136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704088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WHAT WE WANT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040880" y="2514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0" y="24688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</a:rPr>
              <a:t>O(1)</a:t>
            </a:r>
            <a:endParaRPr lang="en-US" sz="6000" dirty="0"/>
          </a:p>
        </p:txBody>
      </p:sp>
      <p:sp>
        <p:nvSpPr>
          <p:cNvPr id="25" name="Text 19"/>
          <p:cNvSpPr txBox="1"/>
          <p:nvPr/>
        </p:nvSpPr>
        <p:spPr>
          <a:xfrm>
            <a:off x="7040880" y="3977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…in constant time, no matter how many items are already stored.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040880" y="4709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Sorted arrays and balanced search trees give O(log n). Can we do better if we don’t need the items kept in order?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Not Use What We Already Know?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Each familiar structure gives up something. |S| = number of objects stored; |U| = number of possible keys.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2633472"/>
        </p:xfrm>
        <a:graphic>
          <a:graphicData uri="http://schemas.openxmlformats.org/drawingml/2006/table">
            <a:tbl>
              <a:tblPr/>
              <a:tblGrid>
                <a:gridCol w="3867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structure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Insert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Lookup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Space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Unsorted array / linked list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Sorted array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O(log 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Balanced search tree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O(log 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O(log 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O(log 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Array indexed directly by key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O(|U|)  ✗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Hash table  (today)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O(1)*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O(1)*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O(1)*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O(|S|)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62BDD946-F170-DC9C-5098-5B7EF52C791E}"/>
              </a:ext>
            </a:extLst>
          </p:cNvPr>
          <p:cNvGrpSpPr/>
          <p:nvPr/>
        </p:nvGrpSpPr>
        <p:grpSpPr>
          <a:xfrm>
            <a:off x="502920" y="4572000"/>
            <a:ext cx="11183112" cy="960120"/>
            <a:chOff x="502920" y="4572000"/>
            <a:chExt cx="11183112" cy="960120"/>
          </a:xfrm>
        </p:grpSpPr>
        <p:sp>
          <p:nvSpPr>
            <p:cNvPr id="6" name="Direct addressing callout"/>
            <p:cNvSpPr/>
            <p:nvPr/>
          </p:nvSpPr>
          <p:spPr>
            <a:xfrm>
              <a:off x="502920" y="4617720"/>
              <a:ext cx="11183112" cy="914400"/>
            </a:xfrm>
            <a:prstGeom prst="roundRect">
              <a:avLst>
                <a:gd name="adj" fmla="val 6000"/>
              </a:avLst>
            </a:prstGeom>
            <a:solidFill>
              <a:schemeClr val="accent3"/>
            </a:solidFill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/>
            <p:cNvSpPr txBox="1"/>
            <p:nvPr/>
          </p:nvSpPr>
          <p:spPr>
            <a:xfrm>
              <a:off x="777240" y="4572000"/>
              <a:ext cx="10634472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Direct addressing is perfect, except for space.  </a:t>
              </a:r>
              <a:r>
                <a:rPr lang="en-US" sz="1400" dirty="0">
                  <a:solidFill>
                    <a:schemeClr val="tx2"/>
                  </a:solidFill>
                </a:rPr>
                <a:t>Indexing an array by 32-bit IP address needs 2³² ≈ 4.3 billion slots; indexing by every possible 20-letter name needs 26²⁰ slots — almost all of them empty.</a:t>
              </a:r>
              <a:endParaRPr lang="en-US" sz="14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86DD83-7E03-BA59-DC01-3A96469403D7}"/>
              </a:ext>
            </a:extLst>
          </p:cNvPr>
          <p:cNvGrpSpPr/>
          <p:nvPr/>
        </p:nvGrpSpPr>
        <p:grpSpPr>
          <a:xfrm>
            <a:off x="502920" y="5760720"/>
            <a:ext cx="11183112" cy="566928"/>
            <a:chOff x="502920" y="5760720"/>
            <a:chExt cx="11183112" cy="566928"/>
          </a:xfrm>
        </p:grpSpPr>
        <p:sp>
          <p:nvSpPr>
            <p:cNvPr id="8" name="Takeaway bar"/>
            <p:cNvSpPr/>
            <p:nvPr/>
          </p:nvSpPr>
          <p:spPr>
            <a:xfrm>
              <a:off x="502920" y="5760720"/>
              <a:ext cx="11183112" cy="566928"/>
            </a:xfrm>
            <a:prstGeom prst="roundRect">
              <a:avLst>
                <a:gd name="adj" fmla="val 9677"/>
              </a:avLst>
            </a:prstGeom>
            <a:solidFill>
              <a:schemeClr val="accent6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777240" y="5760720"/>
              <a:ext cx="1063447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tx1"/>
                  </a:solidFill>
                </a:rPr>
                <a:t>Goal: the speed of direct addressing with space proportional to |S|, not |U|.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HASH TABLES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a Hash Table Supports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A hash table keeps a set S of objects with keys that changes over time, and supports three operations.</a:t>
            </a:r>
            <a:endParaRPr lang="en-US" sz="1350" dirty="0"/>
          </a:p>
        </p:txBody>
      </p:sp>
      <p:sp>
        <p:nvSpPr>
          <p:cNvPr id="5" name="Operation card"/>
          <p:cNvSpPr/>
          <p:nvPr/>
        </p:nvSpPr>
        <p:spPr>
          <a:xfrm>
            <a:off x="502920" y="1783080"/>
            <a:ext cx="3575304" cy="1234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Insert(x)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9385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tx1"/>
                </a:solidFill>
              </a:rPr>
              <a:t>O(1)*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Add a new object x to S.</a:t>
            </a:r>
            <a:endParaRPr lang="en-US" sz="1400" dirty="0"/>
          </a:p>
        </p:txBody>
      </p:sp>
      <p:sp>
        <p:nvSpPr>
          <p:cNvPr id="9" name="Operation card"/>
          <p:cNvSpPr/>
          <p:nvPr/>
        </p:nvSpPr>
        <p:spPr>
          <a:xfrm>
            <a:off x="4306824" y="1783080"/>
            <a:ext cx="3575304" cy="1234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81144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Lookup(k)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92824" y="19385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tx1"/>
                </a:solidFill>
              </a:rPr>
              <a:t>O(1)*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Return the object with key k, or report that none exists.</a:t>
            </a:r>
            <a:endParaRPr lang="en-US" sz="1400" dirty="0"/>
          </a:p>
        </p:txBody>
      </p:sp>
      <p:sp>
        <p:nvSpPr>
          <p:cNvPr id="13" name="Operation card"/>
          <p:cNvSpPr/>
          <p:nvPr/>
        </p:nvSpPr>
        <p:spPr>
          <a:xfrm>
            <a:off x="8110728" y="1783080"/>
            <a:ext cx="3575304" cy="1234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85048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Delete(k)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396728" y="19385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tx1"/>
                </a:solidFill>
              </a:rPr>
              <a:t>O(1)*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Remove the object with key k from 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200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fine print  *</a:t>
            </a:r>
            <a:endParaRPr lang="en-US" sz="1500" dirty="0"/>
          </a:p>
        </p:txBody>
      </p:sp>
      <p:sp>
        <p:nvSpPr>
          <p:cNvPr id="18" name="Fine print"/>
          <p:cNvSpPr/>
          <p:nvPr/>
        </p:nvSpPr>
        <p:spPr>
          <a:xfrm>
            <a:off x="502920" y="3566160"/>
            <a:ext cx="5486400" cy="1097280"/>
          </a:xfrm>
          <a:prstGeom prst="roundRect">
            <a:avLst>
              <a:gd name="adj" fmla="val 37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7240" y="3611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The O(1) holds only if: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the hash table is implemented properly (good hash function, right number of buckets), and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the data is non-pathological (see below).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200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hash tables do NOT do</a:t>
            </a:r>
            <a:endParaRPr lang="en-US" sz="1500" dirty="0"/>
          </a:p>
        </p:txBody>
      </p:sp>
      <p:sp>
        <p:nvSpPr>
          <p:cNvPr id="21" name="Not supported"/>
          <p:cNvSpPr/>
          <p:nvPr/>
        </p:nvSpPr>
        <p:spPr>
          <a:xfrm>
            <a:off x="6199632" y="3566160"/>
            <a:ext cx="5486400" cy="10972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73952" y="3566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 ordering: Min, Max, Predecessor, Successor, or listing keys in sorted order are all slow. Need those? Use a heap or a balanced search tree.</a:t>
            </a:r>
            <a:endParaRPr lang="en-US" sz="1400" dirty="0"/>
          </a:p>
        </p:txBody>
      </p:sp>
      <p:sp>
        <p:nvSpPr>
          <p:cNvPr id="900" name="Pathological callout"/>
          <p:cNvSpPr/>
          <p:nvPr/>
        </p:nvSpPr>
        <p:spPr>
          <a:xfrm>
            <a:off x="502920" y="4800600"/>
            <a:ext cx="11183112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1"/>
          <p:cNvSpPr txBox="1"/>
          <p:nvPr/>
        </p:nvSpPr>
        <p:spPr>
          <a:xfrm>
            <a:off x="777240" y="4800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is a pathological data set?  </a:t>
            </a:r>
            <a:r>
              <a:rPr lang="en-US" sz="1400" dirty="0">
                <a:solidFill>
                  <a:schemeClr val="tx2"/>
                </a:solidFill>
              </a:rPr>
              <a:t>A set of keys that the hash function happens to send to the same bucket. With h(k) = k mod 7, the keys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3, 10, 17, 24, 31</a:t>
            </a:r>
            <a:r>
              <a:rPr lang="en-US" sz="1400" dirty="0">
                <a:solidFill>
                  <a:schemeClr val="tx2"/>
                </a:solidFill>
              </a:rPr>
              <a:t> all land in bucket 3, so one chain holds everything and Lookup slows to O(|S|). Every fixed hash function has such a data set (pigeonhole principle).</a:t>
            </a:r>
            <a:endParaRPr lang="en-US" sz="1400" dirty="0"/>
          </a:p>
        </p:txBody>
      </p:sp>
      <p:sp>
        <p:nvSpPr>
          <p:cNvPr id="23" name="Takeaway bar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Rule of thumb: fast lookups on a set that keeps changing → reach for a hash 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Applications: De-duplication &amp; Huge Search Spaces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Both use the same pattern: before handling an item, ask the hash table whether you’ve seen it.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1 · De-duplication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4884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stream of objects arrives (search results, website visitors, log lines). Output each distinct object exactly once.</a:t>
            </a:r>
            <a:endParaRPr lang="en-US" sz="1400" dirty="0"/>
          </a:p>
        </p:txBody>
      </p:sp>
      <p:sp>
        <p:nvSpPr>
          <p:cNvPr id="7" name="Code block"/>
          <p:cNvSpPr/>
          <p:nvPr/>
        </p:nvSpPr>
        <p:spPr>
          <a:xfrm>
            <a:off x="502920" y="2880360"/>
            <a:ext cx="5440680" cy="2240280"/>
          </a:xfrm>
          <a:prstGeom prst="roundRect">
            <a:avLst>
              <a:gd name="adj" fmla="val 244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empty hash table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object x in stream: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H.Lookup(x) fails: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H.Insert(x)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 x</a:t>
            </a:r>
            <a:endParaRPr lang="en-US" sz="1300" dirty="0"/>
          </a:p>
        </p:txBody>
      </p:sp>
      <p:sp>
        <p:nvSpPr>
          <p:cNvPr id="9" name="Cost note"/>
          <p:cNvSpPr/>
          <p:nvPr/>
        </p:nvSpPr>
        <p:spPr>
          <a:xfrm>
            <a:off x="502920" y="5303520"/>
            <a:ext cx="544068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5303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One Lookup + at most one Insert per object → O(n) total for n objects.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17830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2 · Searching huge state spaces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214884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Game positions, puzzle states (Rubik’s cube), planning. The graph is too big to write down, so remember what you’ve explored.</a:t>
            </a:r>
            <a:endParaRPr lang="en-US" sz="1400" dirty="0"/>
          </a:p>
        </p:txBody>
      </p:sp>
      <p:sp>
        <p:nvSpPr>
          <p:cNvPr id="13" name="Code block"/>
          <p:cNvSpPr/>
          <p:nvPr/>
        </p:nvSpPr>
        <p:spPr>
          <a:xfrm>
            <a:off x="6245352" y="2880360"/>
            <a:ext cx="5440680" cy="2240280"/>
          </a:xfrm>
          <a:prstGeom prst="roundRect">
            <a:avLst>
              <a:gd name="adj" fmla="val 244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73952" y="3017520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visited.Insert(start)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frontier not empty: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frontier.pop()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move s → s':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visited.Lookup(s'):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visited.Insert(s')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frontier.push(s')</a:t>
            </a:r>
            <a:endParaRPr lang="en-US" sz="1300" dirty="0"/>
          </a:p>
        </p:txBody>
      </p:sp>
      <p:sp>
        <p:nvSpPr>
          <p:cNvPr id="15" name="Cost note"/>
          <p:cNvSpPr/>
          <p:nvPr/>
        </p:nvSpPr>
        <p:spPr>
          <a:xfrm>
            <a:off x="6245352" y="5303520"/>
            <a:ext cx="544068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19672" y="5303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hash table is the “explored” set in BFS/DFS, so you never expand a position twice.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Core Idea: Hash Functions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Use an array with about as many buckets as objects, and a function that sends each key to a bucket.</a:t>
            </a:r>
            <a:endParaRPr lang="en-US" sz="1350" dirty="0"/>
          </a:p>
        </p:txBody>
      </p:sp>
      <p:sp>
        <p:nvSpPr>
          <p:cNvPr id="5" name="Universe card"/>
          <p:cNvSpPr/>
          <p:nvPr/>
        </p:nvSpPr>
        <p:spPr>
          <a:xfrm>
            <a:off x="502920" y="1783080"/>
            <a:ext cx="5120640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Universe 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Every possible key: huge (all 2³² IP addresses, all strings…).</a:t>
            </a:r>
            <a:endParaRPr lang="en-US" sz="1400" dirty="0"/>
          </a:p>
        </p:txBody>
      </p:sp>
      <p:sp>
        <p:nvSpPr>
          <p:cNvPr id="7" name="Set card"/>
          <p:cNvSpPr/>
          <p:nvPr/>
        </p:nvSpPr>
        <p:spPr>
          <a:xfrm>
            <a:off x="502920" y="2926080"/>
            <a:ext cx="5120640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Set S ⊆ 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keys actually stored: small, and changes over time.</a:t>
            </a:r>
            <a:endParaRPr lang="en-US" sz="1400" dirty="0"/>
          </a:p>
        </p:txBody>
      </p:sp>
      <p:sp>
        <p:nvSpPr>
          <p:cNvPr id="9" name="Hash function definition"/>
          <p:cNvSpPr/>
          <p:nvPr/>
        </p:nvSpPr>
        <p:spPr>
          <a:xfrm>
            <a:off x="502920" y="4069080"/>
            <a:ext cx="5120640" cy="1691640"/>
          </a:xfrm>
          <a:prstGeom prst="roundRect">
            <a:avLst>
              <a:gd name="adj" fmla="val 324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: U → {0, 1, …, n − 1}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00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Array A of n buckets, with n ≈ |S|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Store the object with key k in bucket A[h(k)]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Example:  n = 7,  h(k) = k mod 7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555480" y="22402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966960" y="2240280"/>
            <a:ext cx="1463040" cy="475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555480" y="271576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66960" y="2715768"/>
            <a:ext cx="1463040" cy="475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55548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66960" y="3191256"/>
            <a:ext cx="146304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966960" y="31912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555480" y="366674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66960" y="3666744"/>
            <a:ext cx="146304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966960" y="366674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414223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66960" y="4142232"/>
            <a:ext cx="1463040" cy="475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555480" y="46177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66960" y="4617720"/>
            <a:ext cx="146304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966960" y="4617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55480" y="509320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966960" y="5093208"/>
            <a:ext cx="1463040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966960" y="5093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26480" y="2423160"/>
            <a:ext cx="22860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1264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 7 = 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58200" y="2651760"/>
            <a:ext cx="1051560" cy="7772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26480" y="3200400"/>
            <a:ext cx="22860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1264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 7 = 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458200" y="3429000"/>
            <a:ext cx="1051560" cy="47548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26480" y="3977640"/>
            <a:ext cx="22860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12648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 7 = 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458200" y="4206240"/>
            <a:ext cx="1051560" cy="64922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26480" y="4754880"/>
            <a:ext cx="22860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12648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 7 = 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458200" y="4983480"/>
            <a:ext cx="1051560" cy="34747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Cliffhanger"/>
          <p:cNvSpPr/>
          <p:nvPr/>
        </p:nvSpPr>
        <p:spPr>
          <a:xfrm>
            <a:off x="6126480" y="5760720"/>
            <a:ext cx="5559552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6355080" y="5760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Now insert 17:  17 mod 7 = 3 … but bucket 3 is taken!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Collisions Are Inevitable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A collision is two different keys k₁ ≠ k₂ with h(k₁) = h(k₂). They happen far sooner than intuition says.</a:t>
            </a:r>
            <a:endParaRPr lang="en-US" sz="1350" dirty="0"/>
          </a:p>
        </p:txBody>
      </p:sp>
      <p:sp>
        <p:nvSpPr>
          <p:cNvPr id="5" name="Pigeonhole"/>
          <p:cNvSpPr/>
          <p:nvPr/>
        </p:nvSpPr>
        <p:spPr>
          <a:xfrm>
            <a:off x="502920" y="1783080"/>
            <a:ext cx="5120640" cy="1234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Pigeonhole principle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|U| is much bigger than n, so some bucket must receive at least |U|/n possible keys. No hash function avoids collisions.</a:t>
            </a:r>
            <a:endParaRPr lang="en-US" sz="1400" dirty="0"/>
          </a:p>
        </p:txBody>
      </p:sp>
      <p:sp>
        <p:nvSpPr>
          <p:cNvPr id="7" name="Birthday stat"/>
          <p:cNvSpPr/>
          <p:nvPr/>
        </p:nvSpPr>
        <p:spPr>
          <a:xfrm>
            <a:off x="502920" y="3200400"/>
            <a:ext cx="5120640" cy="2148840"/>
          </a:xfrm>
          <a:prstGeom prst="roundRect">
            <a:avLst>
              <a:gd name="adj" fmla="val 255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THE BIRTHDAY PARADOX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tx1"/>
                </a:solidFill>
              </a:rPr>
              <a:t>23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3657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people are enough for a better-than-even chance that two share a birthday, with 365 “buckets”.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54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In general: with n buckets, expect a collision after only about √n insertions.</a:t>
            </a:r>
            <a:endParaRPr lang="en-US" sz="1300" dirty="0"/>
          </a:p>
        </p:txBody>
      </p:sp>
      <p:graphicFrame>
        <p:nvGraphicFramePr>
          <p:cNvPr id="12" name="Birthday chart"/>
          <p:cNvGraphicFramePr/>
          <p:nvPr/>
        </p:nvGraphicFramePr>
        <p:xfrm>
          <a:off x="5897880" y="1737360"/>
          <a:ext cx="5788152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akeaway bar"/>
          <p:cNvSpPr/>
          <p:nvPr/>
        </p:nvSpPr>
        <p:spPr>
          <a:xfrm>
            <a:off x="502920" y="5577840"/>
            <a:ext cx="11183112" cy="6858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557784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Lesson: even a perfectly random hash function collides early, so every hash table needs a collision-resolution strategy.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COLLISION RESOLUTION  · 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Separate Chaining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Each bucket holds a linked list of every object that hashes there. Same example, after inserting 17 and 24 (both ≡ 3 mod 7).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82296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18288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9572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395728"/>
            <a:ext cx="82296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239572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96265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962656"/>
            <a:ext cx="82296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71016" y="319125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3246120"/>
            <a:ext cx="75895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48840" y="3054096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148840" y="30540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52958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529584"/>
            <a:ext cx="82296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71016" y="3758184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71600" y="3813048"/>
            <a:ext cx="75895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48840" y="3621024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148840" y="36210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17520" y="3813048"/>
            <a:ext cx="3474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0" y="3621024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383280" y="36210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51960" y="3813048"/>
            <a:ext cx="34747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3621024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617720" y="36210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09651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4096512"/>
            <a:ext cx="82296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14400" y="40965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6634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663440"/>
            <a:ext cx="82296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271016" y="4892040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371600" y="4946904"/>
            <a:ext cx="75895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148840" y="4754880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2148840" y="47548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523036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4400" y="5230368"/>
            <a:ext cx="82296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271016" y="5458968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371600" y="5513832"/>
            <a:ext cx="75895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148840" y="5321808"/>
            <a:ext cx="86868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2148840" y="53218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400" dirty="0"/>
          </a:p>
        </p:txBody>
      </p:sp>
      <p:sp>
        <p:nvSpPr>
          <p:cNvPr id="44" name="Chaining op"/>
          <p:cNvSpPr/>
          <p:nvPr/>
        </p:nvSpPr>
        <p:spPr>
          <a:xfrm>
            <a:off x="5989320" y="1783080"/>
            <a:ext cx="5696712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626364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Insert(x)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778240" y="1892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O(1)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22677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Add x to the front of the list in bucket A[h(key)].</a:t>
            </a:r>
            <a:endParaRPr lang="en-US" sz="1400" dirty="0"/>
          </a:p>
        </p:txBody>
      </p:sp>
      <p:sp>
        <p:nvSpPr>
          <p:cNvPr id="48" name="Chaining op"/>
          <p:cNvSpPr/>
          <p:nvPr/>
        </p:nvSpPr>
        <p:spPr>
          <a:xfrm>
            <a:off x="5989320" y="2852928"/>
            <a:ext cx="5696712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6263640" y="2962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Lookup(k)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8778240" y="29626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O(list length)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263640" y="3337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Scan the list in bucket A[h(k)].</a:t>
            </a:r>
            <a:endParaRPr lang="en-US" sz="1400" dirty="0"/>
          </a:p>
        </p:txBody>
      </p:sp>
      <p:sp>
        <p:nvSpPr>
          <p:cNvPr id="52" name="Chaining op"/>
          <p:cNvSpPr/>
          <p:nvPr/>
        </p:nvSpPr>
        <p:spPr>
          <a:xfrm>
            <a:off x="5989320" y="3922776"/>
            <a:ext cx="5696712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6263640" y="4032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Delete(k)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8778240" y="40325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O(list length)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6263640" y="44074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Find k in A[h(k)]’s list and unlink it.</a:t>
            </a:r>
            <a:endParaRPr lang="en-US" sz="1400" dirty="0"/>
          </a:p>
        </p:txBody>
      </p:sp>
      <p:sp>
        <p:nvSpPr>
          <p:cNvPr id="56" name="Chaining takeaway"/>
          <p:cNvSpPr/>
          <p:nvPr/>
        </p:nvSpPr>
        <p:spPr>
          <a:xfrm>
            <a:off x="5989320" y="5029200"/>
            <a:ext cx="5696712" cy="82296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6263640" y="5029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 exactly when the lists stay short: a good hash function and enough buckets.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Bucket 3’s chain grows as more keys collide. Long chains are where the O(1) breaks down.</a:t>
            </a:r>
            <a:endParaRPr lang="en-US" sz="12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COLLISION RESOLUTION  · 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Open Addressing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One object per bucket, no lists. On a collision, follow a probe sequence until you find an empty bucket.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105156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6459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2057400"/>
            <a:ext cx="105156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7889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2057400"/>
            <a:ext cx="105156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788920" y="20574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31920" y="2057400"/>
            <a:ext cx="105156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931920" y="20574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4920" y="2057400"/>
            <a:ext cx="1051560" cy="6858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74920" y="20574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2057400"/>
            <a:ext cx="105156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17920" y="20574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60920" y="2057400"/>
            <a:ext cx="105156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360920" y="20574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28163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✗ taken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28163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empty</a:t>
            </a:r>
            <a:endParaRPr lang="en-US" sz="1200" dirty="0"/>
          </a:p>
        </p:txBody>
      </p:sp>
      <p:sp>
        <p:nvSpPr>
          <p:cNvPr id="26" name="Insert trace"/>
          <p:cNvSpPr/>
          <p:nvPr/>
        </p:nvSpPr>
        <p:spPr>
          <a:xfrm>
            <a:off x="8686800" y="1783080"/>
            <a:ext cx="2999232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915400" y="178308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Insert(17), linear probing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h(17) = 3  → taken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4      → store ✓</a:t>
            </a:r>
            <a:endParaRPr lang="en-US" sz="1300" dirty="0"/>
          </a:p>
        </p:txBody>
      </p:sp>
      <p:sp>
        <p:nvSpPr>
          <p:cNvPr id="28" name="Probe strategy"/>
          <p:cNvSpPr/>
          <p:nvPr/>
        </p:nvSpPr>
        <p:spPr>
          <a:xfrm>
            <a:off x="502920" y="3337560"/>
            <a:ext cx="548640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77240" y="3456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Linear probing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8130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Probe h(k), h(k)+1, h(k)+2, … (mod n).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Simple and cache-friendly, but occupied buckets clump into long runs (clustering).</a:t>
            </a:r>
            <a:endParaRPr lang="en-US" sz="1350" dirty="0"/>
          </a:p>
        </p:txBody>
      </p:sp>
      <p:sp>
        <p:nvSpPr>
          <p:cNvPr id="32" name="Probe strategy"/>
          <p:cNvSpPr/>
          <p:nvPr/>
        </p:nvSpPr>
        <p:spPr>
          <a:xfrm>
            <a:off x="6199632" y="3337560"/>
            <a:ext cx="548640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473952" y="3456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Double hashing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73952" y="38130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Two hash functions: probe h₁(k), h₁(k)+h₂(k), h₁(k)+2·h₂(k), …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The step size depends on the key, which spreads probes out and avoids clustering.</a:t>
            </a:r>
            <a:endParaRPr lang="en-US" sz="1350" dirty="0"/>
          </a:p>
        </p:txBody>
      </p:sp>
      <p:sp>
        <p:nvSpPr>
          <p:cNvPr id="36" name="Lookup note"/>
          <p:cNvSpPr/>
          <p:nvPr/>
        </p:nvSpPr>
        <p:spPr>
          <a:xfrm>
            <a:off x="502920" y="5120640"/>
            <a:ext cx="5486400" cy="118872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77240" y="5120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Lookup(k): </a:t>
            </a:r>
            <a:r>
              <a:rPr lang="en-US" sz="1400" dirty="0">
                <a:solidFill>
                  <a:schemeClr val="tx2"/>
                </a:solidFill>
              </a:rPr>
              <a:t>follow the same probe sequence until you find k (success) or reach an empty bucket (k is not there).</a:t>
            </a:r>
            <a:endParaRPr lang="en-US" sz="1400" dirty="0"/>
          </a:p>
        </p:txBody>
      </p:sp>
      <p:sp>
        <p:nvSpPr>
          <p:cNvPr id="38" name="Delete note"/>
          <p:cNvSpPr/>
          <p:nvPr/>
        </p:nvSpPr>
        <p:spPr>
          <a:xfrm>
            <a:off x="6199632" y="5120640"/>
            <a:ext cx="5486400" cy="118872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473952" y="5120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Delete is tricky: </a:t>
            </a:r>
            <a:r>
              <a:rPr lang="en-US" sz="1400" dirty="0">
                <a:solidFill>
                  <a:schemeClr val="tx2"/>
                </a:solidFill>
              </a:rPr>
              <a:t>emptying a bucket can cut another key’s probe sequence short. The usual fix is to leave a “deleted” marker (tombstone).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Makes a Good Hash Function?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Collisions can’t be avoided, but a good hash function spreads them evenly so every chain or probe sequence stays short.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92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Cheap to evaluate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21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Constant time per key, or the O(1) is lost.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694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Spreads keys evenly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98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Behaves as if random: every bucket gets about |S| / n keys.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467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Deterministic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6758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key always goes to the same bucket, or Lookup can’t find it.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1783080"/>
            <a:ext cx="5696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Example: 10-digit phone numbers into n = 1000 buckets</a:t>
            </a:r>
            <a:endParaRPr lang="en-US" sz="1500" dirty="0"/>
          </a:p>
        </p:txBody>
      </p:sp>
      <p:sp>
        <p:nvSpPr>
          <p:cNvPr id="18" name="Bad hash"/>
          <p:cNvSpPr/>
          <p:nvPr/>
        </p:nvSpPr>
        <p:spPr>
          <a:xfrm>
            <a:off x="5989320" y="2194560"/>
            <a:ext cx="5696712" cy="86868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263640" y="21945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✗  h = first 3 digits (area code)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Everyone in one city lands in the same bucket: terrible.</a:t>
            </a:r>
            <a:endParaRPr lang="en-US" sz="1400" dirty="0"/>
          </a:p>
        </p:txBody>
      </p:sp>
      <p:sp>
        <p:nvSpPr>
          <p:cNvPr id="20" name="Better hash"/>
          <p:cNvSpPr/>
          <p:nvPr/>
        </p:nvSpPr>
        <p:spPr>
          <a:xfrm>
            <a:off x="5989320" y="3200400"/>
            <a:ext cx="5696712" cy="8686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263640" y="32004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  h = last 3 digits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Much closer to uniform. Still not guaranteed for every data set.</a:t>
            </a:r>
            <a:endParaRPr lang="en-US" sz="1400" dirty="0"/>
          </a:p>
        </p:txBody>
      </p:sp>
      <p:sp>
        <p:nvSpPr>
          <p:cNvPr id="950" name="LF box"/>
          <p:cNvSpPr/>
          <p:nvPr/>
        </p:nvSpPr>
        <p:spPr>
          <a:xfrm>
            <a:off x="502920" y="4389120"/>
            <a:ext cx="11183112" cy="1965960"/>
          </a:xfrm>
          <a:prstGeom prst="roundRect">
            <a:avLst>
              <a:gd name="adj" fmla="val 27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1" name="Text 1"/>
          <p:cNvSpPr txBox="1"/>
          <p:nvPr/>
        </p:nvSpPr>
        <p:spPr>
          <a:xfrm>
            <a:off x="777240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LOAD FACTOR</a:t>
            </a:r>
            <a:endParaRPr lang="en-US" sz="1200" dirty="0"/>
          </a:p>
        </p:txBody>
      </p:sp>
      <p:sp>
        <p:nvSpPr>
          <p:cNvPr id="952" name="Text 2"/>
          <p:cNvSpPr txBox="1"/>
          <p:nvPr/>
        </p:nvSpPr>
        <p:spPr>
          <a:xfrm>
            <a:off x="77724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α = (# objects stored) / (# buckets n)</a:t>
            </a:r>
            <a:endParaRPr lang="en-US" sz="1900" dirty="0"/>
          </a:p>
        </p:txBody>
      </p:sp>
      <p:sp>
        <p:nvSpPr>
          <p:cNvPr id="953" name="Text 3"/>
          <p:cNvSpPr txBox="1"/>
          <p:nvPr/>
        </p:nvSpPr>
        <p:spPr>
          <a:xfrm>
            <a:off x="630936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Too full? Double n and rehash everything.</a:t>
            </a:r>
            <a:endParaRPr lang="en-US" sz="1400" dirty="0"/>
          </a:p>
        </p:txBody>
      </p:sp>
      <p:sp>
        <p:nvSpPr>
          <p:cNvPr id="954" name="LF col"/>
          <p:cNvSpPr/>
          <p:nvPr/>
        </p:nvSpPr>
        <p:spPr>
          <a:xfrm>
            <a:off x="731520" y="5193792"/>
            <a:ext cx="525780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5" name="Text 5"/>
          <p:cNvSpPr txBox="1"/>
          <p:nvPr/>
        </p:nvSpPr>
        <p:spPr>
          <a:xfrm>
            <a:off x="914400" y="519379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Chaining: keep α = O(1), around 1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Why: each chain holds α keys on average, so Lookup costs O(1 + α). α may go above 1 (lists just get longer), but cost grows with it.</a:t>
            </a:r>
            <a:endParaRPr lang="en-US" sz="1300" dirty="0"/>
          </a:p>
        </p:txBody>
      </p:sp>
      <p:sp>
        <p:nvSpPr>
          <p:cNvPr id="956" name="LF col"/>
          <p:cNvSpPr/>
          <p:nvPr/>
        </p:nvSpPr>
        <p:spPr>
          <a:xfrm>
            <a:off x="6199632" y="5193792"/>
            <a:ext cx="525780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7" name="Text 7"/>
          <p:cNvSpPr txBox="1"/>
          <p:nvPr/>
        </p:nvSpPr>
        <p:spPr>
          <a:xfrm>
            <a:off x="6382512" y="519379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Open addressing: keep α well below 1 (≈ 0.5–0.75)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Why: one key per bucket, so α can never exceed 1. Expected probes ≈ 1/(1 − α): 2 at α = 0.5, 4 at 0.75, 10 at 0.9.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Implementing a Hash Table: Load vs. Performance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Four decisions shape how fast a real hash table runs. The most important one is how full you let it get.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92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Collision strategy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122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Chaining (lists per bucket, tolerates high load) or open addressing (one flat array, cache-friendly, needs spare room).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7797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Hash function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998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Cheap to evaluate and spreads keys evenly, as on the previous slide.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67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Number of buckets 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0873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Together with |S|, this sets the load factor α = |S| / 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7914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292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754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threshold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0749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</a:rPr>
              <a:t>The α at which the table grows. This keeps performance predictable as |S| changes.</a:t>
            </a:r>
            <a:endParaRPr lang="en-US" sz="1350" dirty="0"/>
          </a:p>
        </p:txBody>
      </p:sp>
      <p:sp>
        <p:nvSpPr>
          <p:cNvPr id="21" name="Load panel"/>
          <p:cNvSpPr/>
          <p:nvPr/>
        </p:nvSpPr>
        <p:spPr>
          <a:xfrm>
            <a:off x="6355080" y="1783080"/>
            <a:ext cx="5330952" cy="3794760"/>
          </a:xfrm>
          <a:prstGeom prst="roundRect">
            <a:avLst>
              <a:gd name="adj" fmla="val 144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LOAD FACTOR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α = # objects stored / # buckets</a:t>
            </a:r>
            <a:endParaRPr lang="en-US" sz="2000" dirty="0"/>
          </a:p>
        </p:txBody>
      </p:sp>
      <p:sp>
        <p:nvSpPr>
          <p:cNvPr id="24" name="Load row"/>
          <p:cNvSpPr/>
          <p:nvPr/>
        </p:nvSpPr>
        <p:spPr>
          <a:xfrm>
            <a:off x="6675120" y="2926080"/>
            <a:ext cx="4690872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58000" y="2926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α too high:  </a:t>
            </a:r>
            <a:r>
              <a:rPr lang="en-US" sz="1350" dirty="0">
                <a:solidFill>
                  <a:schemeClr val="tx2"/>
                </a:solidFill>
              </a:rPr>
              <a:t>Long chains or long probe sequences: every operation slows down.</a:t>
            </a:r>
            <a:endParaRPr lang="en-US" sz="1350" dirty="0"/>
          </a:p>
        </p:txBody>
      </p:sp>
      <p:sp>
        <p:nvSpPr>
          <p:cNvPr id="26" name="Load row"/>
          <p:cNvSpPr/>
          <p:nvPr/>
        </p:nvSpPr>
        <p:spPr>
          <a:xfrm>
            <a:off x="6675120" y="3767328"/>
            <a:ext cx="4690872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58000" y="37673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α too low:  </a:t>
            </a:r>
            <a:r>
              <a:rPr lang="en-US" sz="1350" dirty="0">
                <a:solidFill>
                  <a:schemeClr val="tx2"/>
                </a:solidFill>
              </a:rPr>
              <a:t>Mostly empty buckets: memory is wasted.</a:t>
            </a:r>
            <a:endParaRPr lang="en-US" sz="1350" dirty="0"/>
          </a:p>
        </p:txBody>
      </p:sp>
      <p:sp>
        <p:nvSpPr>
          <p:cNvPr id="28" name="Load row"/>
          <p:cNvSpPr/>
          <p:nvPr/>
        </p:nvSpPr>
        <p:spPr>
          <a:xfrm>
            <a:off x="6675120" y="4608576"/>
            <a:ext cx="4690872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858000" y="460857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In practice:  </a:t>
            </a:r>
            <a:r>
              <a:rPr lang="en-US" sz="1350" dirty="0">
                <a:solidFill>
                  <a:schemeClr val="tx2"/>
                </a:solidFill>
              </a:rPr>
              <a:t>Java’s HashMap (chaining) grows at α = 0.75; Python’s dict (open addressing) at α ≈ 2/3.</a:t>
            </a:r>
            <a:endParaRPr lang="en-US" sz="1350" dirty="0"/>
          </a:p>
        </p:txBody>
      </p:sp>
      <p:sp>
        <p:nvSpPr>
          <p:cNvPr id="30" name="Takeaway bar"/>
          <p:cNvSpPr/>
          <p:nvPr/>
        </p:nvSpPr>
        <p:spPr>
          <a:xfrm>
            <a:off x="502920" y="5760720"/>
            <a:ext cx="11183112" cy="54864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Cost depends on the load α, not on how many objects are stored. Keep α bounded and operations stay O(1).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Managing the Load: Resize and Rehash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When α crosses the threshold, double the number of buckets and re-insert every object with the new hash function.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 = 4,  α = 4/4 = 1  (full)</a:t>
            </a:r>
            <a:endParaRPr lang="en-US" sz="1300" dirty="0"/>
          </a:p>
        </p:txBody>
      </p:sp>
      <p:sp>
        <p:nvSpPr>
          <p:cNvPr id="6" name="Cell"/>
          <p:cNvSpPr/>
          <p:nvPr/>
        </p:nvSpPr>
        <p:spPr>
          <a:xfrm>
            <a:off x="502920" y="2148840"/>
            <a:ext cx="566928" cy="502920"/>
          </a:xfrm>
          <a:prstGeom prst="rect">
            <a:avLst/>
          </a:prstGeom>
          <a:solidFill>
            <a:srgbClr val="F4B183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Cell"/>
          <p:cNvSpPr/>
          <p:nvPr/>
        </p:nvSpPr>
        <p:spPr>
          <a:xfrm>
            <a:off x="1106424" y="2148840"/>
            <a:ext cx="566928" cy="502920"/>
          </a:xfrm>
          <a:prstGeom prst="rect">
            <a:avLst/>
          </a:prstGeom>
          <a:solidFill>
            <a:srgbClr val="F4B183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06424" y="21488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Cell"/>
          <p:cNvSpPr/>
          <p:nvPr/>
        </p:nvSpPr>
        <p:spPr>
          <a:xfrm>
            <a:off x="1709928" y="2148840"/>
            <a:ext cx="566928" cy="502920"/>
          </a:xfrm>
          <a:prstGeom prst="rect">
            <a:avLst/>
          </a:prstGeom>
          <a:solidFill>
            <a:srgbClr val="F4B183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709928" y="21488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709928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Cell"/>
          <p:cNvSpPr/>
          <p:nvPr/>
        </p:nvSpPr>
        <p:spPr>
          <a:xfrm>
            <a:off x="2313432" y="2148840"/>
            <a:ext cx="566928" cy="502920"/>
          </a:xfrm>
          <a:prstGeom prst="rect">
            <a:avLst/>
          </a:prstGeom>
          <a:solidFill>
            <a:srgbClr val="F4B183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313432" y="21488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313432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2395728"/>
            <a:ext cx="86868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017520" y="2011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double 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24871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rehash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 = 8,  α = 4/8 = 0.5</a:t>
            </a:r>
            <a:endParaRPr lang="en-US" sz="1300" dirty="0"/>
          </a:p>
        </p:txBody>
      </p:sp>
      <p:sp>
        <p:nvSpPr>
          <p:cNvPr id="22" name="Cell"/>
          <p:cNvSpPr/>
          <p:nvPr/>
        </p:nvSpPr>
        <p:spPr>
          <a:xfrm>
            <a:off x="4114800" y="2148840"/>
            <a:ext cx="566928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114800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24" name="Cell"/>
          <p:cNvSpPr/>
          <p:nvPr/>
        </p:nvSpPr>
        <p:spPr>
          <a:xfrm>
            <a:off x="4718304" y="2148840"/>
            <a:ext cx="566928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718304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Cell"/>
          <p:cNvSpPr/>
          <p:nvPr/>
        </p:nvSpPr>
        <p:spPr>
          <a:xfrm>
            <a:off x="5321808" y="2148840"/>
            <a:ext cx="566928" cy="502920"/>
          </a:xfrm>
          <a:prstGeom prst="rect">
            <a:avLst/>
          </a:prstGeom>
          <a:solidFill>
            <a:srgbClr val="9DB4E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321808" y="21488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21808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Cell"/>
          <p:cNvSpPr/>
          <p:nvPr/>
        </p:nvSpPr>
        <p:spPr>
          <a:xfrm>
            <a:off x="5925312" y="2148840"/>
            <a:ext cx="566928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925312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Cell"/>
          <p:cNvSpPr/>
          <p:nvPr/>
        </p:nvSpPr>
        <p:spPr>
          <a:xfrm>
            <a:off x="6528816" y="2148840"/>
            <a:ext cx="566928" cy="502920"/>
          </a:xfrm>
          <a:prstGeom prst="rect">
            <a:avLst/>
          </a:prstGeom>
          <a:solidFill>
            <a:srgbClr val="9DB4E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528816" y="21488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28816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Cell"/>
          <p:cNvSpPr/>
          <p:nvPr/>
        </p:nvSpPr>
        <p:spPr>
          <a:xfrm>
            <a:off x="7132320" y="2148840"/>
            <a:ext cx="566928" cy="502920"/>
          </a:xfrm>
          <a:prstGeom prst="rect">
            <a:avLst/>
          </a:prstGeom>
          <a:solidFill>
            <a:srgbClr val="9DB4E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132320" y="21488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Cell"/>
          <p:cNvSpPr/>
          <p:nvPr/>
        </p:nvSpPr>
        <p:spPr>
          <a:xfrm>
            <a:off x="7735824" y="2148840"/>
            <a:ext cx="566928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7735824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Cell"/>
          <p:cNvSpPr/>
          <p:nvPr/>
        </p:nvSpPr>
        <p:spPr>
          <a:xfrm>
            <a:off x="8339328" y="2148840"/>
            <a:ext cx="566928" cy="502920"/>
          </a:xfrm>
          <a:prstGeom prst="rect">
            <a:avLst/>
          </a:prstGeom>
          <a:solidFill>
            <a:srgbClr val="9DB4E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339328" y="21488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339328" y="26791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Keys move"/>
          <p:cNvSpPr/>
          <p:nvPr/>
        </p:nvSpPr>
        <p:spPr>
          <a:xfrm>
            <a:off x="9189720" y="1783080"/>
            <a:ext cx="2496312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372600" y="1783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move!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mod 4 = 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mod 8 = 5</a:t>
            </a:r>
            <a:endParaRPr lang="en-US" sz="1250" dirty="0"/>
          </a:p>
        </p:txBody>
      </p:sp>
      <p:sp>
        <p:nvSpPr>
          <p:cNvPr id="44" name="Resize card"/>
          <p:cNvSpPr/>
          <p:nvPr/>
        </p:nvSpPr>
        <p:spPr>
          <a:xfrm>
            <a:off x="502920" y="3246120"/>
            <a:ext cx="3575304" cy="224028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777240" y="34015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When to grow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777240" y="37947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α passes the threshold → allocate 2n buckets and re-insert every object using the new h. That one Insert costs O(n).</a:t>
            </a:r>
            <a:endParaRPr lang="en-US" sz="1400" dirty="0"/>
          </a:p>
        </p:txBody>
      </p:sp>
      <p:sp>
        <p:nvSpPr>
          <p:cNvPr id="47" name="Resize card"/>
          <p:cNvSpPr/>
          <p:nvPr/>
        </p:nvSpPr>
        <p:spPr>
          <a:xfrm>
            <a:off x="4306824" y="3246120"/>
            <a:ext cx="3575304" cy="2240280"/>
          </a:xfrm>
          <a:prstGeom prst="roundRect">
            <a:avLst>
              <a:gd name="adj" fmla="val 244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4581144" y="34015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is still O(1)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4581144" y="37947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resize costs O(n), but it is rare: after doubling, about n cheap inserts happen before the next one. Spread over those inserts, each Insert still costs O(1) on average.</a:t>
            </a:r>
            <a:endParaRPr lang="en-US" sz="1400" dirty="0"/>
          </a:p>
        </p:txBody>
      </p:sp>
      <p:sp>
        <p:nvSpPr>
          <p:cNvPr id="50" name="Resize card"/>
          <p:cNvSpPr/>
          <p:nvPr/>
        </p:nvSpPr>
        <p:spPr>
          <a:xfrm>
            <a:off x="8110728" y="3246120"/>
            <a:ext cx="3575304" cy="224028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8385048" y="34015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Shrink too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8385048" y="37947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If deletions push α very low (say below 1/4), halve the table to give memory back. Shrinking is rare too, so the cost stays low.</a:t>
            </a:r>
            <a:endParaRPr lang="en-US" sz="1400" dirty="0"/>
          </a:p>
        </p:txBody>
      </p:sp>
      <p:sp>
        <p:nvSpPr>
          <p:cNvPr id="53" name="Takeaway bar"/>
          <p:cNvSpPr/>
          <p:nvPr/>
        </p:nvSpPr>
        <p:spPr>
          <a:xfrm>
            <a:off x="502920" y="5715000"/>
            <a:ext cx="11183112" cy="59436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777240" y="57150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Grow by a factor (×2), never by a fixed amount. Adding 100 buckets at a time resizes so often that each Insert averages O(n).</a:t>
            </a:r>
            <a:endParaRPr lang="en-US" sz="15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02920" y="11521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50" dirty="0">
                <a:solidFill>
                  <a:schemeClr val="accent4"/>
                </a:solidFill>
              </a:rPr>
              <a:t>Hash tables trade ordering for speed, and that speed depends on a good hash function and a low load.</a:t>
            </a:r>
            <a:endParaRPr lang="en-US" sz="1350" dirty="0"/>
          </a:p>
        </p:txBody>
      </p:sp>
      <p:sp>
        <p:nvSpPr>
          <p:cNvPr id="5" name="Takeaway card"/>
          <p:cNvSpPr/>
          <p:nvPr/>
        </p:nvSpPr>
        <p:spPr>
          <a:xfrm>
            <a:off x="502920" y="1783080"/>
            <a:ext cx="3575304" cy="2084832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11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 set operations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Insert, Lookup and Delete in O(1)* on a changing set. No ordering (Min, Max, sorted order).</a:t>
            </a:r>
            <a:endParaRPr lang="en-US" sz="1400" dirty="0"/>
          </a:p>
        </p:txBody>
      </p:sp>
      <p:sp>
        <p:nvSpPr>
          <p:cNvPr id="10" name="Takeaway card"/>
          <p:cNvSpPr/>
          <p:nvPr/>
        </p:nvSpPr>
        <p:spPr>
          <a:xfrm>
            <a:off x="4306824" y="1783080"/>
            <a:ext cx="3575304" cy="2084832"/>
          </a:xfrm>
          <a:prstGeom prst="roundRect">
            <a:avLst>
              <a:gd name="adj" fmla="val 263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35424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3542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38344" y="2011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Hash functions &amp; collisions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 maps a huge universe U into n buckets. Collisions are inevitable (birthday paradox), so plan for them.</a:t>
            </a:r>
            <a:endParaRPr lang="en-US" sz="1400" dirty="0"/>
          </a:p>
        </p:txBody>
      </p:sp>
      <p:sp>
        <p:nvSpPr>
          <p:cNvPr id="15" name="Takeaway card"/>
          <p:cNvSpPr/>
          <p:nvPr/>
        </p:nvSpPr>
        <p:spPr>
          <a:xfrm>
            <a:off x="8110728" y="1783080"/>
            <a:ext cx="3575304" cy="2084832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39328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33932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42248" y="2011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ways to resolve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Chaining keeps a list per bucket. Open addressing probes for an empty slot (linear probing, double hashing).</a:t>
            </a:r>
            <a:endParaRPr lang="en-US" sz="1400" dirty="0"/>
          </a:p>
        </p:txBody>
      </p:sp>
      <p:sp>
        <p:nvSpPr>
          <p:cNvPr id="20" name="Takeaway card"/>
          <p:cNvSpPr/>
          <p:nvPr/>
        </p:nvSpPr>
        <p:spPr>
          <a:xfrm>
            <a:off x="502920" y="4069080"/>
            <a:ext cx="3575304" cy="2084832"/>
          </a:xfrm>
          <a:prstGeom prst="roundRect">
            <a:avLst>
              <a:gd name="adj" fmla="val 263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297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is everything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846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Cost depends on α = |S| / n: O(1 + α) for chaining, ≈ 1/(1 − α) probes for open addressing.</a:t>
            </a:r>
            <a:endParaRPr lang="en-US" sz="1400" dirty="0"/>
          </a:p>
        </p:txBody>
      </p:sp>
      <p:sp>
        <p:nvSpPr>
          <p:cNvPr id="25" name="Takeaway card"/>
          <p:cNvSpPr/>
          <p:nvPr/>
        </p:nvSpPr>
        <p:spPr>
          <a:xfrm>
            <a:off x="4306824" y="4069080"/>
            <a:ext cx="3575304" cy="2084832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35424" y="4297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535424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38344" y="4297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Manage the load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35424" y="4846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Double n and rehash when α passes a threshold. Resizes are rare, so Insert stays O(1) on average.</a:t>
            </a:r>
            <a:endParaRPr lang="en-US" sz="1400" dirty="0"/>
          </a:p>
        </p:txBody>
      </p:sp>
      <p:sp>
        <p:nvSpPr>
          <p:cNvPr id="30" name="Takeaway card"/>
          <p:cNvSpPr/>
          <p:nvPr/>
        </p:nvSpPr>
        <p:spPr>
          <a:xfrm>
            <a:off x="8110728" y="4069080"/>
            <a:ext cx="3575304" cy="2084832"/>
          </a:xfrm>
          <a:prstGeom prst="roundRect">
            <a:avLst>
              <a:gd name="adj" fmla="val 263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39328" y="4297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33932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842248" y="4297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Good hash functions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4846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Cheap to compute, deterministic, and spread keys evenly. Avoid patterns in the data (like area codes).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47104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orithms Course">
  <a:themeElements>
    <a:clrScheme name="Algorithms Course">
      <a:dk1>
        <a:srgbClr val="1E2A44"/>
      </a:dk1>
      <a:lt1>
        <a:srgbClr val="FFFFFF"/>
      </a:lt1>
      <a:dk2>
        <a:srgbClr val="333F50"/>
      </a:dk2>
      <a:lt2>
        <a:srgbClr val="EEF3FC"/>
      </a:lt2>
      <a:accent1>
        <a:srgbClr val="4472C4"/>
      </a:accent1>
      <a:accent2>
        <a:srgbClr val="C55A11"/>
      </a:accent2>
      <a:accent3>
        <a:srgbClr val="FBE4D5"/>
      </a:accent3>
      <a:accent4>
        <a:srgbClr val="595959"/>
      </a:accent4>
      <a:accent5>
        <a:srgbClr val="D9D9D9"/>
      </a:accent5>
      <a:accent6>
        <a:srgbClr val="DCE6F7"/>
      </a:accent6>
      <a:hlink>
        <a:srgbClr val="0563C1"/>
      </a:hlink>
      <a:folHlink>
        <a:srgbClr val="954F72"/>
      </a:folHlink>
    </a:clrScheme>
    <a:fontScheme name="Algorithms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2608</Words>
  <Application>Microsoft Macintosh PowerPoint</Application>
  <PresentationFormat>Widescreen</PresentationFormat>
  <Paragraphs>379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Algorithms Course</vt:lpstr>
      <vt:lpstr>Hash Tables &amp; Hashing</vt:lpstr>
      <vt:lpstr>You Use Hash Tables Every Day</vt:lpstr>
      <vt:lpstr>The Question: “Have I Seen This Before?”</vt:lpstr>
      <vt:lpstr>Why Not Use What We Already Know?</vt:lpstr>
      <vt:lpstr>What a Hash Table Supports</vt:lpstr>
      <vt:lpstr>Applications: De-duplication &amp; Huge Search Spaces</vt:lpstr>
      <vt:lpstr>The Core Idea: Hash Functions</vt:lpstr>
      <vt:lpstr>Collisions Are Inevitable</vt:lpstr>
      <vt:lpstr>Separate Chaining</vt:lpstr>
      <vt:lpstr>Open Addressing</vt:lpstr>
      <vt:lpstr>What Makes a Good Hash Function?</vt:lpstr>
      <vt:lpstr>Implementing a Hash Table: Load vs. Performance</vt:lpstr>
      <vt:lpstr>Managing the Load: Resize and Rehash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 Tables &amp; Hashing: Introduction</dc:title>
  <dc:subject>PptxGenJS Presentation</dc:subject>
  <dc:creator>PptxGenJS</dc:creator>
  <cp:lastModifiedBy>Tanwistha Saha</cp:lastModifiedBy>
  <cp:revision>3</cp:revision>
  <dcterms:created xsi:type="dcterms:W3CDTF">2026-10-16T01:50:42Z</dcterms:created>
  <dcterms:modified xsi:type="dcterms:W3CDTF">2026-10-21T18:16:57Z</dcterms:modified>
</cp:coreProperties>
</file>