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6" r:id="rId3"/>
    <p:sldId id="267" r:id="rId4"/>
    <p:sldId id="269" r:id="rId5"/>
    <p:sldId id="268" r:id="rId6"/>
    <p:sldId id="282" r:id="rId7"/>
    <p:sldId id="270" r:id="rId8"/>
    <p:sldId id="257" r:id="rId9"/>
    <p:sldId id="258" r:id="rId10"/>
    <p:sldId id="259" r:id="rId11"/>
    <p:sldId id="260" r:id="rId12"/>
    <p:sldId id="261" r:id="rId13"/>
    <p:sldId id="281" r:id="rId14"/>
    <p:sldId id="263" r:id="rId15"/>
    <p:sldId id="265" r:id="rId16"/>
    <p:sldId id="283"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70"/>
    <p:restoredTop sz="94610"/>
  </p:normalViewPr>
  <p:slideViewPr>
    <p:cSldViewPr snapToGrid="0" snapToObjects="1">
      <p:cViewPr varScale="1">
        <p:scale>
          <a:sx n="114" d="100"/>
          <a:sy n="114" d="100"/>
        </p:scale>
        <p:origin x="200"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Work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0"/>
          <c:tx>
            <c:strRef>
              <c:f>Sheet1!$B$1</c:f>
              <c:strCache>
                <c:ptCount val="1"/>
                <c:pt idx="0">
                  <c:v>5n log(n)</c:v>
                </c:pt>
              </c:strCache>
            </c:strRef>
          </c:tx>
          <c:spPr>
            <a:ln w="31750" cap="rnd">
              <a:solidFill>
                <a:srgbClr val="4472C4"/>
              </a:solidFill>
              <a:round/>
            </a:ln>
            <a:effectLst/>
          </c:spPr>
          <c:marker>
            <c:symbol val="circle"/>
            <c:size val="5"/>
            <c:spPr>
              <a:solidFill>
                <a:srgbClr val="4472C4"/>
              </a:solidFill>
              <a:ln w="9525">
                <a:solidFill>
                  <a:srgbClr val="4472C4"/>
                </a:solidFill>
              </a:ln>
              <a:effectLst/>
            </c:spPr>
          </c:marker>
          <c:xVal>
            <c:numRef>
              <c:f>Sheet1!$A$2:$A$9</c:f>
              <c:numCache>
                <c:formatCode>General</c:formatCode>
                <c:ptCount val="8"/>
                <c:pt idx="0">
                  <c:v>8</c:v>
                </c:pt>
                <c:pt idx="1">
                  <c:v>16</c:v>
                </c:pt>
                <c:pt idx="2">
                  <c:v>32</c:v>
                </c:pt>
                <c:pt idx="3">
                  <c:v>64</c:v>
                </c:pt>
                <c:pt idx="4">
                  <c:v>128</c:v>
                </c:pt>
                <c:pt idx="5">
                  <c:v>256</c:v>
                </c:pt>
                <c:pt idx="6">
                  <c:v>512</c:v>
                </c:pt>
                <c:pt idx="7">
                  <c:v>1024</c:v>
                </c:pt>
              </c:numCache>
            </c:numRef>
          </c:xVal>
          <c:yVal>
            <c:numRef>
              <c:f>Sheet1!$B$2:$B$9</c:f>
              <c:numCache>
                <c:formatCode>General</c:formatCode>
                <c:ptCount val="8"/>
                <c:pt idx="0">
                  <c:v>120</c:v>
                </c:pt>
                <c:pt idx="1">
                  <c:v>320</c:v>
                </c:pt>
                <c:pt idx="2">
                  <c:v>800</c:v>
                </c:pt>
                <c:pt idx="3">
                  <c:v>1920</c:v>
                </c:pt>
                <c:pt idx="4">
                  <c:v>4480</c:v>
                </c:pt>
                <c:pt idx="5">
                  <c:v>10240</c:v>
                </c:pt>
                <c:pt idx="6">
                  <c:v>23040</c:v>
                </c:pt>
                <c:pt idx="7">
                  <c:v>51200</c:v>
                </c:pt>
              </c:numCache>
            </c:numRef>
          </c:yVal>
          <c:smooth val="0"/>
          <c:extLst>
            <c:ext xmlns:c16="http://schemas.microsoft.com/office/drawing/2014/chart" uri="{C3380CC4-5D6E-409C-BE32-E72D297353CC}">
              <c16:uniqueId val="{00000000-5812-7D4D-87A1-53D3D97D1D0C}"/>
            </c:ext>
          </c:extLst>
        </c:ser>
        <c:ser>
          <c:idx val="2"/>
          <c:order val="1"/>
          <c:tx>
            <c:strRef>
              <c:f>Sheet1!$C$1</c:f>
              <c:strCache>
                <c:ptCount val="1"/>
                <c:pt idx="0">
                  <c:v>n^2</c:v>
                </c:pt>
              </c:strCache>
            </c:strRef>
          </c:tx>
          <c:spPr>
            <a:ln w="31750" cap="rnd">
              <a:solidFill>
                <a:srgbClr val="ED7D31"/>
              </a:solidFill>
              <a:round/>
            </a:ln>
            <a:effectLst/>
          </c:spPr>
          <c:marker>
            <c:symbol val="circle"/>
            <c:size val="5"/>
            <c:spPr>
              <a:solidFill>
                <a:srgbClr val="ED7D31"/>
              </a:solidFill>
              <a:ln w="9525">
                <a:solidFill>
                  <a:srgbClr val="ED7D31"/>
                </a:solidFill>
              </a:ln>
              <a:effectLst/>
            </c:spPr>
          </c:marker>
          <c:xVal>
            <c:numRef>
              <c:f>Sheet1!$A$2:$A$9</c:f>
              <c:numCache>
                <c:formatCode>General</c:formatCode>
                <c:ptCount val="8"/>
                <c:pt idx="0">
                  <c:v>8</c:v>
                </c:pt>
                <c:pt idx="1">
                  <c:v>16</c:v>
                </c:pt>
                <c:pt idx="2">
                  <c:v>32</c:v>
                </c:pt>
                <c:pt idx="3">
                  <c:v>64</c:v>
                </c:pt>
                <c:pt idx="4">
                  <c:v>128</c:v>
                </c:pt>
                <c:pt idx="5">
                  <c:v>256</c:v>
                </c:pt>
                <c:pt idx="6">
                  <c:v>512</c:v>
                </c:pt>
                <c:pt idx="7">
                  <c:v>1024</c:v>
                </c:pt>
              </c:numCache>
            </c:numRef>
          </c:xVal>
          <c:yVal>
            <c:numRef>
              <c:f>Sheet1!$C$2:$C$9</c:f>
              <c:numCache>
                <c:formatCode>General</c:formatCode>
                <c:ptCount val="8"/>
                <c:pt idx="0">
                  <c:v>64</c:v>
                </c:pt>
                <c:pt idx="1">
                  <c:v>256</c:v>
                </c:pt>
                <c:pt idx="2">
                  <c:v>1024</c:v>
                </c:pt>
                <c:pt idx="3">
                  <c:v>4096</c:v>
                </c:pt>
                <c:pt idx="4">
                  <c:v>16384</c:v>
                </c:pt>
                <c:pt idx="5">
                  <c:v>65536</c:v>
                </c:pt>
                <c:pt idx="6">
                  <c:v>262144</c:v>
                </c:pt>
                <c:pt idx="7">
                  <c:v>1048576</c:v>
                </c:pt>
              </c:numCache>
            </c:numRef>
          </c:yVal>
          <c:smooth val="0"/>
          <c:extLst>
            <c:ext xmlns:c16="http://schemas.microsoft.com/office/drawing/2014/chart" uri="{C3380CC4-5D6E-409C-BE32-E72D297353CC}">
              <c16:uniqueId val="{00000001-5812-7D4D-87A1-53D3D97D1D0C}"/>
            </c:ext>
          </c:extLst>
        </c:ser>
        <c:dLbls>
          <c:showLegendKey val="0"/>
          <c:showVal val="0"/>
          <c:showCatName val="0"/>
          <c:showSerName val="0"/>
          <c:showPercent val="0"/>
          <c:showBubbleSize val="0"/>
        </c:dLbls>
        <c:axId val="794208224"/>
        <c:axId val="794206160"/>
      </c:scatterChart>
      <c:valAx>
        <c:axId val="794208224"/>
        <c:scaling>
          <c:orientation val="minMax"/>
        </c:scaling>
        <c:delete val="0"/>
        <c:axPos val="b"/>
        <c:numFmt formatCode="General" sourceLinked="1"/>
        <c:majorTickMark val="none"/>
        <c:minorTickMark val="none"/>
        <c:tickLblPos val="nextTo"/>
        <c:spPr>
          <a:noFill/>
          <a:ln w="9525" cap="flat" cmpd="sng" algn="ctr">
            <a:solidFill>
              <a:srgbClr val="E7E6E6"/>
            </a:solidFill>
            <a:round/>
          </a:ln>
          <a:effectLst/>
        </c:spPr>
        <c:txPr>
          <a:bodyPr rot="-60000000" spcFirstLastPara="1" vertOverflow="ellipsis" vert="horz" wrap="square" anchor="ctr" anchorCtr="1"/>
          <a:lstStyle/>
          <a:p>
            <a:pPr>
              <a:defRPr sz="1000" b="0" i="0" u="none" strike="noStrike" kern="1200" baseline="0">
                <a:solidFill>
                  <a:srgbClr val="595959"/>
                </a:solidFill>
                <a:latin typeface="Calibri"/>
                <a:ea typeface="+mn-ea"/>
                <a:cs typeface="+mn-cs"/>
              </a:defRPr>
            </a:pPr>
            <a:endParaRPr lang="en-US"/>
          </a:p>
        </c:txPr>
        <c:crossAx val="794206160"/>
        <c:crosses val="autoZero"/>
        <c:crossBetween val="midCat"/>
      </c:valAx>
      <c:valAx>
        <c:axId val="794206160"/>
        <c:scaling>
          <c:orientation val="minMax"/>
        </c:scaling>
        <c:delete val="0"/>
        <c:axPos val="l"/>
        <c:majorGridlines>
          <c:spPr>
            <a:ln w="9525" cap="flat" cmpd="sng" algn="ctr">
              <a:solidFill>
                <a:srgbClr val="E7E6E6"/>
              </a:solidFill>
              <a:round/>
            </a:ln>
            <a:effectLst/>
          </c:spPr>
        </c:majorGridlines>
        <c:numFmt formatCode="General" sourceLinked="1"/>
        <c:majorTickMark val="none"/>
        <c:minorTickMark val="none"/>
        <c:tickLblPos val="nextTo"/>
        <c:spPr>
          <a:noFill/>
          <a:ln>
            <a:solidFill>
              <a:srgbClr val="E7E6E6"/>
            </a:solidFill>
          </a:ln>
          <a:effectLst/>
        </c:spPr>
        <c:txPr>
          <a:bodyPr rot="-60000000" spcFirstLastPara="1" vertOverflow="ellipsis" vert="horz" wrap="square" anchor="ctr" anchorCtr="1"/>
          <a:lstStyle/>
          <a:p>
            <a:pPr>
              <a:defRPr sz="1000" b="0" i="0" u="none" strike="noStrike" kern="1200" baseline="0">
                <a:solidFill>
                  <a:srgbClr val="595959"/>
                </a:solidFill>
                <a:latin typeface="Calibri"/>
                <a:ea typeface="+mn-ea"/>
                <a:cs typeface="+mn-cs"/>
              </a:defRPr>
            </a:pPr>
            <a:endParaRPr lang="en-US"/>
          </a:p>
        </c:txPr>
        <c:crossAx val="79420822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rgbClr val="595959"/>
              </a:solidFill>
              <a:latin typeface="Calibri"/>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798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FE212A-9867-FF43-B29B-BF7943B5E8BF}"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4B0CA4-3198-9940-9118-E85F445E1A6F}" type="slidenum">
              <a:rPr lang="en-US" smtClean="0"/>
              <a:t>‹#›</a:t>
            </a:fld>
            <a:endParaRPr lang="en-US"/>
          </a:p>
        </p:txBody>
      </p:sp>
    </p:spTree>
    <p:extLst>
      <p:ext uri="{BB962C8B-B14F-4D97-AF65-F5344CB8AC3E}">
        <p14:creationId xmlns:p14="http://schemas.microsoft.com/office/powerpoint/2010/main" val="28918018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955280" y="1783080"/>
            <a:ext cx="640080" cy="2377440"/>
          </a:xfrm>
          <a:prstGeom prst="roundRect">
            <a:avLst>
              <a:gd name="adj" fmla="val 5714"/>
            </a:avLst>
          </a:prstGeom>
          <a:solidFill>
            <a:srgbClr val="4472C4">
              <a:alpha val="90000"/>
            </a:srgbClr>
          </a:solidFill>
          <a:ln>
            <a:solidFill/>
          </a:ln>
        </p:spPr>
        <p:txBody>
          <a:bodyPr/>
          <a:lstStyle/>
          <a:p>
            <a:endParaRPr lang="en-US"/>
          </a:p>
        </p:txBody>
      </p:sp>
      <p:sp>
        <p:nvSpPr>
          <p:cNvPr id="3" name="Text 1"/>
          <p:cNvSpPr/>
          <p:nvPr/>
        </p:nvSpPr>
        <p:spPr>
          <a:xfrm>
            <a:off x="7863840" y="4215384"/>
            <a:ext cx="822960" cy="274320"/>
          </a:xfrm>
          <a:prstGeom prst="rect">
            <a:avLst/>
          </a:prstGeom>
          <a:noFill/>
          <a:ln>
            <a:noFill/>
          </a:ln>
        </p:spPr>
        <p:txBody>
          <a:bodyPr wrap="square" rtlCol="0" anchor="ctr"/>
          <a:lstStyle/>
          <a:p>
            <a:pPr marL="0" indent="0" algn="ctr">
              <a:buNone/>
            </a:pPr>
            <a:r>
              <a:rPr lang="en-US" sz="1200" b="1">
                <a:solidFill>
                  <a:srgbClr val="333F50"/>
                </a:solidFill>
                <a:latin typeface="Courier New" pitchFamily="34" charset="0"/>
                <a:ea typeface="Courier New" pitchFamily="34" charset="-122"/>
                <a:cs typeface="Courier New" pitchFamily="34" charset="-120"/>
              </a:rPr>
              <a:t>n</a:t>
            </a:r>
            <a:endParaRPr lang="en-US" sz="1200" dirty="0"/>
          </a:p>
        </p:txBody>
      </p:sp>
      <p:sp>
        <p:nvSpPr>
          <p:cNvPr id="4" name="Shape 2"/>
          <p:cNvSpPr/>
          <p:nvPr/>
        </p:nvSpPr>
        <p:spPr>
          <a:xfrm>
            <a:off x="8732520" y="2423160"/>
            <a:ext cx="640080" cy="1737360"/>
          </a:xfrm>
          <a:prstGeom prst="roundRect">
            <a:avLst>
              <a:gd name="adj" fmla="val 5714"/>
            </a:avLst>
          </a:prstGeom>
          <a:solidFill>
            <a:srgbClr val="4472C4">
              <a:alpha val="82000"/>
            </a:srgbClr>
          </a:solidFill>
          <a:ln>
            <a:solidFill/>
          </a:ln>
        </p:spPr>
        <p:txBody>
          <a:bodyPr/>
          <a:lstStyle/>
          <a:p>
            <a:endParaRPr lang="en-US"/>
          </a:p>
        </p:txBody>
      </p:sp>
      <p:sp>
        <p:nvSpPr>
          <p:cNvPr id="5" name="Text 3"/>
          <p:cNvSpPr/>
          <p:nvPr/>
        </p:nvSpPr>
        <p:spPr>
          <a:xfrm>
            <a:off x="8641080" y="4215384"/>
            <a:ext cx="822960" cy="274320"/>
          </a:xfrm>
          <a:prstGeom prst="rect">
            <a:avLst/>
          </a:prstGeom>
          <a:noFill/>
          <a:ln>
            <a:noFill/>
          </a:ln>
        </p:spPr>
        <p:txBody>
          <a:bodyPr wrap="square" rtlCol="0" anchor="ctr"/>
          <a:lstStyle/>
          <a:p>
            <a:pPr marL="0" indent="0" algn="ctr">
              <a:buNone/>
            </a:pPr>
            <a:r>
              <a:rPr lang="en-US" sz="1200" b="1">
                <a:solidFill>
                  <a:srgbClr val="333F50"/>
                </a:solidFill>
                <a:latin typeface="Courier New" pitchFamily="34" charset="0"/>
                <a:ea typeface="Courier New" pitchFamily="34" charset="-122"/>
                <a:cs typeface="Courier New" pitchFamily="34" charset="-120"/>
              </a:rPr>
              <a:t>n/2</a:t>
            </a:r>
            <a:endParaRPr lang="en-US" sz="1200" dirty="0"/>
          </a:p>
        </p:txBody>
      </p:sp>
      <p:sp>
        <p:nvSpPr>
          <p:cNvPr id="6" name="Shape 4"/>
          <p:cNvSpPr/>
          <p:nvPr/>
        </p:nvSpPr>
        <p:spPr>
          <a:xfrm>
            <a:off x="9509760" y="2926080"/>
            <a:ext cx="640080" cy="1234440"/>
          </a:xfrm>
          <a:prstGeom prst="roundRect">
            <a:avLst>
              <a:gd name="adj" fmla="val 5714"/>
            </a:avLst>
          </a:prstGeom>
          <a:solidFill>
            <a:srgbClr val="4472C4">
              <a:alpha val="74000"/>
            </a:srgbClr>
          </a:solidFill>
          <a:ln>
            <a:solidFill/>
          </a:ln>
        </p:spPr>
        <p:txBody>
          <a:bodyPr/>
          <a:lstStyle/>
          <a:p>
            <a:endParaRPr lang="en-US"/>
          </a:p>
        </p:txBody>
      </p:sp>
      <p:sp>
        <p:nvSpPr>
          <p:cNvPr id="7" name="Text 5"/>
          <p:cNvSpPr/>
          <p:nvPr/>
        </p:nvSpPr>
        <p:spPr>
          <a:xfrm>
            <a:off x="9418320" y="4215384"/>
            <a:ext cx="822960" cy="274320"/>
          </a:xfrm>
          <a:prstGeom prst="rect">
            <a:avLst/>
          </a:prstGeom>
          <a:noFill/>
          <a:ln>
            <a:noFill/>
          </a:ln>
        </p:spPr>
        <p:txBody>
          <a:bodyPr wrap="square" rtlCol="0" anchor="ctr"/>
          <a:lstStyle/>
          <a:p>
            <a:pPr marL="0" indent="0" algn="ctr">
              <a:buNone/>
            </a:pPr>
            <a:r>
              <a:rPr lang="en-US" sz="1200" b="1">
                <a:solidFill>
                  <a:srgbClr val="333F50"/>
                </a:solidFill>
                <a:latin typeface="Courier New" pitchFamily="34" charset="0"/>
                <a:ea typeface="Courier New" pitchFamily="34" charset="-122"/>
                <a:cs typeface="Courier New" pitchFamily="34" charset="-120"/>
              </a:rPr>
              <a:t>n/4</a:t>
            </a:r>
            <a:endParaRPr lang="en-US" sz="1200" dirty="0"/>
          </a:p>
        </p:txBody>
      </p:sp>
      <p:sp>
        <p:nvSpPr>
          <p:cNvPr id="8" name="Shape 6"/>
          <p:cNvSpPr/>
          <p:nvPr/>
        </p:nvSpPr>
        <p:spPr>
          <a:xfrm>
            <a:off x="10287000" y="3337560"/>
            <a:ext cx="640080" cy="822960"/>
          </a:xfrm>
          <a:prstGeom prst="roundRect">
            <a:avLst>
              <a:gd name="adj" fmla="val 5714"/>
            </a:avLst>
          </a:prstGeom>
          <a:solidFill>
            <a:srgbClr val="4472C4">
              <a:alpha val="66000"/>
            </a:srgbClr>
          </a:solidFill>
          <a:ln>
            <a:solidFill/>
          </a:ln>
        </p:spPr>
        <p:txBody>
          <a:bodyPr/>
          <a:lstStyle/>
          <a:p>
            <a:endParaRPr lang="en-US"/>
          </a:p>
        </p:txBody>
      </p:sp>
      <p:sp>
        <p:nvSpPr>
          <p:cNvPr id="9" name="Text 7"/>
          <p:cNvSpPr/>
          <p:nvPr/>
        </p:nvSpPr>
        <p:spPr>
          <a:xfrm>
            <a:off x="10195560" y="4215384"/>
            <a:ext cx="822960" cy="274320"/>
          </a:xfrm>
          <a:prstGeom prst="rect">
            <a:avLst/>
          </a:prstGeom>
          <a:noFill/>
          <a:ln>
            <a:noFill/>
          </a:ln>
        </p:spPr>
        <p:txBody>
          <a:bodyPr wrap="square" rtlCol="0" anchor="ctr"/>
          <a:lstStyle/>
          <a:p>
            <a:pPr marL="0" indent="0" algn="ctr">
              <a:buNone/>
            </a:pPr>
            <a:r>
              <a:rPr lang="en-US" sz="1200" b="1">
                <a:solidFill>
                  <a:srgbClr val="333F50"/>
                </a:solidFill>
                <a:latin typeface="Courier New" pitchFamily="34" charset="0"/>
                <a:ea typeface="Courier New" pitchFamily="34" charset="-122"/>
                <a:cs typeface="Courier New" pitchFamily="34" charset="-120"/>
              </a:rPr>
              <a:t>n/8</a:t>
            </a:r>
            <a:endParaRPr lang="en-US" sz="1200" dirty="0"/>
          </a:p>
        </p:txBody>
      </p:sp>
      <p:sp>
        <p:nvSpPr>
          <p:cNvPr id="10" name="Shape 8"/>
          <p:cNvSpPr/>
          <p:nvPr/>
        </p:nvSpPr>
        <p:spPr>
          <a:xfrm>
            <a:off x="11064240" y="3703320"/>
            <a:ext cx="640080" cy="457200"/>
          </a:xfrm>
          <a:prstGeom prst="roundRect">
            <a:avLst>
              <a:gd name="adj" fmla="val 8000"/>
            </a:avLst>
          </a:prstGeom>
          <a:solidFill>
            <a:srgbClr val="ED7D31"/>
          </a:solidFill>
          <a:ln>
            <a:solidFill/>
          </a:ln>
        </p:spPr>
        <p:txBody>
          <a:bodyPr/>
          <a:lstStyle/>
          <a:p>
            <a:endParaRPr lang="en-US"/>
          </a:p>
        </p:txBody>
      </p:sp>
      <p:sp>
        <p:nvSpPr>
          <p:cNvPr id="11" name="Text 9"/>
          <p:cNvSpPr/>
          <p:nvPr/>
        </p:nvSpPr>
        <p:spPr>
          <a:xfrm>
            <a:off x="10972800" y="4215384"/>
            <a:ext cx="822960" cy="274320"/>
          </a:xfrm>
          <a:prstGeom prst="rect">
            <a:avLst/>
          </a:prstGeom>
          <a:noFill/>
          <a:ln>
            <a:noFill/>
          </a:ln>
        </p:spPr>
        <p:txBody>
          <a:bodyPr wrap="square" rtlCol="0" anchor="ctr"/>
          <a:lstStyle/>
          <a:p>
            <a:pPr marL="0" indent="0" algn="ctr">
              <a:buNone/>
            </a:pPr>
            <a:r>
              <a:rPr lang="en-US" sz="1200" b="1">
                <a:solidFill>
                  <a:srgbClr val="333F50"/>
                </a:solidFill>
                <a:latin typeface="Courier New" pitchFamily="34" charset="0"/>
                <a:ea typeface="Courier New" pitchFamily="34" charset="-122"/>
                <a:cs typeface="Courier New" pitchFamily="34" charset="-120"/>
              </a:rPr>
              <a:t>1</a:t>
            </a:r>
            <a:endParaRPr lang="en-US" sz="1200" dirty="0"/>
          </a:p>
        </p:txBody>
      </p:sp>
      <p:sp>
        <p:nvSpPr>
          <p:cNvPr id="12" name="Text 10"/>
          <p:cNvSpPr/>
          <p:nvPr/>
        </p:nvSpPr>
        <p:spPr>
          <a:xfrm>
            <a:off x="731520" y="2286000"/>
            <a:ext cx="7315200" cy="1005840"/>
          </a:xfrm>
          <a:prstGeom prst="rect">
            <a:avLst/>
          </a:prstGeom>
          <a:noFill/>
          <a:ln>
            <a:noFill/>
          </a:ln>
        </p:spPr>
        <p:txBody>
          <a:bodyPr wrap="square" rtlCol="0" anchor="ctr"/>
          <a:lstStyle/>
          <a:p>
            <a:pPr marL="0" indent="0">
              <a:buNone/>
            </a:pPr>
            <a:r>
              <a:rPr lang="en-US" sz="5000" b="1">
                <a:solidFill>
                  <a:srgbClr val="333F50"/>
                </a:solidFill>
                <a:latin typeface="Cambria" pitchFamily="34" charset="0"/>
                <a:ea typeface="Cambria" pitchFamily="34" charset="-122"/>
                <a:cs typeface="Cambria" pitchFamily="34" charset="-120"/>
              </a:rPr>
              <a:t>LOGARITHMS</a:t>
            </a:r>
            <a:endParaRPr lang="en-US" sz="5000" dirty="0"/>
          </a:p>
        </p:txBody>
      </p:sp>
      <p:sp>
        <p:nvSpPr>
          <p:cNvPr id="13" name="Text 11"/>
          <p:cNvSpPr/>
          <p:nvPr/>
        </p:nvSpPr>
        <p:spPr>
          <a:xfrm>
            <a:off x="731520" y="3063240"/>
            <a:ext cx="7315200" cy="731520"/>
          </a:xfrm>
          <a:prstGeom prst="rect">
            <a:avLst/>
          </a:prstGeom>
          <a:noFill/>
          <a:ln>
            <a:noFill/>
          </a:ln>
        </p:spPr>
        <p:txBody>
          <a:bodyPr wrap="square" rtlCol="0" anchor="ctr"/>
          <a:lstStyle/>
          <a:p>
            <a:pPr marL="0" indent="0">
              <a:buNone/>
            </a:pPr>
            <a:r>
              <a:rPr lang="en-US" sz="3200" b="1" dirty="0">
                <a:solidFill>
                  <a:srgbClr val="ED7D31"/>
                </a:solidFill>
                <a:latin typeface="Cambria" pitchFamily="34" charset="0"/>
                <a:ea typeface="Cambria" pitchFamily="34" charset="-122"/>
                <a:cs typeface="Cambria" pitchFamily="34" charset="-120"/>
              </a:rPr>
              <a:t>&amp; Growth Rates of Functions</a:t>
            </a:r>
            <a:endParaRPr lang="en-US" sz="3200" dirty="0"/>
          </a:p>
        </p:txBody>
      </p:sp>
      <p:sp>
        <p:nvSpPr>
          <p:cNvPr id="14" name="Text 12"/>
          <p:cNvSpPr/>
          <p:nvPr/>
        </p:nvSpPr>
        <p:spPr>
          <a:xfrm>
            <a:off x="731520" y="3794760"/>
            <a:ext cx="6766560" cy="548640"/>
          </a:xfrm>
          <a:prstGeom prst="rect">
            <a:avLst/>
          </a:prstGeom>
          <a:noFill/>
          <a:ln>
            <a:noFill/>
          </a:ln>
        </p:spPr>
        <p:txBody>
          <a:bodyPr wrap="square" rtlCol="0" anchor="ctr"/>
          <a:lstStyle/>
          <a:p>
            <a:pPr marL="0" indent="0">
              <a:buNone/>
            </a:pPr>
            <a:r>
              <a:rPr lang="en-US" sz="1600" i="1" dirty="0">
                <a:solidFill>
                  <a:srgbClr val="333F50"/>
                </a:solidFill>
                <a:latin typeface="Calibri" pitchFamily="34" charset="0"/>
                <a:ea typeface="Calibri" pitchFamily="34" charset="-122"/>
                <a:cs typeface="Calibri" pitchFamily="34" charset="-120"/>
              </a:rPr>
              <a:t>How fast does a problem shrink when you attempt solving it every time?</a:t>
            </a:r>
            <a:endParaRPr lang="en-US" sz="1600" dirty="0"/>
          </a:p>
        </p:txBody>
      </p:sp>
      <p:sp>
        <p:nvSpPr>
          <p:cNvPr id="15" name="Shape 13"/>
          <p:cNvSpPr/>
          <p:nvPr/>
        </p:nvSpPr>
        <p:spPr>
          <a:xfrm>
            <a:off x="731520" y="4434840"/>
            <a:ext cx="1280160" cy="0"/>
          </a:xfrm>
          <a:prstGeom prst="line">
            <a:avLst/>
          </a:prstGeom>
          <a:noFill/>
          <a:ln w="19050">
            <a:solidFill>
              <a:srgbClr val="ED7D31"/>
            </a:solidFill>
            <a:prstDash val="solid"/>
          </a:ln>
        </p:spPr>
        <p:txBody>
          <a:bodyPr/>
          <a:lstStyle/>
          <a:p>
            <a:endParaRPr lang="en-US"/>
          </a:p>
        </p:txBody>
      </p:sp>
      <p:sp>
        <p:nvSpPr>
          <p:cNvPr id="16" name="Text 14"/>
          <p:cNvSpPr/>
          <p:nvPr/>
        </p:nvSpPr>
        <p:spPr>
          <a:xfrm>
            <a:off x="731520" y="4814570"/>
            <a:ext cx="5486400" cy="320040"/>
          </a:xfrm>
          <a:prstGeom prst="rect">
            <a:avLst/>
          </a:prstGeom>
          <a:noFill/>
          <a:ln>
            <a:noFill/>
          </a:ln>
        </p:spPr>
        <p:txBody>
          <a:bodyPr wrap="square" rtlCol="0" anchor="ctr"/>
          <a:lstStyle/>
          <a:p>
            <a:pPr marL="0" indent="0">
              <a:buNone/>
            </a:pPr>
            <a:r>
              <a:rPr lang="en-US" dirty="0">
                <a:solidFill>
                  <a:srgbClr val="333F50"/>
                </a:solidFill>
                <a:latin typeface="Calibri" pitchFamily="34" charset="0"/>
                <a:ea typeface="Calibri" pitchFamily="34" charset="-122"/>
                <a:cs typeface="Calibri" pitchFamily="34" charset="-120"/>
              </a:rPr>
              <a:t>CS 383 Algorithms Analysis and Design</a:t>
            </a:r>
          </a:p>
          <a:p>
            <a:pPr marL="0" indent="0">
              <a:buNone/>
            </a:pPr>
            <a:r>
              <a:rPr lang="en-US" dirty="0">
                <a:solidFill>
                  <a:srgbClr val="333F50"/>
                </a:solidFill>
                <a:latin typeface="Calibri" pitchFamily="34" charset="0"/>
                <a:ea typeface="Calibri" pitchFamily="34" charset="-122"/>
                <a:cs typeface="Calibri" pitchFamily="34" charset="-120"/>
              </a:rPr>
              <a:t>Tanwistha Saha</a:t>
            </a:r>
            <a:endParaRPr lang="en-US" dirty="0"/>
          </a:p>
        </p:txBody>
      </p:sp>
      <p:sp>
        <p:nvSpPr>
          <p:cNvPr id="17" name="Text 15"/>
          <p:cNvSpPr/>
          <p:nvPr/>
        </p:nvSpPr>
        <p:spPr>
          <a:xfrm>
            <a:off x="731520" y="5514340"/>
            <a:ext cx="5486400" cy="320040"/>
          </a:xfrm>
          <a:prstGeom prst="rect">
            <a:avLst/>
          </a:prstGeom>
          <a:noFill/>
          <a:ln>
            <a:noFill/>
          </a:ln>
        </p:spPr>
        <p:txBody>
          <a:bodyPr wrap="square" rtlCol="0" anchor="ctr"/>
          <a:lstStyle/>
          <a:p>
            <a:pPr marL="0" indent="0">
              <a:buNone/>
            </a:pPr>
            <a:r>
              <a:rPr lang="en-US" sz="1400" dirty="0">
                <a:solidFill>
                  <a:srgbClr val="333F50"/>
                </a:solidFill>
                <a:latin typeface="Calibri" pitchFamily="34" charset="0"/>
                <a:ea typeface="Calibri" pitchFamily="34" charset="-122"/>
                <a:cs typeface="Calibri" pitchFamily="34" charset="-120"/>
              </a:rPr>
              <a:t>Week 2  ·  Session 5  ·  September 11</a:t>
            </a:r>
            <a:endParaRPr lang="en-US" sz="1400" dirty="0"/>
          </a:p>
        </p:txBody>
      </p:sp>
      <p:sp>
        <p:nvSpPr>
          <p:cNvPr id="31" name="Text 29"/>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FOUNDATIONS</a:t>
            </a:r>
            <a:endParaRPr lang="en-US" sz="1200"/>
          </a:p>
        </p:txBody>
      </p:sp>
      <p:sp>
        <p:nvSpPr>
          <p:cNvPr id="3" name="Text 1"/>
          <p:cNvSpPr/>
          <p:nvPr/>
        </p:nvSpPr>
        <p:spPr>
          <a:xfrm>
            <a:off x="548640" y="658368"/>
            <a:ext cx="11064240" cy="822960"/>
          </a:xfrm>
          <a:prstGeom prst="rect">
            <a:avLst/>
          </a:prstGeom>
          <a:noFill/>
          <a:ln>
            <a:noFill/>
          </a:ln>
        </p:spPr>
        <p:txBody>
          <a:bodyPr wrap="square" rtlCol="0" anchor="ctr"/>
          <a:lstStyle/>
          <a:p>
            <a:pPr marL="0" indent="0">
              <a:buNone/>
            </a:pPr>
            <a:r>
              <a:rPr lang="en-US" sz="3000" b="1">
                <a:solidFill>
                  <a:srgbClr val="333F50"/>
                </a:solidFill>
                <a:latin typeface="Cambria" pitchFamily="34" charset="0"/>
                <a:ea typeface="Cambria" pitchFamily="34" charset="-122"/>
                <a:cs typeface="Cambria" pitchFamily="34" charset="-120"/>
              </a:rPr>
              <a:t>Exponents count repeated multiplication by the same base</a:t>
            </a:r>
            <a:endParaRPr lang="en-US" sz="3000"/>
          </a:p>
        </p:txBody>
      </p:sp>
      <p:sp>
        <p:nvSpPr>
          <p:cNvPr id="4" name="Shape 2"/>
          <p:cNvSpPr/>
          <p:nvPr/>
        </p:nvSpPr>
        <p:spPr>
          <a:xfrm>
            <a:off x="548640" y="1828800"/>
            <a:ext cx="5943600" cy="3931920"/>
          </a:xfrm>
          <a:prstGeom prst="roundRect">
            <a:avLst>
              <a:gd name="adj" fmla="val 2791"/>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5" name="Text 3"/>
          <p:cNvSpPr/>
          <p:nvPr/>
        </p:nvSpPr>
        <p:spPr>
          <a:xfrm>
            <a:off x="868680" y="2103120"/>
            <a:ext cx="5303520" cy="274320"/>
          </a:xfrm>
          <a:prstGeom prst="rect">
            <a:avLst/>
          </a:prstGeom>
          <a:noFill/>
          <a:ln>
            <a:noFill/>
          </a:ln>
        </p:spPr>
        <p:txBody>
          <a:bodyPr wrap="square" rtlCol="0" anchor="ctr"/>
          <a:lstStyle/>
          <a:p>
            <a:pPr marL="0" indent="0">
              <a:buNone/>
            </a:pPr>
            <a:r>
              <a:rPr lang="en-US" sz="1100" b="1" kern="0" spc="150">
                <a:solidFill>
                  <a:srgbClr val="4472C4"/>
                </a:solidFill>
                <a:latin typeface="Calibri" pitchFamily="34" charset="0"/>
                <a:ea typeface="Calibri" pitchFamily="34" charset="-122"/>
                <a:cs typeface="Calibri" pitchFamily="34" charset="-120"/>
              </a:rPr>
              <a:t>POWERS OF 2, STEP BY STEP</a:t>
            </a:r>
            <a:endParaRPr lang="en-US" sz="1100"/>
          </a:p>
        </p:txBody>
      </p:sp>
      <p:sp>
        <p:nvSpPr>
          <p:cNvPr id="6" name="Shape 4"/>
          <p:cNvSpPr/>
          <p:nvPr/>
        </p:nvSpPr>
        <p:spPr>
          <a:xfrm>
            <a:off x="960120" y="2606040"/>
            <a:ext cx="777240" cy="594360"/>
          </a:xfrm>
          <a:prstGeom prst="roundRect">
            <a:avLst>
              <a:gd name="adj" fmla="val 12308"/>
            </a:avLst>
          </a:prstGeom>
          <a:solidFill>
            <a:srgbClr val="4472C4"/>
          </a:solidFill>
          <a:ln>
            <a:solidFill/>
          </a:ln>
        </p:spPr>
        <p:txBody>
          <a:bodyPr/>
          <a:lstStyle/>
          <a:p>
            <a:endParaRPr lang="en-US"/>
          </a:p>
        </p:txBody>
      </p:sp>
      <p:sp>
        <p:nvSpPr>
          <p:cNvPr id="7" name="Text 5"/>
          <p:cNvSpPr/>
          <p:nvPr/>
        </p:nvSpPr>
        <p:spPr>
          <a:xfrm>
            <a:off x="96012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1</a:t>
            </a:r>
            <a:endParaRPr lang="en-US" sz="1600"/>
          </a:p>
        </p:txBody>
      </p:sp>
      <p:sp>
        <p:nvSpPr>
          <p:cNvPr id="8" name="Shape 6"/>
          <p:cNvSpPr/>
          <p:nvPr/>
        </p:nvSpPr>
        <p:spPr>
          <a:xfrm>
            <a:off x="1737360" y="2903220"/>
            <a:ext cx="182880" cy="0"/>
          </a:xfrm>
          <a:prstGeom prst="line">
            <a:avLst/>
          </a:prstGeom>
          <a:noFill/>
          <a:ln w="19050">
            <a:solidFill>
              <a:srgbClr val="4472C4"/>
            </a:solidFill>
            <a:prstDash val="solid"/>
            <a:tailEnd type="triangle"/>
          </a:ln>
        </p:spPr>
        <p:txBody>
          <a:bodyPr/>
          <a:lstStyle/>
          <a:p>
            <a:endParaRPr lang="en-US"/>
          </a:p>
        </p:txBody>
      </p:sp>
      <p:sp>
        <p:nvSpPr>
          <p:cNvPr id="9" name="Shape 7"/>
          <p:cNvSpPr/>
          <p:nvPr/>
        </p:nvSpPr>
        <p:spPr>
          <a:xfrm>
            <a:off x="1920240" y="2606040"/>
            <a:ext cx="777240" cy="594360"/>
          </a:xfrm>
          <a:prstGeom prst="roundRect">
            <a:avLst>
              <a:gd name="adj" fmla="val 12308"/>
            </a:avLst>
          </a:prstGeom>
          <a:solidFill>
            <a:srgbClr val="4472C4"/>
          </a:solidFill>
          <a:ln>
            <a:solidFill/>
          </a:ln>
        </p:spPr>
        <p:txBody>
          <a:bodyPr/>
          <a:lstStyle/>
          <a:p>
            <a:endParaRPr lang="en-US"/>
          </a:p>
        </p:txBody>
      </p:sp>
      <p:sp>
        <p:nvSpPr>
          <p:cNvPr id="10" name="Text 8"/>
          <p:cNvSpPr/>
          <p:nvPr/>
        </p:nvSpPr>
        <p:spPr>
          <a:xfrm>
            <a:off x="192024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2</a:t>
            </a:r>
            <a:endParaRPr lang="en-US" sz="1600"/>
          </a:p>
        </p:txBody>
      </p:sp>
      <p:sp>
        <p:nvSpPr>
          <p:cNvPr id="11" name="Shape 9"/>
          <p:cNvSpPr/>
          <p:nvPr/>
        </p:nvSpPr>
        <p:spPr>
          <a:xfrm>
            <a:off x="2697480" y="2903220"/>
            <a:ext cx="182880" cy="0"/>
          </a:xfrm>
          <a:prstGeom prst="line">
            <a:avLst/>
          </a:prstGeom>
          <a:noFill/>
          <a:ln w="19050">
            <a:solidFill>
              <a:srgbClr val="4472C4"/>
            </a:solidFill>
            <a:prstDash val="solid"/>
            <a:tailEnd type="triangle"/>
          </a:ln>
        </p:spPr>
        <p:txBody>
          <a:bodyPr/>
          <a:lstStyle/>
          <a:p>
            <a:endParaRPr lang="en-US"/>
          </a:p>
        </p:txBody>
      </p:sp>
      <p:sp>
        <p:nvSpPr>
          <p:cNvPr id="12" name="Shape 10"/>
          <p:cNvSpPr/>
          <p:nvPr/>
        </p:nvSpPr>
        <p:spPr>
          <a:xfrm>
            <a:off x="2880360" y="2606040"/>
            <a:ext cx="777240" cy="594360"/>
          </a:xfrm>
          <a:prstGeom prst="roundRect">
            <a:avLst>
              <a:gd name="adj" fmla="val 12308"/>
            </a:avLst>
          </a:prstGeom>
          <a:solidFill>
            <a:srgbClr val="4472C4"/>
          </a:solidFill>
          <a:ln>
            <a:solidFill/>
          </a:ln>
        </p:spPr>
        <p:txBody>
          <a:bodyPr/>
          <a:lstStyle/>
          <a:p>
            <a:endParaRPr lang="en-US"/>
          </a:p>
        </p:txBody>
      </p:sp>
      <p:sp>
        <p:nvSpPr>
          <p:cNvPr id="13" name="Text 11"/>
          <p:cNvSpPr/>
          <p:nvPr/>
        </p:nvSpPr>
        <p:spPr>
          <a:xfrm>
            <a:off x="288036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4</a:t>
            </a:r>
            <a:endParaRPr lang="en-US" sz="1600"/>
          </a:p>
        </p:txBody>
      </p:sp>
      <p:sp>
        <p:nvSpPr>
          <p:cNvPr id="14" name="Shape 12"/>
          <p:cNvSpPr/>
          <p:nvPr/>
        </p:nvSpPr>
        <p:spPr>
          <a:xfrm>
            <a:off x="3657600" y="2903220"/>
            <a:ext cx="182880" cy="0"/>
          </a:xfrm>
          <a:prstGeom prst="line">
            <a:avLst/>
          </a:prstGeom>
          <a:noFill/>
          <a:ln w="19050">
            <a:solidFill>
              <a:srgbClr val="4472C4"/>
            </a:solidFill>
            <a:prstDash val="solid"/>
            <a:tailEnd type="triangle"/>
          </a:ln>
        </p:spPr>
        <p:txBody>
          <a:bodyPr/>
          <a:lstStyle/>
          <a:p>
            <a:endParaRPr lang="en-US"/>
          </a:p>
        </p:txBody>
      </p:sp>
      <p:sp>
        <p:nvSpPr>
          <p:cNvPr id="15" name="Shape 13"/>
          <p:cNvSpPr/>
          <p:nvPr/>
        </p:nvSpPr>
        <p:spPr>
          <a:xfrm>
            <a:off x="3840480" y="2606040"/>
            <a:ext cx="777240" cy="594360"/>
          </a:xfrm>
          <a:prstGeom prst="roundRect">
            <a:avLst>
              <a:gd name="adj" fmla="val 12308"/>
            </a:avLst>
          </a:prstGeom>
          <a:solidFill>
            <a:srgbClr val="4472C4"/>
          </a:solidFill>
          <a:ln>
            <a:solidFill/>
          </a:ln>
        </p:spPr>
        <p:txBody>
          <a:bodyPr/>
          <a:lstStyle/>
          <a:p>
            <a:endParaRPr lang="en-US"/>
          </a:p>
        </p:txBody>
      </p:sp>
      <p:sp>
        <p:nvSpPr>
          <p:cNvPr id="16" name="Text 14"/>
          <p:cNvSpPr/>
          <p:nvPr/>
        </p:nvSpPr>
        <p:spPr>
          <a:xfrm>
            <a:off x="384048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8</a:t>
            </a:r>
            <a:endParaRPr lang="en-US" sz="1600"/>
          </a:p>
        </p:txBody>
      </p:sp>
      <p:sp>
        <p:nvSpPr>
          <p:cNvPr id="17" name="Shape 15"/>
          <p:cNvSpPr/>
          <p:nvPr/>
        </p:nvSpPr>
        <p:spPr>
          <a:xfrm>
            <a:off x="4617720" y="2903220"/>
            <a:ext cx="182880" cy="0"/>
          </a:xfrm>
          <a:prstGeom prst="line">
            <a:avLst/>
          </a:prstGeom>
          <a:noFill/>
          <a:ln w="19050">
            <a:solidFill>
              <a:srgbClr val="4472C4"/>
            </a:solidFill>
            <a:prstDash val="solid"/>
            <a:tailEnd type="triangle"/>
          </a:ln>
        </p:spPr>
        <p:txBody>
          <a:bodyPr/>
          <a:lstStyle/>
          <a:p>
            <a:endParaRPr lang="en-US"/>
          </a:p>
        </p:txBody>
      </p:sp>
      <p:sp>
        <p:nvSpPr>
          <p:cNvPr id="18" name="Shape 16"/>
          <p:cNvSpPr/>
          <p:nvPr/>
        </p:nvSpPr>
        <p:spPr>
          <a:xfrm>
            <a:off x="4800600" y="2606040"/>
            <a:ext cx="777240" cy="594360"/>
          </a:xfrm>
          <a:prstGeom prst="roundRect">
            <a:avLst>
              <a:gd name="adj" fmla="val 12308"/>
            </a:avLst>
          </a:prstGeom>
          <a:solidFill>
            <a:srgbClr val="ED7D31"/>
          </a:solidFill>
          <a:ln>
            <a:solidFill/>
          </a:ln>
        </p:spPr>
        <p:txBody>
          <a:bodyPr/>
          <a:lstStyle/>
          <a:p>
            <a:endParaRPr lang="en-US"/>
          </a:p>
        </p:txBody>
      </p:sp>
      <p:sp>
        <p:nvSpPr>
          <p:cNvPr id="19" name="Text 17"/>
          <p:cNvSpPr/>
          <p:nvPr/>
        </p:nvSpPr>
        <p:spPr>
          <a:xfrm>
            <a:off x="480060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16</a:t>
            </a:r>
            <a:endParaRPr lang="en-US" sz="1600"/>
          </a:p>
        </p:txBody>
      </p:sp>
      <p:sp>
        <p:nvSpPr>
          <p:cNvPr id="20" name="Text 18"/>
          <p:cNvSpPr/>
          <p:nvPr/>
        </p:nvSpPr>
        <p:spPr>
          <a:xfrm>
            <a:off x="1234440" y="3291840"/>
            <a:ext cx="4572000" cy="274320"/>
          </a:xfrm>
          <a:prstGeom prst="rect">
            <a:avLst/>
          </a:prstGeom>
          <a:noFill/>
          <a:ln>
            <a:noFill/>
          </a:ln>
        </p:spPr>
        <p:txBody>
          <a:bodyPr wrap="square" rtlCol="0" anchor="ctr"/>
          <a:lstStyle/>
          <a:p>
            <a:pPr marL="0" indent="0">
              <a:buNone/>
            </a:pPr>
            <a:r>
              <a:rPr lang="en-US" sz="1100">
                <a:solidFill>
                  <a:srgbClr val="595959"/>
                </a:solidFill>
                <a:latin typeface="Calibri" pitchFamily="34" charset="0"/>
                <a:ea typeface="Calibri" pitchFamily="34" charset="-122"/>
                <a:cs typeface="Calibri" pitchFamily="34" charset="-120"/>
              </a:rPr>
              <a:t>             ×2                          ×2                          ×2                          ×2</a:t>
            </a:r>
            <a:endParaRPr lang="en-US" sz="1100"/>
          </a:p>
        </p:txBody>
      </p:sp>
      <p:sp>
        <p:nvSpPr>
          <p:cNvPr id="21" name="Shape 19"/>
          <p:cNvSpPr/>
          <p:nvPr/>
        </p:nvSpPr>
        <p:spPr>
          <a:xfrm>
            <a:off x="868680" y="3794760"/>
            <a:ext cx="5303520" cy="777240"/>
          </a:xfrm>
          <a:prstGeom prst="roundRect">
            <a:avLst>
              <a:gd name="adj" fmla="val 9412"/>
            </a:avLst>
          </a:prstGeom>
          <a:solidFill>
            <a:srgbClr val="F3F0FA"/>
          </a:solidFill>
          <a:ln w="12700">
            <a:solidFill>
              <a:srgbClr val="E4DEF2"/>
            </a:solidFill>
            <a:prstDash val="solid"/>
          </a:ln>
        </p:spPr>
        <p:txBody>
          <a:bodyPr/>
          <a:lstStyle/>
          <a:p>
            <a:endParaRPr lang="en-US"/>
          </a:p>
        </p:txBody>
      </p:sp>
      <p:sp>
        <p:nvSpPr>
          <p:cNvPr id="22" name="Text 20"/>
          <p:cNvSpPr/>
          <p:nvPr/>
        </p:nvSpPr>
        <p:spPr>
          <a:xfrm>
            <a:off x="1097280" y="3794760"/>
            <a:ext cx="4846320" cy="77724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Each step multiplies by the base 2; the exponent counts how many factors of 2 appear.</a:t>
            </a:r>
            <a:endParaRPr lang="en-US" sz="1400"/>
          </a:p>
        </p:txBody>
      </p:sp>
      <p:sp>
        <p:nvSpPr>
          <p:cNvPr id="23" name="Text 21"/>
          <p:cNvSpPr/>
          <p:nvPr/>
        </p:nvSpPr>
        <p:spPr>
          <a:xfrm>
            <a:off x="868680" y="4754880"/>
            <a:ext cx="5303520" cy="457200"/>
          </a:xfrm>
          <a:prstGeom prst="rect">
            <a:avLst/>
          </a:prstGeom>
          <a:noFill/>
          <a:ln>
            <a:noFill/>
          </a:ln>
        </p:spPr>
        <p:txBody>
          <a:bodyPr wrap="square" rtlCol="0" anchor="ctr"/>
          <a:lstStyle/>
          <a:p>
            <a:pPr marL="0" indent="0">
              <a:buNone/>
            </a:pPr>
            <a:r>
              <a:rPr lang="en-US" sz="1800" b="1">
                <a:solidFill>
                  <a:srgbClr val="333F50"/>
                </a:solidFill>
                <a:latin typeface="Courier New" pitchFamily="34" charset="0"/>
                <a:ea typeface="Courier New" pitchFamily="34" charset="-122"/>
                <a:cs typeface="Courier New" pitchFamily="34" charset="-120"/>
              </a:rPr>
              <a:t>2⁴ = 2 × 2 × 2 × 2 = 16</a:t>
            </a:r>
            <a:endParaRPr lang="en-US" sz="1800"/>
          </a:p>
        </p:txBody>
      </p:sp>
      <p:sp>
        <p:nvSpPr>
          <p:cNvPr id="24" name="Text 22"/>
          <p:cNvSpPr/>
          <p:nvPr/>
        </p:nvSpPr>
        <p:spPr>
          <a:xfrm>
            <a:off x="868680" y="5257800"/>
            <a:ext cx="5303520" cy="365760"/>
          </a:xfrm>
          <a:prstGeom prst="rect">
            <a:avLst/>
          </a:prstGeom>
          <a:noFill/>
          <a:ln>
            <a:noFill/>
          </a:ln>
        </p:spPr>
        <p:txBody>
          <a:bodyPr wrap="square" rtlCol="0" anchor="ctr"/>
          <a:lstStyle/>
          <a:p>
            <a:pPr marL="0" indent="0">
              <a:buNone/>
            </a:pPr>
            <a:r>
              <a:rPr lang="en-US" sz="1300" i="1">
                <a:solidFill>
                  <a:srgbClr val="595959"/>
                </a:solidFill>
                <a:latin typeface="Calibri" pitchFamily="34" charset="0"/>
                <a:ea typeface="Calibri" pitchFamily="34" charset="-122"/>
                <a:cs typeface="Calibri" pitchFamily="34" charset="-120"/>
              </a:rPr>
              <a:t>base = 2   ·   exponent = 4   ·   value = 16</a:t>
            </a:r>
            <a:endParaRPr lang="en-US" sz="1300"/>
          </a:p>
        </p:txBody>
      </p:sp>
      <p:sp>
        <p:nvSpPr>
          <p:cNvPr id="25" name="Shape 23"/>
          <p:cNvSpPr/>
          <p:nvPr/>
        </p:nvSpPr>
        <p:spPr>
          <a:xfrm>
            <a:off x="7040880" y="1828800"/>
            <a:ext cx="4846320" cy="3931920"/>
          </a:xfrm>
          <a:prstGeom prst="roundRect">
            <a:avLst>
              <a:gd name="adj" fmla="val 2791"/>
            </a:avLst>
          </a:prstGeom>
          <a:solidFill>
            <a:srgbClr val="F5F5F5"/>
          </a:solidFill>
          <a:ln>
            <a:solidFill/>
          </a:ln>
        </p:spPr>
        <p:txBody>
          <a:bodyPr/>
          <a:lstStyle/>
          <a:p>
            <a:endParaRPr lang="en-US"/>
          </a:p>
        </p:txBody>
      </p:sp>
      <p:sp>
        <p:nvSpPr>
          <p:cNvPr id="26" name="Text 24"/>
          <p:cNvSpPr/>
          <p:nvPr/>
        </p:nvSpPr>
        <p:spPr>
          <a:xfrm>
            <a:off x="7360920" y="2103120"/>
            <a:ext cx="4206240" cy="274320"/>
          </a:xfrm>
          <a:prstGeom prst="rect">
            <a:avLst/>
          </a:prstGeom>
          <a:noFill/>
          <a:ln>
            <a:noFill/>
          </a:ln>
        </p:spPr>
        <p:txBody>
          <a:bodyPr wrap="square" rtlCol="0" anchor="ctr"/>
          <a:lstStyle/>
          <a:p>
            <a:pPr marL="0" indent="0">
              <a:buNone/>
            </a:pPr>
            <a:r>
              <a:rPr lang="en-US" sz="1100" b="1" kern="0" spc="150">
                <a:solidFill>
                  <a:srgbClr val="ED7D31"/>
                </a:solidFill>
                <a:latin typeface="Calibri" pitchFamily="34" charset="0"/>
                <a:ea typeface="Calibri" pitchFamily="34" charset="-122"/>
                <a:cs typeface="Calibri" pitchFamily="34" charset="-120"/>
              </a:rPr>
              <a:t>EXPONENT NOTATION</a:t>
            </a:r>
            <a:endParaRPr lang="en-US" sz="1100"/>
          </a:p>
        </p:txBody>
      </p:sp>
      <p:sp>
        <p:nvSpPr>
          <p:cNvPr id="27" name="Text 25"/>
          <p:cNvSpPr/>
          <p:nvPr/>
        </p:nvSpPr>
        <p:spPr>
          <a:xfrm>
            <a:off x="7360920" y="2560320"/>
            <a:ext cx="4206240" cy="1005840"/>
          </a:xfrm>
          <a:prstGeom prst="rect">
            <a:avLst/>
          </a:prstGeom>
          <a:noFill/>
          <a:ln>
            <a:noFill/>
          </a:ln>
        </p:spPr>
        <p:txBody>
          <a:bodyPr wrap="square" rtlCol="0" anchor="ctr"/>
          <a:lstStyle/>
          <a:p>
            <a:pPr marL="0" indent="0">
              <a:buNone/>
            </a:pPr>
            <a:r>
              <a:rPr lang="en-US" sz="1700">
                <a:solidFill>
                  <a:srgbClr val="333F50"/>
                </a:solidFill>
                <a:latin typeface="Courier New" pitchFamily="34" charset="0"/>
                <a:ea typeface="Courier New" pitchFamily="34" charset="-122"/>
                <a:cs typeface="Courier New" pitchFamily="34" charset="-120"/>
              </a:rPr>
              <a:t>aˣ = y</a:t>
            </a:r>
            <a:br/>
            <a:r>
              <a:rPr lang="en-US" sz="1700">
                <a:solidFill>
                  <a:srgbClr val="333F50"/>
                </a:solidFill>
                <a:latin typeface="Courier New" pitchFamily="34" charset="0"/>
                <a:ea typeface="Courier New" pitchFamily="34" charset="-122"/>
                <a:cs typeface="Courier New" pitchFamily="34" charset="-120"/>
              </a:rPr>
              <a:t>base a raised to exponent x gives y</a:t>
            </a:r>
            <a:endParaRPr lang="en-US" sz="1700"/>
          </a:p>
        </p:txBody>
      </p:sp>
      <p:sp>
        <p:nvSpPr>
          <p:cNvPr id="28" name="Shape 26"/>
          <p:cNvSpPr/>
          <p:nvPr/>
        </p:nvSpPr>
        <p:spPr>
          <a:xfrm>
            <a:off x="7360920" y="3657600"/>
            <a:ext cx="4206240" cy="0"/>
          </a:xfrm>
          <a:prstGeom prst="line">
            <a:avLst/>
          </a:prstGeom>
          <a:noFill/>
          <a:ln w="11430">
            <a:solidFill>
              <a:srgbClr val="BFBFBF"/>
            </a:solidFill>
            <a:prstDash val="solid"/>
          </a:ln>
        </p:spPr>
        <p:txBody>
          <a:bodyPr/>
          <a:lstStyle/>
          <a:p>
            <a:endParaRPr lang="en-US"/>
          </a:p>
        </p:txBody>
      </p:sp>
      <p:sp>
        <p:nvSpPr>
          <p:cNvPr id="29" name="Text 27"/>
          <p:cNvSpPr/>
          <p:nvPr/>
        </p:nvSpPr>
        <p:spPr>
          <a:xfrm>
            <a:off x="7360920" y="3840480"/>
            <a:ext cx="4206240" cy="100584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aᵐ · aⁿ = aᵐ⁺ⁿ</a:t>
            </a:r>
            <a:br/>
            <a:r>
              <a:rPr lang="en-US" sz="1400">
                <a:solidFill>
                  <a:srgbClr val="333F50"/>
                </a:solidFill>
                <a:latin typeface="Calibri" pitchFamily="34" charset="0"/>
                <a:ea typeface="Calibri" pitchFamily="34" charset="-122"/>
                <a:cs typeface="Calibri" pitchFamily="34" charset="-120"/>
              </a:rPr>
              <a:t>aᵐ / aⁿ = aᵐ⁻ⁿ</a:t>
            </a:r>
            <a:br/>
            <a:r>
              <a:rPr lang="en-US" sz="1400">
                <a:solidFill>
                  <a:srgbClr val="333F50"/>
                </a:solidFill>
                <a:latin typeface="Calibri" pitchFamily="34" charset="0"/>
                <a:ea typeface="Calibri" pitchFamily="34" charset="-122"/>
                <a:cs typeface="Calibri" pitchFamily="34" charset="-120"/>
              </a:rPr>
              <a:t>(aᵐ)ⁿ = aᵐⁿ</a:t>
            </a:r>
            <a:endParaRPr lang="en-US" sz="1400"/>
          </a:p>
        </p:txBody>
      </p:sp>
      <p:sp>
        <p:nvSpPr>
          <p:cNvPr id="30" name="Text 28"/>
          <p:cNvSpPr/>
          <p:nvPr/>
        </p:nvSpPr>
        <p:spPr>
          <a:xfrm>
            <a:off x="7360920" y="4937760"/>
            <a:ext cx="4206240" cy="731520"/>
          </a:xfrm>
          <a:prstGeom prst="rect">
            <a:avLst/>
          </a:prstGeom>
          <a:noFill/>
          <a:ln>
            <a:noFill/>
          </a:ln>
        </p:spPr>
        <p:txBody>
          <a:bodyPr wrap="square" rtlCol="0" anchor="ctr"/>
          <a:lstStyle/>
          <a:p>
            <a:pPr marL="0" indent="0">
              <a:buNone/>
            </a:pPr>
            <a:r>
              <a:rPr lang="en-US" sz="1300" i="1">
                <a:solidFill>
                  <a:srgbClr val="333F50"/>
                </a:solidFill>
                <a:latin typeface="Calibri" pitchFamily="34" charset="0"/>
                <a:ea typeface="Calibri" pitchFamily="34" charset="-122"/>
                <a:cs typeface="Calibri" pitchFamily="34" charset="-120"/>
              </a:rPr>
              <a:t>Special cases:  a⁰ = 1   and   a⁻ⁿ = 1/aⁿ</a:t>
            </a:r>
            <a:br/>
            <a:r>
              <a:rPr lang="en-US" sz="1300" i="1">
                <a:solidFill>
                  <a:srgbClr val="333F50"/>
                </a:solidFill>
                <a:latin typeface="Calibri" pitchFamily="34" charset="0"/>
                <a:ea typeface="Calibri" pitchFamily="34" charset="-122"/>
                <a:cs typeface="Calibri" pitchFamily="34" charset="-120"/>
              </a:rPr>
              <a:t>(for a ≠ 0)</a:t>
            </a:r>
            <a:endParaRPr lang="en-US" sz="1300"/>
          </a:p>
        </p:txBody>
      </p:sp>
      <p:sp>
        <p:nvSpPr>
          <p:cNvPr id="31" name="Text 29"/>
          <p:cNvSpPr/>
          <p:nvPr/>
        </p:nvSpPr>
        <p:spPr>
          <a:xfrm>
            <a:off x="548640" y="6510528"/>
            <a:ext cx="8686800" cy="274320"/>
          </a:xfrm>
          <a:prstGeom prst="rect">
            <a:avLst/>
          </a:prstGeom>
          <a:noFill/>
          <a:ln>
            <a:noFill/>
          </a:ln>
        </p:spPr>
        <p:txBody>
          <a:bodyPr wrap="square" rtlCol="0" anchor="ctr"/>
          <a:lstStyle/>
          <a:p>
            <a:pPr marL="0" indent="0">
              <a:buNone/>
            </a:pPr>
            <a:r>
              <a:rPr lang="en-US" sz="900" dirty="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
        <p:nvSpPr>
          <p:cNvPr id="32" name="Text 30"/>
          <p:cNvSpPr/>
          <p:nvPr/>
        </p:nvSpPr>
        <p:spPr>
          <a:xfrm>
            <a:off x="10881360" y="6510528"/>
            <a:ext cx="731520" cy="274320"/>
          </a:xfrm>
          <a:prstGeom prst="rect">
            <a:avLst/>
          </a:prstGeom>
          <a:noFill/>
          <a:ln>
            <a:noFill/>
          </a:ln>
        </p:spPr>
        <p:txBody>
          <a:bodyPr wrap="square" rtlCol="0" anchor="ctr"/>
          <a:lstStyle/>
          <a:p>
            <a:pPr marL="0" indent="0" algn="r">
              <a:buNone/>
            </a:pPr>
            <a:r>
              <a:rPr lang="en-US" sz="900">
                <a:solidFill>
                  <a:srgbClr val="595959"/>
                </a:solidFill>
                <a:latin typeface="Calibri" pitchFamily="34" charset="0"/>
                <a:ea typeface="Calibri" pitchFamily="34" charset="-122"/>
                <a:cs typeface="Calibri" pitchFamily="34" charset="-120"/>
              </a:rPr>
              <a:t>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FOUNDATIONS</a:t>
            </a:r>
            <a:endParaRPr lang="en-US" sz="1200"/>
          </a:p>
        </p:txBody>
      </p:sp>
      <p:sp>
        <p:nvSpPr>
          <p:cNvPr id="3" name="Text 1"/>
          <p:cNvSpPr/>
          <p:nvPr/>
        </p:nvSpPr>
        <p:spPr>
          <a:xfrm>
            <a:off x="548640" y="658368"/>
            <a:ext cx="11064240" cy="822960"/>
          </a:xfrm>
          <a:prstGeom prst="rect">
            <a:avLst/>
          </a:prstGeom>
          <a:noFill/>
          <a:ln>
            <a:noFill/>
          </a:ln>
        </p:spPr>
        <p:txBody>
          <a:bodyPr wrap="square" rtlCol="0" anchor="ctr"/>
          <a:lstStyle/>
          <a:p>
            <a:pPr marL="0" indent="0">
              <a:buNone/>
            </a:pPr>
            <a:r>
              <a:rPr lang="en-US" sz="3000" b="1">
                <a:solidFill>
                  <a:srgbClr val="333F50"/>
                </a:solidFill>
                <a:latin typeface="Cambria" pitchFamily="34" charset="0"/>
                <a:ea typeface="Cambria" pitchFamily="34" charset="-122"/>
                <a:cs typeface="Cambria" pitchFamily="34" charset="-120"/>
              </a:rPr>
              <a:t>A logarithm asks: “what exponent produced this value?”</a:t>
            </a:r>
            <a:endParaRPr lang="en-US" sz="3000"/>
          </a:p>
        </p:txBody>
      </p:sp>
      <p:sp>
        <p:nvSpPr>
          <p:cNvPr id="4" name="Shape 2"/>
          <p:cNvSpPr/>
          <p:nvPr/>
        </p:nvSpPr>
        <p:spPr>
          <a:xfrm>
            <a:off x="548640" y="1828800"/>
            <a:ext cx="5943600" cy="3931920"/>
          </a:xfrm>
          <a:prstGeom prst="roundRect">
            <a:avLst>
              <a:gd name="adj" fmla="val 2791"/>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5" name="Text 3"/>
          <p:cNvSpPr/>
          <p:nvPr/>
        </p:nvSpPr>
        <p:spPr>
          <a:xfrm>
            <a:off x="868680" y="2103120"/>
            <a:ext cx="5303520" cy="274320"/>
          </a:xfrm>
          <a:prstGeom prst="rect">
            <a:avLst/>
          </a:prstGeom>
          <a:noFill/>
          <a:ln>
            <a:noFill/>
          </a:ln>
        </p:spPr>
        <p:txBody>
          <a:bodyPr wrap="square" rtlCol="0" anchor="ctr"/>
          <a:lstStyle/>
          <a:p>
            <a:pPr marL="0" indent="0">
              <a:buNone/>
            </a:pPr>
            <a:r>
              <a:rPr lang="en-US" sz="1100" b="1" kern="0" spc="150">
                <a:solidFill>
                  <a:srgbClr val="4472C4"/>
                </a:solidFill>
                <a:latin typeface="Calibri" pitchFamily="34" charset="0"/>
                <a:ea typeface="Calibri" pitchFamily="34" charset="-122"/>
                <a:cs typeface="Calibri" pitchFamily="34" charset="-120"/>
              </a:rPr>
              <a:t>THE SAME POWERS, READ IN REVERSE</a:t>
            </a:r>
            <a:endParaRPr lang="en-US" sz="1100"/>
          </a:p>
        </p:txBody>
      </p:sp>
      <p:sp>
        <p:nvSpPr>
          <p:cNvPr id="6" name="Shape 4"/>
          <p:cNvSpPr/>
          <p:nvPr/>
        </p:nvSpPr>
        <p:spPr>
          <a:xfrm>
            <a:off x="960120" y="2606040"/>
            <a:ext cx="777240" cy="594360"/>
          </a:xfrm>
          <a:prstGeom prst="roundRect">
            <a:avLst>
              <a:gd name="adj" fmla="val 12308"/>
            </a:avLst>
          </a:prstGeom>
          <a:solidFill>
            <a:srgbClr val="4472C4"/>
          </a:solidFill>
          <a:ln>
            <a:solidFill/>
          </a:ln>
        </p:spPr>
        <p:txBody>
          <a:bodyPr/>
          <a:lstStyle/>
          <a:p>
            <a:endParaRPr lang="en-US"/>
          </a:p>
        </p:txBody>
      </p:sp>
      <p:sp>
        <p:nvSpPr>
          <p:cNvPr id="7" name="Text 5"/>
          <p:cNvSpPr/>
          <p:nvPr/>
        </p:nvSpPr>
        <p:spPr>
          <a:xfrm>
            <a:off x="96012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1</a:t>
            </a:r>
            <a:endParaRPr lang="en-US" sz="1600"/>
          </a:p>
        </p:txBody>
      </p:sp>
      <p:sp>
        <p:nvSpPr>
          <p:cNvPr id="8" name="Shape 6"/>
          <p:cNvSpPr/>
          <p:nvPr/>
        </p:nvSpPr>
        <p:spPr>
          <a:xfrm>
            <a:off x="1737360" y="2903220"/>
            <a:ext cx="182880" cy="0"/>
          </a:xfrm>
          <a:prstGeom prst="line">
            <a:avLst/>
          </a:prstGeom>
          <a:noFill/>
          <a:ln w="19050">
            <a:solidFill>
              <a:srgbClr val="4472C4"/>
            </a:solidFill>
            <a:prstDash val="solid"/>
            <a:tailEnd type="triangle"/>
          </a:ln>
        </p:spPr>
        <p:txBody>
          <a:bodyPr/>
          <a:lstStyle/>
          <a:p>
            <a:endParaRPr lang="en-US"/>
          </a:p>
        </p:txBody>
      </p:sp>
      <p:sp>
        <p:nvSpPr>
          <p:cNvPr id="9" name="Shape 7"/>
          <p:cNvSpPr/>
          <p:nvPr/>
        </p:nvSpPr>
        <p:spPr>
          <a:xfrm>
            <a:off x="1920240" y="2606040"/>
            <a:ext cx="777240" cy="594360"/>
          </a:xfrm>
          <a:prstGeom prst="roundRect">
            <a:avLst>
              <a:gd name="adj" fmla="val 12308"/>
            </a:avLst>
          </a:prstGeom>
          <a:solidFill>
            <a:srgbClr val="4472C4"/>
          </a:solidFill>
          <a:ln>
            <a:solidFill/>
          </a:ln>
        </p:spPr>
        <p:txBody>
          <a:bodyPr/>
          <a:lstStyle/>
          <a:p>
            <a:endParaRPr lang="en-US"/>
          </a:p>
        </p:txBody>
      </p:sp>
      <p:sp>
        <p:nvSpPr>
          <p:cNvPr id="10" name="Text 8"/>
          <p:cNvSpPr/>
          <p:nvPr/>
        </p:nvSpPr>
        <p:spPr>
          <a:xfrm>
            <a:off x="192024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2</a:t>
            </a:r>
            <a:endParaRPr lang="en-US" sz="1600"/>
          </a:p>
        </p:txBody>
      </p:sp>
      <p:sp>
        <p:nvSpPr>
          <p:cNvPr id="11" name="Shape 9"/>
          <p:cNvSpPr/>
          <p:nvPr/>
        </p:nvSpPr>
        <p:spPr>
          <a:xfrm>
            <a:off x="2697480" y="2903220"/>
            <a:ext cx="182880" cy="0"/>
          </a:xfrm>
          <a:prstGeom prst="line">
            <a:avLst/>
          </a:prstGeom>
          <a:noFill/>
          <a:ln w="19050">
            <a:solidFill>
              <a:srgbClr val="4472C4"/>
            </a:solidFill>
            <a:prstDash val="solid"/>
            <a:tailEnd type="triangle"/>
          </a:ln>
        </p:spPr>
        <p:txBody>
          <a:bodyPr/>
          <a:lstStyle/>
          <a:p>
            <a:endParaRPr lang="en-US"/>
          </a:p>
        </p:txBody>
      </p:sp>
      <p:sp>
        <p:nvSpPr>
          <p:cNvPr id="12" name="Shape 10"/>
          <p:cNvSpPr/>
          <p:nvPr/>
        </p:nvSpPr>
        <p:spPr>
          <a:xfrm>
            <a:off x="2880360" y="2606040"/>
            <a:ext cx="777240" cy="594360"/>
          </a:xfrm>
          <a:prstGeom prst="roundRect">
            <a:avLst>
              <a:gd name="adj" fmla="val 12308"/>
            </a:avLst>
          </a:prstGeom>
          <a:solidFill>
            <a:srgbClr val="4472C4"/>
          </a:solidFill>
          <a:ln>
            <a:solidFill/>
          </a:ln>
        </p:spPr>
        <p:txBody>
          <a:bodyPr/>
          <a:lstStyle/>
          <a:p>
            <a:endParaRPr lang="en-US"/>
          </a:p>
        </p:txBody>
      </p:sp>
      <p:sp>
        <p:nvSpPr>
          <p:cNvPr id="13" name="Text 11"/>
          <p:cNvSpPr/>
          <p:nvPr/>
        </p:nvSpPr>
        <p:spPr>
          <a:xfrm>
            <a:off x="288036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4</a:t>
            </a:r>
            <a:endParaRPr lang="en-US" sz="1600"/>
          </a:p>
        </p:txBody>
      </p:sp>
      <p:sp>
        <p:nvSpPr>
          <p:cNvPr id="14" name="Shape 12"/>
          <p:cNvSpPr/>
          <p:nvPr/>
        </p:nvSpPr>
        <p:spPr>
          <a:xfrm>
            <a:off x="3657600" y="2903220"/>
            <a:ext cx="182880" cy="0"/>
          </a:xfrm>
          <a:prstGeom prst="line">
            <a:avLst/>
          </a:prstGeom>
          <a:noFill/>
          <a:ln w="19050">
            <a:solidFill>
              <a:srgbClr val="4472C4"/>
            </a:solidFill>
            <a:prstDash val="solid"/>
            <a:tailEnd type="triangle"/>
          </a:ln>
        </p:spPr>
        <p:txBody>
          <a:bodyPr/>
          <a:lstStyle/>
          <a:p>
            <a:endParaRPr lang="en-US"/>
          </a:p>
        </p:txBody>
      </p:sp>
      <p:sp>
        <p:nvSpPr>
          <p:cNvPr id="15" name="Shape 13"/>
          <p:cNvSpPr/>
          <p:nvPr/>
        </p:nvSpPr>
        <p:spPr>
          <a:xfrm>
            <a:off x="3840480" y="2606040"/>
            <a:ext cx="777240" cy="594360"/>
          </a:xfrm>
          <a:prstGeom prst="roundRect">
            <a:avLst>
              <a:gd name="adj" fmla="val 12308"/>
            </a:avLst>
          </a:prstGeom>
          <a:solidFill>
            <a:srgbClr val="4472C4"/>
          </a:solidFill>
          <a:ln>
            <a:solidFill/>
          </a:ln>
        </p:spPr>
        <p:txBody>
          <a:bodyPr/>
          <a:lstStyle/>
          <a:p>
            <a:endParaRPr lang="en-US"/>
          </a:p>
        </p:txBody>
      </p:sp>
      <p:sp>
        <p:nvSpPr>
          <p:cNvPr id="16" name="Text 14"/>
          <p:cNvSpPr/>
          <p:nvPr/>
        </p:nvSpPr>
        <p:spPr>
          <a:xfrm>
            <a:off x="384048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8</a:t>
            </a:r>
            <a:endParaRPr lang="en-US" sz="1600"/>
          </a:p>
        </p:txBody>
      </p:sp>
      <p:sp>
        <p:nvSpPr>
          <p:cNvPr id="17" name="Shape 15"/>
          <p:cNvSpPr/>
          <p:nvPr/>
        </p:nvSpPr>
        <p:spPr>
          <a:xfrm>
            <a:off x="4617720" y="2903220"/>
            <a:ext cx="182880" cy="0"/>
          </a:xfrm>
          <a:prstGeom prst="line">
            <a:avLst/>
          </a:prstGeom>
          <a:noFill/>
          <a:ln w="19050">
            <a:solidFill>
              <a:srgbClr val="4472C4"/>
            </a:solidFill>
            <a:prstDash val="solid"/>
            <a:tailEnd type="triangle"/>
          </a:ln>
        </p:spPr>
        <p:txBody>
          <a:bodyPr/>
          <a:lstStyle/>
          <a:p>
            <a:endParaRPr lang="en-US"/>
          </a:p>
        </p:txBody>
      </p:sp>
      <p:sp>
        <p:nvSpPr>
          <p:cNvPr id="18" name="Shape 16"/>
          <p:cNvSpPr/>
          <p:nvPr/>
        </p:nvSpPr>
        <p:spPr>
          <a:xfrm>
            <a:off x="4800600" y="2606040"/>
            <a:ext cx="777240" cy="594360"/>
          </a:xfrm>
          <a:prstGeom prst="roundRect">
            <a:avLst>
              <a:gd name="adj" fmla="val 12308"/>
            </a:avLst>
          </a:prstGeom>
          <a:solidFill>
            <a:srgbClr val="ED7D31"/>
          </a:solidFill>
          <a:ln>
            <a:solidFill/>
          </a:ln>
        </p:spPr>
        <p:txBody>
          <a:bodyPr/>
          <a:lstStyle/>
          <a:p>
            <a:endParaRPr lang="en-US"/>
          </a:p>
        </p:txBody>
      </p:sp>
      <p:sp>
        <p:nvSpPr>
          <p:cNvPr id="19" name="Text 17"/>
          <p:cNvSpPr/>
          <p:nvPr/>
        </p:nvSpPr>
        <p:spPr>
          <a:xfrm>
            <a:off x="4800600" y="2606040"/>
            <a:ext cx="777240" cy="594360"/>
          </a:xfrm>
          <a:prstGeom prst="rect">
            <a:avLst/>
          </a:prstGeom>
          <a:noFill/>
          <a:ln>
            <a:noFill/>
          </a:ln>
        </p:spPr>
        <p:txBody>
          <a:bodyPr wrap="square" rtlCol="0" anchor="ctr"/>
          <a:lstStyle/>
          <a:p>
            <a:pPr marL="0" indent="0" algn="ctr">
              <a:buNone/>
            </a:pPr>
            <a:r>
              <a:rPr lang="en-US" sz="1600" b="1">
                <a:solidFill>
                  <a:srgbClr val="FFFFFF"/>
                </a:solidFill>
                <a:latin typeface="Courier New" pitchFamily="34" charset="0"/>
                <a:ea typeface="Courier New" pitchFamily="34" charset="-122"/>
                <a:cs typeface="Courier New" pitchFamily="34" charset="-120"/>
              </a:rPr>
              <a:t>16</a:t>
            </a:r>
            <a:endParaRPr lang="en-US" sz="1600"/>
          </a:p>
        </p:txBody>
      </p:sp>
      <p:sp>
        <p:nvSpPr>
          <p:cNvPr id="20" name="Text 18"/>
          <p:cNvSpPr/>
          <p:nvPr/>
        </p:nvSpPr>
        <p:spPr>
          <a:xfrm>
            <a:off x="1234440" y="3291840"/>
            <a:ext cx="4572000" cy="274320"/>
          </a:xfrm>
          <a:prstGeom prst="rect">
            <a:avLst/>
          </a:prstGeom>
          <a:noFill/>
          <a:ln>
            <a:noFill/>
          </a:ln>
        </p:spPr>
        <p:txBody>
          <a:bodyPr wrap="square" rtlCol="0" anchor="ctr"/>
          <a:lstStyle/>
          <a:p>
            <a:pPr marL="0" indent="0">
              <a:buNone/>
            </a:pPr>
            <a:r>
              <a:rPr lang="en-US" sz="1100">
                <a:solidFill>
                  <a:srgbClr val="595959"/>
                </a:solidFill>
                <a:latin typeface="Calibri" pitchFamily="34" charset="0"/>
                <a:ea typeface="Calibri" pitchFamily="34" charset="-122"/>
                <a:cs typeface="Calibri" pitchFamily="34" charset="-120"/>
              </a:rPr>
              <a:t>             ×2                          ×2                          ×2                          ×2</a:t>
            </a:r>
            <a:endParaRPr lang="en-US" sz="1100"/>
          </a:p>
        </p:txBody>
      </p:sp>
      <p:sp>
        <p:nvSpPr>
          <p:cNvPr id="21" name="Shape 19"/>
          <p:cNvSpPr/>
          <p:nvPr/>
        </p:nvSpPr>
        <p:spPr>
          <a:xfrm>
            <a:off x="868680" y="3794760"/>
            <a:ext cx="5303520" cy="777240"/>
          </a:xfrm>
          <a:prstGeom prst="roundRect">
            <a:avLst>
              <a:gd name="adj" fmla="val 9412"/>
            </a:avLst>
          </a:prstGeom>
          <a:solidFill>
            <a:srgbClr val="F3F0FA"/>
          </a:solidFill>
          <a:ln w="12700">
            <a:solidFill>
              <a:srgbClr val="E4DEF2"/>
            </a:solidFill>
            <a:prstDash val="solid"/>
          </a:ln>
        </p:spPr>
        <p:txBody>
          <a:bodyPr/>
          <a:lstStyle/>
          <a:p>
            <a:endParaRPr lang="en-US"/>
          </a:p>
        </p:txBody>
      </p:sp>
      <p:sp>
        <p:nvSpPr>
          <p:cNvPr id="22" name="Text 20"/>
          <p:cNvSpPr/>
          <p:nvPr/>
        </p:nvSpPr>
        <p:spPr>
          <a:xfrm>
            <a:off x="1097280" y="3794760"/>
            <a:ext cx="4846320" cy="77724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Exponentiation moves from exponent to value; a logarithm recovers the missing exponent.</a:t>
            </a:r>
            <a:endParaRPr lang="en-US" sz="1400"/>
          </a:p>
        </p:txBody>
      </p:sp>
      <p:sp>
        <p:nvSpPr>
          <p:cNvPr id="23" name="Text 21"/>
          <p:cNvSpPr/>
          <p:nvPr/>
        </p:nvSpPr>
        <p:spPr>
          <a:xfrm>
            <a:off x="868680" y="4754880"/>
            <a:ext cx="5303520" cy="457200"/>
          </a:xfrm>
          <a:prstGeom prst="rect">
            <a:avLst/>
          </a:prstGeom>
          <a:noFill/>
          <a:ln>
            <a:noFill/>
          </a:ln>
        </p:spPr>
        <p:txBody>
          <a:bodyPr wrap="square" rtlCol="0" anchor="ctr"/>
          <a:lstStyle/>
          <a:p>
            <a:pPr marL="0" indent="0">
              <a:buNone/>
            </a:pPr>
            <a:r>
              <a:rPr lang="en-US" sz="1800" b="1">
                <a:solidFill>
                  <a:srgbClr val="333F50"/>
                </a:solidFill>
                <a:latin typeface="Courier New" pitchFamily="34" charset="0"/>
                <a:ea typeface="Courier New" pitchFamily="34" charset="-122"/>
                <a:cs typeface="Courier New" pitchFamily="34" charset="-120"/>
              </a:rPr>
              <a:t>2⁴ = 16    ⇔    log₂(16) = 4</a:t>
            </a:r>
            <a:endParaRPr lang="en-US" sz="1800"/>
          </a:p>
        </p:txBody>
      </p:sp>
      <p:sp>
        <p:nvSpPr>
          <p:cNvPr id="24" name="Text 22"/>
          <p:cNvSpPr/>
          <p:nvPr/>
        </p:nvSpPr>
        <p:spPr>
          <a:xfrm>
            <a:off x="868680" y="5257800"/>
            <a:ext cx="5303520" cy="365760"/>
          </a:xfrm>
          <a:prstGeom prst="rect">
            <a:avLst/>
          </a:prstGeom>
          <a:noFill/>
          <a:ln>
            <a:noFill/>
          </a:ln>
        </p:spPr>
        <p:txBody>
          <a:bodyPr wrap="square" rtlCol="0" anchor="ctr"/>
          <a:lstStyle/>
          <a:p>
            <a:pPr marL="0" indent="0">
              <a:buNone/>
            </a:pPr>
            <a:r>
              <a:rPr lang="en-US" sz="1300" i="1">
                <a:solidFill>
                  <a:srgbClr val="595959"/>
                </a:solidFill>
                <a:latin typeface="Calibri" pitchFamily="34" charset="0"/>
                <a:ea typeface="Calibri" pitchFamily="34" charset="-122"/>
                <a:cs typeface="Calibri" pitchFamily="34" charset="-120"/>
              </a:rPr>
              <a:t>Same relationship, read in opposite directions.</a:t>
            </a:r>
            <a:endParaRPr lang="en-US" sz="1300"/>
          </a:p>
        </p:txBody>
      </p:sp>
      <p:sp>
        <p:nvSpPr>
          <p:cNvPr id="25" name="Shape 23"/>
          <p:cNvSpPr/>
          <p:nvPr/>
        </p:nvSpPr>
        <p:spPr>
          <a:xfrm>
            <a:off x="7040880" y="1828800"/>
            <a:ext cx="4846320" cy="3931920"/>
          </a:xfrm>
          <a:prstGeom prst="roundRect">
            <a:avLst>
              <a:gd name="adj" fmla="val 2791"/>
            </a:avLst>
          </a:prstGeom>
          <a:solidFill>
            <a:srgbClr val="F5F5F5"/>
          </a:solidFill>
          <a:ln>
            <a:solidFill/>
          </a:ln>
        </p:spPr>
        <p:txBody>
          <a:bodyPr/>
          <a:lstStyle/>
          <a:p>
            <a:endParaRPr lang="en-US"/>
          </a:p>
        </p:txBody>
      </p:sp>
      <p:sp>
        <p:nvSpPr>
          <p:cNvPr id="26" name="Text 24"/>
          <p:cNvSpPr/>
          <p:nvPr/>
        </p:nvSpPr>
        <p:spPr>
          <a:xfrm>
            <a:off x="7360920" y="2103120"/>
            <a:ext cx="4206240" cy="274320"/>
          </a:xfrm>
          <a:prstGeom prst="rect">
            <a:avLst/>
          </a:prstGeom>
          <a:noFill/>
          <a:ln>
            <a:noFill/>
          </a:ln>
        </p:spPr>
        <p:txBody>
          <a:bodyPr wrap="square" rtlCol="0" anchor="ctr"/>
          <a:lstStyle/>
          <a:p>
            <a:pPr marL="0" indent="0">
              <a:buNone/>
            </a:pPr>
            <a:r>
              <a:rPr lang="en-US" sz="1100" b="1" kern="0" spc="150">
                <a:solidFill>
                  <a:srgbClr val="ED7D31"/>
                </a:solidFill>
                <a:latin typeface="Calibri" pitchFamily="34" charset="0"/>
                <a:ea typeface="Calibri" pitchFamily="34" charset="-122"/>
                <a:cs typeface="Calibri" pitchFamily="34" charset="-120"/>
              </a:rPr>
              <a:t>LOGARITHM NOTATION</a:t>
            </a:r>
            <a:endParaRPr lang="en-US" sz="1100"/>
          </a:p>
        </p:txBody>
      </p:sp>
      <p:sp>
        <p:nvSpPr>
          <p:cNvPr id="27" name="Text 25"/>
          <p:cNvSpPr/>
          <p:nvPr/>
        </p:nvSpPr>
        <p:spPr>
          <a:xfrm>
            <a:off x="7360920" y="2560320"/>
            <a:ext cx="4206240" cy="1005840"/>
          </a:xfrm>
          <a:prstGeom prst="rect">
            <a:avLst/>
          </a:prstGeom>
          <a:noFill/>
          <a:ln>
            <a:noFill/>
          </a:ln>
        </p:spPr>
        <p:txBody>
          <a:bodyPr wrap="square" rtlCol="0" anchor="ctr"/>
          <a:lstStyle/>
          <a:p>
            <a:pPr marL="0" indent="0">
              <a:buNone/>
            </a:pPr>
            <a:r>
              <a:rPr lang="en-US" sz="1700">
                <a:solidFill>
                  <a:srgbClr val="333F50"/>
                </a:solidFill>
                <a:latin typeface="Courier New" pitchFamily="34" charset="0"/>
                <a:ea typeface="Courier New" pitchFamily="34" charset="-122"/>
                <a:cs typeface="Courier New" pitchFamily="34" charset="-120"/>
              </a:rPr>
              <a:t>logₐ(x) = y    ⇔    aʸ = x</a:t>
            </a:r>
            <a:br/>
            <a:r>
              <a:rPr lang="en-US" sz="1700">
                <a:solidFill>
                  <a:srgbClr val="333F50"/>
                </a:solidFill>
                <a:latin typeface="Courier New" pitchFamily="34" charset="0"/>
                <a:ea typeface="Courier New" pitchFamily="34" charset="-122"/>
                <a:cs typeface="Courier New" pitchFamily="34" charset="-120"/>
              </a:rPr>
              <a:t>base a  ·  argument x  ·  exponent y</a:t>
            </a:r>
            <a:endParaRPr lang="en-US" sz="1700"/>
          </a:p>
        </p:txBody>
      </p:sp>
      <p:sp>
        <p:nvSpPr>
          <p:cNvPr id="28" name="Shape 26"/>
          <p:cNvSpPr/>
          <p:nvPr/>
        </p:nvSpPr>
        <p:spPr>
          <a:xfrm>
            <a:off x="7360920" y="3657600"/>
            <a:ext cx="4206240" cy="0"/>
          </a:xfrm>
          <a:prstGeom prst="line">
            <a:avLst/>
          </a:prstGeom>
          <a:noFill/>
          <a:ln w="11430">
            <a:solidFill>
              <a:srgbClr val="BFBFBF"/>
            </a:solidFill>
            <a:prstDash val="solid"/>
          </a:ln>
        </p:spPr>
        <p:txBody>
          <a:bodyPr/>
          <a:lstStyle/>
          <a:p>
            <a:endParaRPr lang="en-US"/>
          </a:p>
        </p:txBody>
      </p:sp>
      <p:sp>
        <p:nvSpPr>
          <p:cNvPr id="29" name="Text 27"/>
          <p:cNvSpPr/>
          <p:nvPr/>
        </p:nvSpPr>
        <p:spPr>
          <a:xfrm>
            <a:off x="7360920" y="3840480"/>
            <a:ext cx="4206240" cy="100584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logₐ(MN) = logₐM + logₐN</a:t>
            </a:r>
            <a:br/>
            <a:r>
              <a:rPr lang="en-US" sz="1400">
                <a:solidFill>
                  <a:srgbClr val="333F50"/>
                </a:solidFill>
                <a:latin typeface="Calibri" pitchFamily="34" charset="0"/>
                <a:ea typeface="Calibri" pitchFamily="34" charset="-122"/>
                <a:cs typeface="Calibri" pitchFamily="34" charset="-120"/>
              </a:rPr>
              <a:t>logₐ(M/N) = logₐM − logₐN</a:t>
            </a:r>
            <a:br/>
            <a:r>
              <a:rPr lang="en-US" sz="1400">
                <a:solidFill>
                  <a:srgbClr val="333F50"/>
                </a:solidFill>
                <a:latin typeface="Calibri" pitchFamily="34" charset="0"/>
                <a:ea typeface="Calibri" pitchFamily="34" charset="-122"/>
                <a:cs typeface="Calibri" pitchFamily="34" charset="-120"/>
              </a:rPr>
              <a:t>logₐ(Mᵏ) = k · logₐM</a:t>
            </a:r>
            <a:endParaRPr lang="en-US" sz="1400"/>
          </a:p>
        </p:txBody>
      </p:sp>
      <p:sp>
        <p:nvSpPr>
          <p:cNvPr id="30" name="Text 28"/>
          <p:cNvSpPr/>
          <p:nvPr/>
        </p:nvSpPr>
        <p:spPr>
          <a:xfrm>
            <a:off x="7360920" y="4846320"/>
            <a:ext cx="4206240" cy="731520"/>
          </a:xfrm>
          <a:prstGeom prst="rect">
            <a:avLst/>
          </a:prstGeom>
          <a:noFill/>
          <a:ln>
            <a:noFill/>
          </a:ln>
        </p:spPr>
        <p:txBody>
          <a:bodyPr wrap="square" rtlCol="0" anchor="ctr"/>
          <a:lstStyle/>
          <a:p>
            <a:pPr marL="0" indent="0">
              <a:buNone/>
            </a:pPr>
            <a:r>
              <a:rPr lang="en-US" sz="1300" i="1" dirty="0">
                <a:solidFill>
                  <a:srgbClr val="333F50"/>
                </a:solidFill>
                <a:latin typeface="Calibri" pitchFamily="34" charset="0"/>
                <a:ea typeface="Calibri" pitchFamily="34" charset="-122"/>
                <a:cs typeface="Calibri" pitchFamily="34" charset="-120"/>
              </a:rPr>
              <a:t>Valid when a &gt; 0, a ≠ 1, and x &gt; 0.</a:t>
            </a:r>
            <a:br>
              <a:rPr dirty="0"/>
            </a:br>
            <a:r>
              <a:rPr lang="en-US" sz="1300" i="1" dirty="0">
                <a:solidFill>
                  <a:srgbClr val="333F50"/>
                </a:solidFill>
                <a:latin typeface="Calibri" pitchFamily="34" charset="0"/>
                <a:ea typeface="Calibri" pitchFamily="34" charset="-122"/>
                <a:cs typeface="Calibri" pitchFamily="34" charset="-120"/>
              </a:rPr>
              <a:t>Examples: log₂8 = 3; log₁₀100 = 2.</a:t>
            </a:r>
          </a:p>
          <a:p>
            <a:pPr marL="0" indent="0">
              <a:buNone/>
            </a:pPr>
            <a:r>
              <a:rPr lang="en-US" sz="1300" i="1" dirty="0">
                <a:solidFill>
                  <a:srgbClr val="333F50"/>
                </a:solidFill>
                <a:latin typeface="Calibri" pitchFamily="34" charset="0"/>
                <a:cs typeface="Calibri" pitchFamily="34" charset="-120"/>
              </a:rPr>
              <a:t>In this class log 8 will by default refer to log</a:t>
            </a:r>
            <a:r>
              <a:rPr lang="en-US" sz="1300" i="1" baseline="-25000" dirty="0">
                <a:solidFill>
                  <a:srgbClr val="333F50"/>
                </a:solidFill>
                <a:latin typeface="Calibri" pitchFamily="34" charset="0"/>
                <a:cs typeface="Calibri" pitchFamily="34" charset="-120"/>
              </a:rPr>
              <a:t>2</a:t>
            </a:r>
            <a:r>
              <a:rPr lang="en-US" sz="1300" i="1" dirty="0">
                <a:solidFill>
                  <a:srgbClr val="333F50"/>
                </a:solidFill>
                <a:latin typeface="Calibri" pitchFamily="34" charset="0"/>
                <a:cs typeface="Calibri" pitchFamily="34" charset="-120"/>
              </a:rPr>
              <a:t>8 i.e. we any other base is </a:t>
            </a:r>
            <a:r>
              <a:rPr lang="en-US" sz="1300" b="1" i="1" dirty="0">
                <a:solidFill>
                  <a:srgbClr val="333F50"/>
                </a:solidFill>
                <a:latin typeface="Calibri" pitchFamily="34" charset="0"/>
                <a:cs typeface="Calibri" pitchFamily="34" charset="-120"/>
              </a:rPr>
              <a:t>NOT </a:t>
            </a:r>
            <a:r>
              <a:rPr lang="en-US" sz="1300" i="1" dirty="0">
                <a:solidFill>
                  <a:srgbClr val="333F50"/>
                </a:solidFill>
                <a:latin typeface="Calibri" pitchFamily="34" charset="0"/>
                <a:cs typeface="Calibri" pitchFamily="34" charset="-120"/>
              </a:rPr>
              <a:t>mentioned then we assume it is base 2</a:t>
            </a:r>
            <a:endParaRPr lang="en-US" sz="1300" dirty="0"/>
          </a:p>
        </p:txBody>
      </p:sp>
      <p:sp>
        <p:nvSpPr>
          <p:cNvPr id="31" name="Text 29"/>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
        <p:nvSpPr>
          <p:cNvPr id="32" name="Text 30"/>
          <p:cNvSpPr/>
          <p:nvPr/>
        </p:nvSpPr>
        <p:spPr>
          <a:xfrm>
            <a:off x="10881360" y="6510528"/>
            <a:ext cx="731520" cy="274320"/>
          </a:xfrm>
          <a:prstGeom prst="rect">
            <a:avLst/>
          </a:prstGeom>
          <a:noFill/>
          <a:ln>
            <a:noFill/>
          </a:ln>
        </p:spPr>
        <p:txBody>
          <a:bodyPr wrap="square" rtlCol="0" anchor="ctr"/>
          <a:lstStyle/>
          <a:p>
            <a:pPr marL="0" indent="0" algn="r">
              <a:buNone/>
            </a:pPr>
            <a:r>
              <a:rPr lang="en-US" sz="900">
                <a:solidFill>
                  <a:srgbClr val="595959"/>
                </a:solidFill>
                <a:latin typeface="Calibri" pitchFamily="34" charset="0"/>
                <a:ea typeface="Calibri" pitchFamily="34" charset="-122"/>
                <a:cs typeface="Calibri" pitchFamily="34" charset="-120"/>
              </a:rPr>
              <a:t>3</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RUNNING TIME</a:t>
            </a:r>
            <a:endParaRPr lang="en-US" sz="1200"/>
          </a:p>
        </p:txBody>
      </p:sp>
      <p:sp>
        <p:nvSpPr>
          <p:cNvPr id="3" name="Text 1"/>
          <p:cNvSpPr/>
          <p:nvPr/>
        </p:nvSpPr>
        <p:spPr>
          <a:xfrm>
            <a:off x="548640" y="822960"/>
            <a:ext cx="11064240" cy="822960"/>
          </a:xfrm>
          <a:prstGeom prst="rect">
            <a:avLst/>
          </a:prstGeom>
          <a:noFill/>
          <a:ln>
            <a:noFill/>
          </a:ln>
        </p:spPr>
        <p:txBody>
          <a:bodyPr wrap="square" rtlCol="0" anchor="ctr"/>
          <a:lstStyle/>
          <a:p>
            <a:pPr marL="0" indent="0">
              <a:buNone/>
            </a:pPr>
            <a:r>
              <a:rPr lang="en-US" sz="3000" b="1" dirty="0">
                <a:solidFill>
                  <a:srgbClr val="333F50"/>
                </a:solidFill>
                <a:latin typeface="Cambria" pitchFamily="34" charset="0"/>
                <a:ea typeface="Cambria" pitchFamily="34" charset="-122"/>
                <a:cs typeface="Cambria" pitchFamily="34" charset="-120"/>
              </a:rPr>
              <a:t>Two lenses : how does time taken by an algorithm grow with input n?</a:t>
            </a:r>
            <a:endParaRPr lang="en-US" sz="3000" dirty="0"/>
          </a:p>
        </p:txBody>
      </p:sp>
      <p:sp>
        <p:nvSpPr>
          <p:cNvPr id="5" name="Text 3"/>
          <p:cNvSpPr/>
          <p:nvPr/>
        </p:nvSpPr>
        <p:spPr>
          <a:xfrm>
            <a:off x="10881360" y="6510528"/>
            <a:ext cx="731520" cy="274320"/>
          </a:xfrm>
          <a:prstGeom prst="rect">
            <a:avLst/>
          </a:prstGeom>
          <a:noFill/>
          <a:ln>
            <a:noFill/>
          </a:ln>
        </p:spPr>
        <p:txBody>
          <a:bodyPr wrap="square" rtlCol="0" anchor="ctr"/>
          <a:lstStyle/>
          <a:p>
            <a:pPr marL="0" indent="0" algn="r">
              <a:buNone/>
            </a:pPr>
            <a:r>
              <a:rPr lang="en-US" sz="900">
                <a:solidFill>
                  <a:srgbClr val="595959"/>
                </a:solidFill>
                <a:latin typeface="Calibri" pitchFamily="34" charset="0"/>
                <a:cs typeface="Calibri" pitchFamily="34" charset="-120"/>
              </a:rPr>
              <a:t>4</a:t>
            </a:r>
            <a:endParaRPr lang="en-US" sz="900" dirty="0"/>
          </a:p>
        </p:txBody>
      </p:sp>
      <p:sp>
        <p:nvSpPr>
          <p:cNvPr id="6" name="Shape 4"/>
          <p:cNvSpPr/>
          <p:nvPr/>
        </p:nvSpPr>
        <p:spPr>
          <a:xfrm>
            <a:off x="548640" y="1874520"/>
            <a:ext cx="5257800" cy="3794760"/>
          </a:xfrm>
          <a:prstGeom prst="roundRect">
            <a:avLst>
              <a:gd name="adj" fmla="val 2892"/>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7" name="Text 5"/>
          <p:cNvSpPr/>
          <p:nvPr/>
        </p:nvSpPr>
        <p:spPr>
          <a:xfrm>
            <a:off x="868680" y="2148840"/>
            <a:ext cx="4617720" cy="274320"/>
          </a:xfrm>
          <a:prstGeom prst="rect">
            <a:avLst/>
          </a:prstGeom>
          <a:noFill/>
          <a:ln>
            <a:noFill/>
          </a:ln>
        </p:spPr>
        <p:txBody>
          <a:bodyPr wrap="square" rtlCol="0" anchor="ctr"/>
          <a:lstStyle/>
          <a:p>
            <a:pPr marL="0" indent="0">
              <a:buNone/>
            </a:pPr>
            <a:r>
              <a:rPr lang="en-US" sz="1100" b="1" kern="0" spc="150">
                <a:solidFill>
                  <a:srgbClr val="ED7D31"/>
                </a:solidFill>
                <a:latin typeface="Calibri" pitchFamily="34" charset="0"/>
                <a:ea typeface="Calibri" pitchFamily="34" charset="-122"/>
                <a:cs typeface="Calibri" pitchFamily="34" charset="-120"/>
              </a:rPr>
              <a:t>1 — EXPERIMENTAL ANALYSIS</a:t>
            </a:r>
            <a:endParaRPr lang="en-US" sz="1100"/>
          </a:p>
        </p:txBody>
      </p:sp>
      <p:sp>
        <p:nvSpPr>
          <p:cNvPr id="8" name="Text 6"/>
          <p:cNvSpPr/>
          <p:nvPr/>
        </p:nvSpPr>
        <p:spPr>
          <a:xfrm>
            <a:off x="868680" y="2560320"/>
            <a:ext cx="461772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time(n)  →  time(2n)  →  ratio</a:t>
            </a:r>
            <a:endParaRPr lang="en-US" sz="1600"/>
          </a:p>
        </p:txBody>
      </p:sp>
      <p:sp>
        <p:nvSpPr>
          <p:cNvPr id="9" name="Text 7"/>
          <p:cNvSpPr/>
          <p:nvPr/>
        </p:nvSpPr>
        <p:spPr>
          <a:xfrm>
            <a:off x="868680" y="3154680"/>
            <a:ext cx="4617720" cy="118872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Run the program on representative inputs. Record elapsed time, then double the input size and observe the ratio.</a:t>
            </a:r>
            <a:endParaRPr lang="en-US" sz="1400"/>
          </a:p>
        </p:txBody>
      </p:sp>
      <p:sp>
        <p:nvSpPr>
          <p:cNvPr id="10" name="Shape 8"/>
          <p:cNvSpPr/>
          <p:nvPr/>
        </p:nvSpPr>
        <p:spPr>
          <a:xfrm>
            <a:off x="868680" y="4480560"/>
            <a:ext cx="4617720" cy="0"/>
          </a:xfrm>
          <a:prstGeom prst="line">
            <a:avLst/>
          </a:prstGeom>
          <a:noFill/>
          <a:ln w="11430">
            <a:solidFill>
              <a:srgbClr val="BFBFBF"/>
            </a:solidFill>
            <a:prstDash val="solid"/>
          </a:ln>
        </p:spPr>
        <p:txBody>
          <a:bodyPr/>
          <a:lstStyle/>
          <a:p>
            <a:endParaRPr lang="en-US"/>
          </a:p>
        </p:txBody>
      </p:sp>
      <p:sp>
        <p:nvSpPr>
          <p:cNvPr id="11" name="Text 9"/>
          <p:cNvSpPr/>
          <p:nvPr/>
        </p:nvSpPr>
        <p:spPr>
          <a:xfrm>
            <a:off x="868680" y="4617720"/>
            <a:ext cx="4617720" cy="822960"/>
          </a:xfrm>
          <a:prstGeom prst="rect">
            <a:avLst/>
          </a:prstGeom>
          <a:noFill/>
          <a:ln>
            <a:noFill/>
          </a:ln>
        </p:spPr>
        <p:txBody>
          <a:bodyPr wrap="square" rtlCol="0" anchor="ctr"/>
          <a:lstStyle/>
          <a:p>
            <a:pPr marL="0" indent="0">
              <a:buNone/>
            </a:pPr>
            <a:r>
              <a:rPr lang="en-US" sz="1300" i="1">
                <a:solidFill>
                  <a:srgbClr val="595959"/>
                </a:solidFill>
                <a:latin typeface="Calibri" pitchFamily="34" charset="0"/>
                <a:ea typeface="Calibri" pitchFamily="34" charset="-122"/>
                <a:cs typeface="Calibri" pitchFamily="34" charset="-120"/>
              </a:rPr>
              <a:t>Strength: captures the real implementation.</a:t>
            </a:r>
            <a:br>
              <a:rPr dirty="0"/>
            </a:br>
            <a:r>
              <a:rPr lang="en-US" sz="1300" i="1">
                <a:solidFill>
                  <a:srgbClr val="595959"/>
                </a:solidFill>
                <a:latin typeface="Calibri" pitchFamily="34" charset="0"/>
                <a:ea typeface="Calibri" pitchFamily="34" charset="-122"/>
                <a:cs typeface="Calibri" pitchFamily="34" charset="-120"/>
              </a:rPr>
              <a:t>Limit: depends on hardware, software, inputs, and noise making it difficult to get accurate measurements when scale increases.</a:t>
            </a:r>
            <a:endParaRPr lang="en-US" sz="1300" dirty="0"/>
          </a:p>
        </p:txBody>
      </p:sp>
      <p:sp>
        <p:nvSpPr>
          <p:cNvPr id="12" name="Shape 10"/>
          <p:cNvSpPr/>
          <p:nvPr/>
        </p:nvSpPr>
        <p:spPr>
          <a:xfrm>
            <a:off x="6355080" y="1874520"/>
            <a:ext cx="5257800" cy="3794760"/>
          </a:xfrm>
          <a:prstGeom prst="roundRect">
            <a:avLst>
              <a:gd name="adj" fmla="val 2892"/>
            </a:avLst>
          </a:prstGeom>
          <a:solidFill>
            <a:srgbClr val="F5F5F5"/>
          </a:solidFill>
          <a:ln>
            <a:solidFill/>
          </a:ln>
        </p:spPr>
        <p:txBody>
          <a:bodyPr/>
          <a:lstStyle/>
          <a:p>
            <a:endParaRPr lang="en-US"/>
          </a:p>
        </p:txBody>
      </p:sp>
      <p:sp>
        <p:nvSpPr>
          <p:cNvPr id="13" name="Text 11"/>
          <p:cNvSpPr/>
          <p:nvPr/>
        </p:nvSpPr>
        <p:spPr>
          <a:xfrm>
            <a:off x="6675120" y="2148840"/>
            <a:ext cx="4617720" cy="274320"/>
          </a:xfrm>
          <a:prstGeom prst="rect">
            <a:avLst/>
          </a:prstGeom>
          <a:noFill/>
          <a:ln>
            <a:noFill/>
          </a:ln>
        </p:spPr>
        <p:txBody>
          <a:bodyPr wrap="square" rtlCol="0" anchor="ctr"/>
          <a:lstStyle/>
          <a:p>
            <a:pPr marL="0" indent="0">
              <a:buNone/>
            </a:pPr>
            <a:r>
              <a:rPr lang="en-US" sz="1100" b="1" kern="0" spc="150">
                <a:solidFill>
                  <a:srgbClr val="4472C4"/>
                </a:solidFill>
                <a:latin typeface="Calibri" pitchFamily="34" charset="0"/>
                <a:ea typeface="Calibri" pitchFamily="34" charset="-122"/>
                <a:cs typeface="Calibri" pitchFamily="34" charset="-120"/>
              </a:rPr>
              <a:t>2 — MATHEMATICAL MODEL</a:t>
            </a:r>
            <a:endParaRPr lang="en-US" sz="1100"/>
          </a:p>
        </p:txBody>
      </p:sp>
      <p:sp>
        <p:nvSpPr>
          <p:cNvPr id="14" name="Text 12"/>
          <p:cNvSpPr/>
          <p:nvPr/>
        </p:nvSpPr>
        <p:spPr>
          <a:xfrm>
            <a:off x="6675120" y="2560320"/>
            <a:ext cx="461772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T(n) = Σ  frequency × cost</a:t>
            </a:r>
            <a:endParaRPr lang="en-US" sz="1600"/>
          </a:p>
        </p:txBody>
      </p:sp>
      <p:sp>
        <p:nvSpPr>
          <p:cNvPr id="15" name="Text 13"/>
          <p:cNvSpPr/>
          <p:nvPr/>
        </p:nvSpPr>
        <p:spPr>
          <a:xfrm>
            <a:off x="6675120" y="3154680"/>
            <a:ext cx="4617720" cy="118872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Choose a basic operation, count how often it executes as a function of n, then keep the dominant term.</a:t>
            </a:r>
            <a:endParaRPr lang="en-US" sz="1400"/>
          </a:p>
        </p:txBody>
      </p:sp>
      <p:sp>
        <p:nvSpPr>
          <p:cNvPr id="16" name="Shape 14"/>
          <p:cNvSpPr/>
          <p:nvPr/>
        </p:nvSpPr>
        <p:spPr>
          <a:xfrm>
            <a:off x="6675120" y="4480560"/>
            <a:ext cx="4617720" cy="0"/>
          </a:xfrm>
          <a:prstGeom prst="line">
            <a:avLst/>
          </a:prstGeom>
          <a:noFill/>
          <a:ln w="11430">
            <a:solidFill>
              <a:srgbClr val="BFBFBF"/>
            </a:solidFill>
            <a:prstDash val="solid"/>
          </a:ln>
        </p:spPr>
        <p:txBody>
          <a:bodyPr/>
          <a:lstStyle/>
          <a:p>
            <a:endParaRPr lang="en-US"/>
          </a:p>
        </p:txBody>
      </p:sp>
      <p:sp>
        <p:nvSpPr>
          <p:cNvPr id="17" name="Text 15"/>
          <p:cNvSpPr/>
          <p:nvPr/>
        </p:nvSpPr>
        <p:spPr>
          <a:xfrm>
            <a:off x="6675120" y="4617720"/>
            <a:ext cx="4617720" cy="822960"/>
          </a:xfrm>
          <a:prstGeom prst="rect">
            <a:avLst/>
          </a:prstGeom>
          <a:noFill/>
          <a:ln>
            <a:noFill/>
          </a:ln>
        </p:spPr>
        <p:txBody>
          <a:bodyPr wrap="square" rtlCol="0" anchor="ctr"/>
          <a:lstStyle/>
          <a:p>
            <a:pPr marL="0" indent="0">
              <a:buNone/>
            </a:pPr>
            <a:r>
              <a:rPr lang="en-US" sz="1300" i="1">
                <a:solidFill>
                  <a:srgbClr val="333F50"/>
                </a:solidFill>
                <a:latin typeface="Calibri" pitchFamily="34" charset="0"/>
                <a:ea typeface="Calibri" pitchFamily="34" charset="-122"/>
                <a:cs typeface="Calibri" pitchFamily="34" charset="-120"/>
              </a:rPr>
              <a:t>Strength: predicts and compares at any scale.</a:t>
            </a:r>
            <a:br>
              <a:rPr dirty="0"/>
            </a:br>
            <a:r>
              <a:rPr lang="en-US" sz="1300" i="1">
                <a:solidFill>
                  <a:srgbClr val="333F50"/>
                </a:solidFill>
                <a:latin typeface="Calibri" pitchFamily="34" charset="0"/>
                <a:ea typeface="Calibri" pitchFamily="34" charset="-122"/>
                <a:cs typeface="Calibri" pitchFamily="34" charset="-120"/>
              </a:rPr>
              <a:t>Limit: depends on explicit modeling assumptions (e.g. frequency depends on algorithm and input data; cost depends on hardware)</a:t>
            </a:r>
            <a:endParaRPr lang="en-US" sz="1300" b="1" dirty="0"/>
          </a:p>
        </p:txBody>
      </p:sp>
      <p:sp>
        <p:nvSpPr>
          <p:cNvPr id="18" name="Text 29">
            <a:extLst>
              <a:ext uri="{FF2B5EF4-FFF2-40B4-BE49-F238E27FC236}">
                <a16:creationId xmlns:a16="http://schemas.microsoft.com/office/drawing/2014/main" id="{1C3B9155-77B1-EF71-73DC-6A53FFA5AFFF}"/>
              </a:ext>
            </a:extLst>
          </p:cNvPr>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WHY GROWTH RATE MATTERS</a:t>
            </a:r>
            <a:endParaRPr lang="en-US" sz="1200"/>
          </a:p>
        </p:txBody>
      </p:sp>
      <p:sp>
        <p:nvSpPr>
          <p:cNvPr id="3" name="Text 1"/>
          <p:cNvSpPr/>
          <p:nvPr/>
        </p:nvSpPr>
        <p:spPr>
          <a:xfrm>
            <a:off x="548640" y="658368"/>
            <a:ext cx="11064240" cy="822960"/>
          </a:xfrm>
          <a:prstGeom prst="rect">
            <a:avLst/>
          </a:prstGeom>
          <a:noFill/>
          <a:ln>
            <a:noFill/>
          </a:ln>
        </p:spPr>
        <p:txBody>
          <a:bodyPr wrap="square" rtlCol="0" anchor="ctr"/>
          <a:lstStyle/>
          <a:p>
            <a:pPr marL="0" indent="0">
              <a:buNone/>
            </a:pPr>
            <a:r>
              <a:rPr lang="en-US" sz="3000" b="1">
                <a:solidFill>
                  <a:srgbClr val="333F50"/>
                </a:solidFill>
                <a:latin typeface="Cambria" pitchFamily="34" charset="0"/>
                <a:ea typeface="Cambria" pitchFamily="34" charset="-122"/>
                <a:cs typeface="Cambria" pitchFamily="34" charset="-120"/>
              </a:rPr>
              <a:t>Same input size. The slower-growing function wins.</a:t>
            </a:r>
            <a:endParaRPr lang="en-US" sz="3000"/>
          </a:p>
        </p:txBody>
      </p:sp>
      <p:sp>
        <p:nvSpPr>
          <p:cNvPr id="5" name="Text 3"/>
          <p:cNvSpPr/>
          <p:nvPr/>
        </p:nvSpPr>
        <p:spPr>
          <a:xfrm>
            <a:off x="10881360" y="6510528"/>
            <a:ext cx="731520" cy="274320"/>
          </a:xfrm>
          <a:prstGeom prst="rect">
            <a:avLst/>
          </a:prstGeom>
          <a:noFill/>
          <a:ln>
            <a:noFill/>
          </a:ln>
        </p:spPr>
        <p:txBody>
          <a:bodyPr wrap="square" rtlCol="0" anchor="ctr"/>
          <a:lstStyle/>
          <a:p>
            <a:pPr marL="0" indent="0" algn="r">
              <a:buNone/>
            </a:pPr>
            <a:r>
              <a:rPr lang="en-US" sz="900">
                <a:solidFill>
                  <a:srgbClr val="595959"/>
                </a:solidFill>
                <a:latin typeface="Calibri" pitchFamily="34" charset="0"/>
                <a:cs typeface="Calibri" pitchFamily="34" charset="-120"/>
              </a:rPr>
              <a:t>5</a:t>
            </a:r>
            <a:endParaRPr lang="en-US" sz="900" dirty="0"/>
          </a:p>
        </p:txBody>
      </p:sp>
      <p:sp>
        <p:nvSpPr>
          <p:cNvPr id="6" name="Shape 4"/>
          <p:cNvSpPr/>
          <p:nvPr/>
        </p:nvSpPr>
        <p:spPr>
          <a:xfrm>
            <a:off x="548640" y="1783080"/>
            <a:ext cx="6858000" cy="3977640"/>
          </a:xfrm>
          <a:prstGeom prst="roundRect">
            <a:avLst>
              <a:gd name="adj" fmla="val 2759"/>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7" name="Text 5"/>
          <p:cNvSpPr/>
          <p:nvPr/>
        </p:nvSpPr>
        <p:spPr>
          <a:xfrm>
            <a:off x="868680" y="2011680"/>
            <a:ext cx="6217920" cy="274320"/>
          </a:xfrm>
          <a:prstGeom prst="rect">
            <a:avLst/>
          </a:prstGeom>
          <a:noFill/>
          <a:ln>
            <a:noFill/>
          </a:ln>
        </p:spPr>
        <p:txBody>
          <a:bodyPr wrap="square" rtlCol="0" anchor="ctr"/>
          <a:lstStyle/>
          <a:p>
            <a:pPr marL="0" indent="0">
              <a:buNone/>
            </a:pPr>
            <a:r>
              <a:rPr lang="en-US" sz="1100" b="1" kern="0" spc="120">
                <a:solidFill>
                  <a:srgbClr val="4472C4"/>
                </a:solidFill>
                <a:latin typeface="Calibri" pitchFamily="34" charset="0"/>
                <a:ea typeface="Calibri" pitchFamily="34" charset="-122"/>
                <a:cs typeface="Calibri" pitchFamily="34" charset="-120"/>
              </a:rPr>
              <a:t>SAME PROBLEM:  n = 1,000</a:t>
            </a:r>
            <a:endParaRPr lang="en-US" sz="1100" dirty="0"/>
          </a:p>
        </p:txBody>
      </p:sp>
      <p:sp>
        <p:nvSpPr>
          <p:cNvPr id="8" name="Text 6"/>
          <p:cNvSpPr/>
          <p:nvPr/>
        </p:nvSpPr>
        <p:spPr>
          <a:xfrm>
            <a:off x="868680" y="2423160"/>
            <a:ext cx="6217920" cy="685800"/>
          </a:xfrm>
          <a:prstGeom prst="rect">
            <a:avLst/>
          </a:prstGeom>
          <a:noFill/>
          <a:ln>
            <a:noFill/>
          </a:ln>
        </p:spPr>
        <p:txBody>
          <a:bodyPr wrap="square" rtlCol="0" anchor="ctr"/>
          <a:lstStyle/>
          <a:p>
            <a:pPr marL="0" indent="0">
              <a:buNone/>
            </a:pPr>
            <a:r>
              <a:rPr lang="en-US" sz="1500">
                <a:solidFill>
                  <a:srgbClr val="333F50"/>
                </a:solidFill>
                <a:latin typeface="Calibri" pitchFamily="34" charset="0"/>
                <a:ea typeface="Calibri" pitchFamily="34" charset="-122"/>
                <a:cs typeface="Calibri" pitchFamily="34" charset="-120"/>
              </a:rPr>
              <a:t>Compare two algorithms for the same input size n.</a:t>
            </a:r>
            <a:endParaRPr lang="en-US" sz="1500" dirty="0"/>
          </a:p>
        </p:txBody>
      </p:sp>
      <p:sp>
        <p:nvSpPr>
          <p:cNvPr id="9" name="Shape 7"/>
          <p:cNvSpPr/>
          <p:nvPr/>
        </p:nvSpPr>
        <p:spPr>
          <a:xfrm>
            <a:off x="868680" y="3246120"/>
            <a:ext cx="6217920" cy="0"/>
          </a:xfrm>
          <a:prstGeom prst="line">
            <a:avLst/>
          </a:prstGeom>
          <a:noFill/>
          <a:ln w="11430">
            <a:solidFill>
              <a:srgbClr val="BFBFBF"/>
            </a:solidFill>
            <a:prstDash val="solid"/>
          </a:ln>
        </p:spPr>
        <p:txBody>
          <a:bodyPr/>
          <a:lstStyle/>
          <a:p>
            <a:endParaRPr lang="en-US"/>
          </a:p>
        </p:txBody>
      </p:sp>
      <p:sp>
        <p:nvSpPr>
          <p:cNvPr id="10" name="Text 8"/>
          <p:cNvSpPr/>
          <p:nvPr/>
        </p:nvSpPr>
        <p:spPr>
          <a:xfrm>
            <a:off x="960120" y="3246120"/>
            <a:ext cx="5943600" cy="457200"/>
          </a:xfrm>
          <a:prstGeom prst="rect">
            <a:avLst/>
          </a:prstGeom>
          <a:noFill/>
          <a:ln>
            <a:noFill/>
          </a:ln>
        </p:spPr>
        <p:txBody>
          <a:bodyPr wrap="square" rtlCol="0" anchor="ctr"/>
          <a:lstStyle/>
          <a:p>
            <a:pPr marL="0" indent="0">
              <a:buNone/>
            </a:pPr>
            <a:r>
              <a:rPr lang="en-US" sz="2000" b="1">
                <a:solidFill>
                  <a:srgbClr val="595959"/>
                </a:solidFill>
                <a:latin typeface="Courier New" pitchFamily="34" charset="0"/>
                <a:ea typeface="Calibri" pitchFamily="34" charset="-122"/>
                <a:cs typeface="Calibri" pitchFamily="34" charset="-120"/>
              </a:rPr>
              <a:t>Brute force     n²        = 1,000,000</a:t>
            </a:r>
            <a:endParaRPr lang="en-US" sz="1400"/>
          </a:p>
        </p:txBody>
      </p:sp>
      <p:sp>
        <p:nvSpPr>
          <p:cNvPr id="11" name="Text 9"/>
          <p:cNvSpPr/>
          <p:nvPr/>
        </p:nvSpPr>
        <p:spPr>
          <a:xfrm>
            <a:off x="960120" y="3794760"/>
            <a:ext cx="5943600" cy="457200"/>
          </a:xfrm>
          <a:prstGeom prst="rect">
            <a:avLst/>
          </a:prstGeom>
          <a:noFill/>
          <a:ln>
            <a:noFill/>
          </a:ln>
        </p:spPr>
        <p:txBody>
          <a:bodyPr wrap="square" rtlCol="0" anchor="ctr"/>
          <a:lstStyle/>
          <a:p>
            <a:pPr marL="0" indent="0">
              <a:buNone/>
            </a:pPr>
            <a:r>
              <a:rPr lang="en-US" sz="2000" b="1">
                <a:solidFill>
                  <a:srgbClr val="333F50"/>
                </a:solidFill>
                <a:latin typeface="Courier New" pitchFamily="34" charset="0"/>
                <a:ea typeface="Courier New" pitchFamily="34" charset="-122"/>
                <a:cs typeface="Courier New" pitchFamily="34" charset="-120"/>
              </a:rPr>
              <a:t>Better idea   n log₂n   ≈    10,000</a:t>
            </a:r>
            <a:endParaRPr lang="en-US" sz="2600"/>
          </a:p>
        </p:txBody>
      </p:sp>
      <p:sp>
        <p:nvSpPr>
          <p:cNvPr id="12" name="Text 10"/>
          <p:cNvSpPr/>
          <p:nvPr/>
        </p:nvSpPr>
        <p:spPr>
          <a:xfrm>
            <a:off x="960120" y="4434840"/>
            <a:ext cx="5943600" cy="548640"/>
          </a:xfrm>
          <a:prstGeom prst="rect">
            <a:avLst/>
          </a:prstGeom>
          <a:noFill/>
          <a:ln>
            <a:noFill/>
          </a:ln>
        </p:spPr>
        <p:txBody>
          <a:bodyPr wrap="square" rtlCol="0" anchor="ctr"/>
          <a:lstStyle/>
          <a:p>
            <a:pPr marL="0" indent="0">
              <a:buNone/>
            </a:pPr>
            <a:r>
              <a:rPr lang="en-US" sz="1400" b="0" i="1">
                <a:solidFill>
                  <a:srgbClr val="595959"/>
                </a:solidFill>
                <a:latin typeface="Calibri" pitchFamily="34" charset="0"/>
                <a:ea typeface="Calibri" pitchFamily="34" charset="-122"/>
                <a:cs typeface="Calibri" pitchFamily="34" charset="-120"/>
              </a:rPr>
              <a:t>About 100× fewer operations—for the same input size.</a:t>
            </a:r>
            <a:endParaRPr lang="en-US" sz="1400"/>
          </a:p>
        </p:txBody>
      </p:sp>
      <p:sp>
        <p:nvSpPr>
          <p:cNvPr id="13" name="Shape 11"/>
          <p:cNvSpPr/>
          <p:nvPr/>
        </p:nvSpPr>
        <p:spPr>
          <a:xfrm>
            <a:off x="7680960" y="1783080"/>
            <a:ext cx="3931920" cy="3977640"/>
          </a:xfrm>
          <a:prstGeom prst="roundRect">
            <a:avLst>
              <a:gd name="adj" fmla="val 2791"/>
            </a:avLst>
          </a:prstGeom>
          <a:solidFill>
            <a:srgbClr val="F5F5F5"/>
          </a:solidFill>
          <a:ln>
            <a:solidFill/>
          </a:ln>
        </p:spPr>
        <p:txBody>
          <a:bodyPr/>
          <a:lstStyle/>
          <a:p>
            <a:endParaRPr lang="en-US"/>
          </a:p>
        </p:txBody>
      </p:sp>
      <p:sp>
        <p:nvSpPr>
          <p:cNvPr id="14" name="Text 12"/>
          <p:cNvSpPr/>
          <p:nvPr/>
        </p:nvSpPr>
        <p:spPr>
          <a:xfrm>
            <a:off x="8001000" y="2011680"/>
            <a:ext cx="3291840" cy="274320"/>
          </a:xfrm>
          <a:prstGeom prst="rect">
            <a:avLst/>
          </a:prstGeom>
          <a:noFill/>
          <a:ln>
            <a:noFill/>
          </a:ln>
        </p:spPr>
        <p:txBody>
          <a:bodyPr wrap="square" rtlCol="0" anchor="ctr"/>
          <a:lstStyle/>
          <a:p>
            <a:pPr marL="0" indent="0">
              <a:buNone/>
            </a:pPr>
            <a:r>
              <a:rPr lang="en-US" sz="1100" b="1" kern="0" spc="120">
                <a:solidFill>
                  <a:srgbClr val="ED7D31"/>
                </a:solidFill>
                <a:latin typeface="Calibri" pitchFamily="34" charset="0"/>
                <a:ea typeface="Calibri" pitchFamily="34" charset="-122"/>
                <a:cs typeface="Calibri" pitchFamily="34" charset="-120"/>
              </a:rPr>
              <a:t>THE ALGORITHM DESIGNER'S GOAL</a:t>
            </a:r>
            <a:endParaRPr lang="en-US" sz="1100"/>
          </a:p>
        </p:txBody>
      </p:sp>
      <p:sp>
        <p:nvSpPr>
          <p:cNvPr id="15" name="Text 13"/>
          <p:cNvSpPr/>
          <p:nvPr/>
        </p:nvSpPr>
        <p:spPr>
          <a:xfrm>
            <a:off x="8001000" y="2423160"/>
            <a:ext cx="3291840" cy="1463040"/>
          </a:xfrm>
          <a:prstGeom prst="rect">
            <a:avLst/>
          </a:prstGeom>
          <a:noFill/>
          <a:ln>
            <a:noFill/>
          </a:ln>
        </p:spPr>
        <p:txBody>
          <a:bodyPr wrap="square" rtlCol="0" anchor="ctr"/>
          <a:lstStyle/>
          <a:p>
            <a:pPr marL="0" indent="0">
              <a:buNone/>
            </a:pPr>
            <a:r>
              <a:rPr lang="en-US" sz="1500" dirty="0">
                <a:solidFill>
                  <a:srgbClr val="333F50"/>
                </a:solidFill>
                <a:latin typeface="Calibri" pitchFamily="34" charset="0"/>
                <a:ea typeface="Calibri" pitchFamily="34" charset="-122"/>
                <a:cs typeface="Calibri" pitchFamily="34" charset="-120"/>
              </a:rPr>
              <a:t>Can a different idea lower the growth?</a:t>
            </a:r>
            <a:br>
              <a:rPr lang="en-US" dirty="0"/>
            </a:br>
            <a:br>
              <a:rPr lang="en-US" dirty="0"/>
            </a:br>
            <a:r>
              <a:rPr lang="en-US" sz="1400" dirty="0">
                <a:solidFill>
                  <a:srgbClr val="333F50"/>
                </a:solidFill>
                <a:latin typeface="Calibri" pitchFamily="34" charset="0"/>
                <a:ea typeface="Calibri" pitchFamily="34" charset="-122"/>
                <a:cs typeface="Calibri" pitchFamily="34" charset="-120"/>
              </a:rPr>
              <a:t>Brute force:   n²</a:t>
            </a:r>
            <a:br>
              <a:rPr lang="en-US" dirty="0"/>
            </a:br>
            <a:r>
              <a:rPr lang="en-US" sz="1400" dirty="0">
                <a:solidFill>
                  <a:srgbClr val="333F50"/>
                </a:solidFill>
                <a:latin typeface="Calibri" pitchFamily="34" charset="0"/>
                <a:cs typeface="Calibri" pitchFamily="34" charset="-120"/>
              </a:rPr>
              <a:t>Alternative idea</a:t>
            </a:r>
            <a:r>
              <a:rPr lang="en-US" sz="1400" dirty="0">
                <a:solidFill>
                  <a:srgbClr val="333F50"/>
                </a:solidFill>
                <a:latin typeface="Calibri" pitchFamily="34" charset="0"/>
                <a:ea typeface="Calibri" pitchFamily="34" charset="-122"/>
                <a:cs typeface="Calibri" pitchFamily="34" charset="-120"/>
              </a:rPr>
              <a:t>:  n log </a:t>
            </a:r>
            <a:r>
              <a:rPr lang="en-US" sz="1400" baseline="-25000" dirty="0">
                <a:solidFill>
                  <a:srgbClr val="333F50"/>
                </a:solidFill>
                <a:latin typeface="Calibri" pitchFamily="34" charset="0"/>
                <a:ea typeface="Calibri" pitchFamily="34" charset="-122"/>
                <a:cs typeface="Calibri" pitchFamily="34" charset="-120"/>
              </a:rPr>
              <a:t>2</a:t>
            </a:r>
            <a:r>
              <a:rPr lang="en-US" sz="1400" dirty="0">
                <a:solidFill>
                  <a:srgbClr val="333F50"/>
                </a:solidFill>
                <a:latin typeface="Calibri" pitchFamily="34" charset="0"/>
                <a:ea typeface="Calibri" pitchFamily="34" charset="-122"/>
                <a:cs typeface="Calibri" pitchFamily="34" charset="-120"/>
              </a:rPr>
              <a:t>n</a:t>
            </a:r>
            <a:endParaRPr lang="en-US" sz="1400" dirty="0"/>
          </a:p>
        </p:txBody>
      </p:sp>
      <p:sp>
        <p:nvSpPr>
          <p:cNvPr id="16" name="Text 14"/>
          <p:cNvSpPr/>
          <p:nvPr/>
        </p:nvSpPr>
        <p:spPr>
          <a:xfrm>
            <a:off x="8001000" y="3977640"/>
            <a:ext cx="3291840" cy="1463040"/>
          </a:xfrm>
          <a:prstGeom prst="rect">
            <a:avLst/>
          </a:prstGeom>
          <a:noFill/>
          <a:ln>
            <a:noFill/>
          </a:ln>
        </p:spPr>
        <p:txBody>
          <a:bodyPr wrap="square" rtlCol="0" anchor="ctr"/>
          <a:lstStyle/>
          <a:p>
            <a:pPr marL="0" indent="0">
              <a:buNone/>
            </a:pPr>
            <a:r>
              <a:rPr lang="en-US" sz="1300" i="1" dirty="0">
                <a:solidFill>
                  <a:srgbClr val="333F50"/>
                </a:solidFill>
                <a:latin typeface="Calibri" pitchFamily="34" charset="0"/>
                <a:ea typeface="Calibri" pitchFamily="34" charset="-122"/>
                <a:cs typeface="Calibri" pitchFamily="34" charset="-120"/>
              </a:rPr>
              <a:t>Different idea → lower growth → less time.</a:t>
            </a:r>
            <a:br>
              <a:rPr lang="en-US" dirty="0"/>
            </a:br>
            <a:br>
              <a:rPr lang="en-US" dirty="0"/>
            </a:br>
            <a:r>
              <a:rPr lang="en-US" sz="1300" i="1" dirty="0">
                <a:solidFill>
                  <a:srgbClr val="333F50"/>
                </a:solidFill>
                <a:latin typeface="Calibri" pitchFamily="34" charset="0"/>
                <a:ea typeface="Calibri" pitchFamily="34" charset="-122"/>
                <a:cs typeface="Calibri" pitchFamily="34" charset="-120"/>
              </a:rPr>
              <a:t>As n increases, the advantage grows.</a:t>
            </a:r>
            <a:endParaRPr lang="en-US" sz="1300" dirty="0"/>
          </a:p>
        </p:txBody>
      </p:sp>
      <p:sp>
        <p:nvSpPr>
          <p:cNvPr id="17" name="Text 29">
            <a:extLst>
              <a:ext uri="{FF2B5EF4-FFF2-40B4-BE49-F238E27FC236}">
                <a16:creationId xmlns:a16="http://schemas.microsoft.com/office/drawing/2014/main" id="{780CDB72-FE9B-C486-64DF-2F5D8EFBE017}"/>
              </a:ext>
            </a:extLst>
          </p:cNvPr>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200" b="1" kern="0" spc="200" dirty="0">
                <a:solidFill>
                  <a:srgbClr val="4472C4"/>
                </a:solidFill>
                <a:latin typeface="Calibri" pitchFamily="34" charset="0"/>
                <a:ea typeface="Calibri" pitchFamily="34" charset="-122"/>
                <a:cs typeface="Calibri" pitchFamily="34" charset="-120"/>
              </a:rPr>
              <a:t>ASYMPTOTIC NOTATION</a:t>
            </a:r>
            <a:endParaRPr lang="en-US" sz="1200" dirty="0"/>
          </a:p>
        </p:txBody>
      </p:sp>
      <p:sp>
        <p:nvSpPr>
          <p:cNvPr id="3" name="Text 1"/>
          <p:cNvSpPr txBox="1"/>
          <p:nvPr/>
        </p:nvSpPr>
        <p:spPr>
          <a:xfrm>
            <a:off x="548640" y="658368"/>
            <a:ext cx="11064240" cy="548640"/>
          </a:xfrm>
          <a:prstGeom prst="rect">
            <a:avLst/>
          </a:prstGeom>
          <a:noFill/>
          <a:ln/>
        </p:spPr>
        <p:txBody>
          <a:bodyPr wrap="square" lIns="0" tIns="0" rIns="0" bIns="0" rtlCol="0" anchor="ctr"/>
          <a:lstStyle/>
          <a:p>
            <a:pPr marL="0" indent="0">
              <a:buNone/>
            </a:pPr>
            <a:r>
              <a:rPr lang="en-US" sz="2600" b="1" dirty="0">
                <a:solidFill>
                  <a:srgbClr val="333F50"/>
                </a:solidFill>
                <a:latin typeface="Cambria" pitchFamily="34" charset="0"/>
                <a:ea typeface="Cambria" pitchFamily="34" charset="-122"/>
                <a:cs typeface="Cambria" pitchFamily="34" charset="-120"/>
              </a:rPr>
              <a:t>Representing growth rates of functions</a:t>
            </a:r>
            <a:endParaRPr lang="en-US" sz="2600" dirty="0"/>
          </a:p>
        </p:txBody>
      </p:sp>
      <p:sp>
        <p:nvSpPr>
          <p:cNvPr id="4" name="Shape 2"/>
          <p:cNvSpPr/>
          <p:nvPr/>
        </p:nvSpPr>
        <p:spPr>
          <a:xfrm>
            <a:off x="548640" y="1417320"/>
            <a:ext cx="5367528" cy="1143000"/>
          </a:xfrm>
          <a:prstGeom prst="roundRect">
            <a:avLst>
              <a:gd name="adj" fmla="val 9600"/>
            </a:avLst>
          </a:prstGeom>
          <a:solidFill>
            <a:srgbClr val="FFFFFF"/>
          </a:solidFill>
          <a:ln w="12700">
            <a:solidFill>
              <a:srgbClr val="E7E6E6"/>
            </a:solidFill>
            <a:prstDash val="solid"/>
          </a:ln>
          <a:effectLst>
            <a:outerShdw blurRad="101600" dist="25400" dir="5400000" algn="bl" rotWithShape="0">
              <a:srgbClr val="44546A">
                <a:alpha val="15000"/>
              </a:srgbClr>
            </a:outerShdw>
          </a:effectLst>
        </p:spPr>
        <p:txBody>
          <a:bodyPr/>
          <a:lstStyle/>
          <a:p>
            <a:endParaRPr lang="en-US"/>
          </a:p>
        </p:txBody>
      </p:sp>
      <p:sp>
        <p:nvSpPr>
          <p:cNvPr id="5" name="Text 3"/>
          <p:cNvSpPr txBox="1"/>
          <p:nvPr/>
        </p:nvSpPr>
        <p:spPr>
          <a:xfrm>
            <a:off x="841248" y="1618488"/>
            <a:ext cx="4782312" cy="274320"/>
          </a:xfrm>
          <a:prstGeom prst="rect">
            <a:avLst/>
          </a:prstGeom>
          <a:noFill/>
          <a:ln/>
        </p:spPr>
        <p:txBody>
          <a:bodyPr wrap="square" lIns="0" tIns="0" rIns="0" bIns="0" rtlCol="0" anchor="ctr"/>
          <a:lstStyle/>
          <a:p>
            <a:pPr marL="0" indent="0">
              <a:buNone/>
            </a:pPr>
            <a:r>
              <a:rPr lang="en-US" sz="1200" b="1" kern="0" spc="150" dirty="0">
                <a:solidFill>
                  <a:srgbClr val="4472C4"/>
                </a:solidFill>
                <a:latin typeface="Calibri" pitchFamily="34" charset="0"/>
                <a:ea typeface="Calibri" pitchFamily="34" charset="-122"/>
                <a:cs typeface="Calibri" pitchFamily="34" charset="-120"/>
              </a:rPr>
              <a:t>TILDE NOTATION</a:t>
            </a:r>
            <a:endParaRPr lang="en-US" sz="1200" dirty="0"/>
          </a:p>
        </p:txBody>
      </p:sp>
      <p:sp>
        <p:nvSpPr>
          <p:cNvPr id="6" name="Text 4"/>
          <p:cNvSpPr txBox="1"/>
          <p:nvPr/>
        </p:nvSpPr>
        <p:spPr>
          <a:xfrm>
            <a:off x="841248" y="1920240"/>
            <a:ext cx="4782312" cy="548640"/>
          </a:xfrm>
          <a:prstGeom prst="rect">
            <a:avLst/>
          </a:prstGeom>
          <a:noFill/>
          <a:ln/>
        </p:spPr>
        <p:txBody>
          <a:bodyPr wrap="square" lIns="0" tIns="0" rIns="0" bIns="0" rtlCol="0" anchor="ctr"/>
          <a:lstStyle/>
          <a:p>
            <a:pPr marL="0" indent="0">
              <a:buNone/>
            </a:pPr>
            <a:r>
              <a:rPr lang="en-US" sz="1500" dirty="0">
                <a:solidFill>
                  <a:srgbClr val="333F50"/>
                </a:solidFill>
                <a:latin typeface="Calibri" pitchFamily="34" charset="0"/>
                <a:ea typeface="Calibri" pitchFamily="34" charset="-122"/>
                <a:cs typeface="Calibri" pitchFamily="34" charset="-120"/>
              </a:rPr>
              <a:t>Discard lower-order terms.</a:t>
            </a:r>
            <a:endParaRPr lang="en-US" sz="1500" dirty="0"/>
          </a:p>
        </p:txBody>
      </p:sp>
      <p:sp>
        <p:nvSpPr>
          <p:cNvPr id="7" name="Shape 5"/>
          <p:cNvSpPr/>
          <p:nvPr/>
        </p:nvSpPr>
        <p:spPr>
          <a:xfrm>
            <a:off x="6245352" y="1417320"/>
            <a:ext cx="5367528" cy="1143000"/>
          </a:xfrm>
          <a:prstGeom prst="roundRect">
            <a:avLst>
              <a:gd name="adj" fmla="val 9600"/>
            </a:avLst>
          </a:prstGeom>
          <a:solidFill>
            <a:srgbClr val="E7E6E6"/>
          </a:solidFill>
          <a:ln w="12700">
            <a:solidFill>
              <a:srgbClr val="E7E6E6"/>
            </a:solidFill>
            <a:prstDash val="solid"/>
          </a:ln>
        </p:spPr>
        <p:txBody>
          <a:bodyPr/>
          <a:lstStyle/>
          <a:p>
            <a:endParaRPr lang="en-US"/>
          </a:p>
        </p:txBody>
      </p:sp>
      <p:sp>
        <p:nvSpPr>
          <p:cNvPr id="8" name="Text 6"/>
          <p:cNvSpPr txBox="1"/>
          <p:nvPr/>
        </p:nvSpPr>
        <p:spPr>
          <a:xfrm>
            <a:off x="6537960" y="1618488"/>
            <a:ext cx="4782312" cy="274320"/>
          </a:xfrm>
          <a:prstGeom prst="rect">
            <a:avLst/>
          </a:prstGeom>
          <a:noFill/>
          <a:ln/>
        </p:spPr>
        <p:txBody>
          <a:bodyPr wrap="square" lIns="0" tIns="0" rIns="0" bIns="0" rtlCol="0" anchor="ctr"/>
          <a:lstStyle/>
          <a:p>
            <a:pPr marL="0" indent="0">
              <a:buNone/>
            </a:pPr>
            <a:r>
              <a:rPr lang="en-US" sz="1200" b="1" kern="0" spc="150" dirty="0">
                <a:solidFill>
                  <a:srgbClr val="ED7D31"/>
                </a:solidFill>
                <a:latin typeface="Calibri" pitchFamily="34" charset="0"/>
                <a:ea typeface="Calibri" pitchFamily="34" charset="-122"/>
                <a:cs typeface="Calibri" pitchFamily="34" charset="-120"/>
              </a:rPr>
              <a:t>BIG THETA</a:t>
            </a:r>
            <a:endParaRPr lang="en-US" sz="1200" dirty="0"/>
          </a:p>
        </p:txBody>
      </p:sp>
      <p:sp>
        <p:nvSpPr>
          <p:cNvPr id="9" name="Text 7"/>
          <p:cNvSpPr txBox="1"/>
          <p:nvPr/>
        </p:nvSpPr>
        <p:spPr>
          <a:xfrm>
            <a:off x="6537960" y="1920240"/>
            <a:ext cx="4782312" cy="548640"/>
          </a:xfrm>
          <a:prstGeom prst="rect">
            <a:avLst/>
          </a:prstGeom>
          <a:noFill/>
          <a:ln/>
        </p:spPr>
        <p:txBody>
          <a:bodyPr wrap="square" lIns="0" tIns="0" rIns="0" bIns="0" rtlCol="0" anchor="ctr"/>
          <a:lstStyle/>
          <a:p>
            <a:pPr marL="0" indent="0">
              <a:buNone/>
            </a:pPr>
            <a:r>
              <a:rPr lang="en-US" sz="1500" dirty="0">
                <a:solidFill>
                  <a:srgbClr val="333F50"/>
                </a:solidFill>
                <a:latin typeface="Calibri" pitchFamily="34" charset="0"/>
                <a:ea typeface="Calibri" pitchFamily="34" charset="-122"/>
                <a:cs typeface="Calibri" pitchFamily="34" charset="-120"/>
              </a:rPr>
              <a:t>Discard lower-order terms and the leading coefficient.</a:t>
            </a:r>
            <a:endParaRPr lang="en-US" sz="1500" dirty="0"/>
          </a:p>
        </p:txBody>
      </p:sp>
      <p:graphicFrame>
        <p:nvGraphicFramePr>
          <p:cNvPr id="10" name="Table 0"/>
          <p:cNvGraphicFramePr>
            <a:graphicFrameLocks noGrp="1"/>
          </p:cNvGraphicFramePr>
          <p:nvPr/>
        </p:nvGraphicFramePr>
        <p:xfrm>
          <a:off x="548640" y="2880360"/>
          <a:ext cx="11091672" cy="2331720"/>
        </p:xfrm>
        <a:graphic>
          <a:graphicData uri="http://schemas.openxmlformats.org/drawingml/2006/table">
            <a:tbl>
              <a:tblPr/>
              <a:tblGrid>
                <a:gridCol w="4434840">
                  <a:extLst>
                    <a:ext uri="{9D8B030D-6E8A-4147-A177-3AD203B41FA5}">
                      <a16:colId xmlns:a16="http://schemas.microsoft.com/office/drawing/2014/main" val="20000"/>
                    </a:ext>
                  </a:extLst>
                </a:gridCol>
                <a:gridCol w="3328416">
                  <a:extLst>
                    <a:ext uri="{9D8B030D-6E8A-4147-A177-3AD203B41FA5}">
                      <a16:colId xmlns:a16="http://schemas.microsoft.com/office/drawing/2014/main" val="20001"/>
                    </a:ext>
                  </a:extLst>
                </a:gridCol>
                <a:gridCol w="3328416">
                  <a:extLst>
                    <a:ext uri="{9D8B030D-6E8A-4147-A177-3AD203B41FA5}">
                      <a16:colId xmlns:a16="http://schemas.microsoft.com/office/drawing/2014/main" val="20002"/>
                    </a:ext>
                  </a:extLst>
                </a:gridCol>
              </a:tblGrid>
              <a:tr h="466344">
                <a:tc>
                  <a:txBody>
                    <a:bodyPr/>
                    <a:lstStyle/>
                    <a:p>
                      <a:pPr marL="0" indent="0">
                        <a:buNone/>
                      </a:pPr>
                      <a:r>
                        <a:rPr lang="en-US" sz="1200" b="1" kern="0" spc="50" dirty="0">
                          <a:solidFill>
                            <a:srgbClr val="FFFFFF"/>
                          </a:solidFill>
                          <a:latin typeface="Calibri" pitchFamily="34" charset="0"/>
                          <a:ea typeface="Calibri" pitchFamily="34" charset="-122"/>
                          <a:cs typeface="Calibri" pitchFamily="34" charset="-120"/>
                        </a:rPr>
                        <a:t>function</a:t>
                      </a:r>
                      <a:endParaRPr lang="en-US" sz="12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333F50"/>
                    </a:solidFill>
                  </a:tcPr>
                </a:tc>
                <a:tc>
                  <a:txBody>
                    <a:bodyPr/>
                    <a:lstStyle/>
                    <a:p>
                      <a:pPr marL="0" indent="0">
                        <a:buNone/>
                      </a:pPr>
                      <a:r>
                        <a:rPr lang="en-US" sz="1200" b="1" kern="0" spc="50" dirty="0">
                          <a:solidFill>
                            <a:srgbClr val="FFFFFF"/>
                          </a:solidFill>
                          <a:latin typeface="Calibri" pitchFamily="34" charset="0"/>
                          <a:ea typeface="Calibri" pitchFamily="34" charset="-122"/>
                          <a:cs typeface="Calibri" pitchFamily="34" charset="-120"/>
                        </a:rPr>
                        <a:t>tilde notation</a:t>
                      </a:r>
                      <a:endParaRPr lang="en-US" sz="12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333F50"/>
                    </a:solidFill>
                  </a:tcPr>
                </a:tc>
                <a:tc>
                  <a:txBody>
                    <a:bodyPr/>
                    <a:lstStyle/>
                    <a:p>
                      <a:pPr marL="0" indent="0">
                        <a:buNone/>
                      </a:pPr>
                      <a:r>
                        <a:rPr lang="en-US" sz="1200" b="1" kern="0" spc="50" dirty="0">
                          <a:solidFill>
                            <a:srgbClr val="FFFFFF"/>
                          </a:solidFill>
                          <a:latin typeface="Calibri" pitchFamily="34" charset="0"/>
                          <a:ea typeface="Calibri" pitchFamily="34" charset="-122"/>
                          <a:cs typeface="Calibri" pitchFamily="34" charset="-120"/>
                        </a:rPr>
                        <a:t>big Theta</a:t>
                      </a:r>
                      <a:endParaRPr lang="en-US" sz="12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333F50"/>
                    </a:solidFill>
                  </a:tcPr>
                </a:tc>
                <a:extLst>
                  <a:ext uri="{0D108BD9-81ED-4DB2-BD59-A6C34878D82A}">
                    <a16:rowId xmlns:a16="http://schemas.microsoft.com/office/drawing/2014/main" val="10000"/>
                  </a:ext>
                </a:extLst>
              </a:tr>
              <a:tr h="466344">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4n</a:t>
                      </a:r>
                      <a:r>
                        <a:rPr lang="en-US" sz="1400" baseline="30000" dirty="0">
                          <a:solidFill>
                            <a:srgbClr val="333F50"/>
                          </a:solidFill>
                          <a:latin typeface="Calibri" pitchFamily="34" charset="0"/>
                          <a:ea typeface="Calibri" pitchFamily="34" charset="-122"/>
                          <a:cs typeface="Calibri" pitchFamily="34" charset="-120"/>
                        </a:rPr>
                        <a:t>5</a:t>
                      </a:r>
                      <a:r>
                        <a:rPr lang="en-US" sz="1400" dirty="0">
                          <a:solidFill>
                            <a:srgbClr val="333F50"/>
                          </a:solidFill>
                          <a:latin typeface="Calibri" pitchFamily="34" charset="0"/>
                          <a:ea typeface="Calibri" pitchFamily="34" charset="-122"/>
                          <a:cs typeface="Calibri" pitchFamily="34" charset="-120"/>
                        </a:rPr>
                        <a:t> + 20n</a:t>
                      </a:r>
                      <a:r>
                        <a:rPr lang="en-US" sz="1400" baseline="30000" dirty="0">
                          <a:solidFill>
                            <a:srgbClr val="333F50"/>
                          </a:solidFill>
                          <a:latin typeface="Calibri" pitchFamily="34" charset="0"/>
                          <a:ea typeface="Calibri" pitchFamily="34" charset="-122"/>
                          <a:cs typeface="Calibri" pitchFamily="34" charset="-120"/>
                        </a:rPr>
                        <a:t>3</a:t>
                      </a:r>
                      <a:r>
                        <a:rPr lang="en-US" sz="1400" dirty="0">
                          <a:solidFill>
                            <a:srgbClr val="333F50"/>
                          </a:solidFill>
                          <a:latin typeface="Calibri" pitchFamily="34" charset="0"/>
                          <a:ea typeface="Calibri" pitchFamily="34" charset="-122"/>
                          <a:cs typeface="Calibri" pitchFamily="34" charset="-120"/>
                        </a:rPr>
                        <a:t> + 16</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 4n</a:t>
                      </a:r>
                      <a:r>
                        <a:rPr lang="en-US" sz="1400" baseline="30000" dirty="0">
                          <a:solidFill>
                            <a:srgbClr val="333F5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Θ(n</a:t>
                      </a:r>
                      <a:r>
                        <a:rPr lang="en-US" sz="1400" baseline="30000" dirty="0">
                          <a:solidFill>
                            <a:srgbClr val="333F50"/>
                          </a:solidFill>
                          <a:latin typeface="Calibri" pitchFamily="34" charset="0"/>
                          <a:ea typeface="Calibri" pitchFamily="34" charset="-122"/>
                          <a:cs typeface="Calibri" pitchFamily="34" charset="-120"/>
                        </a:rPr>
                        <a:t>5</a:t>
                      </a:r>
                      <a:r>
                        <a:rPr lang="en-US" sz="1400" dirty="0">
                          <a:solidFill>
                            <a:srgbClr val="333F5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6344">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0.01n</a:t>
                      </a:r>
                      <a:r>
                        <a:rPr lang="en-US" sz="1400" baseline="30000" dirty="0">
                          <a:solidFill>
                            <a:srgbClr val="333F50"/>
                          </a:solidFill>
                          <a:latin typeface="Calibri" pitchFamily="34" charset="0"/>
                          <a:ea typeface="Calibri" pitchFamily="34" charset="-122"/>
                          <a:cs typeface="Calibri" pitchFamily="34" charset="-120"/>
                        </a:rPr>
                        <a:t>2</a:t>
                      </a:r>
                      <a:r>
                        <a:rPr lang="en-US" sz="1400" dirty="0">
                          <a:solidFill>
                            <a:srgbClr val="333F50"/>
                          </a:solidFill>
                          <a:latin typeface="Calibri" pitchFamily="34" charset="0"/>
                          <a:ea typeface="Calibri" pitchFamily="34" charset="-122"/>
                          <a:cs typeface="Calibri" pitchFamily="34" charset="-120"/>
                        </a:rPr>
                        <a:t> + 100n</a:t>
                      </a:r>
                      <a:r>
                        <a:rPr lang="en-US" sz="1400" baseline="30000" dirty="0">
                          <a:solidFill>
                            <a:srgbClr val="333F50"/>
                          </a:solidFill>
                          <a:latin typeface="Calibri" pitchFamily="34" charset="0"/>
                          <a:ea typeface="Calibri" pitchFamily="34" charset="-122"/>
                          <a:cs typeface="Calibri" pitchFamily="34" charset="-120"/>
                        </a:rPr>
                        <a:t>4/3</a:t>
                      </a:r>
                      <a:r>
                        <a:rPr lang="en-US" sz="1400" dirty="0">
                          <a:solidFill>
                            <a:srgbClr val="333F50"/>
                          </a:solidFill>
                          <a:latin typeface="Calibri" pitchFamily="34" charset="0"/>
                          <a:ea typeface="Calibri" pitchFamily="34" charset="-122"/>
                          <a:cs typeface="Calibri" pitchFamily="34" charset="-120"/>
                        </a:rPr>
                        <a:t> − 56</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 0.01n</a:t>
                      </a:r>
                      <a:r>
                        <a:rPr lang="en-US" sz="1400" baseline="30000" dirty="0">
                          <a:solidFill>
                            <a:srgbClr val="333F5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Θ(n</a:t>
                      </a:r>
                      <a:r>
                        <a:rPr lang="en-US" sz="1400" baseline="30000" dirty="0">
                          <a:solidFill>
                            <a:srgbClr val="333F50"/>
                          </a:solidFill>
                          <a:latin typeface="Calibri" pitchFamily="34" charset="0"/>
                          <a:ea typeface="Calibri" pitchFamily="34" charset="-122"/>
                          <a:cs typeface="Calibri" pitchFamily="34" charset="-120"/>
                        </a:rPr>
                        <a:t>2</a:t>
                      </a:r>
                      <a:r>
                        <a:rPr lang="en-US" sz="1400" dirty="0">
                          <a:solidFill>
                            <a:srgbClr val="333F5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66344">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2</a:t>
                      </a:r>
                      <a:r>
                        <a:rPr lang="en-US" sz="1400" baseline="30000" dirty="0">
                          <a:solidFill>
                            <a:srgbClr val="333F50"/>
                          </a:solidFill>
                          <a:latin typeface="Calibri" pitchFamily="34" charset="0"/>
                          <a:ea typeface="Calibri" pitchFamily="34" charset="-122"/>
                          <a:cs typeface="Calibri" pitchFamily="34" charset="-120"/>
                        </a:rPr>
                        <a:t>n</a:t>
                      </a:r>
                      <a:r>
                        <a:rPr lang="en-US" sz="1400" dirty="0">
                          <a:solidFill>
                            <a:srgbClr val="333F50"/>
                          </a:solidFill>
                          <a:latin typeface="Calibri" pitchFamily="34" charset="0"/>
                          <a:ea typeface="Calibri" pitchFamily="34" charset="-122"/>
                          <a:cs typeface="Calibri" pitchFamily="34" charset="-120"/>
                        </a:rPr>
                        <a:t> + n</a:t>
                      </a:r>
                      <a:r>
                        <a:rPr lang="en-US" sz="1400" baseline="30000" dirty="0">
                          <a:solidFill>
                            <a:srgbClr val="333F5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 2</a:t>
                      </a:r>
                      <a:r>
                        <a:rPr lang="en-US" sz="1400" baseline="30000" dirty="0">
                          <a:solidFill>
                            <a:srgbClr val="333F50"/>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Θ(2</a:t>
                      </a:r>
                      <a:r>
                        <a:rPr lang="en-US" sz="1400" baseline="30000" dirty="0">
                          <a:solidFill>
                            <a:srgbClr val="333F50"/>
                          </a:solidFill>
                          <a:latin typeface="Calibri" pitchFamily="34" charset="0"/>
                          <a:ea typeface="Calibri" pitchFamily="34" charset="-122"/>
                          <a:cs typeface="Calibri" pitchFamily="34" charset="-120"/>
                        </a:rPr>
                        <a:t>n</a:t>
                      </a:r>
                      <a:r>
                        <a:rPr lang="en-US" sz="1400" dirty="0">
                          <a:solidFill>
                            <a:srgbClr val="333F5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6344">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⅙n</a:t>
                      </a:r>
                      <a:r>
                        <a:rPr lang="en-US" sz="1400" baseline="30000" dirty="0">
                          <a:solidFill>
                            <a:srgbClr val="333F50"/>
                          </a:solidFill>
                          <a:latin typeface="Calibri" pitchFamily="34" charset="0"/>
                          <a:ea typeface="Calibri" pitchFamily="34" charset="-122"/>
                          <a:cs typeface="Calibri" pitchFamily="34" charset="-120"/>
                        </a:rPr>
                        <a:t>3</a:t>
                      </a:r>
                      <a:r>
                        <a:rPr lang="en-US" sz="1400" dirty="0">
                          <a:solidFill>
                            <a:srgbClr val="333F50"/>
                          </a:solidFill>
                          <a:latin typeface="Calibri" pitchFamily="34" charset="0"/>
                          <a:ea typeface="Calibri" pitchFamily="34" charset="-122"/>
                          <a:cs typeface="Calibri" pitchFamily="34" charset="-120"/>
                        </a:rPr>
                        <a:t> − ½n</a:t>
                      </a:r>
                      <a:r>
                        <a:rPr lang="en-US" sz="1400" baseline="30000" dirty="0">
                          <a:solidFill>
                            <a:srgbClr val="333F50"/>
                          </a:solidFill>
                          <a:latin typeface="Calibri" pitchFamily="34" charset="0"/>
                          <a:ea typeface="Calibri" pitchFamily="34" charset="-122"/>
                          <a:cs typeface="Calibri" pitchFamily="34" charset="-120"/>
                        </a:rPr>
                        <a:t>2</a:t>
                      </a:r>
                      <a:r>
                        <a:rPr lang="en-US" sz="1400" dirty="0">
                          <a:solidFill>
                            <a:srgbClr val="333F50"/>
                          </a:solidFill>
                          <a:latin typeface="Calibri" pitchFamily="34" charset="0"/>
                          <a:ea typeface="Calibri" pitchFamily="34" charset="-122"/>
                          <a:cs typeface="Calibri" pitchFamily="34" charset="-120"/>
                        </a:rPr>
                        <a:t> + ⅓n</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 ⅙n</a:t>
                      </a:r>
                      <a:r>
                        <a:rPr lang="en-US" sz="1400" baseline="30000" dirty="0">
                          <a:solidFill>
                            <a:srgbClr val="333F5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tc>
                  <a:txBody>
                    <a:bodyPr/>
                    <a:lstStyle/>
                    <a:p>
                      <a:pPr marL="0" indent="0">
                        <a:buNone/>
                      </a:pPr>
                      <a:r>
                        <a:rPr lang="en-US" sz="1400" dirty="0">
                          <a:solidFill>
                            <a:srgbClr val="333F50"/>
                          </a:solidFill>
                          <a:latin typeface="Calibri" pitchFamily="34" charset="0"/>
                          <a:ea typeface="Calibri" pitchFamily="34" charset="-122"/>
                          <a:cs typeface="Calibri" pitchFamily="34" charset="-120"/>
                        </a:rPr>
                        <a:t>Θ(n</a:t>
                      </a:r>
                      <a:r>
                        <a:rPr lang="en-US" sz="1400" baseline="30000" dirty="0">
                          <a:solidFill>
                            <a:srgbClr val="333F50"/>
                          </a:solidFill>
                          <a:latin typeface="Calibri" pitchFamily="34" charset="0"/>
                          <a:ea typeface="Calibri" pitchFamily="34" charset="-122"/>
                          <a:cs typeface="Calibri" pitchFamily="34" charset="-120"/>
                        </a:rPr>
                        <a:t>3</a:t>
                      </a:r>
                      <a:r>
                        <a:rPr lang="en-US" sz="1400" dirty="0">
                          <a:solidFill>
                            <a:srgbClr val="333F5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11" name="Text 8"/>
          <p:cNvSpPr txBox="1"/>
          <p:nvPr/>
        </p:nvSpPr>
        <p:spPr>
          <a:xfrm>
            <a:off x="548640" y="5349240"/>
            <a:ext cx="11091672" cy="365760"/>
          </a:xfrm>
          <a:prstGeom prst="rect">
            <a:avLst/>
          </a:prstGeom>
          <a:noFill/>
          <a:ln/>
        </p:spPr>
        <p:txBody>
          <a:bodyPr wrap="square" lIns="0" tIns="0" rIns="0" bIns="0" rtlCol="0" anchor="ctr"/>
          <a:lstStyle/>
          <a:p>
            <a:pPr marL="0" indent="0">
              <a:buNone/>
            </a:pPr>
            <a:r>
              <a:rPr lang="en-US" sz="1300" b="1" i="1" dirty="0">
                <a:solidFill>
                  <a:srgbClr val="333F50"/>
                </a:solidFill>
                <a:latin typeface="Calibri" pitchFamily="34" charset="0"/>
                <a:ea typeface="Calibri" pitchFamily="34" charset="-122"/>
                <a:cs typeface="Calibri" pitchFamily="34" charset="-120"/>
              </a:rPr>
              <a:t>Rationale.  </a:t>
            </a:r>
            <a:r>
              <a:rPr lang="en-US" sz="1300" i="1" dirty="0">
                <a:solidFill>
                  <a:srgbClr val="595959"/>
                </a:solidFill>
                <a:latin typeface="Calibri" pitchFamily="34" charset="0"/>
                <a:ea typeface="Calibri" pitchFamily="34" charset="-122"/>
                <a:cs typeface="Calibri" pitchFamily="34" charset="-120"/>
              </a:rPr>
              <a:t>When n is large, lower-order terms are negligible; when n is small, we don’t care.</a:t>
            </a:r>
            <a:endParaRPr lang="en-US" sz="1300" dirty="0"/>
          </a:p>
        </p:txBody>
      </p:sp>
      <p:sp>
        <p:nvSpPr>
          <p:cNvPr id="12" name="Text 9"/>
          <p:cNvSpPr txBox="1"/>
          <p:nvPr/>
        </p:nvSpPr>
        <p:spPr>
          <a:xfrm>
            <a:off x="548640" y="6501384"/>
            <a:ext cx="9326880" cy="274320"/>
          </a:xfrm>
          <a:prstGeom prst="rect">
            <a:avLst/>
          </a:prstGeom>
          <a:noFill/>
          <a:ln/>
        </p:spPr>
        <p:txBody>
          <a:bodyPr wrap="square" lIns="0" tIns="0" rIns="0" bIns="0"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a:t>
            </a:r>
            <a:r>
              <a:rPr lang="en-US" sz="900" dirty="0">
                <a:solidFill>
                  <a:srgbClr val="595959"/>
                </a:solidFill>
                <a:latin typeface="Calibri" pitchFamily="34" charset="0"/>
                <a:ea typeface="Calibri" pitchFamily="34" charset="-122"/>
                <a:cs typeface="Calibri" pitchFamily="34" charset="-120"/>
              </a:rPr>
              <a:t>Design </a:t>
            </a:r>
            <a:r>
              <a:rPr lang="en-US" sz="900">
                <a:solidFill>
                  <a:srgbClr val="595959"/>
                </a:solidFill>
                <a:latin typeface="Calibri" pitchFamily="34" charset="0"/>
                <a:ea typeface="Calibri" pitchFamily="34" charset="-122"/>
                <a:cs typeface="Calibri" pitchFamily="34" charset="-120"/>
              </a:rPr>
              <a:t>·  Logarithms </a:t>
            </a:r>
            <a:r>
              <a:rPr lang="en-US" sz="900" dirty="0">
                <a:solidFill>
                  <a:srgbClr val="595959"/>
                </a:solidFill>
                <a:latin typeface="Calibri" pitchFamily="34" charset="0"/>
                <a:ea typeface="Calibri" pitchFamily="34" charset="-122"/>
                <a:cs typeface="Calibri" pitchFamily="34" charset="-120"/>
              </a:rPr>
              <a:t>&amp; </a:t>
            </a:r>
            <a:r>
              <a:rPr lang="en-US" sz="900">
                <a:solidFill>
                  <a:srgbClr val="595959"/>
                </a:solidFill>
                <a:latin typeface="Calibri" pitchFamily="34" charset="0"/>
                <a:ea typeface="Calibri" pitchFamily="34" charset="-122"/>
                <a:cs typeface="Calibri" pitchFamily="34" charset="-120"/>
              </a:rPr>
              <a:t>Growth Rates  </a:t>
            </a:r>
            <a:r>
              <a:rPr lang="en-US" sz="900" dirty="0">
                <a:solidFill>
                  <a:srgbClr val="595959"/>
                </a:solidFill>
                <a:latin typeface="Calibri" pitchFamily="34" charset="0"/>
                <a:ea typeface="Calibri" pitchFamily="34" charset="-122"/>
                <a:cs typeface="Calibri" pitchFamily="34" charset="-120"/>
              </a:rPr>
              <a:t>·  Sep </a:t>
            </a:r>
            <a:r>
              <a:rPr lang="en-US" sz="900">
                <a:solidFill>
                  <a:srgbClr val="595959"/>
                </a:solidFill>
                <a:latin typeface="Calibri" pitchFamily="34" charset="0"/>
                <a:ea typeface="Calibri" pitchFamily="34" charset="-122"/>
                <a:cs typeface="Calibri" pitchFamily="34" charset="-120"/>
              </a:rPr>
              <a:t>11</a:t>
            </a:r>
            <a:endParaRPr lang="en-US" sz="900" dirty="0"/>
          </a:p>
        </p:txBody>
      </p:sp>
      <p:sp>
        <p:nvSpPr>
          <p:cNvPr id="13" name="Text 10"/>
          <p:cNvSpPr txBox="1"/>
          <p:nvPr/>
        </p:nvSpPr>
        <p:spPr>
          <a:xfrm>
            <a:off x="10908792" y="6501384"/>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ASYMPTOTIC NOTATION</a:t>
            </a:r>
            <a:endParaRPr lang="en-US" sz="1200"/>
          </a:p>
        </p:txBody>
      </p:sp>
      <p:sp>
        <p:nvSpPr>
          <p:cNvPr id="3" name="Text 1"/>
          <p:cNvSpPr/>
          <p:nvPr/>
        </p:nvSpPr>
        <p:spPr>
          <a:xfrm>
            <a:off x="548640" y="777240"/>
            <a:ext cx="9144000" cy="731520"/>
          </a:xfrm>
          <a:prstGeom prst="rect">
            <a:avLst/>
          </a:prstGeom>
          <a:noFill/>
          <a:ln>
            <a:noFill/>
          </a:ln>
        </p:spPr>
        <p:txBody>
          <a:bodyPr wrap="square" rtlCol="0" anchor="ctr"/>
          <a:lstStyle/>
          <a:p>
            <a:pPr marL="0" indent="0">
              <a:buNone/>
            </a:pPr>
            <a:r>
              <a:rPr lang="en-US" sz="3200" b="1">
                <a:solidFill>
                  <a:srgbClr val="333F50"/>
                </a:solidFill>
                <a:latin typeface="Cambria" pitchFamily="34" charset="0"/>
                <a:ea typeface="Cambria" pitchFamily="34" charset="-122"/>
                <a:cs typeface="Cambria" pitchFamily="34" charset="-120"/>
              </a:rPr>
              <a:t>Keep the growth that survives at scale</a:t>
            </a:r>
            <a:endParaRPr lang="en-US" sz="3200"/>
          </a:p>
        </p:txBody>
      </p:sp>
      <p:sp>
        <p:nvSpPr>
          <p:cNvPr id="4" name="Shape 2"/>
          <p:cNvSpPr/>
          <p:nvPr/>
        </p:nvSpPr>
        <p:spPr>
          <a:xfrm>
            <a:off x="548640" y="1828800"/>
            <a:ext cx="502920" cy="502920"/>
          </a:xfrm>
          <a:prstGeom prst="roundRect">
            <a:avLst>
              <a:gd name="adj" fmla="val 50909"/>
            </a:avLst>
          </a:prstGeom>
          <a:solidFill>
            <a:srgbClr val="ED7D31"/>
          </a:solidFill>
          <a:ln>
            <a:solidFill/>
          </a:ln>
        </p:spPr>
        <p:txBody>
          <a:bodyPr/>
          <a:lstStyle/>
          <a:p>
            <a:endParaRPr lang="en-US"/>
          </a:p>
        </p:txBody>
      </p:sp>
      <p:sp>
        <p:nvSpPr>
          <p:cNvPr id="5" name="Text 3"/>
          <p:cNvSpPr/>
          <p:nvPr/>
        </p:nvSpPr>
        <p:spPr>
          <a:xfrm>
            <a:off x="548640" y="1828800"/>
            <a:ext cx="502920" cy="502920"/>
          </a:xfrm>
          <a:prstGeom prst="rect">
            <a:avLst/>
          </a:prstGeom>
          <a:noFill/>
          <a:ln>
            <a:noFill/>
          </a:ln>
        </p:spPr>
        <p:txBody>
          <a:bodyPr wrap="square" rtlCol="0" anchor="ctr"/>
          <a:lstStyle/>
          <a:p>
            <a:pPr marL="0" indent="0" algn="ctr">
              <a:buNone/>
            </a:pPr>
            <a:r>
              <a:rPr lang="en-US" sz="2000" b="1">
                <a:solidFill>
                  <a:srgbClr val="333F50"/>
                </a:solidFill>
                <a:latin typeface="Cambria" pitchFamily="34" charset="0"/>
                <a:ea typeface="Cambria" pitchFamily="34" charset="-122"/>
                <a:cs typeface="Cambria" pitchFamily="34" charset="-120"/>
              </a:rPr>
              <a:t>O</a:t>
            </a:r>
            <a:endParaRPr lang="en-US" sz="2000"/>
          </a:p>
        </p:txBody>
      </p:sp>
      <p:sp>
        <p:nvSpPr>
          <p:cNvPr id="6" name="Text 4"/>
          <p:cNvSpPr/>
          <p:nvPr/>
        </p:nvSpPr>
        <p:spPr>
          <a:xfrm>
            <a:off x="1280160" y="1783080"/>
            <a:ext cx="9875520" cy="457200"/>
          </a:xfrm>
          <a:prstGeom prst="rect">
            <a:avLst/>
          </a:prstGeom>
          <a:noFill/>
          <a:ln>
            <a:noFill/>
          </a:ln>
        </p:spPr>
        <p:txBody>
          <a:bodyPr wrap="square" rtlCol="0" anchor="ctr"/>
          <a:lstStyle/>
          <a:p>
            <a:pPr marL="0" indent="0">
              <a:buNone/>
            </a:pPr>
            <a:r>
              <a:rPr lang="en-US" sz="1800" b="1" dirty="0">
                <a:solidFill>
                  <a:srgbClr val="333F50"/>
                </a:solidFill>
                <a:latin typeface="Cambria" pitchFamily="34" charset="0"/>
                <a:ea typeface="Cambria" pitchFamily="34" charset="-122"/>
                <a:cs typeface="Cambria" pitchFamily="34" charset="-120"/>
              </a:rPr>
              <a:t>O(f(n)) — asymptotic upper bound – Big-O</a:t>
            </a:r>
            <a:endParaRPr lang="en-US" sz="1800" dirty="0"/>
          </a:p>
        </p:txBody>
      </p:sp>
      <p:sp>
        <p:nvSpPr>
          <p:cNvPr id="7" name="Text 5"/>
          <p:cNvSpPr/>
          <p:nvPr/>
        </p:nvSpPr>
        <p:spPr>
          <a:xfrm>
            <a:off x="1280160" y="2212848"/>
            <a:ext cx="9875520" cy="685800"/>
          </a:xfrm>
          <a:prstGeom prst="rect">
            <a:avLst/>
          </a:prstGeom>
          <a:noFill/>
          <a:ln>
            <a:noFill/>
          </a:ln>
        </p:spPr>
        <p:txBody>
          <a:bodyPr wrap="square" rtlCol="0" anchor="ctr"/>
          <a:lstStyle/>
          <a:p>
            <a:pPr marL="0" indent="0">
              <a:buNone/>
            </a:pPr>
            <a:r>
              <a:rPr lang="en-US" sz="1400" dirty="0">
                <a:solidFill>
                  <a:srgbClr val="333F50"/>
                </a:solidFill>
                <a:latin typeface="Calibri" pitchFamily="34" charset="0"/>
                <a:ea typeface="Calibri" pitchFamily="34" charset="-122"/>
                <a:cs typeface="Calibri" pitchFamily="34" charset="-120"/>
              </a:rPr>
              <a:t>There exist c &gt; 0 and n₀ such that T(n) ≤ </a:t>
            </a:r>
            <a:r>
              <a:rPr lang="en-US" sz="1400" dirty="0" err="1">
                <a:solidFill>
                  <a:srgbClr val="333F50"/>
                </a:solidFill>
                <a:latin typeface="Calibri" pitchFamily="34" charset="0"/>
                <a:ea typeface="Calibri" pitchFamily="34" charset="-122"/>
                <a:cs typeface="Calibri" pitchFamily="34" charset="-120"/>
              </a:rPr>
              <a:t>c·f</a:t>
            </a:r>
            <a:r>
              <a:rPr lang="en-US" sz="1400" dirty="0">
                <a:solidFill>
                  <a:srgbClr val="333F50"/>
                </a:solidFill>
                <a:latin typeface="Calibri" pitchFamily="34" charset="0"/>
                <a:ea typeface="Calibri" pitchFamily="34" charset="-122"/>
                <a:cs typeface="Calibri" pitchFamily="34" charset="-120"/>
              </a:rPr>
              <a:t>(n) for every n ≥ n₀.</a:t>
            </a:r>
            <a:endParaRPr lang="en-US" sz="1400" dirty="0"/>
          </a:p>
        </p:txBody>
      </p:sp>
      <p:sp>
        <p:nvSpPr>
          <p:cNvPr id="8" name="Shape 6"/>
          <p:cNvSpPr/>
          <p:nvPr/>
        </p:nvSpPr>
        <p:spPr>
          <a:xfrm>
            <a:off x="548640" y="3017520"/>
            <a:ext cx="502920" cy="502920"/>
          </a:xfrm>
          <a:prstGeom prst="roundRect">
            <a:avLst>
              <a:gd name="adj" fmla="val 50909"/>
            </a:avLst>
          </a:prstGeom>
          <a:solidFill>
            <a:srgbClr val="ED7D31"/>
          </a:solidFill>
          <a:ln>
            <a:solidFill/>
          </a:ln>
        </p:spPr>
        <p:txBody>
          <a:bodyPr/>
          <a:lstStyle/>
          <a:p>
            <a:endParaRPr lang="en-US"/>
          </a:p>
        </p:txBody>
      </p:sp>
      <p:sp>
        <p:nvSpPr>
          <p:cNvPr id="9" name="Text 7"/>
          <p:cNvSpPr/>
          <p:nvPr/>
        </p:nvSpPr>
        <p:spPr>
          <a:xfrm>
            <a:off x="548640" y="3017520"/>
            <a:ext cx="502920" cy="502920"/>
          </a:xfrm>
          <a:prstGeom prst="rect">
            <a:avLst/>
          </a:prstGeom>
          <a:noFill/>
          <a:ln>
            <a:noFill/>
          </a:ln>
        </p:spPr>
        <p:txBody>
          <a:bodyPr wrap="square" rtlCol="0" anchor="ctr"/>
          <a:lstStyle/>
          <a:p>
            <a:pPr marL="0" indent="0" algn="ctr">
              <a:buNone/>
            </a:pPr>
            <a:r>
              <a:rPr lang="en-US" sz="2000" b="1">
                <a:solidFill>
                  <a:srgbClr val="333F50"/>
                </a:solidFill>
                <a:latin typeface="Cambria" pitchFamily="34" charset="0"/>
                <a:ea typeface="Cambria" pitchFamily="34" charset="-122"/>
                <a:cs typeface="Cambria" pitchFamily="34" charset="-120"/>
              </a:rPr>
              <a:t>Ω</a:t>
            </a:r>
            <a:endParaRPr lang="en-US" sz="2000"/>
          </a:p>
        </p:txBody>
      </p:sp>
      <p:sp>
        <p:nvSpPr>
          <p:cNvPr id="10" name="Text 8"/>
          <p:cNvSpPr/>
          <p:nvPr/>
        </p:nvSpPr>
        <p:spPr>
          <a:xfrm>
            <a:off x="1280160" y="2971800"/>
            <a:ext cx="9875520" cy="457200"/>
          </a:xfrm>
          <a:prstGeom prst="rect">
            <a:avLst/>
          </a:prstGeom>
          <a:noFill/>
          <a:ln>
            <a:noFill/>
          </a:ln>
        </p:spPr>
        <p:txBody>
          <a:bodyPr wrap="square" rtlCol="0" anchor="ctr"/>
          <a:lstStyle/>
          <a:p>
            <a:pPr marL="0" indent="0">
              <a:buNone/>
            </a:pPr>
            <a:r>
              <a:rPr lang="en-US" sz="1800" b="1" dirty="0" err="1">
                <a:solidFill>
                  <a:srgbClr val="333F50"/>
                </a:solidFill>
                <a:latin typeface="Cambria" pitchFamily="34" charset="0"/>
                <a:ea typeface="Cambria" pitchFamily="34" charset="-122"/>
                <a:cs typeface="Cambria" pitchFamily="34" charset="-120"/>
              </a:rPr>
              <a:t>Ω</a:t>
            </a:r>
            <a:r>
              <a:rPr lang="en-US" sz="1800" b="1" dirty="0">
                <a:solidFill>
                  <a:srgbClr val="333F50"/>
                </a:solidFill>
                <a:latin typeface="Cambria" pitchFamily="34" charset="0"/>
                <a:ea typeface="Cambria" pitchFamily="34" charset="-122"/>
                <a:cs typeface="Cambria" pitchFamily="34" charset="-120"/>
              </a:rPr>
              <a:t>(f(n)) — asymptotic lower bound – Big-Omega</a:t>
            </a:r>
            <a:endParaRPr lang="en-US" sz="1800" dirty="0"/>
          </a:p>
        </p:txBody>
      </p:sp>
      <p:sp>
        <p:nvSpPr>
          <p:cNvPr id="11" name="Text 9"/>
          <p:cNvSpPr/>
          <p:nvPr/>
        </p:nvSpPr>
        <p:spPr>
          <a:xfrm>
            <a:off x="1280160" y="3401568"/>
            <a:ext cx="9875520" cy="685800"/>
          </a:xfrm>
          <a:prstGeom prst="rect">
            <a:avLst/>
          </a:prstGeom>
          <a:noFill/>
          <a:ln>
            <a:noFill/>
          </a:ln>
        </p:spPr>
        <p:txBody>
          <a:bodyPr wrap="square" rtlCol="0" anchor="ctr"/>
          <a:lstStyle/>
          <a:p>
            <a:pPr marL="0" indent="0">
              <a:buNone/>
            </a:pPr>
            <a:r>
              <a:rPr lang="en-US" sz="1400" dirty="0">
                <a:solidFill>
                  <a:srgbClr val="333F50"/>
                </a:solidFill>
                <a:latin typeface="Calibri" pitchFamily="34" charset="0"/>
                <a:ea typeface="Calibri" pitchFamily="34" charset="-122"/>
                <a:cs typeface="Calibri" pitchFamily="34" charset="-120"/>
              </a:rPr>
              <a:t>There exist c &gt; 0 and n₀ such that T(n) ≥ </a:t>
            </a:r>
            <a:r>
              <a:rPr lang="en-US" sz="1400" dirty="0" err="1">
                <a:solidFill>
                  <a:srgbClr val="333F50"/>
                </a:solidFill>
                <a:latin typeface="Calibri" pitchFamily="34" charset="0"/>
                <a:ea typeface="Calibri" pitchFamily="34" charset="-122"/>
                <a:cs typeface="Calibri" pitchFamily="34" charset="-120"/>
              </a:rPr>
              <a:t>c·f</a:t>
            </a:r>
            <a:r>
              <a:rPr lang="en-US" sz="1400" dirty="0">
                <a:solidFill>
                  <a:srgbClr val="333F50"/>
                </a:solidFill>
                <a:latin typeface="Calibri" pitchFamily="34" charset="0"/>
                <a:ea typeface="Calibri" pitchFamily="34" charset="-122"/>
                <a:cs typeface="Calibri" pitchFamily="34" charset="-120"/>
              </a:rPr>
              <a:t>(n) for every n ≥ n₀.</a:t>
            </a:r>
            <a:endParaRPr lang="en-US" sz="1400" dirty="0"/>
          </a:p>
        </p:txBody>
      </p:sp>
      <p:sp>
        <p:nvSpPr>
          <p:cNvPr id="12" name="Shape 10"/>
          <p:cNvSpPr/>
          <p:nvPr/>
        </p:nvSpPr>
        <p:spPr>
          <a:xfrm>
            <a:off x="548640" y="4206240"/>
            <a:ext cx="502920" cy="502920"/>
          </a:xfrm>
          <a:prstGeom prst="roundRect">
            <a:avLst>
              <a:gd name="adj" fmla="val 50909"/>
            </a:avLst>
          </a:prstGeom>
          <a:solidFill>
            <a:srgbClr val="ED7D31"/>
          </a:solidFill>
          <a:ln>
            <a:solidFill/>
          </a:ln>
        </p:spPr>
        <p:txBody>
          <a:bodyPr/>
          <a:lstStyle/>
          <a:p>
            <a:endParaRPr lang="en-US"/>
          </a:p>
        </p:txBody>
      </p:sp>
      <p:sp>
        <p:nvSpPr>
          <p:cNvPr id="13" name="Text 11"/>
          <p:cNvSpPr/>
          <p:nvPr/>
        </p:nvSpPr>
        <p:spPr>
          <a:xfrm>
            <a:off x="548640" y="4206240"/>
            <a:ext cx="502920" cy="502920"/>
          </a:xfrm>
          <a:prstGeom prst="rect">
            <a:avLst/>
          </a:prstGeom>
          <a:noFill/>
          <a:ln>
            <a:noFill/>
          </a:ln>
        </p:spPr>
        <p:txBody>
          <a:bodyPr wrap="square" rtlCol="0" anchor="ctr"/>
          <a:lstStyle/>
          <a:p>
            <a:pPr marL="0" indent="0" algn="ctr">
              <a:buNone/>
            </a:pPr>
            <a:r>
              <a:rPr lang="en-US" sz="2000" b="1">
                <a:solidFill>
                  <a:srgbClr val="333F50"/>
                </a:solidFill>
                <a:latin typeface="Cambria" pitchFamily="34" charset="0"/>
                <a:ea typeface="Cambria" pitchFamily="34" charset="-122"/>
                <a:cs typeface="Cambria" pitchFamily="34" charset="-120"/>
              </a:rPr>
              <a:t>Θ</a:t>
            </a:r>
            <a:endParaRPr lang="en-US" sz="2000"/>
          </a:p>
        </p:txBody>
      </p:sp>
      <p:sp>
        <p:nvSpPr>
          <p:cNvPr id="14" name="Text 12"/>
          <p:cNvSpPr/>
          <p:nvPr/>
        </p:nvSpPr>
        <p:spPr>
          <a:xfrm>
            <a:off x="1280160" y="4160520"/>
            <a:ext cx="9875520" cy="457200"/>
          </a:xfrm>
          <a:prstGeom prst="rect">
            <a:avLst/>
          </a:prstGeom>
          <a:noFill/>
          <a:ln>
            <a:noFill/>
          </a:ln>
        </p:spPr>
        <p:txBody>
          <a:bodyPr wrap="square" rtlCol="0" anchor="ctr"/>
          <a:lstStyle/>
          <a:p>
            <a:pPr marL="0" indent="0">
              <a:buNone/>
            </a:pPr>
            <a:r>
              <a:rPr lang="en-US" sz="1800" b="1" dirty="0" err="1">
                <a:solidFill>
                  <a:srgbClr val="333F50"/>
                </a:solidFill>
                <a:latin typeface="Cambria" pitchFamily="34" charset="0"/>
                <a:ea typeface="Cambria" pitchFamily="34" charset="-122"/>
                <a:cs typeface="Cambria" pitchFamily="34" charset="-120"/>
              </a:rPr>
              <a:t>Θ</a:t>
            </a:r>
            <a:r>
              <a:rPr lang="en-US" sz="1800" b="1" dirty="0">
                <a:solidFill>
                  <a:srgbClr val="333F50"/>
                </a:solidFill>
                <a:latin typeface="Cambria" pitchFamily="34" charset="0"/>
                <a:ea typeface="Cambria" pitchFamily="34" charset="-122"/>
                <a:cs typeface="Cambria" pitchFamily="34" charset="-120"/>
              </a:rPr>
              <a:t>(f(n)) — tight order of growth – Big-Theta</a:t>
            </a:r>
            <a:endParaRPr lang="en-US" sz="1800" dirty="0"/>
          </a:p>
        </p:txBody>
      </p:sp>
      <p:sp>
        <p:nvSpPr>
          <p:cNvPr id="15" name="Text 13"/>
          <p:cNvSpPr/>
          <p:nvPr/>
        </p:nvSpPr>
        <p:spPr>
          <a:xfrm>
            <a:off x="1280160" y="4590288"/>
            <a:ext cx="9875520" cy="685800"/>
          </a:xfrm>
          <a:prstGeom prst="rect">
            <a:avLst/>
          </a:prstGeom>
          <a:noFill/>
          <a:ln>
            <a:noFill/>
          </a:ln>
        </p:spPr>
        <p:txBody>
          <a:bodyPr wrap="square" rtlCol="0" anchor="ctr"/>
          <a:lstStyle/>
          <a:p>
            <a:pPr marL="0" indent="0">
              <a:buNone/>
            </a:pPr>
            <a:r>
              <a:rPr lang="en-US" sz="1400" dirty="0">
                <a:solidFill>
                  <a:srgbClr val="333F50"/>
                </a:solidFill>
                <a:latin typeface="Calibri" pitchFamily="34" charset="0"/>
                <a:ea typeface="Calibri" pitchFamily="34" charset="-122"/>
                <a:cs typeface="Calibri" pitchFamily="34" charset="-120"/>
              </a:rPr>
              <a:t>Both bounds hold: </a:t>
            </a:r>
            <a:r>
              <a:rPr lang="en-US" sz="1400" dirty="0" err="1">
                <a:solidFill>
                  <a:srgbClr val="333F50"/>
                </a:solidFill>
                <a:latin typeface="Calibri" pitchFamily="34" charset="0"/>
                <a:ea typeface="Calibri" pitchFamily="34" charset="-122"/>
                <a:cs typeface="Calibri" pitchFamily="34" charset="-120"/>
              </a:rPr>
              <a:t>c₁f</a:t>
            </a:r>
            <a:r>
              <a:rPr lang="en-US" sz="1400" dirty="0">
                <a:solidFill>
                  <a:srgbClr val="333F50"/>
                </a:solidFill>
                <a:latin typeface="Calibri" pitchFamily="34" charset="0"/>
                <a:ea typeface="Calibri" pitchFamily="34" charset="-122"/>
                <a:cs typeface="Calibri" pitchFamily="34" charset="-120"/>
              </a:rPr>
              <a:t>(n) ≤ T(n) ≤ </a:t>
            </a:r>
            <a:r>
              <a:rPr lang="en-US" sz="1400" dirty="0" err="1">
                <a:solidFill>
                  <a:srgbClr val="333F50"/>
                </a:solidFill>
                <a:latin typeface="Calibri" pitchFamily="34" charset="0"/>
                <a:ea typeface="Calibri" pitchFamily="34" charset="-122"/>
                <a:cs typeface="Calibri" pitchFamily="34" charset="-120"/>
              </a:rPr>
              <a:t>c₂f</a:t>
            </a:r>
            <a:r>
              <a:rPr lang="en-US" sz="1400" dirty="0">
                <a:solidFill>
                  <a:srgbClr val="333F50"/>
                </a:solidFill>
                <a:latin typeface="Calibri" pitchFamily="34" charset="0"/>
                <a:ea typeface="Calibri" pitchFamily="34" charset="-122"/>
                <a:cs typeface="Calibri" pitchFamily="34" charset="-120"/>
              </a:rPr>
              <a:t>(n) for all sufficiently large n.</a:t>
            </a:r>
            <a:endParaRPr lang="en-US" sz="1400" dirty="0"/>
          </a:p>
        </p:txBody>
      </p:sp>
      <p:sp>
        <p:nvSpPr>
          <p:cNvPr id="16" name="Shape 14"/>
          <p:cNvSpPr/>
          <p:nvPr/>
        </p:nvSpPr>
        <p:spPr>
          <a:xfrm>
            <a:off x="548640" y="5440680"/>
            <a:ext cx="11064240" cy="0"/>
          </a:xfrm>
          <a:prstGeom prst="line">
            <a:avLst/>
          </a:prstGeom>
          <a:noFill/>
          <a:ln w="11430">
            <a:solidFill>
              <a:srgbClr val="BFBFBF"/>
            </a:solidFill>
            <a:prstDash val="solid"/>
          </a:ln>
        </p:spPr>
        <p:txBody>
          <a:bodyPr/>
          <a:lstStyle/>
          <a:p>
            <a:endParaRPr lang="en-US"/>
          </a:p>
        </p:txBody>
      </p:sp>
      <p:sp>
        <p:nvSpPr>
          <p:cNvPr id="18" name="Text 16"/>
          <p:cNvSpPr/>
          <p:nvPr/>
        </p:nvSpPr>
        <p:spPr>
          <a:xfrm>
            <a:off x="685800" y="5490971"/>
            <a:ext cx="11064240" cy="640080"/>
          </a:xfrm>
          <a:prstGeom prst="rect">
            <a:avLst/>
          </a:prstGeom>
          <a:noFill/>
          <a:ln>
            <a:noFill/>
          </a:ln>
        </p:spPr>
        <p:txBody>
          <a:bodyPr wrap="square" rtlCol="0" anchor="ctr"/>
          <a:lstStyle/>
          <a:p>
            <a:pPr marL="0" indent="0">
              <a:buNone/>
            </a:pPr>
            <a:r>
              <a:rPr lang="en-US" sz="1600" i="1" dirty="0">
                <a:solidFill>
                  <a:srgbClr val="333F50"/>
                </a:solidFill>
                <a:latin typeface="Calibri" pitchFamily="34" charset="0"/>
                <a:ea typeface="Calibri" pitchFamily="34" charset="-122"/>
                <a:cs typeface="Calibri" pitchFamily="34" charset="-120"/>
              </a:rPr>
              <a:t>Example: 3n² + 10n + 4 ∈ </a:t>
            </a:r>
            <a:r>
              <a:rPr lang="en-US" sz="1600" i="1" dirty="0" err="1">
                <a:solidFill>
                  <a:srgbClr val="333F50"/>
                </a:solidFill>
                <a:latin typeface="Calibri" pitchFamily="34" charset="0"/>
                <a:ea typeface="Calibri" pitchFamily="34" charset="-122"/>
                <a:cs typeface="Calibri" pitchFamily="34" charset="-120"/>
              </a:rPr>
              <a:t>Θ</a:t>
            </a:r>
            <a:r>
              <a:rPr lang="en-US" sz="1600" i="1" dirty="0">
                <a:solidFill>
                  <a:srgbClr val="333F50"/>
                </a:solidFill>
                <a:latin typeface="Calibri" pitchFamily="34" charset="0"/>
                <a:ea typeface="Calibri" pitchFamily="34" charset="-122"/>
                <a:cs typeface="Calibri" pitchFamily="34" charset="-120"/>
              </a:rPr>
              <a:t>(n²): constants and lower-order terms fade as n grows. </a:t>
            </a:r>
            <a:endParaRPr lang="en-US" sz="1600" dirty="0"/>
          </a:p>
        </p:txBody>
      </p:sp>
      <p:sp>
        <p:nvSpPr>
          <p:cNvPr id="19" name="TextBox 18"/>
          <p:cNvSpPr txBox="1"/>
          <p:nvPr/>
        </p:nvSpPr>
        <p:spPr>
          <a:xfrm>
            <a:off x="10789920" y="6482435"/>
            <a:ext cx="731520" cy="138499"/>
          </a:xfrm>
          <a:prstGeom prst="rect">
            <a:avLst/>
          </a:prstGeom>
          <a:noFill/>
          <a:ln>
            <a:noFill/>
          </a:ln>
        </p:spPr>
        <p:txBody>
          <a:bodyPr wrap="square" lIns="0" tIns="0" rIns="0" bIns="0" anchor="ctr">
            <a:spAutoFit/>
          </a:bodyPr>
          <a:lstStyle/>
          <a:p>
            <a:pPr algn="r"/>
            <a:r>
              <a:rPr lang="en-US" sz="900" dirty="0">
                <a:solidFill>
                  <a:srgbClr val="333F50"/>
                </a:solidFill>
                <a:latin typeface="Calibri"/>
              </a:rPr>
              <a:t>7</a:t>
            </a:r>
          </a:p>
        </p:txBody>
      </p:sp>
      <p:sp>
        <p:nvSpPr>
          <p:cNvPr id="31" name="Text 29"/>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RECAP &amp; BRIDGE</a:t>
            </a:r>
            <a:endParaRPr lang="en-US" sz="1200" dirty="0"/>
          </a:p>
        </p:txBody>
      </p:sp>
      <p:sp>
        <p:nvSpPr>
          <p:cNvPr id="3" name="Text 1"/>
          <p:cNvSpPr/>
          <p:nvPr/>
        </p:nvSpPr>
        <p:spPr>
          <a:xfrm>
            <a:off x="548640" y="658368"/>
            <a:ext cx="11064240" cy="822960"/>
          </a:xfrm>
          <a:prstGeom prst="rect">
            <a:avLst/>
          </a:prstGeom>
          <a:noFill/>
          <a:ln>
            <a:noFill/>
          </a:ln>
        </p:spPr>
        <p:txBody>
          <a:bodyPr wrap="square" rtlCol="0" anchor="ctr"/>
          <a:lstStyle/>
          <a:p>
            <a:pPr marL="0" indent="0">
              <a:buNone/>
            </a:pPr>
            <a:r>
              <a:rPr lang="en-US" sz="3000" b="1">
                <a:solidFill>
                  <a:srgbClr val="333F50"/>
                </a:solidFill>
                <a:latin typeface="Cambria" pitchFamily="34" charset="0"/>
                <a:ea typeface="Cambria" pitchFamily="34" charset="-122"/>
                <a:cs typeface="Cambria" pitchFamily="34" charset="-120"/>
              </a:rPr>
              <a:t>Last time: two branches. Today: what if there's only one?</a:t>
            </a:r>
            <a:endParaRPr lang="en-US" sz="3000" dirty="0"/>
          </a:p>
        </p:txBody>
      </p:sp>
      <p:sp>
        <p:nvSpPr>
          <p:cNvPr id="4" name="Text 2"/>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
        <p:nvSpPr>
          <p:cNvPr id="5" name="Text 3"/>
          <p:cNvSpPr/>
          <p:nvPr/>
        </p:nvSpPr>
        <p:spPr>
          <a:xfrm>
            <a:off x="10881360" y="6510528"/>
            <a:ext cx="731520" cy="274320"/>
          </a:xfrm>
          <a:prstGeom prst="rect">
            <a:avLst/>
          </a:prstGeom>
          <a:noFill/>
          <a:ln>
            <a:noFill/>
          </a:ln>
        </p:spPr>
        <p:txBody>
          <a:bodyPr wrap="square" rtlCol="0" anchor="ctr"/>
          <a:lstStyle/>
          <a:p>
            <a:pPr marL="0" indent="0" algn="r">
              <a:buNone/>
            </a:pPr>
            <a:r>
              <a:rPr lang="en-US" sz="900" dirty="0">
                <a:solidFill>
                  <a:srgbClr val="595959"/>
                </a:solidFill>
                <a:latin typeface="Calibri" pitchFamily="34" charset="0"/>
                <a:cs typeface="Calibri" pitchFamily="34" charset="-120"/>
              </a:rPr>
              <a:t>8</a:t>
            </a:r>
            <a:endParaRPr lang="en-US" sz="900" dirty="0"/>
          </a:p>
        </p:txBody>
      </p:sp>
      <p:sp>
        <p:nvSpPr>
          <p:cNvPr id="6" name="Shape 4"/>
          <p:cNvSpPr/>
          <p:nvPr/>
        </p:nvSpPr>
        <p:spPr>
          <a:xfrm>
            <a:off x="548640" y="1874520"/>
            <a:ext cx="5257800" cy="3794760"/>
          </a:xfrm>
          <a:prstGeom prst="roundRect">
            <a:avLst>
              <a:gd name="adj" fmla="val 2892"/>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7" name="Text 5"/>
          <p:cNvSpPr/>
          <p:nvPr/>
        </p:nvSpPr>
        <p:spPr>
          <a:xfrm>
            <a:off x="868680" y="2148840"/>
            <a:ext cx="4617720" cy="274320"/>
          </a:xfrm>
          <a:prstGeom prst="rect">
            <a:avLst/>
          </a:prstGeom>
          <a:noFill/>
          <a:ln>
            <a:noFill/>
          </a:ln>
        </p:spPr>
        <p:txBody>
          <a:bodyPr wrap="square" rtlCol="0" anchor="ctr"/>
          <a:lstStyle/>
          <a:p>
            <a:pPr marL="0" indent="0">
              <a:buNone/>
            </a:pPr>
            <a:r>
              <a:rPr lang="en-US" sz="1100" b="1" kern="0" spc="150">
                <a:solidFill>
                  <a:srgbClr val="ED7D31"/>
                </a:solidFill>
                <a:latin typeface="Calibri" pitchFamily="34" charset="0"/>
                <a:ea typeface="Calibri" pitchFamily="34" charset="-122"/>
                <a:cs typeface="Calibri" pitchFamily="34" charset="-120"/>
              </a:rPr>
              <a:t>SEP 9 — FIBONACCI</a:t>
            </a:r>
            <a:endParaRPr lang="en-US" sz="1100" dirty="0"/>
          </a:p>
        </p:txBody>
      </p:sp>
      <p:sp>
        <p:nvSpPr>
          <p:cNvPr id="8" name="Text 6"/>
          <p:cNvSpPr/>
          <p:nvPr/>
        </p:nvSpPr>
        <p:spPr>
          <a:xfrm>
            <a:off x="868680" y="2560320"/>
            <a:ext cx="461772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fib(n)  →  fib(n-1) + fib(n-2)</a:t>
            </a:r>
            <a:endParaRPr lang="en-US" sz="1600" dirty="0"/>
          </a:p>
        </p:txBody>
      </p:sp>
      <p:sp>
        <p:nvSpPr>
          <p:cNvPr id="9" name="Text 7"/>
          <p:cNvSpPr/>
          <p:nvPr/>
        </p:nvSpPr>
        <p:spPr>
          <a:xfrm>
            <a:off x="868680" y="3154680"/>
            <a:ext cx="4617720" cy="118872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Two recursive calls, each only slightly smaller than n. The call tree fans out — and running time explodes to O(2ⁿ).</a:t>
            </a:r>
            <a:endParaRPr lang="en-US" sz="1400" dirty="0"/>
          </a:p>
        </p:txBody>
      </p:sp>
      <p:sp>
        <p:nvSpPr>
          <p:cNvPr id="10" name="Shape 8"/>
          <p:cNvSpPr/>
          <p:nvPr/>
        </p:nvSpPr>
        <p:spPr>
          <a:xfrm>
            <a:off x="868680" y="4480560"/>
            <a:ext cx="4617720" cy="0"/>
          </a:xfrm>
          <a:prstGeom prst="line">
            <a:avLst/>
          </a:prstGeom>
          <a:noFill/>
          <a:ln w="11430">
            <a:solidFill>
              <a:srgbClr val="BFBFBF"/>
            </a:solidFill>
            <a:prstDash val="solid"/>
          </a:ln>
        </p:spPr>
        <p:txBody>
          <a:bodyPr/>
          <a:lstStyle/>
          <a:p>
            <a:endParaRPr lang="en-US"/>
          </a:p>
        </p:txBody>
      </p:sp>
      <p:sp>
        <p:nvSpPr>
          <p:cNvPr id="11" name="Text 9"/>
          <p:cNvSpPr/>
          <p:nvPr/>
        </p:nvSpPr>
        <p:spPr>
          <a:xfrm>
            <a:off x="868680" y="4617720"/>
            <a:ext cx="4617720" cy="822960"/>
          </a:xfrm>
          <a:prstGeom prst="rect">
            <a:avLst/>
          </a:prstGeom>
          <a:noFill/>
          <a:ln>
            <a:noFill/>
          </a:ln>
        </p:spPr>
        <p:txBody>
          <a:bodyPr wrap="square" rtlCol="0" anchor="ctr"/>
          <a:lstStyle/>
          <a:p>
            <a:pPr marL="0" indent="0">
              <a:buNone/>
            </a:pPr>
            <a:r>
              <a:rPr lang="en-US" sz="1300" i="1">
                <a:solidFill>
                  <a:srgbClr val="595959"/>
                </a:solidFill>
                <a:latin typeface="Calibri" pitchFamily="34" charset="0"/>
                <a:ea typeface="Calibri" pitchFamily="34" charset="-122"/>
                <a:cs typeface="Calibri" pitchFamily="34" charset="-120"/>
              </a:rPr>
              <a:t>Branching factor 2, input barely shrinks → exponential depth's worth of work.</a:t>
            </a:r>
            <a:endParaRPr lang="en-US" sz="1300" dirty="0"/>
          </a:p>
        </p:txBody>
      </p:sp>
      <p:sp>
        <p:nvSpPr>
          <p:cNvPr id="12" name="Shape 10"/>
          <p:cNvSpPr/>
          <p:nvPr/>
        </p:nvSpPr>
        <p:spPr>
          <a:xfrm>
            <a:off x="6355080" y="1874520"/>
            <a:ext cx="5257800" cy="3794760"/>
          </a:xfrm>
          <a:prstGeom prst="roundRect">
            <a:avLst>
              <a:gd name="adj" fmla="val 2892"/>
            </a:avLst>
          </a:prstGeom>
          <a:solidFill>
            <a:srgbClr val="F5F5F5"/>
          </a:solidFill>
          <a:ln>
            <a:solidFill/>
          </a:ln>
        </p:spPr>
        <p:txBody>
          <a:bodyPr/>
          <a:lstStyle/>
          <a:p>
            <a:endParaRPr lang="en-US"/>
          </a:p>
        </p:txBody>
      </p:sp>
      <p:sp>
        <p:nvSpPr>
          <p:cNvPr id="13" name="Text 11"/>
          <p:cNvSpPr/>
          <p:nvPr/>
        </p:nvSpPr>
        <p:spPr>
          <a:xfrm>
            <a:off x="6675120" y="2148840"/>
            <a:ext cx="4617720" cy="274320"/>
          </a:xfrm>
          <a:prstGeom prst="rect">
            <a:avLst/>
          </a:prstGeom>
          <a:noFill/>
          <a:ln>
            <a:noFill/>
          </a:ln>
        </p:spPr>
        <p:txBody>
          <a:bodyPr wrap="square" rtlCol="0" anchor="ctr"/>
          <a:lstStyle/>
          <a:p>
            <a:pPr marL="0" indent="0">
              <a:buNone/>
            </a:pPr>
            <a:r>
              <a:rPr lang="en-US" sz="1100" b="1" kern="0" spc="150">
                <a:solidFill>
                  <a:srgbClr val="4472C4"/>
                </a:solidFill>
                <a:latin typeface="Calibri" pitchFamily="34" charset="0"/>
                <a:ea typeface="Calibri" pitchFamily="34" charset="-122"/>
                <a:cs typeface="Calibri" pitchFamily="34" charset="-120"/>
              </a:rPr>
              <a:t>TODAY — A DIFFERENT SHAPE</a:t>
            </a:r>
            <a:endParaRPr lang="en-US" sz="1100" dirty="0"/>
          </a:p>
        </p:txBody>
      </p:sp>
      <p:sp>
        <p:nvSpPr>
          <p:cNvPr id="14" name="Text 12"/>
          <p:cNvSpPr/>
          <p:nvPr/>
        </p:nvSpPr>
        <p:spPr>
          <a:xfrm>
            <a:off x="6675120" y="2560320"/>
            <a:ext cx="461772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solve(n)  →  solve(n / 2)</a:t>
            </a:r>
            <a:endParaRPr lang="en-US" sz="1600" dirty="0"/>
          </a:p>
        </p:txBody>
      </p:sp>
      <p:sp>
        <p:nvSpPr>
          <p:cNvPr id="15" name="Text 13"/>
          <p:cNvSpPr/>
          <p:nvPr/>
        </p:nvSpPr>
        <p:spPr>
          <a:xfrm>
            <a:off x="6675120" y="3154680"/>
            <a:ext cx="4617720" cy="118872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One recursive call, but the input is cut in half every time. What does that do to the running time?</a:t>
            </a:r>
            <a:endParaRPr lang="en-US" sz="1400" dirty="0"/>
          </a:p>
        </p:txBody>
      </p:sp>
      <p:sp>
        <p:nvSpPr>
          <p:cNvPr id="16" name="Shape 14"/>
          <p:cNvSpPr/>
          <p:nvPr/>
        </p:nvSpPr>
        <p:spPr>
          <a:xfrm>
            <a:off x="6675120" y="4480560"/>
            <a:ext cx="4617720" cy="0"/>
          </a:xfrm>
          <a:prstGeom prst="line">
            <a:avLst/>
          </a:prstGeom>
          <a:noFill/>
          <a:ln w="11430">
            <a:solidFill>
              <a:srgbClr val="BFBFBF"/>
            </a:solidFill>
            <a:prstDash val="solid"/>
          </a:ln>
        </p:spPr>
        <p:txBody>
          <a:bodyPr/>
          <a:lstStyle/>
          <a:p>
            <a:endParaRPr lang="en-US"/>
          </a:p>
        </p:txBody>
      </p:sp>
      <p:sp>
        <p:nvSpPr>
          <p:cNvPr id="17" name="Text 15"/>
          <p:cNvSpPr/>
          <p:nvPr/>
        </p:nvSpPr>
        <p:spPr>
          <a:xfrm>
            <a:off x="6675120" y="4617720"/>
            <a:ext cx="4617720" cy="822960"/>
          </a:xfrm>
          <a:prstGeom prst="rect">
            <a:avLst/>
          </a:prstGeom>
          <a:noFill/>
          <a:ln>
            <a:noFill/>
          </a:ln>
        </p:spPr>
        <p:txBody>
          <a:bodyPr wrap="square" rtlCol="0" anchor="ctr"/>
          <a:lstStyle/>
          <a:p>
            <a:pPr marL="0" indent="0">
              <a:buNone/>
            </a:pPr>
            <a:r>
              <a:rPr lang="en-US" sz="1300" i="1">
                <a:solidFill>
                  <a:srgbClr val="333F50"/>
                </a:solidFill>
                <a:latin typeface="Calibri" pitchFamily="34" charset="0"/>
                <a:ea typeface="Calibri" pitchFamily="34" charset="-122"/>
                <a:cs typeface="Calibri" pitchFamily="34" charset="-120"/>
              </a:rPr>
              <a:t>Branching factor 1, input halves → the tree can't help but be shallow. That shallowness has a name: </a:t>
            </a:r>
            <a:r>
              <a:rPr lang="en-US" sz="1300" b="1" i="1">
                <a:solidFill>
                  <a:srgbClr val="333F50"/>
                </a:solidFill>
                <a:latin typeface="Calibri" pitchFamily="34" charset="0"/>
                <a:ea typeface="Calibri" pitchFamily="34" charset="-122"/>
                <a:cs typeface="Calibri" pitchFamily="34" charset="-120"/>
              </a:rPr>
              <a:t>log₂n.</a:t>
            </a:r>
            <a:endParaRPr lang="en-US" sz="13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CORE IDEA</a:t>
            </a:r>
            <a:endParaRPr lang="en-US" sz="1200" dirty="0"/>
          </a:p>
        </p:txBody>
      </p:sp>
      <p:sp>
        <p:nvSpPr>
          <p:cNvPr id="3" name="Text 1"/>
          <p:cNvSpPr/>
          <p:nvPr/>
        </p:nvSpPr>
        <p:spPr>
          <a:xfrm>
            <a:off x="548640" y="658368"/>
            <a:ext cx="11064240" cy="822960"/>
          </a:xfrm>
          <a:prstGeom prst="rect">
            <a:avLst/>
          </a:prstGeom>
          <a:noFill/>
          <a:ln>
            <a:noFill/>
          </a:ln>
        </p:spPr>
        <p:txBody>
          <a:bodyPr wrap="square" rtlCol="0" anchor="ctr"/>
          <a:lstStyle/>
          <a:p>
            <a:pPr marL="0" indent="0">
              <a:buNone/>
            </a:pPr>
            <a:r>
              <a:rPr lang="en-US" sz="3000" b="1">
                <a:solidFill>
                  <a:srgbClr val="333F50"/>
                </a:solidFill>
                <a:latin typeface="Cambria" pitchFamily="34" charset="0"/>
                <a:ea typeface="Cambria" pitchFamily="34" charset="-122"/>
                <a:cs typeface="Cambria" pitchFamily="34" charset="-120"/>
              </a:rPr>
              <a:t>log₂n counts how many times you can halve n</a:t>
            </a:r>
            <a:endParaRPr lang="en-US" sz="3000" dirty="0"/>
          </a:p>
        </p:txBody>
      </p:sp>
      <p:sp>
        <p:nvSpPr>
          <p:cNvPr id="4" name="Shape 2"/>
          <p:cNvSpPr/>
          <p:nvPr/>
        </p:nvSpPr>
        <p:spPr>
          <a:xfrm>
            <a:off x="548640" y="1828800"/>
            <a:ext cx="5943600" cy="3931920"/>
          </a:xfrm>
          <a:prstGeom prst="roundRect">
            <a:avLst>
              <a:gd name="adj" fmla="val 2791"/>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5" name="Text 3"/>
          <p:cNvSpPr/>
          <p:nvPr/>
        </p:nvSpPr>
        <p:spPr>
          <a:xfrm>
            <a:off x="868680" y="2103120"/>
            <a:ext cx="5303520" cy="274320"/>
          </a:xfrm>
          <a:prstGeom prst="rect">
            <a:avLst/>
          </a:prstGeom>
          <a:noFill/>
          <a:ln>
            <a:noFill/>
          </a:ln>
        </p:spPr>
        <p:txBody>
          <a:bodyPr wrap="square" rtlCol="0" anchor="ctr"/>
          <a:lstStyle/>
          <a:p>
            <a:pPr marL="0" indent="0">
              <a:buNone/>
            </a:pPr>
            <a:r>
              <a:rPr lang="en-US" sz="1100" b="1" kern="0" spc="150">
                <a:solidFill>
                  <a:srgbClr val="4472C4"/>
                </a:solidFill>
                <a:latin typeface="Calibri" pitchFamily="34" charset="0"/>
                <a:ea typeface="Calibri" pitchFamily="34" charset="-122"/>
                <a:cs typeface="Calibri" pitchFamily="34" charset="-120"/>
              </a:rPr>
              <a:t>HALVING 16, STEP BY STEP</a:t>
            </a:r>
            <a:endParaRPr lang="en-US" sz="1100" dirty="0"/>
          </a:p>
        </p:txBody>
      </p:sp>
      <p:sp>
        <p:nvSpPr>
          <p:cNvPr id="6" name="Shape 4"/>
          <p:cNvSpPr/>
          <p:nvPr/>
        </p:nvSpPr>
        <p:spPr>
          <a:xfrm>
            <a:off x="960120" y="2606040"/>
            <a:ext cx="777240" cy="594360"/>
          </a:xfrm>
          <a:prstGeom prst="roundRect">
            <a:avLst>
              <a:gd name="adj" fmla="val 12308"/>
            </a:avLst>
          </a:prstGeom>
          <a:solidFill>
            <a:srgbClr val="4472C4"/>
          </a:solidFill>
          <a:ln>
            <a:solidFill/>
          </a:ln>
        </p:spPr>
        <p:txBody>
          <a:bodyPr/>
          <a:lstStyle/>
          <a:p>
            <a:endParaRPr lang="en-US"/>
          </a:p>
        </p:txBody>
      </p:sp>
      <p:sp>
        <p:nvSpPr>
          <p:cNvPr id="7" name="Text 5"/>
          <p:cNvSpPr/>
          <p:nvPr/>
        </p:nvSpPr>
        <p:spPr>
          <a:xfrm>
            <a:off x="960120" y="2606040"/>
            <a:ext cx="777240" cy="594360"/>
          </a:xfrm>
          <a:prstGeom prst="rect">
            <a:avLst/>
          </a:prstGeom>
          <a:noFill/>
          <a:ln>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16</a:t>
            </a:r>
            <a:endParaRPr lang="en-US" sz="1600" dirty="0"/>
          </a:p>
        </p:txBody>
      </p:sp>
      <p:sp>
        <p:nvSpPr>
          <p:cNvPr id="8" name="Shape 6"/>
          <p:cNvSpPr/>
          <p:nvPr/>
        </p:nvSpPr>
        <p:spPr>
          <a:xfrm>
            <a:off x="1737360" y="2903220"/>
            <a:ext cx="182880" cy="0"/>
          </a:xfrm>
          <a:prstGeom prst="line">
            <a:avLst/>
          </a:prstGeom>
          <a:noFill/>
          <a:ln w="19050">
            <a:solidFill>
              <a:srgbClr val="4472C4"/>
            </a:solidFill>
            <a:prstDash val="solid"/>
            <a:tailEnd type="triangle"/>
          </a:ln>
        </p:spPr>
        <p:txBody>
          <a:bodyPr/>
          <a:lstStyle/>
          <a:p>
            <a:endParaRPr lang="en-US"/>
          </a:p>
        </p:txBody>
      </p:sp>
      <p:sp>
        <p:nvSpPr>
          <p:cNvPr id="9" name="Shape 7"/>
          <p:cNvSpPr/>
          <p:nvPr/>
        </p:nvSpPr>
        <p:spPr>
          <a:xfrm>
            <a:off x="1920240" y="2606040"/>
            <a:ext cx="777240" cy="594360"/>
          </a:xfrm>
          <a:prstGeom prst="roundRect">
            <a:avLst>
              <a:gd name="adj" fmla="val 12308"/>
            </a:avLst>
          </a:prstGeom>
          <a:solidFill>
            <a:srgbClr val="4472C4"/>
          </a:solidFill>
          <a:ln>
            <a:solidFill/>
          </a:ln>
        </p:spPr>
        <p:txBody>
          <a:bodyPr/>
          <a:lstStyle/>
          <a:p>
            <a:endParaRPr lang="en-US"/>
          </a:p>
        </p:txBody>
      </p:sp>
      <p:sp>
        <p:nvSpPr>
          <p:cNvPr id="10" name="Text 8"/>
          <p:cNvSpPr/>
          <p:nvPr/>
        </p:nvSpPr>
        <p:spPr>
          <a:xfrm>
            <a:off x="1920240" y="2606040"/>
            <a:ext cx="777240" cy="594360"/>
          </a:xfrm>
          <a:prstGeom prst="rect">
            <a:avLst/>
          </a:prstGeom>
          <a:noFill/>
          <a:ln>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8</a:t>
            </a:r>
            <a:endParaRPr lang="en-US" sz="1600" dirty="0"/>
          </a:p>
        </p:txBody>
      </p:sp>
      <p:sp>
        <p:nvSpPr>
          <p:cNvPr id="11" name="Shape 9"/>
          <p:cNvSpPr/>
          <p:nvPr/>
        </p:nvSpPr>
        <p:spPr>
          <a:xfrm>
            <a:off x="2697480" y="2903220"/>
            <a:ext cx="182880" cy="0"/>
          </a:xfrm>
          <a:prstGeom prst="line">
            <a:avLst/>
          </a:prstGeom>
          <a:noFill/>
          <a:ln w="19050">
            <a:solidFill>
              <a:srgbClr val="4472C4"/>
            </a:solidFill>
            <a:prstDash val="solid"/>
            <a:tailEnd type="triangle"/>
          </a:ln>
        </p:spPr>
        <p:txBody>
          <a:bodyPr/>
          <a:lstStyle/>
          <a:p>
            <a:endParaRPr lang="en-US"/>
          </a:p>
        </p:txBody>
      </p:sp>
      <p:sp>
        <p:nvSpPr>
          <p:cNvPr id="12" name="Shape 10"/>
          <p:cNvSpPr/>
          <p:nvPr/>
        </p:nvSpPr>
        <p:spPr>
          <a:xfrm>
            <a:off x="2880360" y="2606040"/>
            <a:ext cx="777240" cy="594360"/>
          </a:xfrm>
          <a:prstGeom prst="roundRect">
            <a:avLst>
              <a:gd name="adj" fmla="val 12308"/>
            </a:avLst>
          </a:prstGeom>
          <a:solidFill>
            <a:srgbClr val="4472C4"/>
          </a:solidFill>
          <a:ln>
            <a:solidFill/>
          </a:ln>
        </p:spPr>
        <p:txBody>
          <a:bodyPr/>
          <a:lstStyle/>
          <a:p>
            <a:endParaRPr lang="en-US"/>
          </a:p>
        </p:txBody>
      </p:sp>
      <p:sp>
        <p:nvSpPr>
          <p:cNvPr id="13" name="Text 11"/>
          <p:cNvSpPr/>
          <p:nvPr/>
        </p:nvSpPr>
        <p:spPr>
          <a:xfrm>
            <a:off x="2880360" y="2606040"/>
            <a:ext cx="777240" cy="594360"/>
          </a:xfrm>
          <a:prstGeom prst="rect">
            <a:avLst/>
          </a:prstGeom>
          <a:noFill/>
          <a:ln>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4</a:t>
            </a:r>
            <a:endParaRPr lang="en-US" sz="1600" dirty="0"/>
          </a:p>
        </p:txBody>
      </p:sp>
      <p:sp>
        <p:nvSpPr>
          <p:cNvPr id="14" name="Shape 12"/>
          <p:cNvSpPr/>
          <p:nvPr/>
        </p:nvSpPr>
        <p:spPr>
          <a:xfrm>
            <a:off x="3657600" y="2903220"/>
            <a:ext cx="182880" cy="0"/>
          </a:xfrm>
          <a:prstGeom prst="line">
            <a:avLst/>
          </a:prstGeom>
          <a:noFill/>
          <a:ln w="19050">
            <a:solidFill>
              <a:srgbClr val="4472C4"/>
            </a:solidFill>
            <a:prstDash val="solid"/>
            <a:tailEnd type="triangle"/>
          </a:ln>
        </p:spPr>
        <p:txBody>
          <a:bodyPr/>
          <a:lstStyle/>
          <a:p>
            <a:endParaRPr lang="en-US"/>
          </a:p>
        </p:txBody>
      </p:sp>
      <p:sp>
        <p:nvSpPr>
          <p:cNvPr id="15" name="Shape 13"/>
          <p:cNvSpPr/>
          <p:nvPr/>
        </p:nvSpPr>
        <p:spPr>
          <a:xfrm>
            <a:off x="3840480" y="2606040"/>
            <a:ext cx="777240" cy="594360"/>
          </a:xfrm>
          <a:prstGeom prst="roundRect">
            <a:avLst>
              <a:gd name="adj" fmla="val 12308"/>
            </a:avLst>
          </a:prstGeom>
          <a:solidFill>
            <a:srgbClr val="4472C4"/>
          </a:solidFill>
          <a:ln>
            <a:solidFill/>
          </a:ln>
        </p:spPr>
        <p:txBody>
          <a:bodyPr/>
          <a:lstStyle/>
          <a:p>
            <a:endParaRPr lang="en-US"/>
          </a:p>
        </p:txBody>
      </p:sp>
      <p:sp>
        <p:nvSpPr>
          <p:cNvPr id="16" name="Text 14"/>
          <p:cNvSpPr/>
          <p:nvPr/>
        </p:nvSpPr>
        <p:spPr>
          <a:xfrm>
            <a:off x="3840480" y="2606040"/>
            <a:ext cx="777240" cy="594360"/>
          </a:xfrm>
          <a:prstGeom prst="rect">
            <a:avLst/>
          </a:prstGeom>
          <a:noFill/>
          <a:ln>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2</a:t>
            </a:r>
            <a:endParaRPr lang="en-US" sz="1600" dirty="0"/>
          </a:p>
        </p:txBody>
      </p:sp>
      <p:sp>
        <p:nvSpPr>
          <p:cNvPr id="17" name="Shape 15"/>
          <p:cNvSpPr/>
          <p:nvPr/>
        </p:nvSpPr>
        <p:spPr>
          <a:xfrm>
            <a:off x="4617720" y="2903220"/>
            <a:ext cx="182880" cy="0"/>
          </a:xfrm>
          <a:prstGeom prst="line">
            <a:avLst/>
          </a:prstGeom>
          <a:noFill/>
          <a:ln w="19050">
            <a:solidFill>
              <a:srgbClr val="4472C4"/>
            </a:solidFill>
            <a:prstDash val="solid"/>
            <a:tailEnd type="triangle"/>
          </a:ln>
        </p:spPr>
        <p:txBody>
          <a:bodyPr/>
          <a:lstStyle/>
          <a:p>
            <a:endParaRPr lang="en-US"/>
          </a:p>
        </p:txBody>
      </p:sp>
      <p:sp>
        <p:nvSpPr>
          <p:cNvPr id="18" name="Shape 16"/>
          <p:cNvSpPr/>
          <p:nvPr/>
        </p:nvSpPr>
        <p:spPr>
          <a:xfrm>
            <a:off x="4800600" y="2606040"/>
            <a:ext cx="777240" cy="594360"/>
          </a:xfrm>
          <a:prstGeom prst="roundRect">
            <a:avLst>
              <a:gd name="adj" fmla="val 12308"/>
            </a:avLst>
          </a:prstGeom>
          <a:solidFill>
            <a:srgbClr val="ED7D31"/>
          </a:solidFill>
          <a:ln>
            <a:solidFill/>
          </a:ln>
        </p:spPr>
        <p:txBody>
          <a:bodyPr/>
          <a:lstStyle/>
          <a:p>
            <a:endParaRPr lang="en-US"/>
          </a:p>
        </p:txBody>
      </p:sp>
      <p:sp>
        <p:nvSpPr>
          <p:cNvPr id="19" name="Text 17"/>
          <p:cNvSpPr/>
          <p:nvPr/>
        </p:nvSpPr>
        <p:spPr>
          <a:xfrm>
            <a:off x="4800600" y="2606040"/>
            <a:ext cx="777240" cy="594360"/>
          </a:xfrm>
          <a:prstGeom prst="rect">
            <a:avLst/>
          </a:prstGeom>
          <a:noFill/>
          <a:ln>
            <a:noFill/>
          </a:ln>
        </p:spPr>
        <p:txBody>
          <a:bodyPr wrap="square"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1</a:t>
            </a:r>
            <a:endParaRPr lang="en-US" sz="1600" dirty="0"/>
          </a:p>
        </p:txBody>
      </p:sp>
      <p:sp>
        <p:nvSpPr>
          <p:cNvPr id="20" name="Text 18"/>
          <p:cNvSpPr/>
          <p:nvPr/>
        </p:nvSpPr>
        <p:spPr>
          <a:xfrm>
            <a:off x="1234440" y="3291840"/>
            <a:ext cx="4572000" cy="274320"/>
          </a:xfrm>
          <a:prstGeom prst="rect">
            <a:avLst/>
          </a:prstGeom>
          <a:noFill/>
          <a:ln>
            <a:noFill/>
          </a:ln>
        </p:spPr>
        <p:txBody>
          <a:bodyPr wrap="square" rtlCol="0" anchor="ctr"/>
          <a:lstStyle/>
          <a:p>
            <a:pPr marL="0" indent="0">
              <a:buNone/>
            </a:pPr>
            <a:r>
              <a:rPr lang="en-US" sz="1100">
                <a:solidFill>
                  <a:srgbClr val="595959"/>
                </a:solidFill>
                <a:latin typeface="Calibri" pitchFamily="34" charset="0"/>
                <a:ea typeface="Calibri" pitchFamily="34" charset="-122"/>
                <a:cs typeface="Calibri" pitchFamily="34" charset="-120"/>
              </a:rPr>
              <a:t>             ÷2                          ÷2                          ÷2                          ÷2</a:t>
            </a:r>
            <a:endParaRPr lang="en-US" sz="1100" dirty="0"/>
          </a:p>
        </p:txBody>
      </p:sp>
      <p:sp>
        <p:nvSpPr>
          <p:cNvPr id="21" name="Shape 19"/>
          <p:cNvSpPr/>
          <p:nvPr/>
        </p:nvSpPr>
        <p:spPr>
          <a:xfrm>
            <a:off x="868680" y="3794760"/>
            <a:ext cx="5303520" cy="777240"/>
          </a:xfrm>
          <a:prstGeom prst="roundRect">
            <a:avLst>
              <a:gd name="adj" fmla="val 9412"/>
            </a:avLst>
          </a:prstGeom>
          <a:solidFill>
            <a:srgbClr val="F3F0FA"/>
          </a:solidFill>
          <a:ln w="12700">
            <a:solidFill>
              <a:srgbClr val="E4DEF2"/>
            </a:solidFill>
            <a:prstDash val="solid"/>
          </a:ln>
        </p:spPr>
        <p:txBody>
          <a:bodyPr/>
          <a:lstStyle/>
          <a:p>
            <a:endParaRPr lang="en-US"/>
          </a:p>
        </p:txBody>
      </p:sp>
      <p:sp>
        <p:nvSpPr>
          <p:cNvPr id="22" name="Text 20"/>
          <p:cNvSpPr/>
          <p:nvPr/>
        </p:nvSpPr>
        <p:spPr>
          <a:xfrm>
            <a:off x="1097280" y="3794760"/>
            <a:ext cx="4846320" cy="77724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It took 4 divisions by 2 to get from 16 down to 1.</a:t>
            </a:r>
            <a:endParaRPr lang="en-US" sz="1400" dirty="0"/>
          </a:p>
        </p:txBody>
      </p:sp>
      <p:sp>
        <p:nvSpPr>
          <p:cNvPr id="23" name="Text 21"/>
          <p:cNvSpPr/>
          <p:nvPr/>
        </p:nvSpPr>
        <p:spPr>
          <a:xfrm>
            <a:off x="868680" y="4754880"/>
            <a:ext cx="5303520" cy="457200"/>
          </a:xfrm>
          <a:prstGeom prst="rect">
            <a:avLst/>
          </a:prstGeom>
          <a:noFill/>
          <a:ln>
            <a:noFill/>
          </a:ln>
        </p:spPr>
        <p:txBody>
          <a:bodyPr wrap="square" rtlCol="0" anchor="ctr"/>
          <a:lstStyle/>
          <a:p>
            <a:pPr marL="0" indent="0">
              <a:buNone/>
            </a:pPr>
            <a:r>
              <a:rPr lang="en-US" sz="1800" b="1">
                <a:solidFill>
                  <a:srgbClr val="333F50"/>
                </a:solidFill>
                <a:latin typeface="Courier New" pitchFamily="34" charset="0"/>
                <a:ea typeface="Courier New" pitchFamily="34" charset="-122"/>
                <a:cs typeface="Courier New" pitchFamily="34" charset="-120"/>
              </a:rPr>
              <a:t>So we say:   log₂(16) = 4</a:t>
            </a:r>
            <a:endParaRPr lang="en-US" sz="1800" dirty="0"/>
          </a:p>
        </p:txBody>
      </p:sp>
      <p:sp>
        <p:nvSpPr>
          <p:cNvPr id="24" name="Text 22"/>
          <p:cNvSpPr/>
          <p:nvPr/>
        </p:nvSpPr>
        <p:spPr>
          <a:xfrm>
            <a:off x="868680" y="5257800"/>
            <a:ext cx="5303520" cy="365760"/>
          </a:xfrm>
          <a:prstGeom prst="rect">
            <a:avLst/>
          </a:prstGeom>
          <a:noFill/>
          <a:ln>
            <a:noFill/>
          </a:ln>
        </p:spPr>
        <p:txBody>
          <a:bodyPr wrap="square" rtlCol="0" anchor="ctr"/>
          <a:lstStyle/>
          <a:p>
            <a:pPr marL="0" indent="0">
              <a:buNone/>
            </a:pPr>
            <a:r>
              <a:rPr lang="en-US" sz="1300" i="1">
                <a:solidFill>
                  <a:srgbClr val="595959"/>
                </a:solidFill>
                <a:latin typeface="Calibri" pitchFamily="34" charset="0"/>
                <a:ea typeface="Calibri" pitchFamily="34" charset="-122"/>
                <a:cs typeface="Calibri" pitchFamily="34" charset="-120"/>
              </a:rPr>
              <a:t>Same idea, run backwards: 2⁴ = 16.</a:t>
            </a:r>
            <a:endParaRPr lang="en-US" sz="1300" dirty="0"/>
          </a:p>
        </p:txBody>
      </p:sp>
      <p:sp>
        <p:nvSpPr>
          <p:cNvPr id="25" name="Shape 23"/>
          <p:cNvSpPr/>
          <p:nvPr/>
        </p:nvSpPr>
        <p:spPr>
          <a:xfrm>
            <a:off x="7040880" y="1828800"/>
            <a:ext cx="4846320" cy="3931920"/>
          </a:xfrm>
          <a:prstGeom prst="roundRect">
            <a:avLst>
              <a:gd name="adj" fmla="val 2791"/>
            </a:avLst>
          </a:prstGeom>
          <a:solidFill>
            <a:srgbClr val="F5F5F5"/>
          </a:solidFill>
          <a:ln>
            <a:solidFill/>
          </a:ln>
        </p:spPr>
        <p:txBody>
          <a:bodyPr/>
          <a:lstStyle/>
          <a:p>
            <a:endParaRPr lang="en-US"/>
          </a:p>
        </p:txBody>
      </p:sp>
      <p:sp>
        <p:nvSpPr>
          <p:cNvPr id="26" name="Text 24"/>
          <p:cNvSpPr/>
          <p:nvPr/>
        </p:nvSpPr>
        <p:spPr>
          <a:xfrm>
            <a:off x="7360920" y="2103120"/>
            <a:ext cx="4206240" cy="274320"/>
          </a:xfrm>
          <a:prstGeom prst="rect">
            <a:avLst/>
          </a:prstGeom>
          <a:noFill/>
          <a:ln>
            <a:noFill/>
          </a:ln>
        </p:spPr>
        <p:txBody>
          <a:bodyPr wrap="square" rtlCol="0" anchor="ctr"/>
          <a:lstStyle/>
          <a:p>
            <a:pPr marL="0" indent="0">
              <a:buNone/>
            </a:pPr>
            <a:r>
              <a:rPr lang="en-US" sz="1100" b="1" kern="0" spc="150">
                <a:solidFill>
                  <a:srgbClr val="ED7D31"/>
                </a:solidFill>
                <a:latin typeface="Calibri" pitchFamily="34" charset="0"/>
                <a:ea typeface="Calibri" pitchFamily="34" charset="-122"/>
                <a:cs typeface="Calibri" pitchFamily="34" charset="-120"/>
              </a:rPr>
              <a:t>FORMAL DEFINITION</a:t>
            </a:r>
            <a:endParaRPr lang="en-US" sz="1100" dirty="0"/>
          </a:p>
        </p:txBody>
      </p:sp>
      <p:sp>
        <p:nvSpPr>
          <p:cNvPr id="27" name="Text 25"/>
          <p:cNvSpPr/>
          <p:nvPr/>
        </p:nvSpPr>
        <p:spPr>
          <a:xfrm>
            <a:off x="7360920" y="2560320"/>
            <a:ext cx="4206240" cy="1005840"/>
          </a:xfrm>
          <a:prstGeom prst="rect">
            <a:avLst/>
          </a:prstGeom>
          <a:noFill/>
          <a:ln>
            <a:noFill/>
          </a:ln>
        </p:spPr>
        <p:txBody>
          <a:bodyPr wrap="square" rtlCol="0" anchor="ctr"/>
          <a:lstStyle/>
          <a:p>
            <a:pPr marL="0" indent="0">
              <a:buNone/>
            </a:pPr>
            <a:r>
              <a:rPr lang="en-US" sz="1700">
                <a:solidFill>
                  <a:srgbClr val="333F50"/>
                </a:solidFill>
                <a:latin typeface="Courier New" pitchFamily="34" charset="0"/>
                <a:ea typeface="Courier New" pitchFamily="34" charset="-122"/>
                <a:cs typeface="Courier New" pitchFamily="34" charset="-120"/>
              </a:rPr>
              <a:t>logₐ(n) = the exponent x</a:t>
            </a:r>
            <a:endParaRPr lang="en-US" sz="1700" dirty="0"/>
          </a:p>
          <a:p>
            <a:pPr marL="0" indent="0">
              <a:buNone/>
            </a:pPr>
            <a:r>
              <a:rPr lang="en-US" sz="1700">
                <a:solidFill>
                  <a:srgbClr val="333F50"/>
                </a:solidFill>
                <a:latin typeface="Courier New" pitchFamily="34" charset="0"/>
                <a:ea typeface="Courier New" pitchFamily="34" charset="-122"/>
                <a:cs typeface="Courier New" pitchFamily="34" charset="-120"/>
              </a:rPr>
              <a:t>such that  aˣ = n</a:t>
            </a:r>
            <a:endParaRPr lang="en-US" sz="1700" dirty="0"/>
          </a:p>
        </p:txBody>
      </p:sp>
      <p:sp>
        <p:nvSpPr>
          <p:cNvPr id="28" name="Shape 26"/>
          <p:cNvSpPr/>
          <p:nvPr/>
        </p:nvSpPr>
        <p:spPr>
          <a:xfrm>
            <a:off x="7360920" y="3657600"/>
            <a:ext cx="4206240" cy="0"/>
          </a:xfrm>
          <a:prstGeom prst="line">
            <a:avLst/>
          </a:prstGeom>
          <a:noFill/>
          <a:ln w="11430">
            <a:solidFill>
              <a:srgbClr val="BFBFBF"/>
            </a:solidFill>
            <a:prstDash val="solid"/>
          </a:ln>
        </p:spPr>
        <p:txBody>
          <a:bodyPr/>
          <a:lstStyle/>
          <a:p>
            <a:endParaRPr lang="en-US"/>
          </a:p>
        </p:txBody>
      </p:sp>
      <p:sp>
        <p:nvSpPr>
          <p:cNvPr id="29" name="Text 27"/>
          <p:cNvSpPr/>
          <p:nvPr/>
        </p:nvSpPr>
        <p:spPr>
          <a:xfrm>
            <a:off x="7360920" y="3840480"/>
            <a:ext cx="4206240" cy="100584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In this course (and your textbook), "log n" with no base written always means log₂n — the CS default.</a:t>
            </a:r>
            <a:endParaRPr lang="en-US" sz="1400" dirty="0"/>
          </a:p>
        </p:txBody>
      </p:sp>
      <p:sp>
        <p:nvSpPr>
          <p:cNvPr id="30" name="Text 28"/>
          <p:cNvSpPr/>
          <p:nvPr/>
        </p:nvSpPr>
        <p:spPr>
          <a:xfrm>
            <a:off x="7360920" y="4937760"/>
            <a:ext cx="4206240" cy="731520"/>
          </a:xfrm>
          <a:prstGeom prst="rect">
            <a:avLst/>
          </a:prstGeom>
          <a:noFill/>
          <a:ln>
            <a:noFill/>
          </a:ln>
        </p:spPr>
        <p:txBody>
          <a:bodyPr wrap="square" rtlCol="0" anchor="ctr"/>
          <a:lstStyle/>
          <a:p>
            <a:pPr marL="0" indent="0">
              <a:buNone/>
            </a:pPr>
            <a:r>
              <a:rPr lang="en-US" sz="1300" i="1">
                <a:solidFill>
                  <a:srgbClr val="333F50"/>
                </a:solidFill>
                <a:latin typeface="Calibri" pitchFamily="34" charset="0"/>
                <a:ea typeface="Calibri" pitchFamily="34" charset="-122"/>
                <a:cs typeface="Calibri" pitchFamily="34" charset="-120"/>
              </a:rPr>
              <a:t>Base 2 because algorithms usually cut a problem into 2 pieces (halves), not 10.</a:t>
            </a:r>
            <a:endParaRPr lang="en-US" sz="1300" dirty="0"/>
          </a:p>
        </p:txBody>
      </p:sp>
      <p:sp>
        <p:nvSpPr>
          <p:cNvPr id="31" name="Text 29"/>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
        <p:nvSpPr>
          <p:cNvPr id="32" name="Text 30"/>
          <p:cNvSpPr/>
          <p:nvPr/>
        </p:nvSpPr>
        <p:spPr>
          <a:xfrm>
            <a:off x="10881360" y="6510528"/>
            <a:ext cx="731520" cy="274320"/>
          </a:xfrm>
          <a:prstGeom prst="rect">
            <a:avLst/>
          </a:prstGeom>
          <a:noFill/>
          <a:ln>
            <a:noFill/>
          </a:ln>
        </p:spPr>
        <p:txBody>
          <a:bodyPr wrap="square" rtlCol="0" anchor="ctr"/>
          <a:lstStyle/>
          <a:p>
            <a:pPr marL="0" indent="0" algn="r">
              <a:buNone/>
            </a:pPr>
            <a:r>
              <a:rPr lang="en-US" sz="900" dirty="0">
                <a:solidFill>
                  <a:srgbClr val="595959"/>
                </a:solidFill>
                <a:latin typeface="Calibri" pitchFamily="34" charset="0"/>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SAME PICTURE, TWO SHAPES</a:t>
            </a:r>
            <a:endParaRPr lang="en-US" sz="1200" dirty="0"/>
          </a:p>
        </p:txBody>
      </p:sp>
      <p:sp>
        <p:nvSpPr>
          <p:cNvPr id="3" name="Text 1"/>
          <p:cNvSpPr/>
          <p:nvPr/>
        </p:nvSpPr>
        <p:spPr>
          <a:xfrm>
            <a:off x="548640" y="658368"/>
            <a:ext cx="11064240" cy="822960"/>
          </a:xfrm>
          <a:prstGeom prst="rect">
            <a:avLst/>
          </a:prstGeom>
          <a:noFill/>
          <a:ln>
            <a:noFill/>
          </a:ln>
        </p:spPr>
        <p:txBody>
          <a:bodyPr wrap="square" rtlCol="0" anchor="ctr"/>
          <a:lstStyle/>
          <a:p>
            <a:pPr marL="0" indent="0">
              <a:buNone/>
            </a:pPr>
            <a:r>
              <a:rPr lang="en-US" sz="3000" b="1">
                <a:solidFill>
                  <a:srgbClr val="333F50"/>
                </a:solidFill>
                <a:latin typeface="Cambria" pitchFamily="34" charset="0"/>
                <a:ea typeface="Cambria" pitchFamily="34" charset="-122"/>
                <a:cs typeface="Cambria" pitchFamily="34" charset="-120"/>
              </a:rPr>
              <a:t>Branching factor decides everything</a:t>
            </a:r>
            <a:endParaRPr lang="en-US" sz="3000" dirty="0"/>
          </a:p>
        </p:txBody>
      </p:sp>
      <p:sp>
        <p:nvSpPr>
          <p:cNvPr id="4" name="Text 2"/>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
        <p:nvSpPr>
          <p:cNvPr id="5" name="Text 3"/>
          <p:cNvSpPr/>
          <p:nvPr/>
        </p:nvSpPr>
        <p:spPr>
          <a:xfrm>
            <a:off x="10881360" y="6510528"/>
            <a:ext cx="731520" cy="274320"/>
          </a:xfrm>
          <a:prstGeom prst="rect">
            <a:avLst/>
          </a:prstGeom>
          <a:noFill/>
          <a:ln>
            <a:noFill/>
          </a:ln>
        </p:spPr>
        <p:txBody>
          <a:bodyPr wrap="square" rtlCol="0" anchor="ctr"/>
          <a:lstStyle/>
          <a:p>
            <a:pPr marL="0" indent="0" algn="r">
              <a:buNone/>
            </a:pPr>
            <a:r>
              <a:rPr lang="en-US" sz="900" dirty="0">
                <a:solidFill>
                  <a:srgbClr val="595959"/>
                </a:solidFill>
                <a:latin typeface="Calibri" pitchFamily="34" charset="0"/>
                <a:cs typeface="Calibri" pitchFamily="34" charset="-120"/>
              </a:rPr>
              <a:t>10</a:t>
            </a:r>
            <a:endParaRPr lang="en-US" sz="900" dirty="0"/>
          </a:p>
        </p:txBody>
      </p:sp>
      <p:sp>
        <p:nvSpPr>
          <p:cNvPr id="6" name="Shape 4"/>
          <p:cNvSpPr/>
          <p:nvPr/>
        </p:nvSpPr>
        <p:spPr>
          <a:xfrm>
            <a:off x="548640" y="1783080"/>
            <a:ext cx="5257800" cy="4114800"/>
          </a:xfrm>
          <a:prstGeom prst="roundRect">
            <a:avLst>
              <a:gd name="adj" fmla="val 2667"/>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7" name="Text 5"/>
          <p:cNvSpPr/>
          <p:nvPr/>
        </p:nvSpPr>
        <p:spPr>
          <a:xfrm>
            <a:off x="822960" y="2011680"/>
            <a:ext cx="4709160" cy="274320"/>
          </a:xfrm>
          <a:prstGeom prst="rect">
            <a:avLst/>
          </a:prstGeom>
          <a:noFill/>
          <a:ln>
            <a:noFill/>
          </a:ln>
        </p:spPr>
        <p:txBody>
          <a:bodyPr wrap="square" rtlCol="0" anchor="ctr"/>
          <a:lstStyle/>
          <a:p>
            <a:pPr marL="0" indent="0">
              <a:buNone/>
            </a:pPr>
            <a:r>
              <a:rPr lang="en-US" sz="1100" b="1" kern="0" spc="100">
                <a:solidFill>
                  <a:srgbClr val="ED7D31"/>
                </a:solidFill>
                <a:latin typeface="Calibri" pitchFamily="34" charset="0"/>
                <a:ea typeface="Calibri" pitchFamily="34" charset="-122"/>
                <a:cs typeface="Calibri" pitchFamily="34" charset="-120"/>
              </a:rPr>
              <a:t>FIBONACCI: BRANCHES INTO 2</a:t>
            </a:r>
            <a:endParaRPr lang="en-US" sz="1100" dirty="0"/>
          </a:p>
        </p:txBody>
      </p:sp>
      <p:sp>
        <p:nvSpPr>
          <p:cNvPr id="8" name="Shape 6"/>
          <p:cNvSpPr/>
          <p:nvPr/>
        </p:nvSpPr>
        <p:spPr>
          <a:xfrm>
            <a:off x="2793492" y="2468880"/>
            <a:ext cx="777240" cy="384048"/>
          </a:xfrm>
          <a:prstGeom prst="roundRect">
            <a:avLst>
              <a:gd name="adj" fmla="val 11905"/>
            </a:avLst>
          </a:prstGeom>
          <a:solidFill>
            <a:srgbClr val="4472C4"/>
          </a:solidFill>
          <a:ln>
            <a:solidFill/>
          </a:ln>
        </p:spPr>
        <p:txBody>
          <a:bodyPr/>
          <a:lstStyle/>
          <a:p>
            <a:endParaRPr lang="en-US"/>
          </a:p>
        </p:txBody>
      </p:sp>
      <p:sp>
        <p:nvSpPr>
          <p:cNvPr id="9" name="Text 7"/>
          <p:cNvSpPr/>
          <p:nvPr/>
        </p:nvSpPr>
        <p:spPr>
          <a:xfrm>
            <a:off x="2793492" y="2468880"/>
            <a:ext cx="777240" cy="384048"/>
          </a:xfrm>
          <a:prstGeom prst="rect">
            <a:avLst/>
          </a:prstGeom>
          <a:noFill/>
          <a:ln>
            <a:noFill/>
          </a:ln>
        </p:spPr>
        <p:txBody>
          <a:bodyPr wrap="square"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n</a:t>
            </a:r>
            <a:endParaRPr lang="en-US" sz="1000" dirty="0"/>
          </a:p>
        </p:txBody>
      </p:sp>
      <p:sp>
        <p:nvSpPr>
          <p:cNvPr id="10" name="Shape 8"/>
          <p:cNvSpPr/>
          <p:nvPr/>
        </p:nvSpPr>
        <p:spPr>
          <a:xfrm>
            <a:off x="1005840" y="3200400"/>
            <a:ext cx="777240" cy="384048"/>
          </a:xfrm>
          <a:prstGeom prst="roundRect">
            <a:avLst>
              <a:gd name="adj" fmla="val 11905"/>
            </a:avLst>
          </a:prstGeom>
          <a:solidFill>
            <a:srgbClr val="4472C4"/>
          </a:solidFill>
          <a:ln>
            <a:solidFill/>
          </a:ln>
        </p:spPr>
        <p:txBody>
          <a:bodyPr/>
          <a:lstStyle/>
          <a:p>
            <a:endParaRPr lang="en-US"/>
          </a:p>
        </p:txBody>
      </p:sp>
      <p:sp>
        <p:nvSpPr>
          <p:cNvPr id="11" name="Text 9"/>
          <p:cNvSpPr/>
          <p:nvPr/>
        </p:nvSpPr>
        <p:spPr>
          <a:xfrm>
            <a:off x="1005840" y="3200400"/>
            <a:ext cx="777240" cy="384048"/>
          </a:xfrm>
          <a:prstGeom prst="rect">
            <a:avLst/>
          </a:prstGeom>
          <a:noFill/>
          <a:ln>
            <a:noFill/>
          </a:ln>
        </p:spPr>
        <p:txBody>
          <a:bodyPr wrap="square"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n-1</a:t>
            </a:r>
            <a:endParaRPr lang="en-US" sz="1000" dirty="0"/>
          </a:p>
        </p:txBody>
      </p:sp>
      <p:sp>
        <p:nvSpPr>
          <p:cNvPr id="12" name="Shape 10"/>
          <p:cNvSpPr/>
          <p:nvPr/>
        </p:nvSpPr>
        <p:spPr>
          <a:xfrm>
            <a:off x="3840480" y="3200400"/>
            <a:ext cx="777240" cy="384048"/>
          </a:xfrm>
          <a:prstGeom prst="roundRect">
            <a:avLst>
              <a:gd name="adj" fmla="val 11905"/>
            </a:avLst>
          </a:prstGeom>
          <a:solidFill>
            <a:srgbClr val="4472C4"/>
          </a:solidFill>
          <a:ln>
            <a:solidFill/>
          </a:ln>
        </p:spPr>
        <p:txBody>
          <a:bodyPr/>
          <a:lstStyle/>
          <a:p>
            <a:endParaRPr lang="en-US"/>
          </a:p>
        </p:txBody>
      </p:sp>
      <p:sp>
        <p:nvSpPr>
          <p:cNvPr id="13" name="Text 11"/>
          <p:cNvSpPr/>
          <p:nvPr/>
        </p:nvSpPr>
        <p:spPr>
          <a:xfrm>
            <a:off x="3840480" y="3200400"/>
            <a:ext cx="777240" cy="384048"/>
          </a:xfrm>
          <a:prstGeom prst="rect">
            <a:avLst/>
          </a:prstGeom>
          <a:noFill/>
          <a:ln>
            <a:noFill/>
          </a:ln>
        </p:spPr>
        <p:txBody>
          <a:bodyPr wrap="square"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n-2</a:t>
            </a:r>
            <a:endParaRPr lang="en-US" sz="1000" dirty="0"/>
          </a:p>
        </p:txBody>
      </p:sp>
      <p:sp>
        <p:nvSpPr>
          <p:cNvPr id="14" name="Shape 12"/>
          <p:cNvSpPr/>
          <p:nvPr/>
        </p:nvSpPr>
        <p:spPr>
          <a:xfrm flipH="1">
            <a:off x="1668780" y="2715768"/>
            <a:ext cx="1124712" cy="438912"/>
          </a:xfrm>
          <a:prstGeom prst="line">
            <a:avLst/>
          </a:prstGeom>
          <a:noFill/>
          <a:ln w="19050">
            <a:solidFill>
              <a:srgbClr val="4472C4"/>
            </a:solidFill>
            <a:prstDash val="solid"/>
          </a:ln>
        </p:spPr>
        <p:txBody>
          <a:bodyPr/>
          <a:lstStyle/>
          <a:p>
            <a:endParaRPr lang="en-US"/>
          </a:p>
        </p:txBody>
      </p:sp>
      <p:sp>
        <p:nvSpPr>
          <p:cNvPr id="15" name="Shape 13"/>
          <p:cNvSpPr/>
          <p:nvPr/>
        </p:nvSpPr>
        <p:spPr>
          <a:xfrm>
            <a:off x="3177540" y="2852928"/>
            <a:ext cx="1046988" cy="347472"/>
          </a:xfrm>
          <a:prstGeom prst="line">
            <a:avLst/>
          </a:prstGeom>
          <a:noFill/>
          <a:ln w="19050">
            <a:solidFill>
              <a:srgbClr val="4472C4"/>
            </a:solidFill>
            <a:prstDash val="solid"/>
          </a:ln>
        </p:spPr>
        <p:txBody>
          <a:bodyPr/>
          <a:lstStyle/>
          <a:p>
            <a:endParaRPr lang="en-US"/>
          </a:p>
        </p:txBody>
      </p:sp>
      <p:sp>
        <p:nvSpPr>
          <p:cNvPr id="16" name="Shape 14"/>
          <p:cNvSpPr/>
          <p:nvPr/>
        </p:nvSpPr>
        <p:spPr>
          <a:xfrm>
            <a:off x="640080" y="3931920"/>
            <a:ext cx="777240" cy="384048"/>
          </a:xfrm>
          <a:prstGeom prst="roundRect">
            <a:avLst>
              <a:gd name="adj" fmla="val 11905"/>
            </a:avLst>
          </a:prstGeom>
          <a:solidFill>
            <a:srgbClr val="4472C4"/>
          </a:solidFill>
          <a:ln>
            <a:solidFill/>
          </a:ln>
        </p:spPr>
        <p:txBody>
          <a:bodyPr/>
          <a:lstStyle/>
          <a:p>
            <a:endParaRPr lang="en-US"/>
          </a:p>
        </p:txBody>
      </p:sp>
      <p:sp>
        <p:nvSpPr>
          <p:cNvPr id="17" name="Text 15"/>
          <p:cNvSpPr/>
          <p:nvPr/>
        </p:nvSpPr>
        <p:spPr>
          <a:xfrm>
            <a:off x="640080" y="3931920"/>
            <a:ext cx="777240" cy="384048"/>
          </a:xfrm>
          <a:prstGeom prst="rect">
            <a:avLst/>
          </a:prstGeom>
          <a:noFill/>
          <a:ln>
            <a:noFill/>
          </a:ln>
        </p:spPr>
        <p:txBody>
          <a:bodyPr wrap="square"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n-2</a:t>
            </a:r>
            <a:endParaRPr lang="en-US" sz="1000" dirty="0"/>
          </a:p>
        </p:txBody>
      </p:sp>
      <p:sp>
        <p:nvSpPr>
          <p:cNvPr id="18" name="Shape 16"/>
          <p:cNvSpPr/>
          <p:nvPr/>
        </p:nvSpPr>
        <p:spPr>
          <a:xfrm>
            <a:off x="1737360" y="3931920"/>
            <a:ext cx="777240" cy="384048"/>
          </a:xfrm>
          <a:prstGeom prst="roundRect">
            <a:avLst>
              <a:gd name="adj" fmla="val 11905"/>
            </a:avLst>
          </a:prstGeom>
          <a:solidFill>
            <a:srgbClr val="4472C4"/>
          </a:solidFill>
          <a:ln>
            <a:solidFill/>
          </a:ln>
        </p:spPr>
        <p:txBody>
          <a:bodyPr/>
          <a:lstStyle/>
          <a:p>
            <a:endParaRPr lang="en-US"/>
          </a:p>
        </p:txBody>
      </p:sp>
      <p:sp>
        <p:nvSpPr>
          <p:cNvPr id="19" name="Text 17"/>
          <p:cNvSpPr/>
          <p:nvPr/>
        </p:nvSpPr>
        <p:spPr>
          <a:xfrm>
            <a:off x="1737360" y="3931920"/>
            <a:ext cx="777240" cy="384048"/>
          </a:xfrm>
          <a:prstGeom prst="rect">
            <a:avLst/>
          </a:prstGeom>
          <a:noFill/>
          <a:ln>
            <a:noFill/>
          </a:ln>
        </p:spPr>
        <p:txBody>
          <a:bodyPr wrap="square"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n-3</a:t>
            </a:r>
            <a:endParaRPr lang="en-US" sz="1000" dirty="0"/>
          </a:p>
        </p:txBody>
      </p:sp>
      <p:sp>
        <p:nvSpPr>
          <p:cNvPr id="20" name="Shape 18"/>
          <p:cNvSpPr/>
          <p:nvPr/>
        </p:nvSpPr>
        <p:spPr>
          <a:xfrm>
            <a:off x="3474720" y="3931920"/>
            <a:ext cx="777240" cy="384048"/>
          </a:xfrm>
          <a:prstGeom prst="roundRect">
            <a:avLst>
              <a:gd name="adj" fmla="val 11905"/>
            </a:avLst>
          </a:prstGeom>
          <a:solidFill>
            <a:srgbClr val="4472C4"/>
          </a:solidFill>
          <a:ln>
            <a:solidFill/>
          </a:ln>
        </p:spPr>
        <p:txBody>
          <a:bodyPr/>
          <a:lstStyle/>
          <a:p>
            <a:endParaRPr lang="en-US"/>
          </a:p>
        </p:txBody>
      </p:sp>
      <p:sp>
        <p:nvSpPr>
          <p:cNvPr id="21" name="Text 19"/>
          <p:cNvSpPr/>
          <p:nvPr/>
        </p:nvSpPr>
        <p:spPr>
          <a:xfrm>
            <a:off x="3474720" y="3931920"/>
            <a:ext cx="777240" cy="384048"/>
          </a:xfrm>
          <a:prstGeom prst="rect">
            <a:avLst/>
          </a:prstGeom>
          <a:noFill/>
          <a:ln>
            <a:noFill/>
          </a:ln>
        </p:spPr>
        <p:txBody>
          <a:bodyPr wrap="square"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n-3</a:t>
            </a:r>
            <a:endParaRPr lang="en-US" sz="1000" dirty="0"/>
          </a:p>
        </p:txBody>
      </p:sp>
      <p:sp>
        <p:nvSpPr>
          <p:cNvPr id="22" name="Shape 20"/>
          <p:cNvSpPr/>
          <p:nvPr/>
        </p:nvSpPr>
        <p:spPr>
          <a:xfrm>
            <a:off x="4572000" y="3931920"/>
            <a:ext cx="777240" cy="384048"/>
          </a:xfrm>
          <a:prstGeom prst="roundRect">
            <a:avLst>
              <a:gd name="adj" fmla="val 11905"/>
            </a:avLst>
          </a:prstGeom>
          <a:solidFill>
            <a:srgbClr val="4472C4"/>
          </a:solidFill>
          <a:ln>
            <a:solidFill/>
          </a:ln>
        </p:spPr>
        <p:txBody>
          <a:bodyPr/>
          <a:lstStyle/>
          <a:p>
            <a:endParaRPr lang="en-US"/>
          </a:p>
        </p:txBody>
      </p:sp>
      <p:sp>
        <p:nvSpPr>
          <p:cNvPr id="23" name="Text 21"/>
          <p:cNvSpPr/>
          <p:nvPr/>
        </p:nvSpPr>
        <p:spPr>
          <a:xfrm>
            <a:off x="4572000" y="3931920"/>
            <a:ext cx="777240" cy="384048"/>
          </a:xfrm>
          <a:prstGeom prst="rect">
            <a:avLst/>
          </a:prstGeom>
          <a:noFill/>
          <a:ln>
            <a:noFill/>
          </a:ln>
        </p:spPr>
        <p:txBody>
          <a:bodyPr wrap="square"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n-4</a:t>
            </a:r>
            <a:endParaRPr lang="en-US" sz="1000" dirty="0"/>
          </a:p>
        </p:txBody>
      </p:sp>
      <p:sp>
        <p:nvSpPr>
          <p:cNvPr id="24" name="Shape 22"/>
          <p:cNvSpPr/>
          <p:nvPr/>
        </p:nvSpPr>
        <p:spPr>
          <a:xfrm flipH="1">
            <a:off x="841248" y="3584448"/>
            <a:ext cx="182880" cy="274320"/>
          </a:xfrm>
          <a:prstGeom prst="line">
            <a:avLst/>
          </a:prstGeom>
          <a:noFill/>
          <a:ln w="19050">
            <a:solidFill>
              <a:srgbClr val="4472C4"/>
            </a:solidFill>
            <a:prstDash val="solid"/>
          </a:ln>
        </p:spPr>
        <p:txBody>
          <a:bodyPr/>
          <a:lstStyle/>
          <a:p>
            <a:endParaRPr lang="en-US"/>
          </a:p>
        </p:txBody>
      </p:sp>
      <p:sp>
        <p:nvSpPr>
          <p:cNvPr id="25" name="Shape 23"/>
          <p:cNvSpPr/>
          <p:nvPr/>
        </p:nvSpPr>
        <p:spPr>
          <a:xfrm>
            <a:off x="1389888" y="3584448"/>
            <a:ext cx="731520" cy="347472"/>
          </a:xfrm>
          <a:prstGeom prst="line">
            <a:avLst/>
          </a:prstGeom>
          <a:noFill/>
          <a:ln w="19050">
            <a:solidFill>
              <a:srgbClr val="4472C4"/>
            </a:solidFill>
            <a:prstDash val="solid"/>
          </a:ln>
        </p:spPr>
        <p:txBody>
          <a:bodyPr/>
          <a:lstStyle/>
          <a:p>
            <a:endParaRPr lang="en-US"/>
          </a:p>
        </p:txBody>
      </p:sp>
      <p:sp>
        <p:nvSpPr>
          <p:cNvPr id="26" name="Shape 24"/>
          <p:cNvSpPr/>
          <p:nvPr/>
        </p:nvSpPr>
        <p:spPr>
          <a:xfrm flipH="1">
            <a:off x="3589020" y="3584448"/>
            <a:ext cx="269748" cy="384048"/>
          </a:xfrm>
          <a:prstGeom prst="line">
            <a:avLst/>
          </a:prstGeom>
          <a:noFill/>
          <a:ln w="19050">
            <a:solidFill>
              <a:srgbClr val="4472C4"/>
            </a:solidFill>
            <a:prstDash val="solid"/>
          </a:ln>
        </p:spPr>
        <p:txBody>
          <a:bodyPr/>
          <a:lstStyle/>
          <a:p>
            <a:endParaRPr lang="en-US"/>
          </a:p>
        </p:txBody>
      </p:sp>
      <p:sp>
        <p:nvSpPr>
          <p:cNvPr id="27" name="Shape 25"/>
          <p:cNvSpPr/>
          <p:nvPr/>
        </p:nvSpPr>
        <p:spPr>
          <a:xfrm>
            <a:off x="4224528" y="3584448"/>
            <a:ext cx="731520" cy="347472"/>
          </a:xfrm>
          <a:prstGeom prst="line">
            <a:avLst/>
          </a:prstGeom>
          <a:noFill/>
          <a:ln w="19050">
            <a:solidFill>
              <a:srgbClr val="4472C4"/>
            </a:solidFill>
            <a:prstDash val="solid"/>
          </a:ln>
        </p:spPr>
        <p:txBody>
          <a:bodyPr/>
          <a:lstStyle/>
          <a:p>
            <a:endParaRPr lang="en-US"/>
          </a:p>
        </p:txBody>
      </p:sp>
      <p:sp>
        <p:nvSpPr>
          <p:cNvPr id="28" name="Text 26"/>
          <p:cNvSpPr/>
          <p:nvPr/>
        </p:nvSpPr>
        <p:spPr>
          <a:xfrm>
            <a:off x="822960" y="4434840"/>
            <a:ext cx="4709160" cy="274320"/>
          </a:xfrm>
          <a:prstGeom prst="rect">
            <a:avLst/>
          </a:prstGeom>
          <a:noFill/>
          <a:ln>
            <a:noFill/>
          </a:ln>
        </p:spPr>
        <p:txBody>
          <a:bodyPr wrap="square" rtlCol="0" anchor="ctr"/>
          <a:lstStyle/>
          <a:p>
            <a:pPr marL="0" indent="0" algn="ctr">
              <a:buNone/>
            </a:pPr>
            <a:r>
              <a:rPr lang="en-US" sz="1100" i="1">
                <a:solidFill>
                  <a:srgbClr val="595959"/>
                </a:solidFill>
                <a:latin typeface="Calibri" pitchFamily="34" charset="0"/>
                <a:ea typeface="Calibri" pitchFamily="34" charset="-122"/>
                <a:cs typeface="Calibri" pitchFamily="34" charset="-120"/>
              </a:rPr>
              <a:t>. . . keeps fanning out . . .</a:t>
            </a:r>
            <a:endParaRPr lang="en-US" sz="1100" dirty="0"/>
          </a:p>
        </p:txBody>
      </p:sp>
      <p:sp>
        <p:nvSpPr>
          <p:cNvPr id="29" name="Text 27"/>
          <p:cNvSpPr/>
          <p:nvPr/>
        </p:nvSpPr>
        <p:spPr>
          <a:xfrm>
            <a:off x="822960" y="4937760"/>
            <a:ext cx="4709160" cy="365760"/>
          </a:xfrm>
          <a:prstGeom prst="rect">
            <a:avLst/>
          </a:prstGeom>
          <a:noFill/>
          <a:ln>
            <a:noFill/>
          </a:ln>
        </p:spPr>
        <p:txBody>
          <a:bodyPr wrap="square" rtlCol="0" anchor="ctr"/>
          <a:lstStyle/>
          <a:p>
            <a:pPr marL="0" indent="0" algn="ctr">
              <a:buNone/>
            </a:pPr>
            <a:r>
              <a:rPr lang="en-US" sz="1500" b="1">
                <a:solidFill>
                  <a:srgbClr val="ED7D31"/>
                </a:solidFill>
                <a:latin typeface="Courier New" pitchFamily="34" charset="0"/>
                <a:ea typeface="Courier New" pitchFamily="34" charset="-122"/>
                <a:cs typeface="Courier New" pitchFamily="34" charset="-120"/>
              </a:rPr>
              <a:t>Depth ≈ n.  Nodes ≈ 2ⁿ.</a:t>
            </a:r>
            <a:endParaRPr lang="en-US" sz="1500" dirty="0"/>
          </a:p>
        </p:txBody>
      </p:sp>
      <p:sp>
        <p:nvSpPr>
          <p:cNvPr id="30" name="Text 28"/>
          <p:cNvSpPr/>
          <p:nvPr/>
        </p:nvSpPr>
        <p:spPr>
          <a:xfrm>
            <a:off x="822960" y="5349240"/>
            <a:ext cx="4709160" cy="365760"/>
          </a:xfrm>
          <a:prstGeom prst="rect">
            <a:avLst/>
          </a:prstGeom>
          <a:noFill/>
          <a:ln>
            <a:noFill/>
          </a:ln>
        </p:spPr>
        <p:txBody>
          <a:bodyPr wrap="square" rtlCol="0" anchor="ctr"/>
          <a:lstStyle/>
          <a:p>
            <a:pPr marL="0" indent="0" algn="ctr">
              <a:buNone/>
            </a:pPr>
            <a:r>
              <a:rPr lang="en-US" sz="1200" i="1">
                <a:solidFill>
                  <a:srgbClr val="595959"/>
                </a:solidFill>
                <a:latin typeface="Calibri" pitchFamily="34" charset="0"/>
                <a:ea typeface="Calibri" pitchFamily="34" charset="-122"/>
                <a:cs typeface="Calibri" pitchFamily="34" charset="-120"/>
              </a:rPr>
              <a:t>Wide and deep — exponential work.</a:t>
            </a:r>
            <a:endParaRPr lang="en-US" sz="1200" dirty="0"/>
          </a:p>
        </p:txBody>
      </p:sp>
      <p:sp>
        <p:nvSpPr>
          <p:cNvPr id="31" name="Shape 29"/>
          <p:cNvSpPr/>
          <p:nvPr/>
        </p:nvSpPr>
        <p:spPr>
          <a:xfrm>
            <a:off x="6355080" y="1783080"/>
            <a:ext cx="5257800" cy="4114800"/>
          </a:xfrm>
          <a:prstGeom prst="roundRect">
            <a:avLst>
              <a:gd name="adj" fmla="val 2667"/>
            </a:avLst>
          </a:prstGeom>
          <a:solidFill>
            <a:srgbClr val="F5F5F5"/>
          </a:solidFill>
          <a:ln>
            <a:solidFill/>
          </a:ln>
        </p:spPr>
        <p:txBody>
          <a:bodyPr/>
          <a:lstStyle/>
          <a:p>
            <a:endParaRPr lang="en-US"/>
          </a:p>
        </p:txBody>
      </p:sp>
      <p:sp>
        <p:nvSpPr>
          <p:cNvPr id="32" name="Text 30"/>
          <p:cNvSpPr/>
          <p:nvPr/>
        </p:nvSpPr>
        <p:spPr>
          <a:xfrm>
            <a:off x="6629400" y="2011680"/>
            <a:ext cx="4709160" cy="274320"/>
          </a:xfrm>
          <a:prstGeom prst="rect">
            <a:avLst/>
          </a:prstGeom>
          <a:noFill/>
          <a:ln>
            <a:noFill/>
          </a:ln>
        </p:spPr>
        <p:txBody>
          <a:bodyPr wrap="square" rtlCol="0" anchor="ctr"/>
          <a:lstStyle/>
          <a:p>
            <a:pPr marL="0" indent="0">
              <a:buNone/>
            </a:pPr>
            <a:r>
              <a:rPr lang="en-US" sz="1100" b="1" kern="0" spc="100" dirty="0">
                <a:solidFill>
                  <a:srgbClr val="4472C4"/>
                </a:solidFill>
                <a:latin typeface="Calibri" pitchFamily="34" charset="0"/>
                <a:ea typeface="Calibri" pitchFamily="34" charset="-122"/>
                <a:cs typeface="Calibri" pitchFamily="34" charset="-120"/>
              </a:rPr>
              <a:t>HALVING: EACH FUNCTION CALL BRANCHES INTO 1 WITH HALF THE INPUTS</a:t>
            </a:r>
            <a:endParaRPr lang="en-US" sz="1100" dirty="0"/>
          </a:p>
        </p:txBody>
      </p:sp>
      <p:sp>
        <p:nvSpPr>
          <p:cNvPr id="33" name="Shape 31"/>
          <p:cNvSpPr/>
          <p:nvPr/>
        </p:nvSpPr>
        <p:spPr>
          <a:xfrm>
            <a:off x="8526780" y="2377440"/>
            <a:ext cx="914400" cy="384048"/>
          </a:xfrm>
          <a:prstGeom prst="roundRect">
            <a:avLst>
              <a:gd name="adj" fmla="val 11905"/>
            </a:avLst>
          </a:prstGeom>
          <a:solidFill>
            <a:srgbClr val="4472C4"/>
          </a:solidFill>
          <a:ln>
            <a:solidFill/>
          </a:ln>
        </p:spPr>
        <p:txBody>
          <a:bodyPr/>
          <a:lstStyle/>
          <a:p>
            <a:endParaRPr lang="en-US"/>
          </a:p>
        </p:txBody>
      </p:sp>
      <p:sp>
        <p:nvSpPr>
          <p:cNvPr id="34" name="Text 32"/>
          <p:cNvSpPr/>
          <p:nvPr/>
        </p:nvSpPr>
        <p:spPr>
          <a:xfrm>
            <a:off x="8526780" y="2377440"/>
            <a:ext cx="914400" cy="384048"/>
          </a:xfrm>
          <a:prstGeom prst="rect">
            <a:avLst/>
          </a:prstGeom>
          <a:noFill/>
          <a:ln>
            <a:noFill/>
          </a:ln>
        </p:spPr>
        <p:txBody>
          <a:bodyPr wrap="square" rtlCol="0" anchor="ctr"/>
          <a:lstStyle/>
          <a:p>
            <a:pPr marL="0" indent="0" algn="ctr">
              <a:buNone/>
            </a:pPr>
            <a:r>
              <a:rPr lang="en-US" sz="1100" b="1">
                <a:solidFill>
                  <a:srgbClr val="333F50"/>
                </a:solidFill>
                <a:latin typeface="Courier New" pitchFamily="34" charset="0"/>
                <a:ea typeface="Courier New" pitchFamily="34" charset="-122"/>
                <a:cs typeface="Courier New" pitchFamily="34" charset="-120"/>
              </a:rPr>
              <a:t>n</a:t>
            </a:r>
            <a:endParaRPr lang="en-US" sz="1100" dirty="0"/>
          </a:p>
        </p:txBody>
      </p:sp>
      <p:sp>
        <p:nvSpPr>
          <p:cNvPr id="35" name="Shape 33"/>
          <p:cNvSpPr/>
          <p:nvPr/>
        </p:nvSpPr>
        <p:spPr>
          <a:xfrm>
            <a:off x="8983980" y="2761488"/>
            <a:ext cx="0" cy="118872"/>
          </a:xfrm>
          <a:prstGeom prst="line">
            <a:avLst/>
          </a:prstGeom>
          <a:noFill/>
          <a:ln w="19050">
            <a:solidFill>
              <a:srgbClr val="4472C4"/>
            </a:solidFill>
            <a:prstDash val="solid"/>
          </a:ln>
        </p:spPr>
        <p:txBody>
          <a:bodyPr/>
          <a:lstStyle/>
          <a:p>
            <a:endParaRPr lang="en-US"/>
          </a:p>
        </p:txBody>
      </p:sp>
      <p:sp>
        <p:nvSpPr>
          <p:cNvPr id="36" name="Shape 34"/>
          <p:cNvSpPr/>
          <p:nvPr/>
        </p:nvSpPr>
        <p:spPr>
          <a:xfrm>
            <a:off x="8526780" y="2880360"/>
            <a:ext cx="914400" cy="384048"/>
          </a:xfrm>
          <a:prstGeom prst="roundRect">
            <a:avLst>
              <a:gd name="adj" fmla="val 11905"/>
            </a:avLst>
          </a:prstGeom>
          <a:solidFill>
            <a:srgbClr val="4472C4"/>
          </a:solidFill>
          <a:ln>
            <a:solidFill/>
          </a:ln>
        </p:spPr>
        <p:txBody>
          <a:bodyPr/>
          <a:lstStyle/>
          <a:p>
            <a:endParaRPr lang="en-US"/>
          </a:p>
        </p:txBody>
      </p:sp>
      <p:sp>
        <p:nvSpPr>
          <p:cNvPr id="37" name="Text 35"/>
          <p:cNvSpPr/>
          <p:nvPr/>
        </p:nvSpPr>
        <p:spPr>
          <a:xfrm>
            <a:off x="8526780" y="2880360"/>
            <a:ext cx="914400" cy="384048"/>
          </a:xfrm>
          <a:prstGeom prst="rect">
            <a:avLst/>
          </a:prstGeom>
          <a:noFill/>
          <a:ln>
            <a:noFill/>
          </a:ln>
        </p:spPr>
        <p:txBody>
          <a:bodyPr wrap="square" rtlCol="0" anchor="ctr"/>
          <a:lstStyle/>
          <a:p>
            <a:pPr marL="0" indent="0" algn="ctr">
              <a:buNone/>
            </a:pPr>
            <a:r>
              <a:rPr lang="en-US" sz="1100" b="1">
                <a:solidFill>
                  <a:srgbClr val="333F50"/>
                </a:solidFill>
                <a:latin typeface="Courier New" pitchFamily="34" charset="0"/>
                <a:ea typeface="Courier New" pitchFamily="34" charset="-122"/>
                <a:cs typeface="Courier New" pitchFamily="34" charset="-120"/>
              </a:rPr>
              <a:t>n/2</a:t>
            </a:r>
            <a:endParaRPr lang="en-US" sz="1100" dirty="0"/>
          </a:p>
        </p:txBody>
      </p:sp>
      <p:sp>
        <p:nvSpPr>
          <p:cNvPr id="38" name="Shape 36"/>
          <p:cNvSpPr/>
          <p:nvPr/>
        </p:nvSpPr>
        <p:spPr>
          <a:xfrm>
            <a:off x="8983980" y="3264408"/>
            <a:ext cx="0" cy="118872"/>
          </a:xfrm>
          <a:prstGeom prst="line">
            <a:avLst/>
          </a:prstGeom>
          <a:noFill/>
          <a:ln w="19050">
            <a:solidFill>
              <a:srgbClr val="4472C4"/>
            </a:solidFill>
            <a:prstDash val="solid"/>
          </a:ln>
        </p:spPr>
        <p:txBody>
          <a:bodyPr/>
          <a:lstStyle/>
          <a:p>
            <a:endParaRPr lang="en-US"/>
          </a:p>
        </p:txBody>
      </p:sp>
      <p:sp>
        <p:nvSpPr>
          <p:cNvPr id="39" name="Shape 37"/>
          <p:cNvSpPr/>
          <p:nvPr/>
        </p:nvSpPr>
        <p:spPr>
          <a:xfrm>
            <a:off x="8526780" y="3383280"/>
            <a:ext cx="914400" cy="384048"/>
          </a:xfrm>
          <a:prstGeom prst="roundRect">
            <a:avLst>
              <a:gd name="adj" fmla="val 11905"/>
            </a:avLst>
          </a:prstGeom>
          <a:solidFill>
            <a:srgbClr val="4472C4"/>
          </a:solidFill>
          <a:ln>
            <a:solidFill/>
          </a:ln>
        </p:spPr>
        <p:txBody>
          <a:bodyPr/>
          <a:lstStyle/>
          <a:p>
            <a:endParaRPr lang="en-US"/>
          </a:p>
        </p:txBody>
      </p:sp>
      <p:sp>
        <p:nvSpPr>
          <p:cNvPr id="40" name="Text 38"/>
          <p:cNvSpPr/>
          <p:nvPr/>
        </p:nvSpPr>
        <p:spPr>
          <a:xfrm>
            <a:off x="8526780" y="3383280"/>
            <a:ext cx="914400" cy="384048"/>
          </a:xfrm>
          <a:prstGeom prst="rect">
            <a:avLst/>
          </a:prstGeom>
          <a:noFill/>
          <a:ln>
            <a:noFill/>
          </a:ln>
        </p:spPr>
        <p:txBody>
          <a:bodyPr wrap="square" rtlCol="0" anchor="ctr"/>
          <a:lstStyle/>
          <a:p>
            <a:pPr marL="0" indent="0" algn="ctr">
              <a:buNone/>
            </a:pPr>
            <a:r>
              <a:rPr lang="en-US" sz="1100" b="1">
                <a:solidFill>
                  <a:srgbClr val="333F50"/>
                </a:solidFill>
                <a:latin typeface="Courier New" pitchFamily="34" charset="0"/>
                <a:ea typeface="Courier New" pitchFamily="34" charset="-122"/>
                <a:cs typeface="Courier New" pitchFamily="34" charset="-120"/>
              </a:rPr>
              <a:t>n/4</a:t>
            </a:r>
            <a:endParaRPr lang="en-US" sz="1100" dirty="0"/>
          </a:p>
        </p:txBody>
      </p:sp>
      <p:sp>
        <p:nvSpPr>
          <p:cNvPr id="41" name="Shape 39"/>
          <p:cNvSpPr/>
          <p:nvPr/>
        </p:nvSpPr>
        <p:spPr>
          <a:xfrm>
            <a:off x="8983980" y="3767328"/>
            <a:ext cx="0" cy="118872"/>
          </a:xfrm>
          <a:prstGeom prst="line">
            <a:avLst/>
          </a:prstGeom>
          <a:noFill/>
          <a:ln w="19050">
            <a:solidFill>
              <a:srgbClr val="4472C4"/>
            </a:solidFill>
            <a:prstDash val="solid"/>
          </a:ln>
        </p:spPr>
        <p:txBody>
          <a:bodyPr/>
          <a:lstStyle/>
          <a:p>
            <a:endParaRPr lang="en-US"/>
          </a:p>
        </p:txBody>
      </p:sp>
      <p:sp>
        <p:nvSpPr>
          <p:cNvPr id="42" name="Shape 40"/>
          <p:cNvSpPr/>
          <p:nvPr/>
        </p:nvSpPr>
        <p:spPr>
          <a:xfrm>
            <a:off x="8526780" y="3886200"/>
            <a:ext cx="914400" cy="384048"/>
          </a:xfrm>
          <a:prstGeom prst="roundRect">
            <a:avLst>
              <a:gd name="adj" fmla="val 11905"/>
            </a:avLst>
          </a:prstGeom>
          <a:solidFill>
            <a:srgbClr val="4472C4"/>
          </a:solidFill>
          <a:ln>
            <a:solidFill/>
          </a:ln>
        </p:spPr>
        <p:txBody>
          <a:bodyPr/>
          <a:lstStyle/>
          <a:p>
            <a:endParaRPr lang="en-US"/>
          </a:p>
        </p:txBody>
      </p:sp>
      <p:sp>
        <p:nvSpPr>
          <p:cNvPr id="43" name="Text 41"/>
          <p:cNvSpPr/>
          <p:nvPr/>
        </p:nvSpPr>
        <p:spPr>
          <a:xfrm>
            <a:off x="8526780" y="3886200"/>
            <a:ext cx="914400" cy="384048"/>
          </a:xfrm>
          <a:prstGeom prst="rect">
            <a:avLst/>
          </a:prstGeom>
          <a:noFill/>
          <a:ln>
            <a:noFill/>
          </a:ln>
        </p:spPr>
        <p:txBody>
          <a:bodyPr wrap="square" rtlCol="0" anchor="ctr"/>
          <a:lstStyle/>
          <a:p>
            <a:pPr marL="0" indent="0" algn="ctr">
              <a:buNone/>
            </a:pPr>
            <a:r>
              <a:rPr lang="en-US" sz="1100" b="1">
                <a:solidFill>
                  <a:srgbClr val="333F50"/>
                </a:solidFill>
                <a:latin typeface="Courier New" pitchFamily="34" charset="0"/>
                <a:ea typeface="Courier New" pitchFamily="34" charset="-122"/>
                <a:cs typeface="Courier New" pitchFamily="34" charset="-120"/>
              </a:rPr>
              <a:t>n/8</a:t>
            </a:r>
            <a:endParaRPr lang="en-US" sz="1100" dirty="0"/>
          </a:p>
        </p:txBody>
      </p:sp>
      <p:sp>
        <p:nvSpPr>
          <p:cNvPr id="44" name="Shape 42"/>
          <p:cNvSpPr/>
          <p:nvPr/>
        </p:nvSpPr>
        <p:spPr>
          <a:xfrm>
            <a:off x="8983980" y="4270248"/>
            <a:ext cx="0" cy="118872"/>
          </a:xfrm>
          <a:prstGeom prst="line">
            <a:avLst/>
          </a:prstGeom>
          <a:noFill/>
          <a:ln w="19050">
            <a:solidFill>
              <a:srgbClr val="4472C4"/>
            </a:solidFill>
            <a:prstDash val="solid"/>
          </a:ln>
        </p:spPr>
        <p:txBody>
          <a:bodyPr/>
          <a:lstStyle/>
          <a:p>
            <a:endParaRPr lang="en-US"/>
          </a:p>
        </p:txBody>
      </p:sp>
      <p:sp>
        <p:nvSpPr>
          <p:cNvPr id="45" name="Shape 43"/>
          <p:cNvSpPr/>
          <p:nvPr/>
        </p:nvSpPr>
        <p:spPr>
          <a:xfrm>
            <a:off x="8526780" y="4389120"/>
            <a:ext cx="914400" cy="384048"/>
          </a:xfrm>
          <a:prstGeom prst="roundRect">
            <a:avLst>
              <a:gd name="adj" fmla="val 11905"/>
            </a:avLst>
          </a:prstGeom>
          <a:solidFill>
            <a:srgbClr val="ED7D31"/>
          </a:solidFill>
          <a:ln>
            <a:solidFill/>
          </a:ln>
        </p:spPr>
        <p:txBody>
          <a:bodyPr/>
          <a:lstStyle/>
          <a:p>
            <a:endParaRPr lang="en-US"/>
          </a:p>
        </p:txBody>
      </p:sp>
      <p:sp>
        <p:nvSpPr>
          <p:cNvPr id="46" name="Text 44"/>
          <p:cNvSpPr/>
          <p:nvPr/>
        </p:nvSpPr>
        <p:spPr>
          <a:xfrm>
            <a:off x="8526780" y="4389120"/>
            <a:ext cx="914400" cy="384048"/>
          </a:xfrm>
          <a:prstGeom prst="rect">
            <a:avLst/>
          </a:prstGeom>
          <a:noFill/>
          <a:ln>
            <a:noFill/>
          </a:ln>
        </p:spPr>
        <p:txBody>
          <a:bodyPr wrap="square" rtlCol="0" anchor="ctr"/>
          <a:lstStyle/>
          <a:p>
            <a:pPr marL="0" indent="0" algn="ctr">
              <a:buNone/>
            </a:pPr>
            <a:r>
              <a:rPr lang="en-US" sz="1100" b="1">
                <a:solidFill>
                  <a:srgbClr val="333F50"/>
                </a:solidFill>
                <a:latin typeface="Courier New" pitchFamily="34" charset="0"/>
                <a:ea typeface="Courier New" pitchFamily="34" charset="-122"/>
                <a:cs typeface="Courier New" pitchFamily="34" charset="-120"/>
              </a:rPr>
              <a:t>1</a:t>
            </a:r>
            <a:endParaRPr lang="en-US" sz="1100" dirty="0"/>
          </a:p>
        </p:txBody>
      </p:sp>
      <p:sp>
        <p:nvSpPr>
          <p:cNvPr id="47" name="Text 45"/>
          <p:cNvSpPr/>
          <p:nvPr/>
        </p:nvSpPr>
        <p:spPr>
          <a:xfrm>
            <a:off x="6629400" y="5120640"/>
            <a:ext cx="4709160" cy="365760"/>
          </a:xfrm>
          <a:prstGeom prst="rect">
            <a:avLst/>
          </a:prstGeom>
          <a:noFill/>
          <a:ln>
            <a:noFill/>
          </a:ln>
        </p:spPr>
        <p:txBody>
          <a:bodyPr wrap="square" rtlCol="0" anchor="ctr"/>
          <a:lstStyle/>
          <a:p>
            <a:pPr marL="0" indent="0" algn="ctr">
              <a:buNone/>
            </a:pPr>
            <a:r>
              <a:rPr lang="en-US" sz="1500" b="1">
                <a:solidFill>
                  <a:srgbClr val="4472C4"/>
                </a:solidFill>
                <a:latin typeface="Courier New" pitchFamily="34" charset="0"/>
                <a:ea typeface="Courier New" pitchFamily="34" charset="-122"/>
                <a:cs typeface="Courier New" pitchFamily="34" charset="-120"/>
              </a:rPr>
              <a:t>Depth = log₂n.  Nodes = log₂n + 1.</a:t>
            </a:r>
            <a:endParaRPr lang="en-US" sz="1500" dirty="0"/>
          </a:p>
        </p:txBody>
      </p:sp>
      <p:sp>
        <p:nvSpPr>
          <p:cNvPr id="48" name="Text 46"/>
          <p:cNvSpPr/>
          <p:nvPr/>
        </p:nvSpPr>
        <p:spPr>
          <a:xfrm>
            <a:off x="6629400" y="5513832"/>
            <a:ext cx="4709160" cy="320040"/>
          </a:xfrm>
          <a:prstGeom prst="rect">
            <a:avLst/>
          </a:prstGeom>
          <a:noFill/>
          <a:ln>
            <a:noFill/>
          </a:ln>
        </p:spPr>
        <p:txBody>
          <a:bodyPr wrap="square" rtlCol="0" anchor="ctr"/>
          <a:lstStyle/>
          <a:p>
            <a:pPr marL="0" indent="0" algn="ctr">
              <a:buNone/>
            </a:pPr>
            <a:r>
              <a:rPr lang="en-US" sz="1200" i="1">
                <a:solidFill>
                  <a:srgbClr val="333F50"/>
                </a:solidFill>
                <a:latin typeface="Calibri" pitchFamily="34" charset="0"/>
                <a:ea typeface="Calibri" pitchFamily="34" charset="-122"/>
                <a:cs typeface="Calibri" pitchFamily="34" charset="-120"/>
              </a:rPr>
              <a:t>Thin and shallow — logarithmic work.</a:t>
            </a:r>
            <a:endParaRPr lang="en-US" sz="1200" dirty="0"/>
          </a:p>
        </p:txBody>
      </p:sp>
      <p:sp>
        <p:nvSpPr>
          <p:cNvPr id="50" name="Thought Bubble: Cloud 49">
            <a:extLst>
              <a:ext uri="{FF2B5EF4-FFF2-40B4-BE49-F238E27FC236}">
                <a16:creationId xmlns:a16="http://schemas.microsoft.com/office/drawing/2014/main" id="{4F7ADB44-77C0-02D9-7605-5BEE105BDC18}"/>
              </a:ext>
            </a:extLst>
          </p:cNvPr>
          <p:cNvSpPr/>
          <p:nvPr/>
        </p:nvSpPr>
        <p:spPr>
          <a:xfrm>
            <a:off x="7396480" y="144780"/>
            <a:ext cx="4216400" cy="1409700"/>
          </a:xfrm>
          <a:prstGeom prst="cloudCallou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 will revisit branching in binary search trees (BST) lecture but on a different context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dirty="0">
                <a:solidFill>
                  <a:srgbClr val="4472C4"/>
                </a:solidFill>
                <a:latin typeface="Calibri" pitchFamily="34" charset="0"/>
                <a:ea typeface="Calibri" pitchFamily="34" charset="-122"/>
                <a:cs typeface="Calibri" pitchFamily="34" charset="-120"/>
              </a:rPr>
              <a:t>JUST HOW SLOW LOG(N) GROWS?</a:t>
            </a:r>
            <a:endParaRPr lang="en-US" sz="1200" dirty="0"/>
          </a:p>
        </p:txBody>
      </p:sp>
      <p:sp>
        <p:nvSpPr>
          <p:cNvPr id="3" name="Text 1"/>
          <p:cNvSpPr/>
          <p:nvPr/>
        </p:nvSpPr>
        <p:spPr>
          <a:xfrm>
            <a:off x="548640" y="658368"/>
            <a:ext cx="11064240" cy="822960"/>
          </a:xfrm>
          <a:prstGeom prst="rect">
            <a:avLst/>
          </a:prstGeom>
          <a:noFill/>
          <a:ln>
            <a:noFill/>
          </a:ln>
        </p:spPr>
        <p:txBody>
          <a:bodyPr wrap="square" rtlCol="0" anchor="ctr"/>
          <a:lstStyle/>
          <a:p>
            <a:pPr marL="0" indent="0">
              <a:buNone/>
            </a:pPr>
            <a:r>
              <a:rPr lang="en-US" sz="3000" b="1">
                <a:solidFill>
                  <a:srgbClr val="333F50"/>
                </a:solidFill>
                <a:latin typeface="Cambria" pitchFamily="34" charset="0"/>
                <a:ea typeface="Cambria" pitchFamily="34" charset="-122"/>
                <a:cs typeface="Cambria" pitchFamily="34" charset="-120"/>
              </a:rPr>
              <a:t>Doubling n only ever adds 1 to </a:t>
            </a:r>
            <a:r>
              <a:rPr lang="en-US" sz="3000" b="1" err="1">
                <a:solidFill>
                  <a:srgbClr val="333F50"/>
                </a:solidFill>
                <a:latin typeface="Cambria" pitchFamily="34" charset="0"/>
                <a:ea typeface="Cambria" pitchFamily="34" charset="-122"/>
                <a:cs typeface="Cambria" pitchFamily="34" charset="-120"/>
              </a:rPr>
              <a:t>log₂n</a:t>
            </a:r>
            <a:endParaRPr lang="en-US" sz="3000" dirty="0"/>
          </a:p>
        </p:txBody>
      </p:sp>
      <p:sp>
        <p:nvSpPr>
          <p:cNvPr id="4" name="Text 2"/>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
        <p:nvSpPr>
          <p:cNvPr id="5" name="Text 3"/>
          <p:cNvSpPr/>
          <p:nvPr/>
        </p:nvSpPr>
        <p:spPr>
          <a:xfrm>
            <a:off x="10881360" y="6510528"/>
            <a:ext cx="731520" cy="274320"/>
          </a:xfrm>
          <a:prstGeom prst="rect">
            <a:avLst/>
          </a:prstGeom>
          <a:noFill/>
          <a:ln>
            <a:noFill/>
          </a:ln>
        </p:spPr>
        <p:txBody>
          <a:bodyPr wrap="square"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2097410"/>
            <a:ext cx="6675120" cy="4023360"/>
          </a:xfrm>
          <a:prstGeom prst="roundRect">
            <a:avLst>
              <a:gd name="adj" fmla="val 2727"/>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7" name="Text 5"/>
          <p:cNvSpPr/>
          <p:nvPr/>
        </p:nvSpPr>
        <p:spPr>
          <a:xfrm>
            <a:off x="884396" y="2228281"/>
            <a:ext cx="2926080" cy="365760"/>
          </a:xfrm>
          <a:prstGeom prst="rect">
            <a:avLst/>
          </a:prstGeom>
          <a:noFill/>
          <a:ln>
            <a:noFill/>
          </a:ln>
        </p:spPr>
        <p:txBody>
          <a:bodyPr wrap="square" rtlCol="0" anchor="ctr"/>
          <a:lstStyle/>
          <a:p>
            <a:pPr marL="0" indent="0">
              <a:buNone/>
            </a:pPr>
            <a:r>
              <a:rPr lang="en-US" sz="1300" b="1">
                <a:solidFill>
                  <a:srgbClr val="595959"/>
                </a:solidFill>
                <a:latin typeface="Calibri" pitchFamily="34" charset="0"/>
                <a:ea typeface="Calibri" pitchFamily="34" charset="-122"/>
                <a:cs typeface="Calibri" pitchFamily="34" charset="-120"/>
              </a:rPr>
              <a:t>n</a:t>
            </a:r>
            <a:endParaRPr lang="en-US" sz="1300" dirty="0"/>
          </a:p>
        </p:txBody>
      </p:sp>
      <p:sp>
        <p:nvSpPr>
          <p:cNvPr id="8" name="Text 6"/>
          <p:cNvSpPr/>
          <p:nvPr/>
        </p:nvSpPr>
        <p:spPr>
          <a:xfrm>
            <a:off x="4274820" y="2228281"/>
            <a:ext cx="2468880" cy="365760"/>
          </a:xfrm>
          <a:prstGeom prst="rect">
            <a:avLst/>
          </a:prstGeom>
          <a:noFill/>
          <a:ln>
            <a:noFill/>
          </a:ln>
        </p:spPr>
        <p:txBody>
          <a:bodyPr wrap="square" rtlCol="0" anchor="ctr"/>
          <a:lstStyle/>
          <a:p>
            <a:pPr marL="0" indent="0" algn="r">
              <a:buNone/>
            </a:pPr>
            <a:r>
              <a:rPr lang="en-US" sz="1300" b="1">
                <a:solidFill>
                  <a:srgbClr val="595959"/>
                </a:solidFill>
                <a:latin typeface="Calibri" pitchFamily="34" charset="0"/>
                <a:ea typeface="Calibri" pitchFamily="34" charset="-122"/>
                <a:cs typeface="Calibri" pitchFamily="34" charset="-120"/>
              </a:rPr>
              <a:t>log₂n</a:t>
            </a:r>
            <a:endParaRPr lang="en-US" sz="1300" dirty="0"/>
          </a:p>
        </p:txBody>
      </p:sp>
      <p:sp>
        <p:nvSpPr>
          <p:cNvPr id="9" name="Shape 7"/>
          <p:cNvSpPr/>
          <p:nvPr/>
        </p:nvSpPr>
        <p:spPr>
          <a:xfrm>
            <a:off x="868680" y="2654622"/>
            <a:ext cx="6080760" cy="0"/>
          </a:xfrm>
          <a:prstGeom prst="line">
            <a:avLst/>
          </a:prstGeom>
          <a:noFill/>
          <a:ln w="11430">
            <a:solidFill>
              <a:srgbClr val="BFBFBF"/>
            </a:solidFill>
            <a:prstDash val="solid"/>
          </a:ln>
        </p:spPr>
        <p:txBody>
          <a:bodyPr/>
          <a:lstStyle/>
          <a:p>
            <a:endParaRPr lang="en-US"/>
          </a:p>
        </p:txBody>
      </p:sp>
      <p:sp>
        <p:nvSpPr>
          <p:cNvPr id="10" name="Text 8"/>
          <p:cNvSpPr/>
          <p:nvPr/>
        </p:nvSpPr>
        <p:spPr>
          <a:xfrm>
            <a:off x="868680" y="2606040"/>
            <a:ext cx="292608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10</a:t>
            </a:r>
            <a:endParaRPr lang="en-US" sz="1600" dirty="0"/>
          </a:p>
        </p:txBody>
      </p:sp>
      <p:sp>
        <p:nvSpPr>
          <p:cNvPr id="11" name="Text 9"/>
          <p:cNvSpPr/>
          <p:nvPr/>
        </p:nvSpPr>
        <p:spPr>
          <a:xfrm>
            <a:off x="4389120" y="2606040"/>
            <a:ext cx="2468880" cy="457200"/>
          </a:xfrm>
          <a:prstGeom prst="rect">
            <a:avLst/>
          </a:prstGeom>
          <a:noFill/>
          <a:ln>
            <a:noFill/>
          </a:ln>
        </p:spPr>
        <p:txBody>
          <a:bodyPr wrap="square" rtlCol="0" anchor="ctr"/>
          <a:lstStyle/>
          <a:p>
            <a:pPr marL="0" indent="0" algn="r">
              <a:buNone/>
            </a:pPr>
            <a:r>
              <a:rPr lang="en-US" sz="1600">
                <a:solidFill>
                  <a:srgbClr val="333F50"/>
                </a:solidFill>
                <a:latin typeface="Courier New" pitchFamily="34" charset="0"/>
                <a:ea typeface="Courier New" pitchFamily="34" charset="-122"/>
                <a:cs typeface="Courier New" pitchFamily="34" charset="-120"/>
              </a:rPr>
              <a:t>≈ 3.3</a:t>
            </a:r>
            <a:endParaRPr lang="en-US" sz="1600" dirty="0"/>
          </a:p>
        </p:txBody>
      </p:sp>
      <p:sp>
        <p:nvSpPr>
          <p:cNvPr id="12" name="Text 10"/>
          <p:cNvSpPr/>
          <p:nvPr/>
        </p:nvSpPr>
        <p:spPr>
          <a:xfrm>
            <a:off x="868680" y="3182112"/>
            <a:ext cx="292608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100</a:t>
            </a:r>
            <a:endParaRPr lang="en-US" sz="1600" dirty="0"/>
          </a:p>
        </p:txBody>
      </p:sp>
      <p:sp>
        <p:nvSpPr>
          <p:cNvPr id="13" name="Text 11"/>
          <p:cNvSpPr/>
          <p:nvPr/>
        </p:nvSpPr>
        <p:spPr>
          <a:xfrm>
            <a:off x="4389120" y="3182112"/>
            <a:ext cx="2468880" cy="457200"/>
          </a:xfrm>
          <a:prstGeom prst="rect">
            <a:avLst/>
          </a:prstGeom>
          <a:noFill/>
          <a:ln>
            <a:noFill/>
          </a:ln>
        </p:spPr>
        <p:txBody>
          <a:bodyPr wrap="square" rtlCol="0" anchor="ctr"/>
          <a:lstStyle/>
          <a:p>
            <a:pPr marL="0" indent="0" algn="r">
              <a:buNone/>
            </a:pPr>
            <a:r>
              <a:rPr lang="en-US" sz="1600">
                <a:solidFill>
                  <a:srgbClr val="333F50"/>
                </a:solidFill>
                <a:latin typeface="Courier New" pitchFamily="34" charset="0"/>
                <a:ea typeface="Courier New" pitchFamily="34" charset="-122"/>
                <a:cs typeface="Courier New" pitchFamily="34" charset="-120"/>
              </a:rPr>
              <a:t>≈ 6.6</a:t>
            </a:r>
            <a:endParaRPr lang="en-US" sz="1600" dirty="0"/>
          </a:p>
        </p:txBody>
      </p:sp>
      <p:sp>
        <p:nvSpPr>
          <p:cNvPr id="14" name="Text 12"/>
          <p:cNvSpPr/>
          <p:nvPr/>
        </p:nvSpPr>
        <p:spPr>
          <a:xfrm>
            <a:off x="868680" y="3758184"/>
            <a:ext cx="292608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1,000</a:t>
            </a:r>
            <a:endParaRPr lang="en-US" sz="1600" dirty="0"/>
          </a:p>
        </p:txBody>
      </p:sp>
      <p:sp>
        <p:nvSpPr>
          <p:cNvPr id="15" name="Text 13"/>
          <p:cNvSpPr/>
          <p:nvPr/>
        </p:nvSpPr>
        <p:spPr>
          <a:xfrm>
            <a:off x="4389120" y="3758184"/>
            <a:ext cx="2468880" cy="457200"/>
          </a:xfrm>
          <a:prstGeom prst="rect">
            <a:avLst/>
          </a:prstGeom>
          <a:noFill/>
          <a:ln>
            <a:noFill/>
          </a:ln>
        </p:spPr>
        <p:txBody>
          <a:bodyPr wrap="square" rtlCol="0" anchor="ctr"/>
          <a:lstStyle/>
          <a:p>
            <a:pPr marL="0" indent="0" algn="r">
              <a:buNone/>
            </a:pPr>
            <a:r>
              <a:rPr lang="en-US" sz="1600">
                <a:solidFill>
                  <a:srgbClr val="333F50"/>
                </a:solidFill>
                <a:latin typeface="Courier New" pitchFamily="34" charset="0"/>
                <a:ea typeface="Courier New" pitchFamily="34" charset="-122"/>
                <a:cs typeface="Courier New" pitchFamily="34" charset="-120"/>
              </a:rPr>
              <a:t>≈ 10.0</a:t>
            </a:r>
            <a:endParaRPr lang="en-US" sz="1600" dirty="0"/>
          </a:p>
        </p:txBody>
      </p:sp>
      <p:sp>
        <p:nvSpPr>
          <p:cNvPr id="16" name="Text 14"/>
          <p:cNvSpPr/>
          <p:nvPr/>
        </p:nvSpPr>
        <p:spPr>
          <a:xfrm>
            <a:off x="868680" y="4334256"/>
            <a:ext cx="292608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1,000,000</a:t>
            </a:r>
            <a:endParaRPr lang="en-US" sz="1600" dirty="0"/>
          </a:p>
        </p:txBody>
      </p:sp>
      <p:sp>
        <p:nvSpPr>
          <p:cNvPr id="17" name="Text 15"/>
          <p:cNvSpPr/>
          <p:nvPr/>
        </p:nvSpPr>
        <p:spPr>
          <a:xfrm>
            <a:off x="4389120" y="4334256"/>
            <a:ext cx="2468880" cy="457200"/>
          </a:xfrm>
          <a:prstGeom prst="rect">
            <a:avLst/>
          </a:prstGeom>
          <a:noFill/>
          <a:ln>
            <a:noFill/>
          </a:ln>
        </p:spPr>
        <p:txBody>
          <a:bodyPr wrap="square" rtlCol="0" anchor="ctr"/>
          <a:lstStyle/>
          <a:p>
            <a:pPr marL="0" indent="0" algn="r">
              <a:buNone/>
            </a:pPr>
            <a:r>
              <a:rPr lang="en-US" sz="1600">
                <a:solidFill>
                  <a:srgbClr val="333F50"/>
                </a:solidFill>
                <a:latin typeface="Courier New" pitchFamily="34" charset="0"/>
                <a:ea typeface="Courier New" pitchFamily="34" charset="-122"/>
                <a:cs typeface="Courier New" pitchFamily="34" charset="-120"/>
              </a:rPr>
              <a:t>≈ 19.9</a:t>
            </a:r>
            <a:endParaRPr lang="en-US" sz="1600" dirty="0"/>
          </a:p>
        </p:txBody>
      </p:sp>
      <p:sp>
        <p:nvSpPr>
          <p:cNvPr id="18" name="Text 16"/>
          <p:cNvSpPr/>
          <p:nvPr/>
        </p:nvSpPr>
        <p:spPr>
          <a:xfrm>
            <a:off x="868680" y="4910328"/>
            <a:ext cx="2926080" cy="457200"/>
          </a:xfrm>
          <a:prstGeom prst="rect">
            <a:avLst/>
          </a:prstGeom>
          <a:noFill/>
          <a:ln>
            <a:noFill/>
          </a:ln>
        </p:spPr>
        <p:txBody>
          <a:bodyPr wrap="square" rtlCol="0" anchor="ctr"/>
          <a:lstStyle/>
          <a:p>
            <a:pPr marL="0" indent="0">
              <a:buNone/>
            </a:pPr>
            <a:r>
              <a:rPr lang="en-US" sz="1600" b="1">
                <a:solidFill>
                  <a:srgbClr val="333F50"/>
                </a:solidFill>
                <a:latin typeface="Courier New" pitchFamily="34" charset="0"/>
                <a:ea typeface="Courier New" pitchFamily="34" charset="-122"/>
                <a:cs typeface="Courier New" pitchFamily="34" charset="-120"/>
              </a:rPr>
              <a:t>1,000,000,000</a:t>
            </a:r>
            <a:endParaRPr lang="en-US" sz="1600" dirty="0"/>
          </a:p>
        </p:txBody>
      </p:sp>
      <p:sp>
        <p:nvSpPr>
          <p:cNvPr id="19" name="Text 17"/>
          <p:cNvSpPr/>
          <p:nvPr/>
        </p:nvSpPr>
        <p:spPr>
          <a:xfrm>
            <a:off x="4389120" y="4910328"/>
            <a:ext cx="2468880" cy="457200"/>
          </a:xfrm>
          <a:prstGeom prst="rect">
            <a:avLst/>
          </a:prstGeom>
          <a:noFill/>
          <a:ln>
            <a:noFill/>
          </a:ln>
        </p:spPr>
        <p:txBody>
          <a:bodyPr wrap="square" rtlCol="0" anchor="ctr"/>
          <a:lstStyle/>
          <a:p>
            <a:pPr marL="0" indent="0" algn="r">
              <a:buNone/>
            </a:pPr>
            <a:r>
              <a:rPr lang="en-US" sz="1600" b="1">
                <a:solidFill>
                  <a:srgbClr val="ED7D31"/>
                </a:solidFill>
                <a:latin typeface="Courier New" pitchFamily="34" charset="0"/>
                <a:ea typeface="Courier New" pitchFamily="34" charset="-122"/>
                <a:cs typeface="Courier New" pitchFamily="34" charset="-120"/>
              </a:rPr>
              <a:t>≈ 29.9</a:t>
            </a:r>
            <a:endParaRPr lang="en-US" sz="1600" dirty="0"/>
          </a:p>
        </p:txBody>
      </p:sp>
      <p:sp>
        <p:nvSpPr>
          <p:cNvPr id="20" name="Shape 18"/>
          <p:cNvSpPr/>
          <p:nvPr/>
        </p:nvSpPr>
        <p:spPr>
          <a:xfrm>
            <a:off x="7543800" y="2097410"/>
            <a:ext cx="4069080" cy="4023360"/>
          </a:xfrm>
          <a:prstGeom prst="roundRect">
            <a:avLst>
              <a:gd name="adj" fmla="val 2727"/>
            </a:avLst>
          </a:prstGeom>
          <a:solidFill>
            <a:srgbClr val="F5F5F5"/>
          </a:solidFill>
          <a:ln>
            <a:solidFill/>
          </a:ln>
        </p:spPr>
        <p:txBody>
          <a:bodyPr/>
          <a:lstStyle/>
          <a:p>
            <a:endParaRPr lang="en-US"/>
          </a:p>
        </p:txBody>
      </p:sp>
      <p:sp>
        <p:nvSpPr>
          <p:cNvPr id="21" name="Text 19"/>
          <p:cNvSpPr/>
          <p:nvPr/>
        </p:nvSpPr>
        <p:spPr>
          <a:xfrm>
            <a:off x="7863840" y="2240280"/>
            <a:ext cx="3474720" cy="274320"/>
          </a:xfrm>
          <a:prstGeom prst="rect">
            <a:avLst/>
          </a:prstGeom>
          <a:noFill/>
          <a:ln>
            <a:noFill/>
          </a:ln>
        </p:spPr>
        <p:txBody>
          <a:bodyPr wrap="square" rtlCol="0" anchor="ctr"/>
          <a:lstStyle/>
          <a:p>
            <a:pPr marL="0" indent="0">
              <a:buNone/>
            </a:pPr>
            <a:r>
              <a:rPr lang="en-US" sz="1100" b="1" kern="0" spc="150">
                <a:solidFill>
                  <a:srgbClr val="ED7D31"/>
                </a:solidFill>
                <a:latin typeface="Calibri" pitchFamily="34" charset="0"/>
                <a:ea typeface="Calibri" pitchFamily="34" charset="-122"/>
                <a:cs typeface="Calibri" pitchFamily="34" charset="-120"/>
              </a:rPr>
              <a:t>THE PATTERN</a:t>
            </a:r>
            <a:endParaRPr lang="en-US" sz="1100" dirty="0"/>
          </a:p>
        </p:txBody>
      </p:sp>
      <p:sp>
        <p:nvSpPr>
          <p:cNvPr id="22" name="Text 20"/>
          <p:cNvSpPr/>
          <p:nvPr/>
        </p:nvSpPr>
        <p:spPr>
          <a:xfrm>
            <a:off x="7863840" y="2697479"/>
            <a:ext cx="3474720" cy="548640"/>
          </a:xfrm>
          <a:prstGeom prst="rect">
            <a:avLst/>
          </a:prstGeom>
          <a:noFill/>
          <a:ln>
            <a:noFill/>
          </a:ln>
        </p:spPr>
        <p:txBody>
          <a:bodyPr wrap="square" rtlCol="0" anchor="ctr"/>
          <a:lstStyle/>
          <a:p>
            <a:pPr marL="0" indent="0">
              <a:buNone/>
            </a:pPr>
            <a:r>
              <a:rPr lang="en-US" sz="1400" dirty="0">
                <a:solidFill>
                  <a:srgbClr val="333F50"/>
                </a:solidFill>
                <a:latin typeface="Calibri" pitchFamily="34" charset="0"/>
                <a:ea typeface="Calibri" pitchFamily="34" charset="-122"/>
                <a:cs typeface="Calibri" pitchFamily="34" charset="-120"/>
              </a:rPr>
              <a:t>Last row  input n is 1000× bigger than the previous.</a:t>
            </a:r>
          </a:p>
          <a:p>
            <a:pPr marL="0" indent="0">
              <a:buNone/>
            </a:pPr>
            <a:endParaRPr lang="en-US" sz="1400" dirty="0"/>
          </a:p>
        </p:txBody>
      </p:sp>
      <p:sp>
        <p:nvSpPr>
          <p:cNvPr id="23" name="Text 21"/>
          <p:cNvSpPr/>
          <p:nvPr/>
        </p:nvSpPr>
        <p:spPr>
          <a:xfrm>
            <a:off x="7863840" y="2971800"/>
            <a:ext cx="3474720" cy="54864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Last log₂n only grows by about +10.</a:t>
            </a:r>
            <a:endParaRPr lang="en-US" sz="1400" dirty="0"/>
          </a:p>
        </p:txBody>
      </p:sp>
      <p:sp>
        <p:nvSpPr>
          <p:cNvPr id="24" name="Shape 22"/>
          <p:cNvSpPr/>
          <p:nvPr/>
        </p:nvSpPr>
        <p:spPr>
          <a:xfrm>
            <a:off x="7863840" y="3611880"/>
            <a:ext cx="3474720" cy="0"/>
          </a:xfrm>
          <a:prstGeom prst="line">
            <a:avLst/>
          </a:prstGeom>
          <a:noFill/>
          <a:ln w="11430">
            <a:solidFill>
              <a:srgbClr val="BFBFBF"/>
            </a:solidFill>
            <a:prstDash val="solid"/>
          </a:ln>
        </p:spPr>
        <p:txBody>
          <a:bodyPr/>
          <a:lstStyle/>
          <a:p>
            <a:endParaRPr lang="en-US"/>
          </a:p>
        </p:txBody>
      </p:sp>
      <p:sp>
        <p:nvSpPr>
          <p:cNvPr id="25" name="Text 23"/>
          <p:cNvSpPr/>
          <p:nvPr/>
        </p:nvSpPr>
        <p:spPr>
          <a:xfrm>
            <a:off x="7863840" y="3794760"/>
            <a:ext cx="3474720" cy="1737360"/>
          </a:xfrm>
          <a:prstGeom prst="rect">
            <a:avLst/>
          </a:prstGeom>
          <a:noFill/>
          <a:ln>
            <a:noFill/>
          </a:ln>
        </p:spPr>
        <p:txBody>
          <a:bodyPr wrap="square" rtlCol="0" anchor="ctr"/>
          <a:lstStyle/>
          <a:p>
            <a:pPr marL="0" indent="0">
              <a:buNone/>
            </a:pPr>
            <a:r>
              <a:rPr lang="en-US" sz="1400" b="1" i="1">
                <a:solidFill>
                  <a:srgbClr val="333F50"/>
                </a:solidFill>
                <a:latin typeface="Calibri" pitchFamily="34" charset="0"/>
                <a:ea typeface="Calibri" pitchFamily="34" charset="-122"/>
                <a:cs typeface="Calibri" pitchFamily="34" charset="-120"/>
              </a:rPr>
              <a:t>A billion-item problem is only about 3× "deeper" than a 1,000-item one — not a billion times deeper.</a:t>
            </a:r>
            <a:endParaRPr lang="en-US" sz="1400" dirty="0"/>
          </a:p>
        </p:txBody>
      </p:sp>
      <p:sp>
        <p:nvSpPr>
          <p:cNvPr id="26" name="TextBox 25">
            <a:extLst>
              <a:ext uri="{FF2B5EF4-FFF2-40B4-BE49-F238E27FC236}">
                <a16:creationId xmlns:a16="http://schemas.microsoft.com/office/drawing/2014/main" id="{794EB0FD-B595-7687-9363-4CE5F5A2C3A4}"/>
              </a:ext>
            </a:extLst>
          </p:cNvPr>
          <p:cNvSpPr txBox="1"/>
          <p:nvPr/>
        </p:nvSpPr>
        <p:spPr>
          <a:xfrm>
            <a:off x="2234565" y="3196975"/>
            <a:ext cx="2154555" cy="369332"/>
          </a:xfrm>
          <a:prstGeom prst="rect">
            <a:avLst/>
          </a:prstGeom>
          <a:noFill/>
          <a:ln>
            <a:noFill/>
          </a:ln>
        </p:spPr>
        <p:txBody>
          <a:bodyPr wrap="square" rtlCol="0">
            <a:spAutoFit/>
          </a:bodyPr>
          <a:lstStyle/>
          <a:p>
            <a:r>
              <a:rPr lang="en-US">
                <a:solidFill/>
              </a:rPr>
              <a:t>log</a:t>
            </a:r>
            <a:r>
              <a:rPr lang="en-US" baseline="-25000">
                <a:solidFill/>
              </a:rPr>
              <a:t>2</a:t>
            </a:r>
            <a:r>
              <a:rPr lang="en-US">
                <a:solidFill/>
              </a:rPr>
              <a:t>(10</a:t>
            </a:r>
            <a:r>
              <a:rPr lang="en-US" baseline="30000">
                <a:solidFill/>
              </a:rPr>
              <a:t>2</a:t>
            </a:r>
            <a:r>
              <a:rPr lang="en-US">
                <a:solidFill/>
              </a:rPr>
              <a:t>)=2*log</a:t>
            </a:r>
            <a:r>
              <a:rPr lang="en-US" baseline="-25000">
                <a:solidFill/>
              </a:rPr>
              <a:t>2</a:t>
            </a:r>
            <a:r>
              <a:rPr lang="en-US">
                <a:solidFill/>
              </a:rPr>
              <a:t>(10)</a:t>
            </a:r>
          </a:p>
        </p:txBody>
      </p:sp>
      <p:cxnSp>
        <p:nvCxnSpPr>
          <p:cNvPr id="30" name="Straight Arrow Connector 29">
            <a:extLst>
              <a:ext uri="{FF2B5EF4-FFF2-40B4-BE49-F238E27FC236}">
                <a16:creationId xmlns:a16="http://schemas.microsoft.com/office/drawing/2014/main" id="{548FFDF6-7356-F002-B83B-92BB73A6CCB5}"/>
              </a:ext>
            </a:extLst>
          </p:cNvPr>
          <p:cNvCxnSpPr/>
          <p:nvPr/>
        </p:nvCxnSpPr>
        <p:spPr>
          <a:xfrm flipH="1">
            <a:off x="1414463" y="3410712"/>
            <a:ext cx="785812" cy="18288"/>
          </a:xfrm>
          <a:prstGeom prst="straightConnector1">
            <a:avLst/>
          </a:prstGeom>
          <a:ln w="1905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7309EC8-7E90-E1F5-818C-535EDED5A772}"/>
              </a:ext>
            </a:extLst>
          </p:cNvPr>
          <p:cNvSpPr txBox="1"/>
          <p:nvPr/>
        </p:nvSpPr>
        <p:spPr>
          <a:xfrm>
            <a:off x="665797" y="1634138"/>
            <a:ext cx="5292090" cy="369332"/>
          </a:xfrm>
          <a:prstGeom prst="rect">
            <a:avLst/>
          </a:prstGeom>
          <a:noFill/>
          <a:ln>
            <a:noFill/>
          </a:ln>
        </p:spPr>
        <p:txBody>
          <a:bodyPr wrap="square" rtlCol="0">
            <a:spAutoFit/>
          </a:bodyPr>
          <a:lstStyle/>
          <a:p>
            <a:r>
              <a:rPr lang="en-US" b="1">
                <a:solidFill>
                  <a:srgbClr val="333F50"/>
                </a:solidFill>
                <a:latin typeface="Cambria" pitchFamily="34" charset="0"/>
                <a:ea typeface="Cambria" pitchFamily="34" charset="-122"/>
                <a:cs typeface="Cambria" pitchFamily="34" charset="-120"/>
              </a:rPr>
              <a:t>Example: log</a:t>
            </a:r>
            <a:r>
              <a:rPr lang="en-US" b="1" baseline="-25000">
                <a:solidFill>
                  <a:srgbClr val="333F50"/>
                </a:solidFill>
                <a:latin typeface="Cambria" pitchFamily="34" charset="0"/>
                <a:ea typeface="Cambria" pitchFamily="34" charset="-122"/>
                <a:cs typeface="Cambria" pitchFamily="34" charset="-120"/>
              </a:rPr>
              <a:t>2</a:t>
            </a:r>
            <a:r>
              <a:rPr lang="en-US" b="1">
                <a:solidFill>
                  <a:srgbClr val="333F50"/>
                </a:solidFill>
                <a:latin typeface="Cambria" pitchFamily="34" charset="0"/>
                <a:ea typeface="Cambria" pitchFamily="34" charset="-122"/>
                <a:cs typeface="Cambria" pitchFamily="34" charset="-120"/>
              </a:rPr>
              <a:t>(2n) = log</a:t>
            </a:r>
            <a:r>
              <a:rPr lang="en-US" b="1" baseline="-25000">
                <a:solidFill>
                  <a:srgbClr val="333F50"/>
                </a:solidFill>
                <a:latin typeface="Cambria" pitchFamily="34" charset="0"/>
                <a:ea typeface="Cambria" pitchFamily="34" charset="-122"/>
                <a:cs typeface="Cambria" pitchFamily="34" charset="-120"/>
              </a:rPr>
              <a:t>2</a:t>
            </a:r>
            <a:r>
              <a:rPr lang="en-US" b="1">
                <a:solidFill>
                  <a:srgbClr val="333F50"/>
                </a:solidFill>
                <a:latin typeface="Cambria" pitchFamily="34" charset="0"/>
                <a:ea typeface="Cambria" pitchFamily="34" charset="-122"/>
                <a:cs typeface="Cambria" pitchFamily="34" charset="-120"/>
              </a:rPr>
              <a:t>n + log</a:t>
            </a:r>
            <a:r>
              <a:rPr lang="en-US" b="1" baseline="-25000">
                <a:solidFill>
                  <a:srgbClr val="333F50"/>
                </a:solidFill>
                <a:latin typeface="Cambria" pitchFamily="34" charset="0"/>
                <a:ea typeface="Cambria" pitchFamily="34" charset="-122"/>
                <a:cs typeface="Cambria" pitchFamily="34" charset="-120"/>
              </a:rPr>
              <a:t>2</a:t>
            </a:r>
            <a:r>
              <a:rPr lang="en-US" b="1">
                <a:solidFill>
                  <a:srgbClr val="333F50"/>
                </a:solidFill>
                <a:latin typeface="Cambria" pitchFamily="34" charset="0"/>
                <a:ea typeface="Cambria" pitchFamily="34" charset="-122"/>
                <a:cs typeface="Cambria" pitchFamily="34" charset="-120"/>
              </a:rPr>
              <a:t>2 = log</a:t>
            </a:r>
            <a:r>
              <a:rPr lang="en-US" b="1" baseline="-25000">
                <a:solidFill>
                  <a:srgbClr val="333F50"/>
                </a:solidFill>
                <a:latin typeface="Cambria" pitchFamily="34" charset="0"/>
                <a:ea typeface="Cambria" pitchFamily="34" charset="-122"/>
                <a:cs typeface="Cambria" pitchFamily="34" charset="-120"/>
              </a:rPr>
              <a:t>2</a:t>
            </a:r>
            <a:r>
              <a:rPr lang="en-US" b="1">
                <a:solidFill>
                  <a:srgbClr val="333F50"/>
                </a:solidFill>
                <a:latin typeface="Cambria" pitchFamily="34" charset="0"/>
                <a:ea typeface="Cambria" pitchFamily="34" charset="-122"/>
                <a:cs typeface="Cambria" pitchFamily="34" charset="-120"/>
              </a:rPr>
              <a:t>n + 1</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par>
                                <p:cTn id="8" presetID="3" presetClass="entr" presetSubtype="1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linds(horizontal)">
                                      <p:cBhvr>
                                        <p:cTn id="1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IN CONTEXT</a:t>
            </a:r>
            <a:endParaRPr lang="en-US" sz="1200" dirty="0"/>
          </a:p>
        </p:txBody>
      </p:sp>
      <p:sp>
        <p:nvSpPr>
          <p:cNvPr id="3" name="Text 1"/>
          <p:cNvSpPr/>
          <p:nvPr/>
        </p:nvSpPr>
        <p:spPr>
          <a:xfrm>
            <a:off x="548640" y="658368"/>
            <a:ext cx="11064240" cy="822960"/>
          </a:xfrm>
          <a:prstGeom prst="rect">
            <a:avLst/>
          </a:prstGeom>
          <a:noFill/>
          <a:ln>
            <a:noFill/>
          </a:ln>
        </p:spPr>
        <p:txBody>
          <a:bodyPr wrap="square" rtlCol="0" anchor="ctr"/>
          <a:lstStyle/>
          <a:p>
            <a:r>
              <a:rPr lang="en-US" sz="3000" b="1" err="1">
                <a:solidFill>
                  <a:srgbClr val="333F50"/>
                </a:solidFill>
                <a:latin typeface="Cambria" pitchFamily="34" charset="0"/>
                <a:ea typeface="Cambria" pitchFamily="34" charset="-122"/>
                <a:cs typeface="Cambria" pitchFamily="34" charset="-120"/>
              </a:rPr>
              <a:t>log₂n</a:t>
            </a:r>
            <a:r>
              <a:rPr lang="en-US" sz="3000" b="1">
                <a:solidFill>
                  <a:srgbClr val="333F50"/>
                </a:solidFill>
                <a:latin typeface="Cambria" pitchFamily="34" charset="0"/>
                <a:ea typeface="Cambria" pitchFamily="34" charset="-122"/>
                <a:cs typeface="Cambria" pitchFamily="34" charset="-120"/>
              </a:rPr>
              <a:t> next to its neighbors, at n = 50</a:t>
            </a:r>
            <a:endParaRPr lang="en-US" sz="3000" dirty="0"/>
          </a:p>
        </p:txBody>
      </p:sp>
      <p:sp>
        <p:nvSpPr>
          <p:cNvPr id="4" name="Text 2"/>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
        <p:nvSpPr>
          <p:cNvPr id="5" name="Text 3"/>
          <p:cNvSpPr/>
          <p:nvPr/>
        </p:nvSpPr>
        <p:spPr>
          <a:xfrm>
            <a:off x="10881360" y="6510528"/>
            <a:ext cx="731520" cy="274320"/>
          </a:xfrm>
          <a:prstGeom prst="rect">
            <a:avLst/>
          </a:prstGeom>
          <a:noFill/>
          <a:ln>
            <a:noFill/>
          </a:ln>
        </p:spPr>
        <p:txBody>
          <a:bodyPr wrap="square"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783080"/>
            <a:ext cx="11064240" cy="3977640"/>
          </a:xfrm>
          <a:prstGeom prst="roundRect">
            <a:avLst>
              <a:gd name="adj" fmla="val 2759"/>
            </a:avLst>
          </a:prstGeom>
          <a:solidFill>
            <a:srgbClr val="F5F5F5"/>
          </a:solidFill>
          <a:ln>
            <a:solidFill/>
          </a:ln>
        </p:spPr>
        <p:txBody>
          <a:bodyPr/>
          <a:lstStyle/>
          <a:p>
            <a:endParaRPr lang="en-US"/>
          </a:p>
        </p:txBody>
      </p:sp>
      <p:sp>
        <p:nvSpPr>
          <p:cNvPr id="7" name="Text 5"/>
          <p:cNvSpPr/>
          <p:nvPr/>
        </p:nvSpPr>
        <p:spPr>
          <a:xfrm>
            <a:off x="868680" y="2011680"/>
            <a:ext cx="10424160" cy="274320"/>
          </a:xfrm>
          <a:prstGeom prst="rect">
            <a:avLst/>
          </a:prstGeom>
          <a:noFill/>
          <a:ln>
            <a:noFill/>
          </a:ln>
        </p:spPr>
        <p:txBody>
          <a:bodyPr wrap="square" rtlCol="0" anchor="ctr"/>
          <a:lstStyle/>
          <a:p>
            <a:pPr marL="0" indent="0">
              <a:buNone/>
            </a:pPr>
            <a:r>
              <a:rPr lang="en-US" sz="1100" b="1" kern="0" spc="100">
                <a:solidFill>
                  <a:srgbClr val="ED7D31"/>
                </a:solidFill>
                <a:latin typeface="Calibri" pitchFamily="34" charset="0"/>
                <a:ea typeface="Calibri" pitchFamily="34" charset="-122"/>
                <a:cs typeface="Calibri" pitchFamily="34" charset="-120"/>
              </a:rPr>
              <a:t>RELATIVE GROWTH  (bar height illustrative, not to exact scale)</a:t>
            </a:r>
            <a:endParaRPr lang="en-US" sz="1100" dirty="0"/>
          </a:p>
        </p:txBody>
      </p:sp>
      <p:sp>
        <p:nvSpPr>
          <p:cNvPr id="8" name="Shape 6"/>
          <p:cNvSpPr/>
          <p:nvPr/>
        </p:nvSpPr>
        <p:spPr>
          <a:xfrm>
            <a:off x="1463040" y="4937760"/>
            <a:ext cx="1417320" cy="320040"/>
          </a:xfrm>
          <a:prstGeom prst="roundRect">
            <a:avLst>
              <a:gd name="adj" fmla="val 14286"/>
            </a:avLst>
          </a:prstGeom>
          <a:solidFill>
            <a:srgbClr val="4472C4"/>
          </a:solidFill>
          <a:ln>
            <a:solidFill/>
          </a:ln>
        </p:spPr>
        <p:txBody>
          <a:bodyPr/>
          <a:lstStyle/>
          <a:p>
            <a:endParaRPr lang="en-US"/>
          </a:p>
        </p:txBody>
      </p:sp>
      <p:sp>
        <p:nvSpPr>
          <p:cNvPr id="9" name="Text 7"/>
          <p:cNvSpPr/>
          <p:nvPr/>
        </p:nvSpPr>
        <p:spPr>
          <a:xfrm>
            <a:off x="1280160" y="4590288"/>
            <a:ext cx="1783080" cy="274320"/>
          </a:xfrm>
          <a:prstGeom prst="rect">
            <a:avLst/>
          </a:prstGeom>
          <a:noFill/>
          <a:ln>
            <a:noFill/>
          </a:ln>
        </p:spPr>
        <p:txBody>
          <a:bodyPr wrap="square" rtlCol="0" anchor="ctr"/>
          <a:lstStyle/>
          <a:p>
            <a:pPr marL="0" indent="0" algn="ctr">
              <a:buNone/>
            </a:pPr>
            <a:r>
              <a:rPr lang="en-US" sz="1300" b="1">
                <a:solidFill>
                  <a:srgbClr val="333F50"/>
                </a:solidFill>
                <a:latin typeface="Courier New" pitchFamily="34" charset="0"/>
                <a:ea typeface="Courier New" pitchFamily="34" charset="-122"/>
                <a:cs typeface="Courier New" pitchFamily="34" charset="-120"/>
              </a:rPr>
              <a:t>≈ 5.6</a:t>
            </a:r>
            <a:endParaRPr lang="en-US" sz="1300" dirty="0"/>
          </a:p>
        </p:txBody>
      </p:sp>
      <p:sp>
        <p:nvSpPr>
          <p:cNvPr id="10" name="Text 8"/>
          <p:cNvSpPr/>
          <p:nvPr/>
        </p:nvSpPr>
        <p:spPr>
          <a:xfrm>
            <a:off x="1280160" y="5330952"/>
            <a:ext cx="1783080" cy="320040"/>
          </a:xfrm>
          <a:prstGeom prst="rect">
            <a:avLst/>
          </a:prstGeom>
          <a:noFill/>
          <a:ln>
            <a:noFill/>
          </a:ln>
        </p:spPr>
        <p:txBody>
          <a:bodyPr wrap="square" rtlCol="0" anchor="ctr"/>
          <a:lstStyle/>
          <a:p>
            <a:pPr marL="0" indent="0" algn="ctr">
              <a:buNone/>
            </a:pPr>
            <a:r>
              <a:rPr lang="en-US" sz="1300" b="1">
                <a:solidFill>
                  <a:srgbClr val="333F50"/>
                </a:solidFill>
                <a:latin typeface="Calibri" pitchFamily="34" charset="0"/>
                <a:ea typeface="Calibri" pitchFamily="34" charset="-122"/>
                <a:cs typeface="Calibri" pitchFamily="34" charset="-120"/>
              </a:rPr>
              <a:t>log n</a:t>
            </a:r>
            <a:endParaRPr lang="en-US" sz="1300" dirty="0"/>
          </a:p>
        </p:txBody>
      </p:sp>
      <p:sp>
        <p:nvSpPr>
          <p:cNvPr id="11" name="Shape 9"/>
          <p:cNvSpPr/>
          <p:nvPr/>
        </p:nvSpPr>
        <p:spPr>
          <a:xfrm>
            <a:off x="3566160" y="4709160"/>
            <a:ext cx="1417320" cy="548640"/>
          </a:xfrm>
          <a:prstGeom prst="roundRect">
            <a:avLst>
              <a:gd name="adj" fmla="val 8333"/>
            </a:avLst>
          </a:prstGeom>
          <a:solidFill>
            <a:srgbClr val="4472C4"/>
          </a:solidFill>
          <a:ln>
            <a:solidFill/>
          </a:ln>
        </p:spPr>
        <p:txBody>
          <a:bodyPr/>
          <a:lstStyle/>
          <a:p>
            <a:endParaRPr lang="en-US"/>
          </a:p>
        </p:txBody>
      </p:sp>
      <p:sp>
        <p:nvSpPr>
          <p:cNvPr id="12" name="Text 10"/>
          <p:cNvSpPr/>
          <p:nvPr/>
        </p:nvSpPr>
        <p:spPr>
          <a:xfrm>
            <a:off x="3383280" y="4361688"/>
            <a:ext cx="1783080" cy="274320"/>
          </a:xfrm>
          <a:prstGeom prst="rect">
            <a:avLst/>
          </a:prstGeom>
          <a:noFill/>
          <a:ln>
            <a:noFill/>
          </a:ln>
        </p:spPr>
        <p:txBody>
          <a:bodyPr wrap="square" rtlCol="0" anchor="ctr"/>
          <a:lstStyle/>
          <a:p>
            <a:pPr marL="0" indent="0" algn="ctr">
              <a:buNone/>
            </a:pPr>
            <a:r>
              <a:rPr lang="en-US" sz="1300" b="1">
                <a:solidFill>
                  <a:srgbClr val="333F50"/>
                </a:solidFill>
                <a:latin typeface="Courier New" pitchFamily="34" charset="0"/>
                <a:ea typeface="Courier New" pitchFamily="34" charset="-122"/>
                <a:cs typeface="Courier New" pitchFamily="34" charset="-120"/>
              </a:rPr>
              <a:t>≈ 7.1</a:t>
            </a:r>
            <a:endParaRPr lang="en-US" sz="1300" dirty="0"/>
          </a:p>
        </p:txBody>
      </p:sp>
      <p:sp>
        <p:nvSpPr>
          <p:cNvPr id="13" name="Text 11"/>
          <p:cNvSpPr/>
          <p:nvPr/>
        </p:nvSpPr>
        <p:spPr>
          <a:xfrm>
            <a:off x="3383280" y="5330952"/>
            <a:ext cx="1783080" cy="320040"/>
          </a:xfrm>
          <a:prstGeom prst="rect">
            <a:avLst/>
          </a:prstGeom>
          <a:noFill/>
          <a:ln>
            <a:noFill/>
          </a:ln>
        </p:spPr>
        <p:txBody>
          <a:bodyPr wrap="square" rtlCol="0" anchor="ctr"/>
          <a:lstStyle/>
          <a:p>
            <a:pPr marL="0" indent="0" algn="ctr">
              <a:buNone/>
            </a:pPr>
            <a:r>
              <a:rPr lang="en-US" sz="1300" b="1">
                <a:solidFill>
                  <a:srgbClr val="333F50"/>
                </a:solidFill>
                <a:latin typeface="Calibri" pitchFamily="34" charset="0"/>
                <a:ea typeface="Calibri" pitchFamily="34" charset="-122"/>
                <a:cs typeface="Calibri" pitchFamily="34" charset="-120"/>
              </a:rPr>
              <a:t>√n</a:t>
            </a:r>
            <a:endParaRPr lang="en-US" sz="1300" dirty="0"/>
          </a:p>
        </p:txBody>
      </p:sp>
      <p:sp>
        <p:nvSpPr>
          <p:cNvPr id="14" name="Shape 12"/>
          <p:cNvSpPr/>
          <p:nvPr/>
        </p:nvSpPr>
        <p:spPr>
          <a:xfrm>
            <a:off x="5669280" y="4069080"/>
            <a:ext cx="1417320" cy="1188720"/>
          </a:xfrm>
          <a:prstGeom prst="roundRect">
            <a:avLst>
              <a:gd name="adj" fmla="val 3846"/>
            </a:avLst>
          </a:prstGeom>
          <a:solidFill>
            <a:srgbClr val="4472C4"/>
          </a:solidFill>
          <a:ln>
            <a:solidFill/>
          </a:ln>
        </p:spPr>
        <p:txBody>
          <a:bodyPr/>
          <a:lstStyle/>
          <a:p>
            <a:endParaRPr lang="en-US"/>
          </a:p>
        </p:txBody>
      </p:sp>
      <p:sp>
        <p:nvSpPr>
          <p:cNvPr id="15" name="Text 13"/>
          <p:cNvSpPr/>
          <p:nvPr/>
        </p:nvSpPr>
        <p:spPr>
          <a:xfrm>
            <a:off x="5486400" y="3721608"/>
            <a:ext cx="1783080" cy="274320"/>
          </a:xfrm>
          <a:prstGeom prst="rect">
            <a:avLst/>
          </a:prstGeom>
          <a:noFill/>
          <a:ln>
            <a:noFill/>
          </a:ln>
        </p:spPr>
        <p:txBody>
          <a:bodyPr wrap="square" rtlCol="0" anchor="ctr"/>
          <a:lstStyle/>
          <a:p>
            <a:pPr marL="0" indent="0" algn="ctr">
              <a:buNone/>
            </a:pPr>
            <a:r>
              <a:rPr lang="en-US" sz="1300" b="1">
                <a:solidFill>
                  <a:srgbClr val="333F50"/>
                </a:solidFill>
                <a:latin typeface="Courier New" pitchFamily="34" charset="0"/>
                <a:ea typeface="Courier New" pitchFamily="34" charset="-122"/>
                <a:cs typeface="Courier New" pitchFamily="34" charset="-120"/>
              </a:rPr>
              <a:t>50</a:t>
            </a:r>
            <a:endParaRPr lang="en-US" sz="1300" dirty="0"/>
          </a:p>
        </p:txBody>
      </p:sp>
      <p:sp>
        <p:nvSpPr>
          <p:cNvPr id="16" name="Text 14"/>
          <p:cNvSpPr/>
          <p:nvPr/>
        </p:nvSpPr>
        <p:spPr>
          <a:xfrm>
            <a:off x="5486400" y="5330952"/>
            <a:ext cx="1783080" cy="320040"/>
          </a:xfrm>
          <a:prstGeom prst="rect">
            <a:avLst/>
          </a:prstGeom>
          <a:noFill/>
          <a:ln>
            <a:noFill/>
          </a:ln>
        </p:spPr>
        <p:txBody>
          <a:bodyPr wrap="square" rtlCol="0" anchor="ctr"/>
          <a:lstStyle/>
          <a:p>
            <a:pPr marL="0" indent="0" algn="ctr">
              <a:buNone/>
            </a:pPr>
            <a:r>
              <a:rPr lang="en-US" sz="1300" b="1">
                <a:solidFill>
                  <a:srgbClr val="333F50"/>
                </a:solidFill>
                <a:latin typeface="Calibri" pitchFamily="34" charset="0"/>
                <a:ea typeface="Calibri" pitchFamily="34" charset="-122"/>
                <a:cs typeface="Calibri" pitchFamily="34" charset="-120"/>
              </a:rPr>
              <a:t>n</a:t>
            </a:r>
            <a:endParaRPr lang="en-US" sz="1300" dirty="0"/>
          </a:p>
        </p:txBody>
      </p:sp>
      <p:sp>
        <p:nvSpPr>
          <p:cNvPr id="17" name="Shape 15"/>
          <p:cNvSpPr/>
          <p:nvPr/>
        </p:nvSpPr>
        <p:spPr>
          <a:xfrm>
            <a:off x="7772400" y="3246120"/>
            <a:ext cx="1417320" cy="2011680"/>
          </a:xfrm>
          <a:prstGeom prst="roundRect">
            <a:avLst>
              <a:gd name="adj" fmla="val 3226"/>
            </a:avLst>
          </a:prstGeom>
          <a:solidFill>
            <a:srgbClr val="4472C4"/>
          </a:solidFill>
          <a:ln>
            <a:solidFill/>
          </a:ln>
        </p:spPr>
        <p:txBody>
          <a:bodyPr/>
          <a:lstStyle/>
          <a:p>
            <a:endParaRPr lang="en-US"/>
          </a:p>
        </p:txBody>
      </p:sp>
      <p:sp>
        <p:nvSpPr>
          <p:cNvPr id="18" name="Text 16"/>
          <p:cNvSpPr/>
          <p:nvPr/>
        </p:nvSpPr>
        <p:spPr>
          <a:xfrm>
            <a:off x="7589520" y="2898648"/>
            <a:ext cx="1783080" cy="274320"/>
          </a:xfrm>
          <a:prstGeom prst="rect">
            <a:avLst/>
          </a:prstGeom>
          <a:noFill/>
          <a:ln>
            <a:noFill/>
          </a:ln>
        </p:spPr>
        <p:txBody>
          <a:bodyPr wrap="square" rtlCol="0" anchor="ctr"/>
          <a:lstStyle/>
          <a:p>
            <a:pPr marL="0" indent="0" algn="ctr">
              <a:buNone/>
            </a:pPr>
            <a:r>
              <a:rPr lang="en-US" sz="1300" b="1">
                <a:solidFill>
                  <a:srgbClr val="333F50"/>
                </a:solidFill>
                <a:latin typeface="Courier New" pitchFamily="34" charset="0"/>
                <a:ea typeface="Courier New" pitchFamily="34" charset="-122"/>
                <a:cs typeface="Courier New" pitchFamily="34" charset="-120"/>
              </a:rPr>
              <a:t>≈ 282</a:t>
            </a:r>
            <a:endParaRPr lang="en-US" sz="1300" dirty="0"/>
          </a:p>
        </p:txBody>
      </p:sp>
      <p:sp>
        <p:nvSpPr>
          <p:cNvPr id="19" name="Text 17"/>
          <p:cNvSpPr/>
          <p:nvPr/>
        </p:nvSpPr>
        <p:spPr>
          <a:xfrm>
            <a:off x="7589520" y="5330952"/>
            <a:ext cx="1783080" cy="320040"/>
          </a:xfrm>
          <a:prstGeom prst="rect">
            <a:avLst/>
          </a:prstGeom>
          <a:noFill/>
          <a:ln>
            <a:noFill/>
          </a:ln>
        </p:spPr>
        <p:txBody>
          <a:bodyPr wrap="square" rtlCol="0" anchor="ctr"/>
          <a:lstStyle/>
          <a:p>
            <a:pPr marL="0" indent="0" algn="ctr">
              <a:buNone/>
            </a:pPr>
            <a:r>
              <a:rPr lang="en-US" sz="1300" b="1">
                <a:solidFill>
                  <a:srgbClr val="333F50"/>
                </a:solidFill>
                <a:latin typeface="Calibri" pitchFamily="34" charset="0"/>
                <a:ea typeface="Calibri" pitchFamily="34" charset="-122"/>
                <a:cs typeface="Calibri" pitchFamily="34" charset="-120"/>
              </a:rPr>
              <a:t>n log n</a:t>
            </a:r>
            <a:endParaRPr lang="en-US" sz="1300" dirty="0"/>
          </a:p>
        </p:txBody>
      </p:sp>
      <p:sp>
        <p:nvSpPr>
          <p:cNvPr id="20" name="Shape 18"/>
          <p:cNvSpPr/>
          <p:nvPr/>
        </p:nvSpPr>
        <p:spPr>
          <a:xfrm>
            <a:off x="9875520" y="2514600"/>
            <a:ext cx="1417320" cy="2743200"/>
          </a:xfrm>
          <a:prstGeom prst="roundRect">
            <a:avLst>
              <a:gd name="adj" fmla="val 3226"/>
            </a:avLst>
          </a:prstGeom>
          <a:solidFill>
            <a:srgbClr val="ED7D31"/>
          </a:solidFill>
          <a:ln>
            <a:solidFill/>
          </a:ln>
        </p:spPr>
        <p:txBody>
          <a:bodyPr/>
          <a:lstStyle/>
          <a:p>
            <a:endParaRPr lang="en-US"/>
          </a:p>
        </p:txBody>
      </p:sp>
      <p:sp>
        <p:nvSpPr>
          <p:cNvPr id="21" name="Text 19"/>
          <p:cNvSpPr/>
          <p:nvPr/>
        </p:nvSpPr>
        <p:spPr>
          <a:xfrm>
            <a:off x="9692640" y="2167128"/>
            <a:ext cx="1783080" cy="274320"/>
          </a:xfrm>
          <a:prstGeom prst="rect">
            <a:avLst/>
          </a:prstGeom>
          <a:noFill/>
          <a:ln>
            <a:noFill/>
          </a:ln>
        </p:spPr>
        <p:txBody>
          <a:bodyPr wrap="square" rtlCol="0" anchor="ctr"/>
          <a:lstStyle/>
          <a:p>
            <a:pPr marL="0" indent="0" algn="ctr">
              <a:buNone/>
            </a:pPr>
            <a:r>
              <a:rPr lang="en-US" sz="1300" b="1">
                <a:solidFill>
                  <a:srgbClr val="333F50"/>
                </a:solidFill>
                <a:latin typeface="Courier New" pitchFamily="34" charset="0"/>
                <a:ea typeface="Courier New" pitchFamily="34" charset="-122"/>
                <a:cs typeface="Courier New" pitchFamily="34" charset="-120"/>
              </a:rPr>
              <a:t>2,500</a:t>
            </a:r>
            <a:endParaRPr lang="en-US" sz="1300" dirty="0"/>
          </a:p>
        </p:txBody>
      </p:sp>
      <p:sp>
        <p:nvSpPr>
          <p:cNvPr id="22" name="Text 20"/>
          <p:cNvSpPr/>
          <p:nvPr/>
        </p:nvSpPr>
        <p:spPr>
          <a:xfrm>
            <a:off x="9692640" y="5330952"/>
            <a:ext cx="1783080" cy="320040"/>
          </a:xfrm>
          <a:prstGeom prst="rect">
            <a:avLst/>
          </a:prstGeom>
          <a:noFill/>
          <a:ln>
            <a:noFill/>
          </a:ln>
        </p:spPr>
        <p:txBody>
          <a:bodyPr wrap="square" rtlCol="0" anchor="ctr"/>
          <a:lstStyle/>
          <a:p>
            <a:pPr marL="0" indent="0" algn="ctr">
              <a:buNone/>
            </a:pPr>
            <a:r>
              <a:rPr lang="en-US" sz="1300" b="1">
                <a:solidFill>
                  <a:srgbClr val="333F50"/>
                </a:solidFill>
                <a:latin typeface="Calibri" pitchFamily="34" charset="0"/>
                <a:ea typeface="Calibri" pitchFamily="34" charset="-122"/>
                <a:cs typeface="Calibri" pitchFamily="34" charset="-120"/>
              </a:rPr>
              <a:t>n²</a:t>
            </a:r>
            <a:endParaRPr lang="en-US" sz="1300" dirty="0"/>
          </a:p>
        </p:txBody>
      </p:sp>
      <p:sp>
        <p:nvSpPr>
          <p:cNvPr id="23" name="Shape 21"/>
          <p:cNvSpPr/>
          <p:nvPr/>
        </p:nvSpPr>
        <p:spPr>
          <a:xfrm>
            <a:off x="1188720" y="5257800"/>
            <a:ext cx="10058400" cy="0"/>
          </a:xfrm>
          <a:prstGeom prst="line">
            <a:avLst/>
          </a:prstGeom>
          <a:noFill/>
          <a:ln w="11430">
            <a:solidFill>
              <a:srgbClr val="BFBFBF"/>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658368"/>
            <a:ext cx="11064240" cy="822960"/>
          </a:xfrm>
          <a:ln>
            <a:noFill/>
          </a:ln>
        </p:spPr>
        <p:txBody>
          <a:bodyPr wrap="square" lIns="0" tIns="0" rIns="0" bIns="0"/>
          <a:lstStyle/>
          <a:p>
            <a:pPr algn="l"/>
            <a:r>
              <a:rPr lang="en-US" sz="3000" b="1" i="0" dirty="0">
                <a:solidFill>
                  <a:srgbClr val="333F50"/>
                </a:solidFill>
                <a:latin typeface="Cambria"/>
              </a:rPr>
              <a:t>Change </a:t>
            </a:r>
            <a:r>
              <a:rPr lang="en-US" sz="3000" b="1" i="0" dirty="0" err="1">
                <a:solidFill>
                  <a:srgbClr val="333F50"/>
                </a:solidFill>
                <a:latin typeface="Cambria"/>
              </a:rPr>
              <a:t>nlog</a:t>
            </a:r>
            <a:r>
              <a:rPr lang="en-US" sz="3000" b="1" i="0" dirty="0">
                <a:solidFill>
                  <a:srgbClr val="333F50"/>
                </a:solidFill>
                <a:latin typeface="Cambria"/>
              </a:rPr>
              <a:t>(n) to 5nlog(n)</a:t>
            </a:r>
            <a:r>
              <a:rPr lang="mr-IN" sz="3000" b="1" i="0" dirty="0">
                <a:solidFill>
                  <a:srgbClr val="333F50"/>
                </a:solidFill>
                <a:latin typeface="Cambria"/>
              </a:rPr>
              <a:t>…</a:t>
            </a:r>
            <a:r>
              <a:rPr lang="en-US" sz="3000" b="1" i="0" dirty="0">
                <a:solidFill>
                  <a:srgbClr val="333F50"/>
                </a:solidFill>
                <a:latin typeface="Cambria"/>
              </a:rPr>
              <a:t>.</a:t>
            </a:r>
            <a:endParaRPr lang="en-US" dirty="0">
              <a:solidFill>
                <a:schemeClr val="accent4"/>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64003725"/>
              </p:ext>
            </p:extLst>
          </p:nvPr>
        </p:nvGraphicFramePr>
        <p:xfrm>
          <a:off x="731520" y="1783080"/>
          <a:ext cx="3386760" cy="4160520"/>
        </p:xfrm>
        <a:graphic>
          <a:graphicData uri="http://schemas.openxmlformats.org/drawingml/2006/table">
            <a:tbl>
              <a:tblPr firstCol="1">
                <a:tableStyleId>{2D5ABB26-0587-4C30-8999-92F81FD0307C}</a:tableStyleId>
              </a:tblPr>
              <a:tblGrid>
                <a:gridCol w="769197">
                  <a:extLst>
                    <a:ext uri="{9D8B030D-6E8A-4147-A177-3AD203B41FA5}">
                      <a16:colId xmlns:a16="http://schemas.microsoft.com/office/drawing/2014/main" val="20000"/>
                    </a:ext>
                  </a:extLst>
                </a:gridCol>
                <a:gridCol w="1213916">
                  <a:extLst>
                    <a:ext uri="{9D8B030D-6E8A-4147-A177-3AD203B41FA5}">
                      <a16:colId xmlns:a16="http://schemas.microsoft.com/office/drawing/2014/main" val="20001"/>
                    </a:ext>
                  </a:extLst>
                </a:gridCol>
                <a:gridCol w="1403647">
                  <a:extLst>
                    <a:ext uri="{9D8B030D-6E8A-4147-A177-3AD203B41FA5}">
                      <a16:colId xmlns:a16="http://schemas.microsoft.com/office/drawing/2014/main" val="20002"/>
                    </a:ext>
                  </a:extLst>
                </a:gridCol>
              </a:tblGrid>
              <a:tr h="502920">
                <a:tc>
                  <a:txBody>
                    <a:bodyPr/>
                    <a:lstStyle/>
                    <a:p>
                      <a:pPr algn="ctr" rtl="0" fontAlgn="b"/>
                      <a:r>
                        <a:rPr lang="en-US" sz="1200" b="1" u="none" strike="noStrike">
                          <a:solidFill>
                            <a:srgbClr val="FFFFFF"/>
                          </a:solidFill>
                          <a:effectLst/>
                          <a:latin typeface="Calibri"/>
                        </a:rPr>
                        <a:t>n</a:t>
                      </a:r>
                      <a:endParaRPr lang="en-US" sz="1800" b="1" i="0" u="none" strike="noStrike">
                        <a:solidFill>
                          <a:srgbClr val="FFFFFF"/>
                        </a:solidFill>
                        <a:effectLst/>
                        <a:latin typeface="Calibri" charset="0"/>
                      </a:endParaRPr>
                    </a:p>
                  </a:txBody>
                  <a:tcPr marL="73152" marR="73152" marT="27432" marB="27432" anchor="ctr">
                    <a:solidFill>
                      <a:srgbClr val="4472C4"/>
                    </a:solidFill>
                  </a:tcPr>
                </a:tc>
                <a:tc>
                  <a:txBody>
                    <a:bodyPr/>
                    <a:lstStyle/>
                    <a:p>
                      <a:pPr algn="ctr" rtl="0" fontAlgn="b"/>
                      <a:r>
                        <a:rPr lang="mr-IN" sz="1200" b="1" u="none" strike="noStrike">
                          <a:solidFill>
                            <a:srgbClr val="FFFFFF"/>
                          </a:solidFill>
                          <a:effectLst/>
                          <a:latin typeface="Calibri"/>
                        </a:rPr>
                        <a:t>5n </a:t>
                      </a:r>
                      <a:r>
                        <a:rPr lang="mr-IN" sz="1200" b="1" u="none" strike="noStrike" err="1">
                          <a:solidFill>
                            <a:srgbClr val="FFFFFF"/>
                          </a:solidFill>
                          <a:effectLst/>
                          <a:latin typeface="Calibri"/>
                        </a:rPr>
                        <a:t>log</a:t>
                      </a:r>
                      <a:r>
                        <a:rPr lang="mr-IN" sz="1200" b="1" u="none" strike="noStrike">
                          <a:solidFill>
                            <a:srgbClr val="FFFFFF"/>
                          </a:solidFill>
                          <a:effectLst/>
                          <a:latin typeface="Calibri"/>
                        </a:rPr>
                        <a:t>(</a:t>
                      </a:r>
                      <a:r>
                        <a:rPr lang="mr-IN" sz="1200" b="1" u="none" strike="noStrike" err="1">
                          <a:solidFill>
                            <a:srgbClr val="FFFFFF"/>
                          </a:solidFill>
                          <a:effectLst/>
                          <a:latin typeface="Calibri"/>
                        </a:rPr>
                        <a:t>n</a:t>
                      </a:r>
                      <a:r>
                        <a:rPr lang="mr-IN" sz="1200" b="1" u="none" strike="noStrike">
                          <a:solidFill>
                            <a:srgbClr val="FFFFFF"/>
                          </a:solidFill>
                          <a:effectLst/>
                          <a:latin typeface="Calibri"/>
                        </a:rPr>
                        <a:t>)</a:t>
                      </a:r>
                      <a:endParaRPr lang="mr-IN" sz="1800" b="1" i="0" u="none" strike="noStrike">
                        <a:solidFill>
                          <a:srgbClr val="FFFFFF"/>
                        </a:solidFill>
                        <a:effectLst/>
                        <a:latin typeface="Calibri" charset="0"/>
                      </a:endParaRPr>
                    </a:p>
                  </a:txBody>
                  <a:tcPr marL="73152" marR="73152" marT="27432" marB="27432" anchor="ctr">
                    <a:solidFill>
                      <a:srgbClr val="4472C4"/>
                    </a:solidFill>
                  </a:tcPr>
                </a:tc>
                <a:tc>
                  <a:txBody>
                    <a:bodyPr/>
                    <a:lstStyle/>
                    <a:p>
                      <a:pPr algn="ctr" rtl="0" fontAlgn="b"/>
                      <a:r>
                        <a:rPr lang="is-IS" sz="1200" b="1" u="none" strike="noStrike" dirty="0">
                          <a:solidFill>
                            <a:srgbClr val="FFFFFF"/>
                          </a:solidFill>
                          <a:effectLst/>
                          <a:latin typeface="Calibri"/>
                        </a:rPr>
                        <a:t>n</a:t>
                      </a:r>
                      <a:r>
                        <a:rPr lang="is-IS" sz="1200" b="1" u="none" strike="noStrike" baseline="30000" dirty="0">
                          <a:solidFill>
                            <a:srgbClr val="FFFFFF"/>
                          </a:solidFill>
                          <a:effectLst/>
                          <a:latin typeface="Calibri"/>
                        </a:rPr>
                        <a:t>2</a:t>
                      </a:r>
                      <a:endParaRPr lang="is-IS" sz="1800" b="1" i="0" u="none" strike="noStrike" dirty="0">
                        <a:solidFill>
                          <a:srgbClr val="FFFFFF"/>
                        </a:solidFill>
                        <a:effectLst/>
                        <a:latin typeface="Calibri" charset="0"/>
                      </a:endParaRPr>
                    </a:p>
                  </a:txBody>
                  <a:tcPr marL="73152" marR="73152" marT="27432" marB="27432" anchor="ctr">
                    <a:solidFill>
                      <a:srgbClr val="4472C4"/>
                    </a:solidFill>
                  </a:tcPr>
                </a:tc>
                <a:extLst>
                  <a:ext uri="{0D108BD9-81ED-4DB2-BD59-A6C34878D82A}">
                    <a16:rowId xmlns:a16="http://schemas.microsoft.com/office/drawing/2014/main" val="10000"/>
                  </a:ext>
                </a:extLst>
              </a:tr>
              <a:tr h="457200">
                <a:tc>
                  <a:txBody>
                    <a:bodyPr/>
                    <a:lstStyle/>
                    <a:p>
                      <a:pPr algn="ctr" rtl="0" fontAlgn="b"/>
                      <a:r>
                        <a:rPr lang="en-US" sz="1100" b="0" u="none" strike="noStrike">
                          <a:solidFill>
                            <a:srgbClr val="333F50"/>
                          </a:solidFill>
                          <a:effectLst/>
                          <a:latin typeface="Courier New"/>
                        </a:rPr>
                        <a:t>8</a:t>
                      </a:r>
                      <a:endParaRPr lang="en-US" sz="1800" b="1" i="0" u="none" strike="noStrike">
                        <a:solidFill>
                          <a:srgbClr val="000000"/>
                        </a:solidFill>
                        <a:effectLst/>
                        <a:latin typeface="Calibri" charset="0"/>
                      </a:endParaRPr>
                    </a:p>
                  </a:txBody>
                  <a:tcPr marL="73152" marR="73152" marT="27432" marB="27432" anchor="ctr">
                    <a:solidFill>
                      <a:srgbClr val="FFFFFF"/>
                    </a:solidFill>
                  </a:tcPr>
                </a:tc>
                <a:tc>
                  <a:txBody>
                    <a:bodyPr/>
                    <a:lstStyle/>
                    <a:p>
                      <a:pPr algn="ctr" rtl="0" fontAlgn="b"/>
                      <a:r>
                        <a:rPr lang="is-IS" sz="1100" b="0" u="none" strike="noStrike">
                          <a:solidFill>
                            <a:srgbClr val="333F50"/>
                          </a:solidFill>
                          <a:effectLst/>
                          <a:latin typeface="Courier New"/>
                        </a:rPr>
                        <a:t>120</a:t>
                      </a:r>
                      <a:endParaRPr lang="is-IS" sz="1800" b="0" i="0" u="none" strike="noStrike">
                        <a:solidFill>
                          <a:srgbClr val="000000"/>
                        </a:solidFill>
                        <a:effectLst/>
                        <a:latin typeface="Calibri" charset="0"/>
                      </a:endParaRPr>
                    </a:p>
                  </a:txBody>
                  <a:tcPr marL="73152" marR="73152" marT="27432" marB="27432" anchor="ctr">
                    <a:solidFill>
                      <a:srgbClr val="FFFFFF"/>
                    </a:solidFill>
                  </a:tcPr>
                </a:tc>
                <a:tc>
                  <a:txBody>
                    <a:bodyPr/>
                    <a:lstStyle/>
                    <a:p>
                      <a:pPr algn="ctr" rtl="0" fontAlgn="b"/>
                      <a:r>
                        <a:rPr lang="en-US" sz="1100" b="0" u="none" strike="noStrike">
                          <a:solidFill>
                            <a:srgbClr val="333F50"/>
                          </a:solidFill>
                          <a:effectLst/>
                          <a:latin typeface="Courier New"/>
                        </a:rPr>
                        <a:t>64</a:t>
                      </a:r>
                      <a:endParaRPr lang="en-US" sz="1800" b="0" i="0" u="none" strike="noStrike">
                        <a:solidFill>
                          <a:srgbClr val="000000"/>
                        </a:solidFill>
                        <a:effectLst/>
                        <a:latin typeface="Calibri" charset="0"/>
                      </a:endParaRPr>
                    </a:p>
                  </a:txBody>
                  <a:tcPr marL="73152" marR="73152" marT="27432" marB="27432" anchor="ctr">
                    <a:solidFill>
                      <a:srgbClr val="FFFFFF"/>
                    </a:solidFill>
                  </a:tcPr>
                </a:tc>
                <a:extLst>
                  <a:ext uri="{0D108BD9-81ED-4DB2-BD59-A6C34878D82A}">
                    <a16:rowId xmlns:a16="http://schemas.microsoft.com/office/drawing/2014/main" val="10001"/>
                  </a:ext>
                </a:extLst>
              </a:tr>
              <a:tr h="457200">
                <a:tc>
                  <a:txBody>
                    <a:bodyPr/>
                    <a:lstStyle/>
                    <a:p>
                      <a:pPr algn="ctr" rtl="0" fontAlgn="b"/>
                      <a:r>
                        <a:rPr lang="en-US" sz="1100" b="0" u="none" strike="noStrike">
                          <a:solidFill>
                            <a:srgbClr val="333F50"/>
                          </a:solidFill>
                          <a:effectLst/>
                          <a:latin typeface="Courier New"/>
                        </a:rPr>
                        <a:t>16</a:t>
                      </a:r>
                      <a:endParaRPr lang="en-US" sz="1800" b="1" i="0" u="none" strike="noStrike">
                        <a:solidFill>
                          <a:srgbClr val="000000"/>
                        </a:solidFill>
                        <a:effectLst/>
                        <a:latin typeface="Calibri" charset="0"/>
                      </a:endParaRPr>
                    </a:p>
                  </a:txBody>
                  <a:tcPr marL="73152" marR="73152" marT="27432" marB="27432" anchor="ctr">
                    <a:solidFill>
                      <a:srgbClr val="F5F5F5"/>
                    </a:solidFill>
                  </a:tcPr>
                </a:tc>
                <a:tc>
                  <a:txBody>
                    <a:bodyPr/>
                    <a:lstStyle/>
                    <a:p>
                      <a:pPr algn="ctr" rtl="0" fontAlgn="b"/>
                      <a:r>
                        <a:rPr lang="is-IS" sz="1100" b="0" u="none" strike="noStrike">
                          <a:solidFill>
                            <a:srgbClr val="333F50"/>
                          </a:solidFill>
                          <a:effectLst/>
                          <a:latin typeface="Courier New"/>
                        </a:rPr>
                        <a:t>320</a:t>
                      </a:r>
                      <a:endParaRPr lang="is-IS" sz="1800" b="0" i="0" u="none" strike="noStrike">
                        <a:solidFill>
                          <a:srgbClr val="000000"/>
                        </a:solidFill>
                        <a:effectLst/>
                        <a:latin typeface="Calibri" charset="0"/>
                      </a:endParaRPr>
                    </a:p>
                  </a:txBody>
                  <a:tcPr marL="73152" marR="73152" marT="27432" marB="27432" anchor="ctr">
                    <a:solidFill>
                      <a:srgbClr val="F5F5F5"/>
                    </a:solidFill>
                  </a:tcPr>
                </a:tc>
                <a:tc>
                  <a:txBody>
                    <a:bodyPr/>
                    <a:lstStyle/>
                    <a:p>
                      <a:pPr algn="ctr" rtl="0" fontAlgn="b"/>
                      <a:r>
                        <a:rPr lang="is-IS" sz="1100" b="0" u="none" strike="noStrike">
                          <a:solidFill>
                            <a:srgbClr val="333F50"/>
                          </a:solidFill>
                          <a:effectLst/>
                          <a:latin typeface="Courier New"/>
                        </a:rPr>
                        <a:t>256</a:t>
                      </a:r>
                      <a:endParaRPr lang="is-IS" sz="1800" b="0" i="0" u="none" strike="noStrike">
                        <a:solidFill>
                          <a:srgbClr val="000000"/>
                        </a:solidFill>
                        <a:effectLst/>
                        <a:latin typeface="Calibri" charset="0"/>
                      </a:endParaRPr>
                    </a:p>
                  </a:txBody>
                  <a:tcPr marL="73152" marR="73152" marT="27432" marB="27432" anchor="ctr">
                    <a:solidFill>
                      <a:srgbClr val="F5F5F5"/>
                    </a:solidFill>
                  </a:tcPr>
                </a:tc>
                <a:extLst>
                  <a:ext uri="{0D108BD9-81ED-4DB2-BD59-A6C34878D82A}">
                    <a16:rowId xmlns:a16="http://schemas.microsoft.com/office/drawing/2014/main" val="10002"/>
                  </a:ext>
                </a:extLst>
              </a:tr>
              <a:tr h="457200">
                <a:tc>
                  <a:txBody>
                    <a:bodyPr/>
                    <a:lstStyle/>
                    <a:p>
                      <a:pPr algn="ctr" rtl="0" fontAlgn="b"/>
                      <a:r>
                        <a:rPr lang="is-IS" sz="1100" b="0" u="none" strike="noStrike">
                          <a:solidFill>
                            <a:srgbClr val="333F50"/>
                          </a:solidFill>
                          <a:effectLst/>
                          <a:latin typeface="Courier New"/>
                        </a:rPr>
                        <a:t>32</a:t>
                      </a:r>
                      <a:endParaRPr lang="is-IS" sz="1800" b="1" i="0" u="none" strike="noStrike">
                        <a:solidFill>
                          <a:srgbClr val="000000"/>
                        </a:solidFill>
                        <a:effectLst/>
                        <a:latin typeface="Calibri" charset="0"/>
                      </a:endParaRPr>
                    </a:p>
                  </a:txBody>
                  <a:tcPr marL="73152" marR="73152" marT="27432" marB="27432" anchor="ctr">
                    <a:solidFill>
                      <a:srgbClr val="FFFFFF"/>
                    </a:solidFill>
                  </a:tcPr>
                </a:tc>
                <a:tc>
                  <a:txBody>
                    <a:bodyPr/>
                    <a:lstStyle/>
                    <a:p>
                      <a:pPr algn="ctr" rtl="0" fontAlgn="b"/>
                      <a:r>
                        <a:rPr lang="is-IS" sz="1100" b="0" u="none" strike="noStrike">
                          <a:solidFill>
                            <a:srgbClr val="333F50"/>
                          </a:solidFill>
                          <a:effectLst/>
                          <a:latin typeface="Courier New"/>
                        </a:rPr>
                        <a:t>800</a:t>
                      </a:r>
                      <a:endParaRPr lang="is-IS" sz="1800" b="0" i="0" u="none" strike="noStrike">
                        <a:solidFill>
                          <a:srgbClr val="000000"/>
                        </a:solidFill>
                        <a:effectLst/>
                        <a:latin typeface="Calibri" charset="0"/>
                      </a:endParaRPr>
                    </a:p>
                  </a:txBody>
                  <a:tcPr marL="73152" marR="73152" marT="27432" marB="27432" anchor="ctr">
                    <a:solidFill>
                      <a:srgbClr val="FFFFFF"/>
                    </a:solidFill>
                  </a:tcPr>
                </a:tc>
                <a:tc>
                  <a:txBody>
                    <a:bodyPr/>
                    <a:lstStyle/>
                    <a:p>
                      <a:pPr algn="ctr" rtl="0" fontAlgn="b"/>
                      <a:r>
                        <a:rPr lang="fi-FI" sz="1100" b="0" u="none" strike="noStrike">
                          <a:solidFill>
                            <a:srgbClr val="333F50"/>
                          </a:solidFill>
                          <a:effectLst/>
                          <a:latin typeface="Courier New"/>
                        </a:rPr>
                        <a:t>1024</a:t>
                      </a:r>
                      <a:endParaRPr lang="fi-FI" sz="1800" b="0" i="0" u="none" strike="noStrike">
                        <a:solidFill>
                          <a:srgbClr val="000000"/>
                        </a:solidFill>
                        <a:effectLst/>
                        <a:latin typeface="Calibri" charset="0"/>
                      </a:endParaRPr>
                    </a:p>
                  </a:txBody>
                  <a:tcPr marL="73152" marR="73152" marT="27432" marB="27432" anchor="ctr">
                    <a:solidFill>
                      <a:srgbClr val="FFFFFF"/>
                    </a:solidFill>
                  </a:tcPr>
                </a:tc>
                <a:extLst>
                  <a:ext uri="{0D108BD9-81ED-4DB2-BD59-A6C34878D82A}">
                    <a16:rowId xmlns:a16="http://schemas.microsoft.com/office/drawing/2014/main" val="10003"/>
                  </a:ext>
                </a:extLst>
              </a:tr>
              <a:tr h="457200">
                <a:tc>
                  <a:txBody>
                    <a:bodyPr/>
                    <a:lstStyle/>
                    <a:p>
                      <a:pPr algn="ctr" rtl="0" fontAlgn="b"/>
                      <a:r>
                        <a:rPr lang="en-US" sz="1100" b="0" u="none" strike="noStrike">
                          <a:solidFill>
                            <a:srgbClr val="333F50"/>
                          </a:solidFill>
                          <a:effectLst/>
                          <a:latin typeface="Courier New"/>
                        </a:rPr>
                        <a:t>64</a:t>
                      </a:r>
                      <a:endParaRPr lang="en-US" sz="1800" b="1" i="0" u="none" strike="noStrike">
                        <a:solidFill>
                          <a:srgbClr val="000000"/>
                        </a:solidFill>
                        <a:effectLst/>
                        <a:latin typeface="Calibri" charset="0"/>
                      </a:endParaRPr>
                    </a:p>
                  </a:txBody>
                  <a:tcPr marL="73152" marR="73152" marT="27432" marB="27432" anchor="ctr">
                    <a:solidFill>
                      <a:srgbClr val="F5F5F5"/>
                    </a:solidFill>
                  </a:tcPr>
                </a:tc>
                <a:tc>
                  <a:txBody>
                    <a:bodyPr/>
                    <a:lstStyle/>
                    <a:p>
                      <a:pPr algn="ctr" rtl="0" fontAlgn="b"/>
                      <a:r>
                        <a:rPr lang="is-IS" sz="1100" b="0" u="none" strike="noStrike">
                          <a:solidFill>
                            <a:srgbClr val="333F50"/>
                          </a:solidFill>
                          <a:effectLst/>
                          <a:latin typeface="Courier New"/>
                        </a:rPr>
                        <a:t>1920</a:t>
                      </a:r>
                      <a:endParaRPr lang="is-IS" sz="1800" b="0" i="0" u="none" strike="noStrike">
                        <a:solidFill>
                          <a:srgbClr val="000000"/>
                        </a:solidFill>
                        <a:effectLst/>
                        <a:latin typeface="Calibri" charset="0"/>
                      </a:endParaRPr>
                    </a:p>
                  </a:txBody>
                  <a:tcPr marL="73152" marR="73152" marT="27432" marB="27432" anchor="ctr">
                    <a:solidFill>
                      <a:srgbClr val="F5F5F5"/>
                    </a:solidFill>
                  </a:tcPr>
                </a:tc>
                <a:tc>
                  <a:txBody>
                    <a:bodyPr/>
                    <a:lstStyle/>
                    <a:p>
                      <a:pPr algn="ctr" rtl="0" fontAlgn="b"/>
                      <a:r>
                        <a:rPr lang="is-IS" sz="1100" b="0" u="none" strike="noStrike">
                          <a:solidFill>
                            <a:srgbClr val="333F50"/>
                          </a:solidFill>
                          <a:effectLst/>
                          <a:latin typeface="Courier New"/>
                        </a:rPr>
                        <a:t>4096</a:t>
                      </a:r>
                      <a:endParaRPr lang="is-IS" sz="1800" b="0" i="0" u="none" strike="noStrike">
                        <a:solidFill>
                          <a:srgbClr val="000000"/>
                        </a:solidFill>
                        <a:effectLst/>
                        <a:latin typeface="Calibri" charset="0"/>
                      </a:endParaRPr>
                    </a:p>
                  </a:txBody>
                  <a:tcPr marL="73152" marR="73152" marT="27432" marB="27432" anchor="ctr">
                    <a:solidFill>
                      <a:srgbClr val="F5F5F5"/>
                    </a:solidFill>
                  </a:tcPr>
                </a:tc>
                <a:extLst>
                  <a:ext uri="{0D108BD9-81ED-4DB2-BD59-A6C34878D82A}">
                    <a16:rowId xmlns:a16="http://schemas.microsoft.com/office/drawing/2014/main" val="10004"/>
                  </a:ext>
                </a:extLst>
              </a:tr>
              <a:tr h="457200">
                <a:tc>
                  <a:txBody>
                    <a:bodyPr/>
                    <a:lstStyle/>
                    <a:p>
                      <a:pPr algn="ctr" rtl="0" fontAlgn="b"/>
                      <a:r>
                        <a:rPr lang="is-IS" sz="1100" b="0" u="none" strike="noStrike">
                          <a:solidFill>
                            <a:srgbClr val="333F50"/>
                          </a:solidFill>
                          <a:effectLst/>
                          <a:latin typeface="Courier New"/>
                        </a:rPr>
                        <a:t>128</a:t>
                      </a:r>
                      <a:endParaRPr lang="is-IS" sz="1800" b="1" i="0" u="none" strike="noStrike">
                        <a:solidFill>
                          <a:srgbClr val="000000"/>
                        </a:solidFill>
                        <a:effectLst/>
                        <a:latin typeface="Calibri" charset="0"/>
                      </a:endParaRPr>
                    </a:p>
                  </a:txBody>
                  <a:tcPr marL="73152" marR="73152" marT="27432" marB="27432" anchor="ctr">
                    <a:solidFill>
                      <a:srgbClr val="FFFFFF"/>
                    </a:solidFill>
                  </a:tcPr>
                </a:tc>
                <a:tc>
                  <a:txBody>
                    <a:bodyPr/>
                    <a:lstStyle/>
                    <a:p>
                      <a:pPr algn="ctr" rtl="0" fontAlgn="b"/>
                      <a:r>
                        <a:rPr lang="is-IS" sz="1100" b="0" u="none" strike="noStrike">
                          <a:solidFill>
                            <a:srgbClr val="333F50"/>
                          </a:solidFill>
                          <a:effectLst/>
                          <a:latin typeface="Courier New"/>
                        </a:rPr>
                        <a:t>4480</a:t>
                      </a:r>
                      <a:endParaRPr lang="is-IS" sz="1800" b="0" i="0" u="none" strike="noStrike">
                        <a:solidFill>
                          <a:srgbClr val="000000"/>
                        </a:solidFill>
                        <a:effectLst/>
                        <a:latin typeface="Calibri" charset="0"/>
                      </a:endParaRPr>
                    </a:p>
                  </a:txBody>
                  <a:tcPr marL="73152" marR="73152" marT="27432" marB="27432" anchor="ctr">
                    <a:solidFill>
                      <a:srgbClr val="FFFFFF"/>
                    </a:solidFill>
                  </a:tcPr>
                </a:tc>
                <a:tc>
                  <a:txBody>
                    <a:bodyPr/>
                    <a:lstStyle/>
                    <a:p>
                      <a:pPr algn="ctr" rtl="0" fontAlgn="b"/>
                      <a:r>
                        <a:rPr lang="is-IS" sz="1100" b="0" u="none" strike="noStrike">
                          <a:solidFill>
                            <a:srgbClr val="333F50"/>
                          </a:solidFill>
                          <a:effectLst/>
                          <a:latin typeface="Courier New"/>
                        </a:rPr>
                        <a:t>16384</a:t>
                      </a:r>
                      <a:endParaRPr lang="is-IS" sz="1800" b="0" i="0" u="none" strike="noStrike">
                        <a:solidFill>
                          <a:srgbClr val="000000"/>
                        </a:solidFill>
                        <a:effectLst/>
                        <a:latin typeface="Calibri" charset="0"/>
                      </a:endParaRPr>
                    </a:p>
                  </a:txBody>
                  <a:tcPr marL="73152" marR="73152" marT="27432" marB="27432" anchor="ctr">
                    <a:solidFill>
                      <a:srgbClr val="FFFFFF"/>
                    </a:solidFill>
                  </a:tcPr>
                </a:tc>
                <a:extLst>
                  <a:ext uri="{0D108BD9-81ED-4DB2-BD59-A6C34878D82A}">
                    <a16:rowId xmlns:a16="http://schemas.microsoft.com/office/drawing/2014/main" val="10005"/>
                  </a:ext>
                </a:extLst>
              </a:tr>
              <a:tr h="457200">
                <a:tc>
                  <a:txBody>
                    <a:bodyPr/>
                    <a:lstStyle/>
                    <a:p>
                      <a:pPr algn="ctr" rtl="0" fontAlgn="b"/>
                      <a:r>
                        <a:rPr lang="is-IS" sz="1100" b="0" u="none" strike="noStrike">
                          <a:solidFill>
                            <a:srgbClr val="333F50"/>
                          </a:solidFill>
                          <a:effectLst/>
                          <a:latin typeface="Courier New"/>
                        </a:rPr>
                        <a:t>256</a:t>
                      </a:r>
                      <a:endParaRPr lang="is-IS" sz="1800" b="1" i="0" u="none" strike="noStrike">
                        <a:solidFill>
                          <a:srgbClr val="000000"/>
                        </a:solidFill>
                        <a:effectLst/>
                        <a:latin typeface="Calibri" charset="0"/>
                      </a:endParaRPr>
                    </a:p>
                  </a:txBody>
                  <a:tcPr marL="73152" marR="73152" marT="27432" marB="27432" anchor="ctr">
                    <a:solidFill>
                      <a:srgbClr val="F5F5F5"/>
                    </a:solidFill>
                  </a:tcPr>
                </a:tc>
                <a:tc>
                  <a:txBody>
                    <a:bodyPr/>
                    <a:lstStyle/>
                    <a:p>
                      <a:pPr algn="ctr" rtl="0" fontAlgn="b"/>
                      <a:r>
                        <a:rPr lang="fi-FI" sz="1100" b="0" u="none" strike="noStrike">
                          <a:solidFill>
                            <a:srgbClr val="333F50"/>
                          </a:solidFill>
                          <a:effectLst/>
                          <a:latin typeface="Courier New"/>
                        </a:rPr>
                        <a:t>10240</a:t>
                      </a:r>
                      <a:endParaRPr lang="fi-FI" sz="1800" b="0" i="0" u="none" strike="noStrike">
                        <a:solidFill>
                          <a:srgbClr val="000000"/>
                        </a:solidFill>
                        <a:effectLst/>
                        <a:latin typeface="Calibri" charset="0"/>
                      </a:endParaRPr>
                    </a:p>
                  </a:txBody>
                  <a:tcPr marL="73152" marR="73152" marT="27432" marB="27432" anchor="ctr">
                    <a:solidFill>
                      <a:srgbClr val="F5F5F5"/>
                    </a:solidFill>
                  </a:tcPr>
                </a:tc>
                <a:tc>
                  <a:txBody>
                    <a:bodyPr/>
                    <a:lstStyle/>
                    <a:p>
                      <a:pPr algn="ctr" rtl="0" fontAlgn="b"/>
                      <a:r>
                        <a:rPr lang="cs-CZ" sz="1100" b="0" u="none" strike="noStrike">
                          <a:solidFill>
                            <a:srgbClr val="333F50"/>
                          </a:solidFill>
                          <a:effectLst/>
                          <a:latin typeface="Courier New"/>
                        </a:rPr>
                        <a:t>65536</a:t>
                      </a:r>
                      <a:endParaRPr lang="cs-CZ" sz="1800" b="0" i="0" u="none" strike="noStrike">
                        <a:solidFill>
                          <a:srgbClr val="000000"/>
                        </a:solidFill>
                        <a:effectLst/>
                        <a:latin typeface="Calibri" charset="0"/>
                      </a:endParaRPr>
                    </a:p>
                  </a:txBody>
                  <a:tcPr marL="73152" marR="73152" marT="27432" marB="27432" anchor="ctr">
                    <a:solidFill>
                      <a:srgbClr val="F5F5F5"/>
                    </a:solidFill>
                  </a:tcPr>
                </a:tc>
                <a:extLst>
                  <a:ext uri="{0D108BD9-81ED-4DB2-BD59-A6C34878D82A}">
                    <a16:rowId xmlns:a16="http://schemas.microsoft.com/office/drawing/2014/main" val="10006"/>
                  </a:ext>
                </a:extLst>
              </a:tr>
              <a:tr h="457200">
                <a:tc>
                  <a:txBody>
                    <a:bodyPr/>
                    <a:lstStyle/>
                    <a:p>
                      <a:pPr algn="ctr" rtl="0" fontAlgn="b"/>
                      <a:r>
                        <a:rPr lang="is-IS" sz="1100" b="0" u="none" strike="noStrike">
                          <a:solidFill>
                            <a:srgbClr val="333F50"/>
                          </a:solidFill>
                          <a:effectLst/>
                          <a:latin typeface="Courier New"/>
                        </a:rPr>
                        <a:t>512</a:t>
                      </a:r>
                      <a:endParaRPr lang="is-IS" sz="1800" b="1" i="0" u="none" strike="noStrike">
                        <a:solidFill>
                          <a:srgbClr val="000000"/>
                        </a:solidFill>
                        <a:effectLst/>
                        <a:latin typeface="Calibri" charset="0"/>
                      </a:endParaRPr>
                    </a:p>
                  </a:txBody>
                  <a:tcPr marL="73152" marR="73152" marT="27432" marB="27432" anchor="ctr">
                    <a:solidFill>
                      <a:srgbClr val="FFFFFF"/>
                    </a:solidFill>
                  </a:tcPr>
                </a:tc>
                <a:tc>
                  <a:txBody>
                    <a:bodyPr/>
                    <a:lstStyle/>
                    <a:p>
                      <a:pPr algn="ctr" rtl="0" fontAlgn="b"/>
                      <a:r>
                        <a:rPr lang="is-IS" sz="1100" b="0" u="none" strike="noStrike">
                          <a:solidFill>
                            <a:srgbClr val="333F50"/>
                          </a:solidFill>
                          <a:effectLst/>
                          <a:latin typeface="Courier New"/>
                        </a:rPr>
                        <a:t>23040</a:t>
                      </a:r>
                      <a:endParaRPr lang="is-IS" sz="1800" b="0" i="0" u="none" strike="noStrike">
                        <a:solidFill>
                          <a:srgbClr val="000000"/>
                        </a:solidFill>
                        <a:effectLst/>
                        <a:latin typeface="Calibri" charset="0"/>
                      </a:endParaRPr>
                    </a:p>
                  </a:txBody>
                  <a:tcPr marL="73152" marR="73152" marT="27432" marB="27432" anchor="ctr">
                    <a:solidFill>
                      <a:srgbClr val="FFFFFF"/>
                    </a:solidFill>
                  </a:tcPr>
                </a:tc>
                <a:tc>
                  <a:txBody>
                    <a:bodyPr/>
                    <a:lstStyle/>
                    <a:p>
                      <a:pPr algn="ctr" rtl="0" fontAlgn="b"/>
                      <a:r>
                        <a:rPr lang="is-IS" sz="1100" b="0" u="none" strike="noStrike">
                          <a:solidFill>
                            <a:srgbClr val="333F50"/>
                          </a:solidFill>
                          <a:effectLst/>
                          <a:latin typeface="Courier New"/>
                        </a:rPr>
                        <a:t>262144</a:t>
                      </a:r>
                      <a:endParaRPr lang="is-IS" sz="1800" b="0" i="0" u="none" strike="noStrike">
                        <a:solidFill>
                          <a:srgbClr val="000000"/>
                        </a:solidFill>
                        <a:effectLst/>
                        <a:latin typeface="Calibri" charset="0"/>
                      </a:endParaRPr>
                    </a:p>
                  </a:txBody>
                  <a:tcPr marL="73152" marR="73152" marT="27432" marB="27432" anchor="ctr">
                    <a:solidFill>
                      <a:srgbClr val="FFFFFF"/>
                    </a:solidFill>
                  </a:tcPr>
                </a:tc>
                <a:extLst>
                  <a:ext uri="{0D108BD9-81ED-4DB2-BD59-A6C34878D82A}">
                    <a16:rowId xmlns:a16="http://schemas.microsoft.com/office/drawing/2014/main" val="10007"/>
                  </a:ext>
                </a:extLst>
              </a:tr>
              <a:tr h="457200">
                <a:tc>
                  <a:txBody>
                    <a:bodyPr/>
                    <a:lstStyle/>
                    <a:p>
                      <a:pPr algn="ctr" rtl="0" fontAlgn="b"/>
                      <a:r>
                        <a:rPr lang="fi-FI" sz="1100" b="1" u="none" strike="noStrike" dirty="0">
                          <a:solidFill>
                            <a:schemeClr val="accent2"/>
                          </a:solidFill>
                          <a:effectLst/>
                          <a:latin typeface="Courier New"/>
                        </a:rPr>
                        <a:t>1024</a:t>
                      </a:r>
                      <a:endParaRPr lang="fi-FI" sz="1800" b="1" i="0" u="none" strike="noStrike" dirty="0">
                        <a:solidFill>
                          <a:schemeClr val="accent2"/>
                        </a:solidFill>
                        <a:effectLst/>
                        <a:latin typeface="Calibri" charset="0"/>
                      </a:endParaRPr>
                    </a:p>
                  </a:txBody>
                  <a:tcPr marL="73152" marR="73152" marT="27432" marB="27432" anchor="ctr">
                    <a:solidFill>
                      <a:srgbClr val="F5F5F5"/>
                    </a:solidFill>
                  </a:tcPr>
                </a:tc>
                <a:tc>
                  <a:txBody>
                    <a:bodyPr/>
                    <a:lstStyle/>
                    <a:p>
                      <a:pPr algn="ctr" rtl="0" fontAlgn="b"/>
                      <a:r>
                        <a:rPr lang="is-IS" sz="1100" b="1" u="none" strike="noStrike" dirty="0">
                          <a:solidFill>
                            <a:schemeClr val="accent2"/>
                          </a:solidFill>
                          <a:effectLst/>
                          <a:latin typeface="Courier New"/>
                        </a:rPr>
                        <a:t>51200</a:t>
                      </a:r>
                      <a:endParaRPr lang="is-IS" sz="1800" b="1" i="0" u="none" strike="noStrike" dirty="0">
                        <a:solidFill>
                          <a:schemeClr val="accent2"/>
                        </a:solidFill>
                        <a:effectLst/>
                        <a:latin typeface="Calibri" charset="0"/>
                      </a:endParaRPr>
                    </a:p>
                  </a:txBody>
                  <a:tcPr marL="73152" marR="73152" marT="27432" marB="27432" anchor="ctr">
                    <a:solidFill>
                      <a:srgbClr val="F5F5F5"/>
                    </a:solidFill>
                  </a:tcPr>
                </a:tc>
                <a:tc>
                  <a:txBody>
                    <a:bodyPr/>
                    <a:lstStyle/>
                    <a:p>
                      <a:pPr algn="ctr" rtl="0" fontAlgn="b"/>
                      <a:r>
                        <a:rPr lang="is-IS" sz="1100" b="1" u="none" strike="noStrike" dirty="0">
                          <a:solidFill>
                            <a:schemeClr val="accent2"/>
                          </a:solidFill>
                          <a:effectLst/>
                          <a:latin typeface="Courier New"/>
                        </a:rPr>
                        <a:t>1048576</a:t>
                      </a:r>
                      <a:endParaRPr lang="is-IS" sz="1800" b="1" i="0" u="none" strike="noStrike" dirty="0">
                        <a:solidFill>
                          <a:schemeClr val="accent2"/>
                        </a:solidFill>
                        <a:effectLst/>
                        <a:latin typeface="Calibri" charset="0"/>
                      </a:endParaRPr>
                    </a:p>
                  </a:txBody>
                  <a:tcPr marL="73152" marR="73152" marT="27432" marB="27432" anchor="ctr">
                    <a:solidFill>
                      <a:srgbClr val="F5F5F5"/>
                    </a:solidFill>
                  </a:tcPr>
                </a:tc>
                <a:extLst>
                  <a:ext uri="{0D108BD9-81ED-4DB2-BD59-A6C34878D82A}">
                    <a16:rowId xmlns:a16="http://schemas.microsoft.com/office/drawing/2014/main" val="10008"/>
                  </a:ext>
                </a:extLst>
              </a:tr>
            </a:tbl>
          </a:graphicData>
        </a:graphic>
      </p:graphicFrame>
      <p:graphicFrame>
        <p:nvGraphicFramePr>
          <p:cNvPr id="7" name="Chart 6"/>
          <p:cNvGraphicFramePr>
            <a:graphicFrameLocks/>
          </p:cNvGraphicFramePr>
          <p:nvPr>
            <p:extLst>
              <p:ext uri="{D42A27DB-BD31-4B8C-83A1-F6EECF244321}">
                <p14:modId xmlns:p14="http://schemas.microsoft.com/office/powerpoint/2010/main" val="1052771414"/>
              </p:ext>
            </p:extLst>
          </p:nvPr>
        </p:nvGraphicFramePr>
        <p:xfrm>
          <a:off x="4937760" y="1600200"/>
          <a:ext cx="6720840" cy="4526280"/>
        </p:xfrm>
        <a:graphic>
          <a:graphicData uri="http://schemas.openxmlformats.org/drawingml/2006/chart">
            <c:chart xmlns:c="http://schemas.openxmlformats.org/drawingml/2006/chart" xmlns:r="http://schemas.openxmlformats.org/officeDocument/2006/relationships" r:id="rId2"/>
          </a:graphicData>
        </a:graphic>
      </p:graphicFrame>
      <p:sp>
        <p:nvSpPr>
          <p:cNvPr id="5" name="Folded Corner 4"/>
          <p:cNvSpPr/>
          <p:nvPr/>
        </p:nvSpPr>
        <p:spPr>
          <a:xfrm rot="21360000">
            <a:off x="6766560" y="2057400"/>
            <a:ext cx="4251960" cy="960120"/>
          </a:xfrm>
          <a:prstGeom prst="foldedCorner">
            <a:avLst>
              <a:gd name="adj" fmla="val 17755"/>
            </a:avLst>
          </a:prstGeom>
          <a:solidFill>
            <a:srgbClr val="ED7D31"/>
          </a:solidFill>
          <a:ln>
            <a:solidFill>
              <a:srgbClr val="ED7D31"/>
            </a:solidFill>
          </a:ln>
          <a:effectLst>
            <a:outerShdw blurRad="508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37160" tIns="73152" rIns="137160" bIns="73152" rtlCol="0" anchor="ctr"/>
          <a:lstStyle/>
          <a:p>
            <a:pPr algn="ctr"/>
            <a:r>
              <a:rPr lang="en-US" sz="1500" b="1" i="0" dirty="0">
                <a:solidFill>
                  <a:srgbClr val="333F50"/>
                </a:solidFill>
                <a:latin typeface="Calibri"/>
              </a:rPr>
              <a:t>As n gets large, </a:t>
            </a:r>
            <a:r>
              <a:rPr lang="en-US" sz="1500" b="1" dirty="0">
                <a:solidFill>
                  <a:srgbClr val="333F50"/>
                </a:solidFill>
                <a:latin typeface="Calibri"/>
              </a:rPr>
              <a:t>having a runtime of</a:t>
            </a:r>
            <a:endParaRPr lang="en-US" sz="1500" b="1" i="0" dirty="0">
              <a:solidFill>
                <a:srgbClr val="333F50"/>
              </a:solidFill>
              <a:latin typeface="Calibri"/>
            </a:endParaRPr>
          </a:p>
          <a:p>
            <a:pPr algn="ctr"/>
            <a:r>
              <a:rPr lang="en-US" sz="1500" b="1" i="0" dirty="0">
                <a:solidFill>
                  <a:srgbClr val="333F50"/>
                </a:solidFill>
                <a:latin typeface="Calibri"/>
              </a:rPr>
              <a:t>100 n log(n) is more favorable </a:t>
            </a:r>
            <a:r>
              <a:rPr lang="en-US" sz="1500" b="1" dirty="0">
                <a:solidFill>
                  <a:srgbClr val="333F50"/>
                </a:solidFill>
                <a:latin typeface="Calibri"/>
              </a:rPr>
              <a:t>compared to</a:t>
            </a:r>
            <a:r>
              <a:rPr lang="en-US" sz="1500" b="1" i="0" dirty="0">
                <a:solidFill>
                  <a:srgbClr val="333F50"/>
                </a:solidFill>
                <a:latin typeface="Calibri"/>
              </a:rPr>
              <a:t> n</a:t>
            </a:r>
            <a:r>
              <a:rPr lang="en-US" sz="1500" b="1" baseline="30000" dirty="0">
                <a:solidFill>
                  <a:srgbClr val="333F50"/>
                </a:solidFill>
                <a:latin typeface="Calibri"/>
              </a:rPr>
              <a:t>2</a:t>
            </a:r>
            <a:r>
              <a:rPr lang="mr-IN" sz="1500" b="1" i="0" dirty="0">
                <a:solidFill>
                  <a:srgbClr val="333F50"/>
                </a:solidFill>
                <a:latin typeface="Calibri"/>
              </a:rPr>
              <a:t>…</a:t>
            </a:r>
            <a:endParaRPr lang="en-US" sz="2400" dirty="0">
              <a:solidFill>
                <a:schemeClr val="tx1"/>
              </a:solidFill>
            </a:endParaRPr>
          </a:p>
        </p:txBody>
      </p:sp>
      <p:sp>
        <p:nvSpPr>
          <p:cNvPr id="3" name="Text 2">
            <a:extLst>
              <a:ext uri="{FF2B5EF4-FFF2-40B4-BE49-F238E27FC236}">
                <a16:creationId xmlns:a16="http://schemas.microsoft.com/office/drawing/2014/main" id="{4F34428F-E75E-B9D8-C7AB-406878E5BC1C}"/>
              </a:ext>
            </a:extLst>
          </p:cNvPr>
          <p:cNvSpPr/>
          <p:nvPr/>
        </p:nvSpPr>
        <p:spPr>
          <a:xfrm>
            <a:off x="548640" y="6510528"/>
            <a:ext cx="8686800" cy="274320"/>
          </a:xfrm>
          <a:prstGeom prst="rect">
            <a:avLst/>
          </a:prstGeom>
          <a:noFill/>
          <a:ln>
            <a:noFill/>
          </a:ln>
        </p:spPr>
        <p:txBody>
          <a:bodyPr wrap="square" rtlCol="0" anchor="ctr"/>
          <a:lstStyle/>
          <a:p>
            <a:pPr marL="0" indent="0">
              <a:buNone/>
            </a:pPr>
            <a:r>
              <a:rPr lang="en-US" sz="900" b="0" i="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a:p>
        </p:txBody>
      </p:sp>
      <p:sp>
        <p:nvSpPr>
          <p:cNvPr id="6" name="Text 3">
            <a:extLst>
              <a:ext uri="{FF2B5EF4-FFF2-40B4-BE49-F238E27FC236}">
                <a16:creationId xmlns:a16="http://schemas.microsoft.com/office/drawing/2014/main" id="{ED403108-2BBA-60AB-AFA2-7894AA7DA38F}"/>
              </a:ext>
            </a:extLst>
          </p:cNvPr>
          <p:cNvSpPr/>
          <p:nvPr/>
        </p:nvSpPr>
        <p:spPr>
          <a:xfrm>
            <a:off x="10881360" y="6510528"/>
            <a:ext cx="731520" cy="274320"/>
          </a:xfrm>
          <a:prstGeom prst="rect">
            <a:avLst/>
          </a:prstGeom>
          <a:noFill/>
          <a:ln>
            <a:noFill/>
          </a:ln>
        </p:spPr>
        <p:txBody>
          <a:bodyPr wrap="square" rtlCol="0" anchor="ctr"/>
          <a:lstStyle/>
          <a:p>
            <a:pPr marL="0" indent="0" algn="r">
              <a:buNone/>
            </a:pPr>
            <a:r>
              <a:rPr lang="en-US" sz="900" b="0" i="0" dirty="0">
                <a:solidFill>
                  <a:srgbClr val="595959"/>
                </a:solidFill>
                <a:latin typeface="Calibri" pitchFamily="34" charset="0"/>
                <a:ea typeface="Calibri" pitchFamily="34" charset="-122"/>
                <a:cs typeface="Calibri" pitchFamily="34" charset="-120"/>
              </a:rPr>
              <a:t>13</a:t>
            </a:r>
            <a:endParaRPr lang="en-US" sz="900" dirty="0"/>
          </a:p>
        </p:txBody>
      </p:sp>
      <p:sp>
        <p:nvSpPr>
          <p:cNvPr id="8" name="Theme Eyebrow"/>
          <p:cNvSpPr txBox="1"/>
          <p:nvPr/>
        </p:nvSpPr>
        <p:spPr>
          <a:xfrm>
            <a:off x="548640" y="384048"/>
            <a:ext cx="5486400" cy="320040"/>
          </a:xfrm>
          <a:prstGeom prst="rect">
            <a:avLst/>
          </a:prstGeom>
          <a:noFill/>
          <a:ln>
            <a:noFill/>
          </a:ln>
        </p:spPr>
        <p:txBody>
          <a:bodyPr wrap="square" lIns="0" tIns="0" rIns="0" bIns="0">
            <a:spAutoFit/>
          </a:bodyPr>
          <a:lstStyle/>
          <a:p>
            <a:r>
              <a:rPr sz="1200" b="1">
                <a:solidFill>
                  <a:srgbClr val="4472C4"/>
                </a:solidFill>
                <a:latin typeface="Calibri"/>
              </a:rPr>
              <a:t>CONSTANTS VS. GROWTH</a:t>
            </a:r>
          </a:p>
        </p:txBody>
      </p:sp>
    </p:spTree>
    <p:extLst>
      <p:ext uri="{BB962C8B-B14F-4D97-AF65-F5344CB8AC3E}">
        <p14:creationId xmlns:p14="http://schemas.microsoft.com/office/powerpoint/2010/main" val="95063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658368"/>
            <a:ext cx="11064240" cy="822960"/>
          </a:xfrm>
          <a:prstGeom prst="rect">
            <a:avLst/>
          </a:prstGeom>
          <a:noFill/>
          <a:ln>
            <a:noFill/>
          </a:ln>
        </p:spPr>
        <p:txBody>
          <a:bodyPr wrap="square" rtlCol="0" anchor="ctr"/>
          <a:lstStyle/>
          <a:p>
            <a:pPr marL="0" indent="0">
              <a:buNone/>
            </a:pPr>
            <a:r>
              <a:rPr lang="en-US" sz="3000" b="1">
                <a:solidFill>
                  <a:srgbClr val="333F50"/>
                </a:solidFill>
                <a:latin typeface="Cambria" pitchFamily="34" charset="0"/>
                <a:ea typeface="Cambria" pitchFamily="34" charset="-122"/>
                <a:cs typeface="Cambria" pitchFamily="34" charset="-120"/>
              </a:rPr>
              <a:t>A concrete payoff, before we formalize anything</a:t>
            </a:r>
            <a:endParaRPr lang="en-US" sz="3000" dirty="0"/>
          </a:p>
        </p:txBody>
      </p:sp>
      <p:sp>
        <p:nvSpPr>
          <p:cNvPr id="4" name="Text 2"/>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dirty="0"/>
          </a:p>
        </p:txBody>
      </p:sp>
      <p:sp>
        <p:nvSpPr>
          <p:cNvPr id="5" name="Text 3"/>
          <p:cNvSpPr/>
          <p:nvPr/>
        </p:nvSpPr>
        <p:spPr>
          <a:xfrm>
            <a:off x="10881360" y="6510528"/>
            <a:ext cx="731520" cy="274320"/>
          </a:xfrm>
          <a:prstGeom prst="rect">
            <a:avLst/>
          </a:prstGeom>
          <a:noFill/>
          <a:ln>
            <a:noFill/>
          </a:ln>
        </p:spPr>
        <p:txBody>
          <a:bodyPr wrap="square"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783080"/>
            <a:ext cx="6858000" cy="3977640"/>
          </a:xfrm>
          <a:prstGeom prst="roundRect">
            <a:avLst>
              <a:gd name="adj" fmla="val 2759"/>
            </a:avLst>
          </a:prstGeom>
          <a:solidFill>
            <a:srgbClr val="FFFFFF"/>
          </a:solidFill>
          <a:ln w="12700">
            <a:solidFill>
              <a:srgbClr val="E4DEF2"/>
            </a:solidFill>
            <a:prstDash val="solid"/>
          </a:ln>
          <a:effectLst>
            <a:outerShdw blurRad="101600" dist="25400" dir="5400000" algn="bl" rotWithShape="0">
              <a:srgbClr val="1B1030">
                <a:alpha val="15000"/>
              </a:srgbClr>
            </a:outerShdw>
          </a:effectLst>
        </p:spPr>
        <p:txBody>
          <a:bodyPr/>
          <a:lstStyle/>
          <a:p>
            <a:endParaRPr lang="en-US"/>
          </a:p>
        </p:txBody>
      </p:sp>
      <p:sp>
        <p:nvSpPr>
          <p:cNvPr id="7" name="Text 5"/>
          <p:cNvSpPr/>
          <p:nvPr/>
        </p:nvSpPr>
        <p:spPr>
          <a:xfrm>
            <a:off x="868680" y="2011680"/>
            <a:ext cx="6217920" cy="274320"/>
          </a:xfrm>
          <a:prstGeom prst="rect">
            <a:avLst/>
          </a:prstGeom>
          <a:noFill/>
          <a:ln>
            <a:noFill/>
          </a:ln>
        </p:spPr>
        <p:txBody>
          <a:bodyPr wrap="square" rtlCol="0" anchor="ctr"/>
          <a:lstStyle/>
          <a:p>
            <a:pPr marL="0" indent="0">
              <a:buNone/>
            </a:pPr>
            <a:r>
              <a:rPr lang="en-US" sz="1100" b="1" kern="0" spc="120">
                <a:solidFill>
                  <a:srgbClr val="4472C4"/>
                </a:solidFill>
                <a:latin typeface="Calibri" pitchFamily="34" charset="0"/>
                <a:ea typeface="Calibri" pitchFamily="34" charset="-122"/>
                <a:cs typeface="Calibri" pitchFamily="34" charset="-120"/>
              </a:rPr>
              <a:t>PREVIEW: SEARCHING A SORTED LIST</a:t>
            </a:r>
            <a:endParaRPr lang="en-US" sz="1100" dirty="0"/>
          </a:p>
        </p:txBody>
      </p:sp>
      <p:sp>
        <p:nvSpPr>
          <p:cNvPr id="8" name="Text 6"/>
          <p:cNvSpPr/>
          <p:nvPr/>
        </p:nvSpPr>
        <p:spPr>
          <a:xfrm>
            <a:off x="868680" y="2423160"/>
            <a:ext cx="6217920" cy="731520"/>
          </a:xfrm>
          <a:prstGeom prst="rect">
            <a:avLst/>
          </a:prstGeom>
          <a:noFill/>
          <a:ln>
            <a:noFill/>
          </a:ln>
        </p:spPr>
        <p:txBody>
          <a:bodyPr wrap="square" rtlCol="0" anchor="ctr"/>
          <a:lstStyle/>
          <a:p>
            <a:pPr marL="0" indent="0">
              <a:buNone/>
            </a:pPr>
            <a:r>
              <a:rPr lang="en-US" sz="1500">
                <a:solidFill>
                  <a:srgbClr val="333F50"/>
                </a:solidFill>
                <a:latin typeface="Calibri" pitchFamily="34" charset="0"/>
                <a:ea typeface="Calibri" pitchFamily="34" charset="-122"/>
                <a:cs typeface="Calibri" pitchFamily="34" charset="-120"/>
              </a:rPr>
              <a:t>Every comparison you make can eliminate half of what's left to search.</a:t>
            </a:r>
            <a:endParaRPr lang="en-US" sz="1500" dirty="0"/>
          </a:p>
        </p:txBody>
      </p:sp>
      <p:sp>
        <p:nvSpPr>
          <p:cNvPr id="9" name="Shape 7"/>
          <p:cNvSpPr/>
          <p:nvPr/>
        </p:nvSpPr>
        <p:spPr>
          <a:xfrm>
            <a:off x="868680" y="3246120"/>
            <a:ext cx="6217920" cy="0"/>
          </a:xfrm>
          <a:prstGeom prst="line">
            <a:avLst/>
          </a:prstGeom>
          <a:noFill/>
          <a:ln w="11430">
            <a:solidFill>
              <a:srgbClr val="BFBFBF"/>
            </a:solidFill>
            <a:prstDash val="solid"/>
          </a:ln>
        </p:spPr>
        <p:txBody>
          <a:bodyPr/>
          <a:lstStyle/>
          <a:p>
            <a:endParaRPr lang="en-US"/>
          </a:p>
        </p:txBody>
      </p:sp>
      <p:sp>
        <p:nvSpPr>
          <p:cNvPr id="10" name="Text 8"/>
          <p:cNvSpPr/>
          <p:nvPr/>
        </p:nvSpPr>
        <p:spPr>
          <a:xfrm>
            <a:off x="868680" y="3429000"/>
            <a:ext cx="3108960" cy="457200"/>
          </a:xfrm>
          <a:prstGeom prst="rect">
            <a:avLst/>
          </a:prstGeom>
          <a:noFill/>
          <a:ln>
            <a:noFill/>
          </a:ln>
        </p:spPr>
        <p:txBody>
          <a:bodyPr wrap="square" rtlCol="0" anchor="ctr"/>
          <a:lstStyle/>
          <a:p>
            <a:pPr marL="0" indent="0">
              <a:buNone/>
            </a:pPr>
            <a:r>
              <a:rPr lang="en-US" sz="1400">
                <a:solidFill>
                  <a:srgbClr val="595959"/>
                </a:solidFill>
                <a:latin typeface="Calibri" pitchFamily="34" charset="0"/>
                <a:ea typeface="Calibri" pitchFamily="34" charset="-122"/>
                <a:cs typeface="Calibri" pitchFamily="34" charset="-120"/>
              </a:rPr>
              <a:t>1,000,000 sorted records</a:t>
            </a:r>
            <a:endParaRPr lang="en-US" sz="1400" dirty="0"/>
          </a:p>
        </p:txBody>
      </p:sp>
      <p:sp>
        <p:nvSpPr>
          <p:cNvPr id="11" name="Text 9"/>
          <p:cNvSpPr/>
          <p:nvPr/>
        </p:nvSpPr>
        <p:spPr>
          <a:xfrm>
            <a:off x="868680" y="3931920"/>
            <a:ext cx="6217920" cy="548640"/>
          </a:xfrm>
          <a:prstGeom prst="rect">
            <a:avLst/>
          </a:prstGeom>
          <a:noFill/>
          <a:ln>
            <a:noFill/>
          </a:ln>
        </p:spPr>
        <p:txBody>
          <a:bodyPr wrap="square" rtlCol="0" anchor="ctr"/>
          <a:lstStyle/>
          <a:p>
            <a:pPr marL="0" indent="0">
              <a:buNone/>
            </a:pPr>
            <a:r>
              <a:rPr lang="en-US" sz="2600" b="1">
                <a:solidFill>
                  <a:srgbClr val="333F50"/>
                </a:solidFill>
                <a:latin typeface="Courier New" pitchFamily="34" charset="0"/>
                <a:ea typeface="Courier New" pitchFamily="34" charset="-122"/>
                <a:cs typeface="Courier New" pitchFamily="34" charset="-120"/>
              </a:rPr>
              <a:t>log₂(1,000,000) ≈ 20</a:t>
            </a:r>
            <a:endParaRPr lang="en-US" sz="2600" dirty="0"/>
          </a:p>
        </p:txBody>
      </p:sp>
      <p:sp>
        <p:nvSpPr>
          <p:cNvPr id="12" name="Text 10"/>
          <p:cNvSpPr/>
          <p:nvPr/>
        </p:nvSpPr>
        <p:spPr>
          <a:xfrm>
            <a:off x="868680" y="4572000"/>
            <a:ext cx="6217920" cy="1005840"/>
          </a:xfrm>
          <a:prstGeom prst="rect">
            <a:avLst/>
          </a:prstGeom>
          <a:noFill/>
          <a:ln>
            <a:noFill/>
          </a:ln>
        </p:spPr>
        <p:txBody>
          <a:bodyPr wrap="square" rtlCol="0" anchor="ctr"/>
          <a:lstStyle/>
          <a:p>
            <a:pPr marL="0" indent="0">
              <a:buNone/>
            </a:pPr>
            <a:r>
              <a:rPr lang="en-US" sz="1400" i="1">
                <a:solidFill>
                  <a:srgbClr val="595959"/>
                </a:solidFill>
                <a:latin typeface="Calibri" pitchFamily="34" charset="0"/>
                <a:ea typeface="Calibri" pitchFamily="34" charset="-122"/>
                <a:cs typeface="Calibri" pitchFamily="34" charset="-120"/>
              </a:rPr>
              <a:t>At most ~20 comparisons — ever — no matter how the million records are arranged, as long as they're sorted.</a:t>
            </a:r>
            <a:endParaRPr lang="en-US" sz="1400" dirty="0"/>
          </a:p>
        </p:txBody>
      </p:sp>
      <p:sp>
        <p:nvSpPr>
          <p:cNvPr id="13" name="Shape 11"/>
          <p:cNvSpPr/>
          <p:nvPr/>
        </p:nvSpPr>
        <p:spPr>
          <a:xfrm>
            <a:off x="7680960" y="1783080"/>
            <a:ext cx="3931920" cy="3977640"/>
          </a:xfrm>
          <a:prstGeom prst="roundRect">
            <a:avLst>
              <a:gd name="adj" fmla="val 2791"/>
            </a:avLst>
          </a:prstGeom>
          <a:solidFill>
            <a:srgbClr val="F5F5F5"/>
          </a:solidFill>
          <a:ln>
            <a:solidFill/>
          </a:ln>
        </p:spPr>
        <p:txBody>
          <a:bodyPr/>
          <a:lstStyle/>
          <a:p>
            <a:endParaRPr lang="en-US"/>
          </a:p>
        </p:txBody>
      </p:sp>
      <p:sp>
        <p:nvSpPr>
          <p:cNvPr id="14" name="Text 12"/>
          <p:cNvSpPr/>
          <p:nvPr/>
        </p:nvSpPr>
        <p:spPr>
          <a:xfrm>
            <a:off x="8001000" y="2011680"/>
            <a:ext cx="3291840" cy="274320"/>
          </a:xfrm>
          <a:prstGeom prst="rect">
            <a:avLst/>
          </a:prstGeom>
          <a:noFill/>
          <a:ln>
            <a:noFill/>
          </a:ln>
        </p:spPr>
        <p:txBody>
          <a:bodyPr wrap="square" rtlCol="0" anchor="ctr"/>
          <a:lstStyle/>
          <a:p>
            <a:pPr marL="0" indent="0">
              <a:buNone/>
            </a:pPr>
            <a:r>
              <a:rPr lang="en-US" sz="1100" b="1" kern="0" spc="120">
                <a:solidFill>
                  <a:srgbClr val="ED7D31"/>
                </a:solidFill>
                <a:latin typeface="Calibri" pitchFamily="34" charset="0"/>
                <a:ea typeface="Calibri" pitchFamily="34" charset="-122"/>
                <a:cs typeface="Calibri" pitchFamily="34" charset="-120"/>
              </a:rPr>
              <a:t>WE'LL FORMALIZE THIS</a:t>
            </a:r>
            <a:endParaRPr lang="en-US" sz="1100" dirty="0"/>
          </a:p>
        </p:txBody>
      </p:sp>
      <p:sp>
        <p:nvSpPr>
          <p:cNvPr id="15" name="Text 13"/>
          <p:cNvSpPr/>
          <p:nvPr/>
        </p:nvSpPr>
        <p:spPr>
          <a:xfrm>
            <a:off x="8001000" y="2423160"/>
            <a:ext cx="3291840" cy="146304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This algorithm — binary search — is an upcoming lecture topic, once we have Big-O notation to describe it precisely.</a:t>
            </a:r>
            <a:endParaRPr lang="en-US" sz="1400" dirty="0"/>
          </a:p>
        </p:txBody>
      </p:sp>
      <p:sp>
        <p:nvSpPr>
          <p:cNvPr id="16" name="Text 14"/>
          <p:cNvSpPr/>
          <p:nvPr/>
        </p:nvSpPr>
        <p:spPr>
          <a:xfrm>
            <a:off x="8001000" y="3977640"/>
            <a:ext cx="3291840" cy="1463040"/>
          </a:xfrm>
          <a:prstGeom prst="rect">
            <a:avLst/>
          </a:prstGeom>
          <a:noFill/>
          <a:ln>
            <a:noFill/>
          </a:ln>
        </p:spPr>
        <p:txBody>
          <a:bodyPr wrap="square" rtlCol="0" anchor="ctr"/>
          <a:lstStyle/>
          <a:p>
            <a:pPr marL="0" indent="0">
              <a:buNone/>
            </a:pPr>
            <a:r>
              <a:rPr lang="en-US" sz="1300" i="1">
                <a:solidFill>
                  <a:srgbClr val="333F50"/>
                </a:solidFill>
                <a:latin typeface="Calibri" pitchFamily="34" charset="0"/>
                <a:ea typeface="Calibri" pitchFamily="34" charset="-122"/>
                <a:cs typeface="Calibri" pitchFamily="34" charset="-120"/>
              </a:rPr>
              <a:t>For now, just notice: the shrinking-in-half pattern from today is exactly what makes it fast.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a:noFill/>
          </a:ln>
        </p:spPr>
        <p:txBody>
          <a:bodyPr wrap="square" rtlCol="0" anchor="ctr"/>
          <a:lstStyle/>
          <a:p>
            <a:pPr marL="0" indent="0">
              <a:buNone/>
            </a:pPr>
            <a:r>
              <a:rPr lang="en-US" sz="1200" b="1" kern="0" spc="200">
                <a:solidFill>
                  <a:srgbClr val="4472C4"/>
                </a:solidFill>
                <a:latin typeface="Calibri" pitchFamily="34" charset="0"/>
                <a:ea typeface="Calibri" pitchFamily="34" charset="-122"/>
                <a:cs typeface="Calibri" pitchFamily="34" charset="-120"/>
              </a:rPr>
              <a:t>TODAY'S TAKEAWAYS</a:t>
            </a:r>
            <a:endParaRPr lang="en-US" sz="1200" dirty="0"/>
          </a:p>
        </p:txBody>
      </p:sp>
      <p:sp>
        <p:nvSpPr>
          <p:cNvPr id="3" name="Text 1"/>
          <p:cNvSpPr/>
          <p:nvPr/>
        </p:nvSpPr>
        <p:spPr>
          <a:xfrm>
            <a:off x="548640" y="777240"/>
            <a:ext cx="9144000" cy="731520"/>
          </a:xfrm>
          <a:prstGeom prst="rect">
            <a:avLst/>
          </a:prstGeom>
          <a:noFill/>
          <a:ln>
            <a:noFill/>
          </a:ln>
        </p:spPr>
        <p:txBody>
          <a:bodyPr wrap="square" rtlCol="0" anchor="ctr"/>
          <a:lstStyle/>
          <a:p>
            <a:pPr marL="0" indent="0">
              <a:buNone/>
            </a:pPr>
            <a:r>
              <a:rPr lang="en-US" sz="3200" b="1" dirty="0">
                <a:solidFill>
                  <a:srgbClr val="333F50"/>
                </a:solidFill>
                <a:latin typeface="Cambria" pitchFamily="34" charset="0"/>
                <a:ea typeface="Cambria" pitchFamily="34" charset="-122"/>
                <a:cs typeface="Cambria" pitchFamily="34" charset="-120"/>
              </a:rPr>
              <a:t>Logarithms and its growth - in three ideas</a:t>
            </a:r>
            <a:endParaRPr lang="en-US" sz="3200" dirty="0"/>
          </a:p>
        </p:txBody>
      </p:sp>
      <p:sp>
        <p:nvSpPr>
          <p:cNvPr id="4" name="Shape 2"/>
          <p:cNvSpPr/>
          <p:nvPr/>
        </p:nvSpPr>
        <p:spPr>
          <a:xfrm>
            <a:off x="548640" y="1828800"/>
            <a:ext cx="502920" cy="502920"/>
          </a:xfrm>
          <a:prstGeom prst="roundRect">
            <a:avLst>
              <a:gd name="adj" fmla="val 50909"/>
            </a:avLst>
          </a:prstGeom>
          <a:solidFill>
            <a:srgbClr val="ED7D31"/>
          </a:solidFill>
          <a:ln>
            <a:solidFill/>
          </a:ln>
        </p:spPr>
        <p:txBody>
          <a:bodyPr/>
          <a:lstStyle/>
          <a:p>
            <a:endParaRPr lang="en-US"/>
          </a:p>
        </p:txBody>
      </p:sp>
      <p:sp>
        <p:nvSpPr>
          <p:cNvPr id="5" name="Text 3"/>
          <p:cNvSpPr/>
          <p:nvPr/>
        </p:nvSpPr>
        <p:spPr>
          <a:xfrm>
            <a:off x="548640" y="1828800"/>
            <a:ext cx="502920" cy="502920"/>
          </a:xfrm>
          <a:prstGeom prst="rect">
            <a:avLst/>
          </a:prstGeom>
          <a:noFill/>
          <a:ln>
            <a:noFill/>
          </a:ln>
        </p:spPr>
        <p:txBody>
          <a:bodyPr wrap="square" rtlCol="0" anchor="ctr"/>
          <a:lstStyle/>
          <a:p>
            <a:pPr marL="0" indent="0" algn="ctr">
              <a:buNone/>
            </a:pPr>
            <a:r>
              <a:rPr lang="en-US" sz="2000" b="1">
                <a:solidFill>
                  <a:srgbClr val="333F50"/>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80160" y="1783080"/>
            <a:ext cx="9875520" cy="457200"/>
          </a:xfrm>
          <a:prstGeom prst="rect">
            <a:avLst/>
          </a:prstGeom>
          <a:noFill/>
          <a:ln>
            <a:noFill/>
          </a:ln>
        </p:spPr>
        <p:txBody>
          <a:bodyPr wrap="square" rtlCol="0" anchor="ctr"/>
          <a:lstStyle/>
          <a:p>
            <a:pPr marL="0" indent="0">
              <a:buNone/>
            </a:pPr>
            <a:r>
              <a:rPr lang="en-US" sz="1800" b="1">
                <a:solidFill>
                  <a:srgbClr val="333F50"/>
                </a:solidFill>
                <a:latin typeface="Cambria" pitchFamily="34" charset="0"/>
                <a:ea typeface="Cambria" pitchFamily="34" charset="-122"/>
                <a:cs typeface="Cambria" pitchFamily="34" charset="-120"/>
              </a:rPr>
              <a:t>log₂n = how many halvings</a:t>
            </a:r>
            <a:endParaRPr lang="en-US" sz="1800" dirty="0"/>
          </a:p>
        </p:txBody>
      </p:sp>
      <p:sp>
        <p:nvSpPr>
          <p:cNvPr id="7" name="Text 5"/>
          <p:cNvSpPr/>
          <p:nvPr/>
        </p:nvSpPr>
        <p:spPr>
          <a:xfrm>
            <a:off x="1280160" y="2212848"/>
            <a:ext cx="9875520" cy="68580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The number of times you can divide n by 2 before reaching 1 — equivalently, the exponent x such that 2ˣ = n.</a:t>
            </a:r>
            <a:endParaRPr lang="en-US" sz="1400" dirty="0"/>
          </a:p>
        </p:txBody>
      </p:sp>
      <p:sp>
        <p:nvSpPr>
          <p:cNvPr id="8" name="Shape 6"/>
          <p:cNvSpPr/>
          <p:nvPr/>
        </p:nvSpPr>
        <p:spPr>
          <a:xfrm>
            <a:off x="548640" y="3017520"/>
            <a:ext cx="502920" cy="502920"/>
          </a:xfrm>
          <a:prstGeom prst="roundRect">
            <a:avLst>
              <a:gd name="adj" fmla="val 50909"/>
            </a:avLst>
          </a:prstGeom>
          <a:solidFill>
            <a:srgbClr val="ED7D31"/>
          </a:solidFill>
          <a:ln>
            <a:solidFill/>
          </a:ln>
        </p:spPr>
        <p:txBody>
          <a:bodyPr/>
          <a:lstStyle/>
          <a:p>
            <a:endParaRPr lang="en-US"/>
          </a:p>
        </p:txBody>
      </p:sp>
      <p:sp>
        <p:nvSpPr>
          <p:cNvPr id="9" name="Text 7"/>
          <p:cNvSpPr/>
          <p:nvPr/>
        </p:nvSpPr>
        <p:spPr>
          <a:xfrm>
            <a:off x="548640" y="3017520"/>
            <a:ext cx="502920" cy="502920"/>
          </a:xfrm>
          <a:prstGeom prst="rect">
            <a:avLst/>
          </a:prstGeom>
          <a:noFill/>
          <a:ln>
            <a:noFill/>
          </a:ln>
        </p:spPr>
        <p:txBody>
          <a:bodyPr wrap="square" rtlCol="0" anchor="ctr"/>
          <a:lstStyle/>
          <a:p>
            <a:pPr marL="0" indent="0" algn="ctr">
              <a:buNone/>
            </a:pPr>
            <a:r>
              <a:rPr lang="en-US" sz="2000" b="1">
                <a:solidFill>
                  <a:srgbClr val="333F50"/>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280160" y="2971800"/>
            <a:ext cx="9875520" cy="457200"/>
          </a:xfrm>
          <a:prstGeom prst="rect">
            <a:avLst/>
          </a:prstGeom>
          <a:noFill/>
          <a:ln>
            <a:noFill/>
          </a:ln>
        </p:spPr>
        <p:txBody>
          <a:bodyPr wrap="square" rtlCol="0" anchor="ctr"/>
          <a:lstStyle/>
          <a:p>
            <a:pPr marL="0" indent="0">
              <a:buNone/>
            </a:pPr>
            <a:r>
              <a:rPr lang="en-US" sz="1800" b="1">
                <a:solidFill>
                  <a:srgbClr val="333F50"/>
                </a:solidFill>
                <a:latin typeface="Cambria" pitchFamily="34" charset="0"/>
                <a:ea typeface="Cambria" pitchFamily="34" charset="-122"/>
                <a:cs typeface="Cambria" pitchFamily="34" charset="-120"/>
              </a:rPr>
              <a:t>It grows unbelievably slowly</a:t>
            </a:r>
            <a:endParaRPr lang="en-US" sz="1800" dirty="0"/>
          </a:p>
        </p:txBody>
      </p:sp>
      <p:sp>
        <p:nvSpPr>
          <p:cNvPr id="11" name="Text 9"/>
          <p:cNvSpPr/>
          <p:nvPr/>
        </p:nvSpPr>
        <p:spPr>
          <a:xfrm>
            <a:off x="1280160" y="3401568"/>
            <a:ext cx="9875520" cy="68580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Multiplying n by 1,000 only adds about 10 to log₂n. A billion-item problem is barely deeper than a thousand-item one.</a:t>
            </a:r>
            <a:endParaRPr lang="en-US" sz="1400" dirty="0"/>
          </a:p>
        </p:txBody>
      </p:sp>
      <p:sp>
        <p:nvSpPr>
          <p:cNvPr id="12" name="Shape 10"/>
          <p:cNvSpPr/>
          <p:nvPr/>
        </p:nvSpPr>
        <p:spPr>
          <a:xfrm>
            <a:off x="548640" y="4206240"/>
            <a:ext cx="502920" cy="502920"/>
          </a:xfrm>
          <a:prstGeom prst="roundRect">
            <a:avLst>
              <a:gd name="adj" fmla="val 50909"/>
            </a:avLst>
          </a:prstGeom>
          <a:solidFill>
            <a:srgbClr val="ED7D31"/>
          </a:solidFill>
          <a:ln>
            <a:solidFill/>
          </a:ln>
        </p:spPr>
        <p:txBody>
          <a:bodyPr/>
          <a:lstStyle/>
          <a:p>
            <a:endParaRPr lang="en-US"/>
          </a:p>
        </p:txBody>
      </p:sp>
      <p:sp>
        <p:nvSpPr>
          <p:cNvPr id="13" name="Text 11"/>
          <p:cNvSpPr/>
          <p:nvPr/>
        </p:nvSpPr>
        <p:spPr>
          <a:xfrm>
            <a:off x="548640" y="4206240"/>
            <a:ext cx="502920" cy="502920"/>
          </a:xfrm>
          <a:prstGeom prst="rect">
            <a:avLst/>
          </a:prstGeom>
          <a:noFill/>
          <a:ln>
            <a:noFill/>
          </a:ln>
        </p:spPr>
        <p:txBody>
          <a:bodyPr wrap="square" rtlCol="0" anchor="ctr"/>
          <a:lstStyle/>
          <a:p>
            <a:pPr marL="0" indent="0" algn="ctr">
              <a:buNone/>
            </a:pPr>
            <a:r>
              <a:rPr lang="en-US" sz="2000" b="1">
                <a:solidFill>
                  <a:srgbClr val="333F50"/>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280160" y="4160520"/>
            <a:ext cx="9875520" cy="457200"/>
          </a:xfrm>
          <a:prstGeom prst="rect">
            <a:avLst/>
          </a:prstGeom>
          <a:noFill/>
          <a:ln>
            <a:noFill/>
          </a:ln>
        </p:spPr>
        <p:txBody>
          <a:bodyPr wrap="square" rtlCol="0" anchor="ctr"/>
          <a:lstStyle/>
          <a:p>
            <a:pPr marL="0" indent="0">
              <a:buNone/>
            </a:pPr>
            <a:r>
              <a:rPr lang="en-US" sz="1800" b="1">
                <a:solidFill>
                  <a:srgbClr val="333F50"/>
                </a:solidFill>
                <a:latin typeface="Cambria" pitchFamily="34" charset="0"/>
                <a:ea typeface="Cambria" pitchFamily="34" charset="-122"/>
                <a:cs typeface="Cambria" pitchFamily="34" charset="-120"/>
              </a:rPr>
              <a:t>Branching factor is the whole story</a:t>
            </a:r>
            <a:endParaRPr lang="en-US" sz="1800" dirty="0"/>
          </a:p>
        </p:txBody>
      </p:sp>
      <p:sp>
        <p:nvSpPr>
          <p:cNvPr id="15" name="Text 13"/>
          <p:cNvSpPr/>
          <p:nvPr/>
        </p:nvSpPr>
        <p:spPr>
          <a:xfrm>
            <a:off x="1280160" y="4590288"/>
            <a:ext cx="9875520" cy="685800"/>
          </a:xfrm>
          <a:prstGeom prst="rect">
            <a:avLst/>
          </a:prstGeom>
          <a:noFill/>
          <a:ln>
            <a:noFill/>
          </a:ln>
        </p:spPr>
        <p:txBody>
          <a:bodyPr wrap="square" rtlCol="0" anchor="ctr"/>
          <a:lstStyle/>
          <a:p>
            <a:pPr marL="0" indent="0">
              <a:buNone/>
            </a:pPr>
            <a:r>
              <a:rPr lang="en-US" sz="1400">
                <a:solidFill>
                  <a:srgbClr val="333F50"/>
                </a:solidFill>
                <a:latin typeface="Calibri" pitchFamily="34" charset="0"/>
                <a:ea typeface="Calibri" pitchFamily="34" charset="-122"/>
                <a:cs typeface="Calibri" pitchFamily="34" charset="-120"/>
              </a:rPr>
              <a:t>One recursive call on half the input gives a shallow, log n-deep tree; two calls on almost-full input gives an exponential one.</a:t>
            </a:r>
            <a:endParaRPr lang="en-US" sz="1400" dirty="0"/>
          </a:p>
        </p:txBody>
      </p:sp>
      <p:sp>
        <p:nvSpPr>
          <p:cNvPr id="16" name="Shape 14"/>
          <p:cNvSpPr/>
          <p:nvPr/>
        </p:nvSpPr>
        <p:spPr>
          <a:xfrm>
            <a:off x="548640" y="5440680"/>
            <a:ext cx="11064240" cy="0"/>
          </a:xfrm>
          <a:prstGeom prst="line">
            <a:avLst/>
          </a:prstGeom>
          <a:noFill/>
          <a:ln w="11430">
            <a:solidFill>
              <a:srgbClr val="BFBFBF"/>
            </a:solidFill>
            <a:prstDash val="solid"/>
          </a:ln>
        </p:spPr>
        <p:txBody>
          <a:bodyPr/>
          <a:lstStyle/>
          <a:p>
            <a:endParaRPr lang="en-US"/>
          </a:p>
        </p:txBody>
      </p:sp>
      <p:sp>
        <p:nvSpPr>
          <p:cNvPr id="17" name="Text 15"/>
          <p:cNvSpPr/>
          <p:nvPr/>
        </p:nvSpPr>
        <p:spPr>
          <a:xfrm>
            <a:off x="548640" y="5522976"/>
            <a:ext cx="3657600" cy="320040"/>
          </a:xfrm>
          <a:prstGeom prst="rect">
            <a:avLst/>
          </a:prstGeom>
          <a:noFill/>
          <a:ln>
            <a:noFill/>
          </a:ln>
        </p:spPr>
        <p:txBody>
          <a:bodyPr wrap="square" rtlCol="0" anchor="ctr"/>
          <a:lstStyle/>
          <a:p>
            <a:pPr marL="0" indent="0">
              <a:buNone/>
            </a:pPr>
            <a:r>
              <a:rPr lang="en-US" sz="1200" b="1" kern="0" spc="150" dirty="0">
                <a:solidFill>
                  <a:srgbClr val="4472C4"/>
                </a:solidFill>
                <a:latin typeface="Calibri" pitchFamily="34" charset="0"/>
                <a:ea typeface="Calibri" pitchFamily="34" charset="-122"/>
                <a:cs typeface="Calibri" pitchFamily="34" charset="-120"/>
              </a:rPr>
              <a:t>NEXT CLASS  ·  Sep 14</a:t>
            </a:r>
            <a:endParaRPr lang="en-US" sz="1200" dirty="0"/>
          </a:p>
        </p:txBody>
      </p:sp>
      <p:sp>
        <p:nvSpPr>
          <p:cNvPr id="18" name="Text 16"/>
          <p:cNvSpPr/>
          <p:nvPr/>
        </p:nvSpPr>
        <p:spPr>
          <a:xfrm>
            <a:off x="548640" y="5843016"/>
            <a:ext cx="11064240" cy="640080"/>
          </a:xfrm>
          <a:prstGeom prst="rect">
            <a:avLst/>
          </a:prstGeom>
          <a:noFill/>
          <a:ln>
            <a:noFill/>
          </a:ln>
        </p:spPr>
        <p:txBody>
          <a:bodyPr wrap="square" rtlCol="0" anchor="ctr"/>
          <a:lstStyle/>
          <a:p>
            <a:pPr marL="0" indent="0">
              <a:buNone/>
            </a:pPr>
            <a:r>
              <a:rPr lang="en-US" sz="1400" i="1" dirty="0">
                <a:solidFill>
                  <a:srgbClr val="333F50"/>
                </a:solidFill>
                <a:latin typeface="Calibri" pitchFamily="34" charset="0"/>
                <a:ea typeface="Calibri" pitchFamily="34" charset="-122"/>
                <a:cs typeface="Calibri" pitchFamily="34" charset="-120"/>
              </a:rPr>
              <a:t>Asymptotic Notations : Big-O, Big-</a:t>
            </a:r>
            <a:r>
              <a:rPr lang="en-US" sz="1400" i="1" dirty="0" err="1">
                <a:solidFill>
                  <a:srgbClr val="333F50"/>
                </a:solidFill>
                <a:latin typeface="Calibri" pitchFamily="34" charset="0"/>
                <a:ea typeface="Calibri" pitchFamily="34" charset="-122"/>
                <a:cs typeface="Calibri" pitchFamily="34" charset="-120"/>
              </a:rPr>
              <a:t>Θ</a:t>
            </a:r>
            <a:r>
              <a:rPr lang="en-US" sz="1400" i="1" dirty="0">
                <a:solidFill>
                  <a:srgbClr val="333F50"/>
                </a:solidFill>
                <a:latin typeface="Calibri" pitchFamily="34" charset="0"/>
                <a:ea typeface="Calibri" pitchFamily="34" charset="-122"/>
                <a:cs typeface="Calibri" pitchFamily="34" charset="-120"/>
              </a:rPr>
              <a:t>, Big-</a:t>
            </a:r>
            <a:r>
              <a:rPr lang="en-US" sz="1400" i="1" dirty="0" err="1">
                <a:solidFill>
                  <a:srgbClr val="333F50"/>
                </a:solidFill>
                <a:latin typeface="Calibri" pitchFamily="34" charset="0"/>
                <a:ea typeface="Calibri" pitchFamily="34" charset="-122"/>
                <a:cs typeface="Calibri" pitchFamily="34" charset="-120"/>
              </a:rPr>
              <a:t>Ω</a:t>
            </a:r>
            <a:r>
              <a:rPr lang="en-US" sz="1400" i="1" dirty="0">
                <a:solidFill>
                  <a:srgbClr val="333F50"/>
                </a:solidFill>
                <a:latin typeface="Calibri" pitchFamily="34" charset="0"/>
                <a:ea typeface="Calibri" pitchFamily="34" charset="-122"/>
                <a:cs typeface="Calibri" pitchFamily="34" charset="-120"/>
              </a:rPr>
              <a:t> — formalizing the growth rates we've been seeing.</a:t>
            </a:r>
          </a:p>
          <a:p>
            <a:pPr marL="0" indent="0">
              <a:buNone/>
            </a:pPr>
            <a:r>
              <a:rPr lang="en-US" sz="1400" i="1" dirty="0">
                <a:solidFill>
                  <a:srgbClr val="333F50"/>
                </a:solidFill>
                <a:latin typeface="Calibri" pitchFamily="34" charset="0"/>
                <a:cs typeface="Calibri" pitchFamily="34" charset="-120"/>
              </a:rPr>
              <a:t>Introducing Search algorithms – Linear and Binary Search. </a:t>
            </a:r>
          </a:p>
          <a:p>
            <a:pPr marL="0" indent="0">
              <a:buNone/>
            </a:pPr>
            <a:r>
              <a:rPr lang="en-US" sz="1400" i="1" dirty="0">
                <a:solidFill>
                  <a:srgbClr val="333F50"/>
                </a:solidFill>
                <a:latin typeface="Calibri" pitchFamily="34" charset="0"/>
                <a:cs typeface="Calibri" pitchFamily="34" charset="-120"/>
              </a:rPr>
              <a:t>In-class exercise if time permits. </a:t>
            </a:r>
            <a:endParaRPr lang="en-US" sz="1400" dirty="0"/>
          </a:p>
        </p:txBody>
      </p:sp>
      <p:sp>
        <p:nvSpPr>
          <p:cNvPr id="31" name="Text 29"/>
          <p:cNvSpPr/>
          <p:nvPr/>
        </p:nvSpPr>
        <p:spPr>
          <a:xfrm>
            <a:off x="548640" y="6510528"/>
            <a:ext cx="8686800" cy="274320"/>
          </a:xfrm>
          <a:prstGeom prst="rect">
            <a:avLst/>
          </a:prstGeom>
          <a:noFill/>
          <a:ln>
            <a:noFill/>
          </a:ln>
        </p:spPr>
        <p:txBody>
          <a:bodyPr wrap="square" rtlCol="0" anchor="ctr"/>
          <a:lstStyle/>
          <a:p>
            <a:pPr marL="0" indent="0">
              <a:buNone/>
            </a:pPr>
            <a:r>
              <a:rPr lang="en-US" sz="900">
                <a:solidFill>
                  <a:srgbClr val="595959"/>
                </a:solidFill>
                <a:latin typeface="Calibri" pitchFamily="34" charset="0"/>
                <a:ea typeface="Calibri" pitchFamily="34" charset="-122"/>
                <a:cs typeface="Calibri" pitchFamily="34" charset="-120"/>
              </a:rPr>
              <a:t>Algorithm Analysis and Design ·  Logarithms &amp; Growth Rates  ·  Sep 11</a:t>
            </a:r>
            <a:endParaRPr lang="en-US" sz="900"/>
          </a:p>
        </p:txBody>
      </p:sp>
      <p:sp>
        <p:nvSpPr>
          <p:cNvPr id="19" name="Text 3">
            <a:extLst>
              <a:ext uri="{FF2B5EF4-FFF2-40B4-BE49-F238E27FC236}">
                <a16:creationId xmlns:a16="http://schemas.microsoft.com/office/drawing/2014/main" id="{EC8F3E97-85D6-95D6-EB96-B83BB2FF50DF}"/>
              </a:ext>
            </a:extLst>
          </p:cNvPr>
          <p:cNvSpPr/>
          <p:nvPr/>
        </p:nvSpPr>
        <p:spPr>
          <a:xfrm>
            <a:off x="10881360" y="6510528"/>
            <a:ext cx="731520" cy="274320"/>
          </a:xfrm>
          <a:prstGeom prst="rect">
            <a:avLst/>
          </a:prstGeom>
          <a:noFill/>
          <a:ln>
            <a:noFill/>
          </a:ln>
        </p:spPr>
        <p:txBody>
          <a:bodyPr wrap="square" rtlCol="0" anchor="ctr"/>
          <a:lstStyle/>
          <a:p>
            <a:pPr marL="0" indent="0" algn="r">
              <a:buNone/>
            </a:pPr>
            <a:r>
              <a:rPr lang="en-US" sz="900" dirty="0">
                <a:solidFill>
                  <a:srgbClr val="59595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200" b="1" kern="0" spc="100" dirty="0">
                <a:solidFill>
                  <a:srgbClr val="4472C4"/>
                </a:solidFill>
                <a:latin typeface="Calibri" pitchFamily="34" charset="0"/>
                <a:ea typeface="Calibri" pitchFamily="34" charset="-122"/>
                <a:cs typeface="Calibri" pitchFamily="34" charset="-120"/>
              </a:rPr>
              <a:t>IN-CLASS EXERCISE</a:t>
            </a:r>
            <a:endParaRPr lang="en-US" sz="1200" dirty="0"/>
          </a:p>
        </p:txBody>
      </p:sp>
      <p:sp>
        <p:nvSpPr>
          <p:cNvPr id="3" name="Text 1"/>
          <p:cNvSpPr txBox="1"/>
          <p:nvPr/>
        </p:nvSpPr>
        <p:spPr>
          <a:xfrm>
            <a:off x="548640" y="658368"/>
            <a:ext cx="11064240" cy="548640"/>
          </a:xfrm>
          <a:prstGeom prst="rect">
            <a:avLst/>
          </a:prstGeom>
          <a:noFill/>
          <a:ln/>
        </p:spPr>
        <p:txBody>
          <a:bodyPr wrap="square" lIns="0" tIns="0" rIns="0" bIns="0" rtlCol="0" anchor="ctr"/>
          <a:lstStyle/>
          <a:p>
            <a:pPr marL="0" indent="0">
              <a:buNone/>
            </a:pPr>
            <a:r>
              <a:rPr lang="en-US" sz="2600" b="1" dirty="0">
                <a:solidFill>
                  <a:srgbClr val="333F50"/>
                </a:solidFill>
                <a:latin typeface="Cambria" pitchFamily="34" charset="0"/>
                <a:ea typeface="Cambria" pitchFamily="34" charset="-122"/>
                <a:cs typeface="Cambria" pitchFamily="34" charset="-120"/>
              </a:rPr>
              <a:t>Doubling test</a:t>
            </a:r>
            <a:endParaRPr lang="en-US" sz="2600" dirty="0"/>
          </a:p>
        </p:txBody>
      </p:sp>
      <p:sp>
        <p:nvSpPr>
          <p:cNvPr id="4" name="Text 2"/>
          <p:cNvSpPr txBox="1"/>
          <p:nvPr/>
        </p:nvSpPr>
        <p:spPr>
          <a:xfrm>
            <a:off x="548640" y="1261872"/>
            <a:ext cx="10881360" cy="365760"/>
          </a:xfrm>
          <a:prstGeom prst="rect">
            <a:avLst/>
          </a:prstGeom>
          <a:noFill/>
          <a:ln/>
        </p:spPr>
        <p:txBody>
          <a:bodyPr wrap="square" lIns="0" tIns="0" rIns="0" bIns="0" rtlCol="0" anchor="ctr"/>
          <a:lstStyle/>
          <a:p>
            <a:pPr marL="0" indent="0">
              <a:buNone/>
            </a:pPr>
            <a:r>
              <a:rPr lang="en-US" sz="1500" dirty="0">
                <a:solidFill>
                  <a:srgbClr val="333F50"/>
                </a:solidFill>
                <a:latin typeface="Calibri" pitchFamily="34" charset="0"/>
                <a:ea typeface="Calibri" pitchFamily="34" charset="-122"/>
                <a:cs typeface="Calibri" pitchFamily="34" charset="-120"/>
              </a:rPr>
              <a:t>A student runs an algorithm on inputs of increasing size and records the following running times.</a:t>
            </a:r>
            <a:endParaRPr lang="en-US" sz="1500" dirty="0"/>
          </a:p>
        </p:txBody>
      </p:sp>
      <p:graphicFrame>
        <p:nvGraphicFramePr>
          <p:cNvPr id="5" name="Table 0"/>
          <p:cNvGraphicFramePr>
            <a:graphicFrameLocks noGrp="1"/>
          </p:cNvGraphicFramePr>
          <p:nvPr/>
        </p:nvGraphicFramePr>
        <p:xfrm>
          <a:off x="548640" y="1783080"/>
          <a:ext cx="4846320" cy="2212848"/>
        </p:xfrm>
        <a:graphic>
          <a:graphicData uri="http://schemas.openxmlformats.org/drawingml/2006/table">
            <a:tbl>
              <a:tblPr/>
              <a:tblGrid>
                <a:gridCol w="21945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333F50"/>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time (sec)</a:t>
                      </a:r>
                      <a:endParaRPr lang="en-US" sz="13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333F50"/>
                    </a:solidFill>
                  </a:tcPr>
                </a:tc>
                <a:extLst>
                  <a:ext uri="{0D108BD9-81ED-4DB2-BD59-A6C34878D82A}">
                    <a16:rowId xmlns:a16="http://schemas.microsoft.com/office/drawing/2014/main" val="10000"/>
                  </a:ext>
                </a:extLst>
              </a:tr>
              <a:tr h="438912">
                <a:tc>
                  <a:txBody>
                    <a:bodyPr/>
                    <a:lstStyle/>
                    <a:p>
                      <a:pPr marL="0" indent="0" algn="l">
                        <a:buNone/>
                      </a:pPr>
                      <a:r>
                        <a:rPr lang="en-US" sz="1400" dirty="0">
                          <a:solidFill>
                            <a:srgbClr val="333F50"/>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3F50"/>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400" dirty="0">
                          <a:solidFill>
                            <a:srgbClr val="333F50"/>
                          </a:solidFill>
                          <a:latin typeface="Calibri" pitchFamily="34" charset="0"/>
                          <a:ea typeface="Calibri" pitchFamily="34" charset="-122"/>
                          <a:cs typeface="Calibri" pitchFamily="34" charset="-120"/>
                        </a:rPr>
                        <a:t>2,000</a:t>
                      </a:r>
                      <a:endParaRPr lang="en-US" sz="14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tc>
                  <a:txBody>
                    <a:bodyPr/>
                    <a:lstStyle/>
                    <a:p>
                      <a:pPr marL="0" indent="0" algn="l">
                        <a:buNone/>
                      </a:pPr>
                      <a:r>
                        <a:rPr lang="en-US" sz="1400" dirty="0">
                          <a:solidFill>
                            <a:srgbClr val="333F50"/>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38912">
                <a:tc>
                  <a:txBody>
                    <a:bodyPr/>
                    <a:lstStyle/>
                    <a:p>
                      <a:pPr marL="0" indent="0" algn="l">
                        <a:buNone/>
                      </a:pPr>
                      <a:r>
                        <a:rPr lang="en-US" sz="1400" dirty="0">
                          <a:solidFill>
                            <a:srgbClr val="333F50"/>
                          </a:solidFill>
                          <a:latin typeface="Calibri" pitchFamily="34" charset="0"/>
                          <a:ea typeface="Calibri" pitchFamily="34" charset="-122"/>
                          <a:cs typeface="Calibri" pitchFamily="34" charset="-120"/>
                        </a:rPr>
                        <a:t>4,000</a:t>
                      </a:r>
                      <a:endParaRPr lang="en-US" sz="14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3F50"/>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400" dirty="0">
                          <a:solidFill>
                            <a:srgbClr val="333F50"/>
                          </a:solidFill>
                          <a:latin typeface="Calibri" pitchFamily="34" charset="0"/>
                          <a:ea typeface="Calibri" pitchFamily="34" charset="-122"/>
                          <a:cs typeface="Calibri" pitchFamily="34" charset="-120"/>
                        </a:rPr>
                        <a:t>8,000</a:t>
                      </a:r>
                      <a:endParaRPr lang="en-US" sz="14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tc>
                  <a:txBody>
                    <a:bodyPr/>
                    <a:lstStyle/>
                    <a:p>
                      <a:pPr marL="0" indent="0" algn="l">
                        <a:buNone/>
                      </a:pPr>
                      <a:r>
                        <a:rPr lang="en-US" sz="1400" dirty="0">
                          <a:solidFill>
                            <a:srgbClr val="333F50"/>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109728" marR="109728" marT="54864" marB="54864" anchor="ctr">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548640" y="4315968"/>
            <a:ext cx="4846320" cy="365760"/>
          </a:xfrm>
          <a:prstGeom prst="rect">
            <a:avLst/>
          </a:prstGeom>
          <a:noFill/>
          <a:ln/>
        </p:spPr>
        <p:txBody>
          <a:bodyPr wrap="square" lIns="0" tIns="0" rIns="0" bIns="0" rtlCol="0" anchor="ctr"/>
          <a:lstStyle/>
          <a:p>
            <a:pPr marL="0" indent="0">
              <a:buNone/>
            </a:pPr>
            <a:r>
              <a:rPr lang="en-US" sz="1400" b="1" dirty="0">
                <a:solidFill>
                  <a:srgbClr val="333F50"/>
                </a:solidFill>
                <a:latin typeface="Calibri" pitchFamily="34" charset="0"/>
                <a:ea typeface="Calibri" pitchFamily="34" charset="-122"/>
                <a:cs typeface="Calibri" pitchFamily="34" charset="-120"/>
              </a:rPr>
              <a:t>Ratio T(2n) / T(n):  </a:t>
            </a:r>
            <a:r>
              <a:rPr lang="en-US" sz="1400" dirty="0">
                <a:solidFill>
                  <a:srgbClr val="595959"/>
                </a:solidFill>
                <a:latin typeface="Calibri" pitchFamily="34" charset="0"/>
                <a:ea typeface="Calibri" pitchFamily="34" charset="-122"/>
                <a:cs typeface="Calibri" pitchFamily="34" charset="-120"/>
              </a:rPr>
              <a:t>______________</a:t>
            </a:r>
            <a:endParaRPr lang="en-US" sz="1400" dirty="0"/>
          </a:p>
        </p:txBody>
      </p:sp>
      <p:sp>
        <p:nvSpPr>
          <p:cNvPr id="7" name="Text 4"/>
          <p:cNvSpPr txBox="1"/>
          <p:nvPr/>
        </p:nvSpPr>
        <p:spPr>
          <a:xfrm>
            <a:off x="548640" y="4773168"/>
            <a:ext cx="4846320" cy="365760"/>
          </a:xfrm>
          <a:prstGeom prst="rect">
            <a:avLst/>
          </a:prstGeom>
          <a:noFill/>
          <a:ln/>
        </p:spPr>
        <p:txBody>
          <a:bodyPr wrap="square" lIns="0" tIns="0" rIns="0" bIns="0" rtlCol="0" anchor="ctr"/>
          <a:lstStyle/>
          <a:p>
            <a:pPr marL="0" indent="0">
              <a:buNone/>
            </a:pPr>
            <a:r>
              <a:rPr lang="en-US" sz="1400" b="1" dirty="0">
                <a:solidFill>
                  <a:srgbClr val="333F50"/>
                </a:solidFill>
                <a:latin typeface="Calibri" pitchFamily="34" charset="0"/>
                <a:ea typeface="Calibri" pitchFamily="34" charset="-122"/>
                <a:cs typeface="Calibri" pitchFamily="34" charset="-120"/>
              </a:rPr>
              <a:t>Exponent  b ≈ log₂(ratio):  </a:t>
            </a:r>
            <a:r>
              <a:rPr lang="en-US" sz="1400" dirty="0">
                <a:solidFill>
                  <a:srgbClr val="595959"/>
                </a:solidFill>
                <a:latin typeface="Calibri" pitchFamily="34" charset="0"/>
                <a:ea typeface="Calibri" pitchFamily="34" charset="-122"/>
                <a:cs typeface="Calibri" pitchFamily="34" charset="-120"/>
              </a:rPr>
              <a:t>______________</a:t>
            </a:r>
            <a:endParaRPr lang="en-US" sz="1400" dirty="0"/>
          </a:p>
        </p:txBody>
      </p:sp>
      <p:sp>
        <p:nvSpPr>
          <p:cNvPr id="9" name="Shape 6"/>
          <p:cNvSpPr/>
          <p:nvPr/>
        </p:nvSpPr>
        <p:spPr>
          <a:xfrm>
            <a:off x="5669280" y="1783080"/>
            <a:ext cx="5971032" cy="1234440"/>
          </a:xfrm>
          <a:prstGeom prst="roundRect">
            <a:avLst>
              <a:gd name="adj" fmla="val 5926"/>
            </a:avLst>
          </a:prstGeom>
          <a:solidFill>
            <a:srgbClr val="F5F5F5"/>
          </a:solidFill>
          <a:ln w="12700">
            <a:solidFill>
              <a:srgbClr val="E7E6E6"/>
            </a:solidFill>
            <a:prstDash val="solid"/>
          </a:ln>
        </p:spPr>
        <p:txBody>
          <a:bodyPr/>
          <a:lstStyle/>
          <a:p>
            <a:endParaRPr lang="en-US"/>
          </a:p>
        </p:txBody>
      </p:sp>
      <p:sp>
        <p:nvSpPr>
          <p:cNvPr id="10" name="Shape 7"/>
          <p:cNvSpPr/>
          <p:nvPr/>
        </p:nvSpPr>
        <p:spPr>
          <a:xfrm>
            <a:off x="5897880" y="2171700"/>
            <a:ext cx="457200" cy="457200"/>
          </a:xfrm>
          <a:prstGeom prst="ellipse">
            <a:avLst/>
          </a:prstGeom>
          <a:solidFill>
            <a:srgbClr val="4472C4"/>
          </a:solidFill>
          <a:ln/>
        </p:spPr>
        <p:txBody>
          <a:bodyPr/>
          <a:lstStyle/>
          <a:p>
            <a:endParaRPr lang="en-US"/>
          </a:p>
        </p:txBody>
      </p:sp>
      <p:sp>
        <p:nvSpPr>
          <p:cNvPr id="11" name="Text 8"/>
          <p:cNvSpPr txBox="1"/>
          <p:nvPr/>
        </p:nvSpPr>
        <p:spPr>
          <a:xfrm>
            <a:off x="5897880" y="21717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2" name="Text 9"/>
          <p:cNvSpPr txBox="1"/>
          <p:nvPr/>
        </p:nvSpPr>
        <p:spPr>
          <a:xfrm>
            <a:off x="6583680" y="1947672"/>
            <a:ext cx="4828032" cy="320040"/>
          </a:xfrm>
          <a:prstGeom prst="rect">
            <a:avLst/>
          </a:prstGeom>
          <a:noFill/>
          <a:ln/>
        </p:spPr>
        <p:txBody>
          <a:bodyPr wrap="square" lIns="0" tIns="0" rIns="0" bIns="0" rtlCol="0" anchor="ctr"/>
          <a:lstStyle/>
          <a:p>
            <a:pPr marL="0" indent="0">
              <a:buNone/>
            </a:pPr>
            <a:r>
              <a:rPr lang="en-US" sz="1500" b="1" dirty="0">
                <a:solidFill>
                  <a:srgbClr val="333F50"/>
                </a:solidFill>
                <a:latin typeface="Calibri" pitchFamily="34" charset="0"/>
                <a:ea typeface="Calibri" pitchFamily="34" charset="-122"/>
                <a:cs typeface="Calibri" pitchFamily="34" charset="-120"/>
              </a:rPr>
              <a:t>Compute the ratio</a:t>
            </a:r>
            <a:endParaRPr lang="en-US" sz="1500" dirty="0"/>
          </a:p>
        </p:txBody>
      </p:sp>
      <p:sp>
        <p:nvSpPr>
          <p:cNvPr id="13" name="Text 10"/>
          <p:cNvSpPr txBox="1"/>
          <p:nvPr/>
        </p:nvSpPr>
        <p:spPr>
          <a:xfrm>
            <a:off x="6583680" y="2286000"/>
            <a:ext cx="4828032" cy="640080"/>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Find T(2n) / T(n) between each pair of consecutive rows in the table. Let’s store this value in variable named “ratio”</a:t>
            </a:r>
            <a:endParaRPr lang="en-US" sz="1300" dirty="0"/>
          </a:p>
        </p:txBody>
      </p:sp>
      <p:sp>
        <p:nvSpPr>
          <p:cNvPr id="14" name="Shape 11"/>
          <p:cNvSpPr/>
          <p:nvPr/>
        </p:nvSpPr>
        <p:spPr>
          <a:xfrm>
            <a:off x="5669280" y="3200400"/>
            <a:ext cx="5971032" cy="1234440"/>
          </a:xfrm>
          <a:prstGeom prst="roundRect">
            <a:avLst>
              <a:gd name="adj" fmla="val 5926"/>
            </a:avLst>
          </a:prstGeom>
          <a:solidFill>
            <a:srgbClr val="F5F5F5"/>
          </a:solidFill>
          <a:ln w="12700">
            <a:solidFill>
              <a:srgbClr val="E7E6E6"/>
            </a:solidFill>
            <a:prstDash val="solid"/>
          </a:ln>
        </p:spPr>
        <p:txBody>
          <a:bodyPr/>
          <a:lstStyle/>
          <a:p>
            <a:endParaRPr lang="en-US"/>
          </a:p>
        </p:txBody>
      </p:sp>
      <p:sp>
        <p:nvSpPr>
          <p:cNvPr id="15" name="Shape 12"/>
          <p:cNvSpPr/>
          <p:nvPr/>
        </p:nvSpPr>
        <p:spPr>
          <a:xfrm>
            <a:off x="5897880" y="3589020"/>
            <a:ext cx="457200" cy="457200"/>
          </a:xfrm>
          <a:prstGeom prst="ellipse">
            <a:avLst/>
          </a:prstGeom>
          <a:solidFill>
            <a:srgbClr val="4472C4"/>
          </a:solidFill>
          <a:ln/>
        </p:spPr>
        <p:txBody>
          <a:bodyPr/>
          <a:lstStyle/>
          <a:p>
            <a:endParaRPr lang="en-US"/>
          </a:p>
        </p:txBody>
      </p:sp>
      <p:sp>
        <p:nvSpPr>
          <p:cNvPr id="16" name="Text 13"/>
          <p:cNvSpPr txBox="1"/>
          <p:nvPr/>
        </p:nvSpPr>
        <p:spPr>
          <a:xfrm>
            <a:off x="5897880" y="35890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7" name="Text 14"/>
          <p:cNvSpPr txBox="1"/>
          <p:nvPr/>
        </p:nvSpPr>
        <p:spPr>
          <a:xfrm>
            <a:off x="6583680" y="3364992"/>
            <a:ext cx="4828032" cy="320040"/>
          </a:xfrm>
          <a:prstGeom prst="rect">
            <a:avLst/>
          </a:prstGeom>
          <a:noFill/>
          <a:ln/>
        </p:spPr>
        <p:txBody>
          <a:bodyPr wrap="square" lIns="0" tIns="0" rIns="0" bIns="0" rtlCol="0" anchor="ctr"/>
          <a:lstStyle/>
          <a:p>
            <a:pPr marL="0" indent="0">
              <a:buNone/>
            </a:pPr>
            <a:r>
              <a:rPr lang="en-US" sz="1500" b="1" dirty="0">
                <a:solidFill>
                  <a:srgbClr val="333F50"/>
                </a:solidFill>
                <a:latin typeface="Calibri" pitchFamily="34" charset="0"/>
                <a:ea typeface="Calibri" pitchFamily="34" charset="-122"/>
                <a:cs typeface="Calibri" pitchFamily="34" charset="-120"/>
              </a:rPr>
              <a:t>Estimate the exponent</a:t>
            </a:r>
            <a:endParaRPr lang="en-US" sz="1500" dirty="0"/>
          </a:p>
        </p:txBody>
      </p:sp>
      <p:sp>
        <p:nvSpPr>
          <p:cNvPr id="18" name="Text 15"/>
          <p:cNvSpPr txBox="1"/>
          <p:nvPr/>
        </p:nvSpPr>
        <p:spPr>
          <a:xfrm>
            <a:off x="6583680" y="3703320"/>
            <a:ext cx="4828032" cy="640080"/>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Use b ≈ log₂(ratio), assuming the running time satisfies T(n) ≈ a · n^b.</a:t>
            </a:r>
            <a:endParaRPr lang="en-US" sz="1300" dirty="0"/>
          </a:p>
        </p:txBody>
      </p:sp>
      <p:sp>
        <p:nvSpPr>
          <p:cNvPr id="19" name="Shape 16"/>
          <p:cNvSpPr/>
          <p:nvPr/>
        </p:nvSpPr>
        <p:spPr>
          <a:xfrm>
            <a:off x="5669280" y="4617720"/>
            <a:ext cx="5971032" cy="1234440"/>
          </a:xfrm>
          <a:prstGeom prst="roundRect">
            <a:avLst>
              <a:gd name="adj" fmla="val 5926"/>
            </a:avLst>
          </a:prstGeom>
          <a:solidFill>
            <a:srgbClr val="F5F5F5"/>
          </a:solidFill>
          <a:ln w="12700">
            <a:solidFill>
              <a:srgbClr val="E7E6E6"/>
            </a:solidFill>
            <a:prstDash val="solid"/>
          </a:ln>
        </p:spPr>
        <p:txBody>
          <a:bodyPr/>
          <a:lstStyle/>
          <a:p>
            <a:endParaRPr lang="en-US"/>
          </a:p>
        </p:txBody>
      </p:sp>
      <p:sp>
        <p:nvSpPr>
          <p:cNvPr id="20" name="Shape 17"/>
          <p:cNvSpPr/>
          <p:nvPr/>
        </p:nvSpPr>
        <p:spPr>
          <a:xfrm>
            <a:off x="5897880" y="5006340"/>
            <a:ext cx="457200" cy="457200"/>
          </a:xfrm>
          <a:prstGeom prst="ellipse">
            <a:avLst/>
          </a:prstGeom>
          <a:solidFill>
            <a:srgbClr val="4472C4"/>
          </a:solidFill>
          <a:ln/>
        </p:spPr>
        <p:txBody>
          <a:bodyPr/>
          <a:lstStyle/>
          <a:p>
            <a:endParaRPr lang="en-US"/>
          </a:p>
        </p:txBody>
      </p:sp>
      <p:sp>
        <p:nvSpPr>
          <p:cNvPr id="21" name="Text 18"/>
          <p:cNvSpPr txBox="1"/>
          <p:nvPr/>
        </p:nvSpPr>
        <p:spPr>
          <a:xfrm>
            <a:off x="5897880" y="50063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9"/>
          <p:cNvSpPr txBox="1"/>
          <p:nvPr/>
        </p:nvSpPr>
        <p:spPr>
          <a:xfrm>
            <a:off x="6583680" y="4782312"/>
            <a:ext cx="4828032" cy="320040"/>
          </a:xfrm>
          <a:prstGeom prst="rect">
            <a:avLst/>
          </a:prstGeom>
          <a:noFill/>
          <a:ln/>
        </p:spPr>
        <p:txBody>
          <a:bodyPr wrap="square" lIns="0" tIns="0" rIns="0" bIns="0" rtlCol="0" anchor="ctr"/>
          <a:lstStyle/>
          <a:p>
            <a:pPr marL="0" indent="0">
              <a:buNone/>
            </a:pPr>
            <a:r>
              <a:rPr lang="en-US" sz="1500" b="1" dirty="0">
                <a:solidFill>
                  <a:srgbClr val="333F50"/>
                </a:solidFill>
                <a:latin typeface="Calibri" pitchFamily="34" charset="0"/>
                <a:ea typeface="Calibri" pitchFamily="34" charset="-122"/>
                <a:cs typeface="Calibri" pitchFamily="34" charset="-120"/>
              </a:rPr>
              <a:t>Classify the growth</a:t>
            </a:r>
            <a:endParaRPr lang="en-US" sz="1500" dirty="0"/>
          </a:p>
        </p:txBody>
      </p:sp>
      <p:sp>
        <p:nvSpPr>
          <p:cNvPr id="23" name="Text 20"/>
          <p:cNvSpPr txBox="1"/>
          <p:nvPr/>
        </p:nvSpPr>
        <p:spPr>
          <a:xfrm>
            <a:off x="6583680" y="5120640"/>
            <a:ext cx="4828032" cy="640080"/>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Based on b, what is the order of growth for this algorithm? You can also use the tilde notation to submit your answer (as an approximation) since we didn’t talk formally about Big-Theta or Big-O in this class.  </a:t>
            </a:r>
            <a:endParaRPr lang="en-US" sz="1300" dirty="0"/>
          </a:p>
        </p:txBody>
      </p:sp>
      <p:sp>
        <p:nvSpPr>
          <p:cNvPr id="24" name="Text 21"/>
          <p:cNvSpPr txBox="1"/>
          <p:nvPr/>
        </p:nvSpPr>
        <p:spPr>
          <a:xfrm>
            <a:off x="548640" y="6501384"/>
            <a:ext cx="9326880" cy="274320"/>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Design &amp; Analysis of Algorithms  ·  Analysis of Algorithms  ·  Sep 10</a:t>
            </a:r>
            <a:endParaRPr lang="en-US" sz="900" dirty="0"/>
          </a:p>
        </p:txBody>
      </p:sp>
      <p:sp>
        <p:nvSpPr>
          <p:cNvPr id="25" name="Text 22"/>
          <p:cNvSpPr txBox="1"/>
          <p:nvPr/>
        </p:nvSpPr>
        <p:spPr>
          <a:xfrm>
            <a:off x="10908792" y="6501384"/>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Calibri" pitchFamily="34" charset="0"/>
                <a:cs typeface="Calibri" pitchFamily="34" charset="-120"/>
              </a:rPr>
              <a:t>17</a:t>
            </a:r>
            <a:endParaRPr lang="en-US" sz="900" dirty="0"/>
          </a:p>
        </p:txBody>
      </p:sp>
      <p:sp>
        <p:nvSpPr>
          <p:cNvPr id="26" name="TextBox 25">
            <a:extLst>
              <a:ext uri="{FF2B5EF4-FFF2-40B4-BE49-F238E27FC236}">
                <a16:creationId xmlns:a16="http://schemas.microsoft.com/office/drawing/2014/main" id="{66E20339-F6A4-231A-5697-E33F2AAAD478}"/>
              </a:ext>
            </a:extLst>
          </p:cNvPr>
          <p:cNvSpPr txBox="1"/>
          <p:nvPr/>
        </p:nvSpPr>
        <p:spPr>
          <a:xfrm>
            <a:off x="548640" y="5866542"/>
            <a:ext cx="9617725" cy="492443"/>
          </a:xfrm>
          <a:prstGeom prst="rect">
            <a:avLst/>
          </a:prstGeom>
          <a:noFill/>
          <a:ln/>
        </p:spPr>
        <p:txBody>
          <a:bodyPr wrap="square" lIns="0" tIns="0" rIns="0" bIns="0" rtlCol="0" anchor="ctr"/>
          <a:lstStyle>
            <a:lvl1pPr indent="0">
              <a:buNone/>
              <a:defRPr sz="1300">
                <a:solidFill>
                  <a:srgbClr val="595959"/>
                </a:solidFill>
                <a:latin typeface="Calibri" pitchFamily="34" charset="0"/>
                <a:ea typeface="Calibri" pitchFamily="34" charset="-122"/>
                <a:cs typeface="Calibri" pitchFamily="34" charset="-120"/>
              </a:defRPr>
            </a:lvl1pPr>
          </a:lstStyle>
          <a:p>
            <a:r>
              <a:rPr lang="en-US" dirty="0"/>
              <a:t>Check this link for template </a:t>
            </a:r>
            <a:r>
              <a:rPr lang="en-US" dirty="0" err="1"/>
              <a:t>py</a:t>
            </a:r>
            <a:r>
              <a:rPr lang="en-US" dirty="0"/>
              <a:t> file: </a:t>
            </a:r>
          </a:p>
          <a:p>
            <a:r>
              <a:rPr lang="en-US" dirty="0"/>
              <a:t>10 points towards Class participation. Submit before next class to get credit.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1558</TotalTime>
  <Words>2088</Words>
  <Application>Microsoft Macintosh PowerPoint</Application>
  <PresentationFormat>Widescreen</PresentationFormat>
  <Paragraphs>303</Paragraphs>
  <Slides>16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Change nlog(n) to 5nlog(n)….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Tanwistha Saha</cp:lastModifiedBy>
  <cp:revision>66</cp:revision>
  <dcterms:created xsi:type="dcterms:W3CDTF">2026-08-21T20:49:11Z</dcterms:created>
  <dcterms:modified xsi:type="dcterms:W3CDTF">2026-09-11T18:24:53Z</dcterms:modified>
</cp:coreProperties>
</file>