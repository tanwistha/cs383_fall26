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8" r:id="rId11"/>
    <p:sldId id="264" r:id="rId12"/>
    <p:sldId id="267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8"/>
  </p:normalViewPr>
  <p:slideViewPr>
    <p:cSldViewPr snapToGrid="0" snapToObjects="1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44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4"/>
                </a:solidFill>
              </a:rPr>
              <a:t>Algorithm Analysis and Design  ·  Graphs: Terminology and Representation</a:t>
            </a:r>
            <a:endParaRPr lang="en-US" sz="85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15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96012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4"/>
                </a:solidFill>
              </a:rPr>
              <a:t>Algorithm Analysis and Design  ·  Graphs: Terminology and Representation</a:t>
            </a:r>
            <a:endParaRPr lang="en-US" sz="85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1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5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2"/>
                </a:solidFill>
              </a:rPr>
              <a:t>CS 383 ALGORITHMS ANALYSIS AND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960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chemeClr val="tx1"/>
                </a:solidFill>
              </a:rPr>
              <a:t>Graphs: An Introduction</a:t>
            </a:r>
            <a:endParaRPr lang="en-US" sz="4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Terminology and Representation</a:t>
            </a:r>
            <a:endParaRPr lang="en-US" sz="1900" dirty="0"/>
          </a:p>
        </p:txBody>
      </p:sp>
      <p:sp>
        <p:nvSpPr>
          <p:cNvPr id="5" name="text-1"/>
          <p:cNvSpPr txBox="1"/>
          <p:nvPr/>
        </p:nvSpPr>
        <p:spPr>
          <a:xfrm>
            <a:off x="502920" y="23317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Roads, friendships, web links and proteins all share one shape: things, and connections between them. Today we learn the vocabulary and how to store a graph in memory.</a:t>
            </a:r>
            <a:endParaRPr lang="en-US" sz="1400" dirty="0"/>
          </a:p>
        </p:txBody>
      </p:sp>
      <p:sp>
        <p:nvSpPr>
          <p:cNvPr id="6" name="badge"/>
          <p:cNvSpPr/>
          <p:nvPr/>
        </p:nvSpPr>
        <p:spPr>
          <a:xfrm>
            <a:off x="10104120" y="411480"/>
            <a:ext cx="1325880" cy="132588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G=(V,E)</a:t>
            </a:r>
            <a:endParaRPr lang="en-US" sz="1300" dirty="0"/>
          </a:p>
        </p:txBody>
      </p:sp>
      <p:sp>
        <p:nvSpPr>
          <p:cNvPr id="7" name="edge-2"/>
          <p:cNvSpPr/>
          <p:nvPr/>
        </p:nvSpPr>
        <p:spPr>
          <a:xfrm flipV="1">
            <a:off x="8497095" y="2341444"/>
            <a:ext cx="653731" cy="163433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3"/>
          <p:cNvSpPr/>
          <p:nvPr/>
        </p:nvSpPr>
        <p:spPr>
          <a:xfrm>
            <a:off x="8410925" y="2744356"/>
            <a:ext cx="368869" cy="50060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4"/>
          <p:cNvSpPr/>
          <p:nvPr/>
        </p:nvSpPr>
        <p:spPr>
          <a:xfrm>
            <a:off x="9538553" y="2443218"/>
            <a:ext cx="536774" cy="508523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5"/>
          <p:cNvSpPr/>
          <p:nvPr/>
        </p:nvSpPr>
        <p:spPr>
          <a:xfrm flipV="1">
            <a:off x="9137618" y="3162599"/>
            <a:ext cx="881444" cy="212762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6"/>
          <p:cNvSpPr/>
          <p:nvPr/>
        </p:nvSpPr>
        <p:spPr>
          <a:xfrm>
            <a:off x="8292002" y="2788310"/>
            <a:ext cx="103796" cy="1418539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dge-7"/>
          <p:cNvSpPr/>
          <p:nvPr/>
        </p:nvSpPr>
        <p:spPr>
          <a:xfrm flipV="1">
            <a:off x="8514713" y="3633466"/>
            <a:ext cx="298454" cy="596908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dge-8"/>
          <p:cNvSpPr/>
          <p:nvPr/>
        </p:nvSpPr>
        <p:spPr>
          <a:xfrm>
            <a:off x="8641080" y="4434840"/>
            <a:ext cx="96012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edge-9"/>
          <p:cNvSpPr/>
          <p:nvPr/>
        </p:nvSpPr>
        <p:spPr>
          <a:xfrm>
            <a:off x="10432758" y="3233837"/>
            <a:ext cx="668604" cy="436046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dge-10"/>
          <p:cNvSpPr/>
          <p:nvPr/>
        </p:nvSpPr>
        <p:spPr>
          <a:xfrm flipV="1">
            <a:off x="10039234" y="3886387"/>
            <a:ext cx="1044173" cy="45682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vertex-11"/>
          <p:cNvSpPr/>
          <p:nvPr/>
        </p:nvSpPr>
        <p:spPr>
          <a:xfrm>
            <a:off x="8046720" y="2331720"/>
            <a:ext cx="457200" cy="4572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vertex-12"/>
          <p:cNvSpPr/>
          <p:nvPr/>
        </p:nvSpPr>
        <p:spPr>
          <a:xfrm>
            <a:off x="9144000" y="205740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vertex-13"/>
          <p:cNvSpPr/>
          <p:nvPr/>
        </p:nvSpPr>
        <p:spPr>
          <a:xfrm>
            <a:off x="8686800" y="320040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vertex-14"/>
          <p:cNvSpPr/>
          <p:nvPr/>
        </p:nvSpPr>
        <p:spPr>
          <a:xfrm>
            <a:off x="10012680" y="288036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vertex-15"/>
          <p:cNvSpPr/>
          <p:nvPr/>
        </p:nvSpPr>
        <p:spPr>
          <a:xfrm>
            <a:off x="8183880" y="420624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vertex-16"/>
          <p:cNvSpPr/>
          <p:nvPr/>
        </p:nvSpPr>
        <p:spPr>
          <a:xfrm>
            <a:off x="9601200" y="420624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vertex-17"/>
          <p:cNvSpPr/>
          <p:nvPr/>
        </p:nvSpPr>
        <p:spPr>
          <a:xfrm>
            <a:off x="11064240" y="3566160"/>
            <a:ext cx="457200" cy="4572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-18"/>
          <p:cNvSpPr txBox="1"/>
          <p:nvPr/>
        </p:nvSpPr>
        <p:spPr>
          <a:xfrm>
            <a:off x="7772400" y="4892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7 vertices, 9 edges</a:t>
            </a:r>
            <a:endParaRPr lang="en-US" sz="1200" dirty="0"/>
          </a:p>
        </p:txBody>
      </p:sp>
      <p:sp>
        <p:nvSpPr>
          <p:cNvPr id="24" name="text-19"/>
          <p:cNvSpPr txBox="1"/>
          <p:nvPr/>
        </p:nvSpPr>
        <p:spPr>
          <a:xfrm>
            <a:off x="7772400" y="5148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Highlighted: a path from 0 to 6  →  0–4–2–3–6</a:t>
            </a:r>
            <a:endParaRPr lang="en-US" sz="1100" dirty="0"/>
          </a:p>
        </p:txBody>
      </p:sp>
      <p:sp>
        <p:nvSpPr>
          <p:cNvPr id="25" name="rule"/>
          <p:cNvSpPr/>
          <p:nvPr/>
        </p:nvSpPr>
        <p:spPr>
          <a:xfrm>
            <a:off x="502920" y="5715000"/>
            <a:ext cx="65836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-20"/>
          <p:cNvSpPr txBox="1"/>
          <p:nvPr/>
        </p:nvSpPr>
        <p:spPr>
          <a:xfrm>
            <a:off x="50292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Tanwistha Saha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Graphs Are Everywhere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A graph is a set of vertices connected pairwise by edges. The same picture shows up in very different worlds.</a:t>
            </a:r>
            <a:endParaRPr lang="en-US" sz="1350" dirty="0"/>
          </a:p>
        </p:txBody>
      </p:sp>
      <p:sp>
        <p:nvSpPr>
          <p:cNvPr id="5" name="card-21"/>
          <p:cNvSpPr/>
          <p:nvPr/>
        </p:nvSpPr>
        <p:spPr>
          <a:xfrm>
            <a:off x="502920" y="1737360"/>
            <a:ext cx="2624328" cy="3794760"/>
          </a:xfrm>
          <a:prstGeom prst="roundRect">
            <a:avLst>
              <a:gd name="adj" fmla="val 2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-22"/>
          <p:cNvSpPr txBox="1"/>
          <p:nvPr/>
        </p:nvSpPr>
        <p:spPr>
          <a:xfrm>
            <a:off x="685800" y="190195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TRANSPORTATION</a:t>
            </a:r>
            <a:endParaRPr lang="en-US" sz="1050" dirty="0"/>
          </a:p>
        </p:txBody>
      </p:sp>
      <p:sp>
        <p:nvSpPr>
          <p:cNvPr id="7" name="text-23"/>
          <p:cNvSpPr txBox="1"/>
          <p:nvPr/>
        </p:nvSpPr>
        <p:spPr>
          <a:xfrm>
            <a:off x="685800" y="213969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Subway map</a:t>
            </a:r>
            <a:endParaRPr lang="en-US" sz="1400" dirty="0"/>
          </a:p>
        </p:txBody>
      </p:sp>
      <p:sp>
        <p:nvSpPr>
          <p:cNvPr id="8" name="card-24"/>
          <p:cNvSpPr/>
          <p:nvPr/>
        </p:nvSpPr>
        <p:spPr>
          <a:xfrm>
            <a:off x="685800" y="2514600"/>
            <a:ext cx="2258568" cy="16002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edge-25"/>
          <p:cNvSpPr/>
          <p:nvPr/>
        </p:nvSpPr>
        <p:spPr>
          <a:xfrm>
            <a:off x="996696" y="3383280"/>
            <a:ext cx="338328" cy="914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26"/>
          <p:cNvSpPr/>
          <p:nvPr/>
        </p:nvSpPr>
        <p:spPr>
          <a:xfrm>
            <a:off x="1246912" y="2801392"/>
            <a:ext cx="203656" cy="203656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27"/>
          <p:cNvSpPr/>
          <p:nvPr/>
        </p:nvSpPr>
        <p:spPr>
          <a:xfrm>
            <a:off x="1499616" y="3383280"/>
            <a:ext cx="237744" cy="914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dge-28"/>
          <p:cNvSpPr/>
          <p:nvPr/>
        </p:nvSpPr>
        <p:spPr>
          <a:xfrm>
            <a:off x="1566103" y="3122269"/>
            <a:ext cx="196211" cy="201982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dge-29"/>
          <p:cNvSpPr/>
          <p:nvPr/>
        </p:nvSpPr>
        <p:spPr>
          <a:xfrm>
            <a:off x="1901952" y="3383280"/>
            <a:ext cx="301752" cy="914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edge-30"/>
          <p:cNvSpPr/>
          <p:nvPr/>
        </p:nvSpPr>
        <p:spPr>
          <a:xfrm>
            <a:off x="1878662" y="3440647"/>
            <a:ext cx="211172" cy="205306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dge-31"/>
          <p:cNvSpPr/>
          <p:nvPr/>
        </p:nvSpPr>
        <p:spPr>
          <a:xfrm>
            <a:off x="2368296" y="3383280"/>
            <a:ext cx="292608" cy="914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dge-32"/>
          <p:cNvSpPr/>
          <p:nvPr/>
        </p:nvSpPr>
        <p:spPr>
          <a:xfrm>
            <a:off x="2211324" y="3756878"/>
            <a:ext cx="195072" cy="167205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vertex-33"/>
          <p:cNvSpPr/>
          <p:nvPr/>
        </p:nvSpPr>
        <p:spPr>
          <a:xfrm>
            <a:off x="832104" y="3300984"/>
            <a:ext cx="164592" cy="16459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vertex-34"/>
          <p:cNvSpPr/>
          <p:nvPr/>
        </p:nvSpPr>
        <p:spPr>
          <a:xfrm>
            <a:off x="1335024" y="3300984"/>
            <a:ext cx="164592" cy="16459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vertex-35"/>
          <p:cNvSpPr/>
          <p:nvPr/>
        </p:nvSpPr>
        <p:spPr>
          <a:xfrm>
            <a:off x="1700784" y="3264408"/>
            <a:ext cx="237744" cy="23774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vertex-36"/>
          <p:cNvSpPr/>
          <p:nvPr/>
        </p:nvSpPr>
        <p:spPr>
          <a:xfrm>
            <a:off x="2203704" y="3300984"/>
            <a:ext cx="164592" cy="16459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vertex-37"/>
          <p:cNvSpPr/>
          <p:nvPr/>
        </p:nvSpPr>
        <p:spPr>
          <a:xfrm>
            <a:off x="2660904" y="3300984"/>
            <a:ext cx="164592" cy="16459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vertex-38"/>
          <p:cNvSpPr/>
          <p:nvPr/>
        </p:nvSpPr>
        <p:spPr>
          <a:xfrm>
            <a:off x="1106424" y="2660904"/>
            <a:ext cx="164592" cy="16459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vertex-39"/>
          <p:cNvSpPr/>
          <p:nvPr/>
        </p:nvSpPr>
        <p:spPr>
          <a:xfrm>
            <a:off x="1426464" y="2980944"/>
            <a:ext cx="164592" cy="16459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vertex-40"/>
          <p:cNvSpPr/>
          <p:nvPr/>
        </p:nvSpPr>
        <p:spPr>
          <a:xfrm>
            <a:off x="1700784" y="3264408"/>
            <a:ext cx="237744" cy="23774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vertex-41"/>
          <p:cNvSpPr/>
          <p:nvPr/>
        </p:nvSpPr>
        <p:spPr>
          <a:xfrm>
            <a:off x="2066544" y="3621024"/>
            <a:ext cx="164592" cy="16459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vertex-42"/>
          <p:cNvSpPr/>
          <p:nvPr/>
        </p:nvSpPr>
        <p:spPr>
          <a:xfrm>
            <a:off x="2386584" y="3895344"/>
            <a:ext cx="164592" cy="16459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-43"/>
          <p:cNvSpPr txBox="1"/>
          <p:nvPr/>
        </p:nvSpPr>
        <p:spPr>
          <a:xfrm>
            <a:off x="685800" y="4160520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e.g. London Underground</a:t>
            </a:r>
            <a:endParaRPr lang="en-US" sz="1000" dirty="0"/>
          </a:p>
        </p:txBody>
      </p:sp>
      <p:sp>
        <p:nvSpPr>
          <p:cNvPr id="28" name="text-44"/>
          <p:cNvSpPr txBox="1"/>
          <p:nvPr/>
        </p:nvSpPr>
        <p:spPr>
          <a:xfrm>
            <a:off x="685800" y="44348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vertex</a:t>
            </a:r>
            <a:endParaRPr lang="en-US" sz="1100" dirty="0"/>
          </a:p>
        </p:txBody>
      </p:sp>
      <p:sp>
        <p:nvSpPr>
          <p:cNvPr id="29" name="text-45"/>
          <p:cNvSpPr txBox="1"/>
          <p:nvPr/>
        </p:nvSpPr>
        <p:spPr>
          <a:xfrm>
            <a:off x="1280160" y="443484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station</a:t>
            </a:r>
            <a:endParaRPr lang="en-US" sz="1200" dirty="0"/>
          </a:p>
        </p:txBody>
      </p:sp>
      <p:sp>
        <p:nvSpPr>
          <p:cNvPr id="30" name="text-46"/>
          <p:cNvSpPr txBox="1"/>
          <p:nvPr/>
        </p:nvSpPr>
        <p:spPr>
          <a:xfrm>
            <a:off x="685800" y="47091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edge</a:t>
            </a:r>
            <a:endParaRPr lang="en-US" sz="1100" dirty="0"/>
          </a:p>
        </p:txBody>
      </p:sp>
      <p:sp>
        <p:nvSpPr>
          <p:cNvPr id="31" name="text-47"/>
          <p:cNvSpPr txBox="1"/>
          <p:nvPr/>
        </p:nvSpPr>
        <p:spPr>
          <a:xfrm>
            <a:off x="1280160" y="470916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track between stops</a:t>
            </a:r>
            <a:endParaRPr lang="en-US" sz="1200" dirty="0"/>
          </a:p>
        </p:txBody>
      </p:sp>
      <p:sp>
        <p:nvSpPr>
          <p:cNvPr id="32" name="text-48"/>
          <p:cNvSpPr txBox="1"/>
          <p:nvPr/>
        </p:nvSpPr>
        <p:spPr>
          <a:xfrm>
            <a:off x="685800" y="50292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tx1"/>
                </a:solidFill>
              </a:rPr>
              <a:t>Fewest stops from A to B?</a:t>
            </a:r>
            <a:endParaRPr lang="en-US" sz="1150" dirty="0"/>
          </a:p>
        </p:txBody>
      </p:sp>
      <p:sp>
        <p:nvSpPr>
          <p:cNvPr id="33" name="card-49"/>
          <p:cNvSpPr/>
          <p:nvPr/>
        </p:nvSpPr>
        <p:spPr>
          <a:xfrm>
            <a:off x="3355848" y="1737360"/>
            <a:ext cx="2624328" cy="3794760"/>
          </a:xfrm>
          <a:prstGeom prst="roundRect">
            <a:avLst>
              <a:gd name="adj" fmla="val 2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-50"/>
          <p:cNvSpPr txBox="1"/>
          <p:nvPr/>
        </p:nvSpPr>
        <p:spPr>
          <a:xfrm>
            <a:off x="3538728" y="190195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SOCIAL</a:t>
            </a:r>
            <a:endParaRPr lang="en-US" sz="1050" dirty="0"/>
          </a:p>
        </p:txBody>
      </p:sp>
      <p:sp>
        <p:nvSpPr>
          <p:cNvPr id="35" name="text-51"/>
          <p:cNvSpPr txBox="1"/>
          <p:nvPr/>
        </p:nvSpPr>
        <p:spPr>
          <a:xfrm>
            <a:off x="3538728" y="213969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Professional network</a:t>
            </a:r>
            <a:endParaRPr lang="en-US" sz="1400" dirty="0"/>
          </a:p>
        </p:txBody>
      </p:sp>
      <p:sp>
        <p:nvSpPr>
          <p:cNvPr id="36" name="card-52"/>
          <p:cNvSpPr/>
          <p:nvPr/>
        </p:nvSpPr>
        <p:spPr>
          <a:xfrm>
            <a:off x="3538728" y="2514600"/>
            <a:ext cx="2258568" cy="16002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edge-53"/>
          <p:cNvSpPr/>
          <p:nvPr/>
        </p:nvSpPr>
        <p:spPr>
          <a:xfrm flipV="1">
            <a:off x="3899796" y="2772116"/>
            <a:ext cx="237985" cy="7932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edge-54"/>
          <p:cNvSpPr/>
          <p:nvPr/>
        </p:nvSpPr>
        <p:spPr>
          <a:xfrm>
            <a:off x="3857455" y="2960293"/>
            <a:ext cx="139786" cy="25161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edge-55"/>
          <p:cNvSpPr/>
          <p:nvPr/>
        </p:nvSpPr>
        <p:spPr>
          <a:xfrm flipH="1">
            <a:off x="4070564" y="2829948"/>
            <a:ext cx="125048" cy="375145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edge-56"/>
          <p:cNvSpPr/>
          <p:nvPr/>
        </p:nvSpPr>
        <p:spPr>
          <a:xfrm flipH="1">
            <a:off x="3818050" y="3367923"/>
            <a:ext cx="172876" cy="259315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edge-57"/>
          <p:cNvSpPr/>
          <p:nvPr/>
        </p:nvSpPr>
        <p:spPr>
          <a:xfrm>
            <a:off x="4085434" y="3372115"/>
            <a:ext cx="186748" cy="34237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edge-58"/>
          <p:cNvSpPr/>
          <p:nvPr/>
        </p:nvSpPr>
        <p:spPr>
          <a:xfrm>
            <a:off x="3857524" y="3718353"/>
            <a:ext cx="368248" cy="61375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edge-59"/>
          <p:cNvSpPr/>
          <p:nvPr/>
        </p:nvSpPr>
        <p:spPr>
          <a:xfrm>
            <a:off x="4133088" y="3291840"/>
            <a:ext cx="594360" cy="91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edge-60"/>
          <p:cNvSpPr/>
          <p:nvPr/>
        </p:nvSpPr>
        <p:spPr>
          <a:xfrm flipV="1">
            <a:off x="4380626" y="3356498"/>
            <a:ext cx="373604" cy="37360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edge-61"/>
          <p:cNvSpPr/>
          <p:nvPr/>
        </p:nvSpPr>
        <p:spPr>
          <a:xfrm flipV="1">
            <a:off x="4886548" y="2896149"/>
            <a:ext cx="367600" cy="33418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edge-62"/>
          <p:cNvSpPr/>
          <p:nvPr/>
        </p:nvSpPr>
        <p:spPr>
          <a:xfrm>
            <a:off x="4909622" y="3303182"/>
            <a:ext cx="550052" cy="68757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edge-63"/>
          <p:cNvSpPr/>
          <p:nvPr/>
        </p:nvSpPr>
        <p:spPr>
          <a:xfrm>
            <a:off x="5356977" y="2919046"/>
            <a:ext cx="158262" cy="37982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edge-64"/>
          <p:cNvSpPr/>
          <p:nvPr/>
        </p:nvSpPr>
        <p:spPr>
          <a:xfrm flipH="1">
            <a:off x="5282805" y="3458191"/>
            <a:ext cx="215165" cy="307379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edge-65"/>
          <p:cNvSpPr/>
          <p:nvPr/>
        </p:nvSpPr>
        <p:spPr>
          <a:xfrm>
            <a:off x="5321249" y="3850578"/>
            <a:ext cx="229719" cy="2552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edge-66"/>
          <p:cNvSpPr/>
          <p:nvPr/>
        </p:nvSpPr>
        <p:spPr>
          <a:xfrm>
            <a:off x="5566765" y="3473245"/>
            <a:ext cx="58725" cy="32299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edge-67"/>
          <p:cNvSpPr/>
          <p:nvPr/>
        </p:nvSpPr>
        <p:spPr>
          <a:xfrm>
            <a:off x="4873752" y="3364992"/>
            <a:ext cx="301752" cy="402336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vertex-68"/>
          <p:cNvSpPr/>
          <p:nvPr/>
        </p:nvSpPr>
        <p:spPr>
          <a:xfrm>
            <a:off x="3721608" y="278892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3" name="vertex-69"/>
          <p:cNvSpPr/>
          <p:nvPr/>
        </p:nvSpPr>
        <p:spPr>
          <a:xfrm>
            <a:off x="4133088" y="265176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4" name="vertex-70"/>
          <p:cNvSpPr/>
          <p:nvPr/>
        </p:nvSpPr>
        <p:spPr>
          <a:xfrm>
            <a:off x="3950208" y="320040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5" name="vertex-71"/>
          <p:cNvSpPr/>
          <p:nvPr/>
        </p:nvSpPr>
        <p:spPr>
          <a:xfrm>
            <a:off x="3675888" y="361188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6" name="vertex-72"/>
          <p:cNvSpPr/>
          <p:nvPr/>
        </p:nvSpPr>
        <p:spPr>
          <a:xfrm>
            <a:off x="4224528" y="370332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7" name="vertex-73"/>
          <p:cNvSpPr/>
          <p:nvPr/>
        </p:nvSpPr>
        <p:spPr>
          <a:xfrm>
            <a:off x="4727448" y="320040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8" name="vertex-74"/>
          <p:cNvSpPr/>
          <p:nvPr/>
        </p:nvSpPr>
        <p:spPr>
          <a:xfrm>
            <a:off x="5230368" y="274320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9" name="vertex-75"/>
          <p:cNvSpPr/>
          <p:nvPr/>
        </p:nvSpPr>
        <p:spPr>
          <a:xfrm>
            <a:off x="5458968" y="329184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0" name="vertex-76"/>
          <p:cNvSpPr/>
          <p:nvPr/>
        </p:nvSpPr>
        <p:spPr>
          <a:xfrm>
            <a:off x="5138928" y="374904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1" name="vertex-77"/>
          <p:cNvSpPr/>
          <p:nvPr/>
        </p:nvSpPr>
        <p:spPr>
          <a:xfrm>
            <a:off x="5550408" y="379476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2" name="text-78"/>
          <p:cNvSpPr txBox="1"/>
          <p:nvPr/>
        </p:nvSpPr>
        <p:spPr>
          <a:xfrm>
            <a:off x="3538728" y="4160520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e.g. LinkedIn</a:t>
            </a:r>
            <a:endParaRPr lang="en-US" sz="1000" dirty="0"/>
          </a:p>
        </p:txBody>
      </p:sp>
      <p:sp>
        <p:nvSpPr>
          <p:cNvPr id="63" name="text-79"/>
          <p:cNvSpPr txBox="1"/>
          <p:nvPr/>
        </p:nvSpPr>
        <p:spPr>
          <a:xfrm>
            <a:off x="3538728" y="44348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vertex</a:t>
            </a:r>
            <a:endParaRPr lang="en-US" sz="1100" dirty="0"/>
          </a:p>
        </p:txBody>
      </p:sp>
      <p:sp>
        <p:nvSpPr>
          <p:cNvPr id="64" name="text-80"/>
          <p:cNvSpPr txBox="1"/>
          <p:nvPr/>
        </p:nvSpPr>
        <p:spPr>
          <a:xfrm>
            <a:off x="4133088" y="443484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</a:t>
            </a:r>
            <a:endParaRPr lang="en-US" sz="1200" dirty="0"/>
          </a:p>
        </p:txBody>
      </p:sp>
      <p:sp>
        <p:nvSpPr>
          <p:cNvPr id="65" name="text-81"/>
          <p:cNvSpPr txBox="1"/>
          <p:nvPr/>
        </p:nvSpPr>
        <p:spPr>
          <a:xfrm>
            <a:off x="3538728" y="47091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edge</a:t>
            </a:r>
            <a:endParaRPr lang="en-US" sz="1100" dirty="0"/>
          </a:p>
        </p:txBody>
      </p:sp>
      <p:sp>
        <p:nvSpPr>
          <p:cNvPr id="66" name="text-82"/>
          <p:cNvSpPr txBox="1"/>
          <p:nvPr/>
        </p:nvSpPr>
        <p:spPr>
          <a:xfrm>
            <a:off x="4133088" y="470916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connection</a:t>
            </a:r>
            <a:endParaRPr lang="en-US" sz="1200" dirty="0"/>
          </a:p>
        </p:txBody>
      </p:sp>
      <p:sp>
        <p:nvSpPr>
          <p:cNvPr id="67" name="text-83"/>
          <p:cNvSpPr txBox="1"/>
          <p:nvPr/>
        </p:nvSpPr>
        <p:spPr>
          <a:xfrm>
            <a:off x="3538728" y="50292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tx1"/>
                </a:solidFill>
              </a:rPr>
              <a:t>Who is within 2 hops of me?</a:t>
            </a:r>
            <a:endParaRPr lang="en-US" sz="1150" dirty="0"/>
          </a:p>
        </p:txBody>
      </p:sp>
      <p:sp>
        <p:nvSpPr>
          <p:cNvPr id="68" name="card-84"/>
          <p:cNvSpPr/>
          <p:nvPr/>
        </p:nvSpPr>
        <p:spPr>
          <a:xfrm>
            <a:off x="6208776" y="1737360"/>
            <a:ext cx="2624328" cy="3794760"/>
          </a:xfrm>
          <a:prstGeom prst="roundRect">
            <a:avLst>
              <a:gd name="adj" fmla="val 2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-85"/>
          <p:cNvSpPr txBox="1"/>
          <p:nvPr/>
        </p:nvSpPr>
        <p:spPr>
          <a:xfrm>
            <a:off x="6391656" y="190195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SOCIAL MEDIA</a:t>
            </a:r>
            <a:endParaRPr lang="en-US" sz="1050" dirty="0"/>
          </a:p>
        </p:txBody>
      </p:sp>
      <p:sp>
        <p:nvSpPr>
          <p:cNvPr id="70" name="text-86"/>
          <p:cNvSpPr txBox="1"/>
          <p:nvPr/>
        </p:nvSpPr>
        <p:spPr>
          <a:xfrm>
            <a:off x="6391656" y="213969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Follower network</a:t>
            </a:r>
            <a:endParaRPr lang="en-US" sz="1400" dirty="0"/>
          </a:p>
        </p:txBody>
      </p:sp>
      <p:sp>
        <p:nvSpPr>
          <p:cNvPr id="71" name="card-87"/>
          <p:cNvSpPr/>
          <p:nvPr/>
        </p:nvSpPr>
        <p:spPr>
          <a:xfrm>
            <a:off x="6391656" y="2514600"/>
            <a:ext cx="2258568" cy="16002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edge-88"/>
          <p:cNvSpPr/>
          <p:nvPr/>
        </p:nvSpPr>
        <p:spPr>
          <a:xfrm>
            <a:off x="6789720" y="2836601"/>
            <a:ext cx="573283" cy="3503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edge-89"/>
          <p:cNvSpPr/>
          <p:nvPr/>
        </p:nvSpPr>
        <p:spPr>
          <a:xfrm flipV="1">
            <a:off x="6708966" y="3340630"/>
            <a:ext cx="630529" cy="15763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4" name="edge-90"/>
          <p:cNvSpPr/>
          <p:nvPr/>
        </p:nvSpPr>
        <p:spPr>
          <a:xfrm flipV="1">
            <a:off x="7090801" y="3445409"/>
            <a:ext cx="313912" cy="370987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edge-91"/>
          <p:cNvSpPr/>
          <p:nvPr/>
        </p:nvSpPr>
        <p:spPr>
          <a:xfrm flipH="1" flipV="1">
            <a:off x="7676903" y="3434087"/>
            <a:ext cx="387455" cy="387455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6" name="edge-92"/>
          <p:cNvSpPr/>
          <p:nvPr/>
        </p:nvSpPr>
        <p:spPr>
          <a:xfrm flipH="1">
            <a:off x="7735824" y="3291840"/>
            <a:ext cx="621792" cy="91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edge-93"/>
          <p:cNvSpPr/>
          <p:nvPr/>
        </p:nvSpPr>
        <p:spPr>
          <a:xfrm flipV="1">
            <a:off x="7578008" y="2794092"/>
            <a:ext cx="224666" cy="417237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8" name="edge-94"/>
          <p:cNvSpPr/>
          <p:nvPr/>
        </p:nvSpPr>
        <p:spPr>
          <a:xfrm flipH="1">
            <a:off x="7630030" y="2777990"/>
            <a:ext cx="181315" cy="336727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edge-95"/>
          <p:cNvSpPr/>
          <p:nvPr/>
        </p:nvSpPr>
        <p:spPr>
          <a:xfrm flipH="1">
            <a:off x="6633866" y="2879654"/>
            <a:ext cx="66488" cy="531905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0" name="edge-96"/>
          <p:cNvSpPr/>
          <p:nvPr/>
        </p:nvSpPr>
        <p:spPr>
          <a:xfrm flipV="1">
            <a:off x="8172368" y="3388452"/>
            <a:ext cx="224666" cy="417237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vertex-97"/>
          <p:cNvSpPr/>
          <p:nvPr/>
        </p:nvSpPr>
        <p:spPr>
          <a:xfrm>
            <a:off x="7351776" y="310896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2" name="vertex-98"/>
          <p:cNvSpPr/>
          <p:nvPr/>
        </p:nvSpPr>
        <p:spPr>
          <a:xfrm>
            <a:off x="6620256" y="269748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3" name="vertex-99"/>
          <p:cNvSpPr/>
          <p:nvPr/>
        </p:nvSpPr>
        <p:spPr>
          <a:xfrm>
            <a:off x="6528816" y="342900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4" name="vertex-100"/>
          <p:cNvSpPr/>
          <p:nvPr/>
        </p:nvSpPr>
        <p:spPr>
          <a:xfrm>
            <a:off x="6940296" y="379476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5" name="vertex-101"/>
          <p:cNvSpPr/>
          <p:nvPr/>
        </p:nvSpPr>
        <p:spPr>
          <a:xfrm>
            <a:off x="8037576" y="379476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6" name="vertex-102"/>
          <p:cNvSpPr/>
          <p:nvPr/>
        </p:nvSpPr>
        <p:spPr>
          <a:xfrm>
            <a:off x="8357616" y="320040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7" name="vertex-103"/>
          <p:cNvSpPr/>
          <p:nvPr/>
        </p:nvSpPr>
        <p:spPr>
          <a:xfrm>
            <a:off x="7763256" y="2606040"/>
            <a:ext cx="182880" cy="18288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8" name="text-104"/>
          <p:cNvSpPr txBox="1"/>
          <p:nvPr/>
        </p:nvSpPr>
        <p:spPr>
          <a:xfrm>
            <a:off x="6391656" y="4160520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e.g. Twitter / X</a:t>
            </a:r>
            <a:endParaRPr lang="en-US" sz="1000" dirty="0"/>
          </a:p>
        </p:txBody>
      </p:sp>
      <p:sp>
        <p:nvSpPr>
          <p:cNvPr id="89" name="text-105"/>
          <p:cNvSpPr txBox="1"/>
          <p:nvPr/>
        </p:nvSpPr>
        <p:spPr>
          <a:xfrm>
            <a:off x="6391656" y="44348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vertex</a:t>
            </a:r>
            <a:endParaRPr lang="en-US" sz="1100" dirty="0"/>
          </a:p>
        </p:txBody>
      </p:sp>
      <p:sp>
        <p:nvSpPr>
          <p:cNvPr id="90" name="text-106"/>
          <p:cNvSpPr txBox="1"/>
          <p:nvPr/>
        </p:nvSpPr>
        <p:spPr>
          <a:xfrm>
            <a:off x="6986016" y="443484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account</a:t>
            </a:r>
            <a:endParaRPr lang="en-US" sz="1200" dirty="0"/>
          </a:p>
        </p:txBody>
      </p:sp>
      <p:sp>
        <p:nvSpPr>
          <p:cNvPr id="91" name="text-107"/>
          <p:cNvSpPr txBox="1"/>
          <p:nvPr/>
        </p:nvSpPr>
        <p:spPr>
          <a:xfrm>
            <a:off x="6391656" y="47091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edge</a:t>
            </a:r>
            <a:endParaRPr lang="en-US" sz="1100" dirty="0"/>
          </a:p>
        </p:txBody>
      </p:sp>
      <p:sp>
        <p:nvSpPr>
          <p:cNvPr id="92" name="text-108"/>
          <p:cNvSpPr txBox="1"/>
          <p:nvPr/>
        </p:nvSpPr>
        <p:spPr>
          <a:xfrm>
            <a:off x="6986016" y="470916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 follows B  (one-way)</a:t>
            </a:r>
            <a:endParaRPr lang="en-US" sz="1200" dirty="0"/>
          </a:p>
        </p:txBody>
      </p:sp>
      <p:sp>
        <p:nvSpPr>
          <p:cNvPr id="93" name="text-109"/>
          <p:cNvSpPr txBox="1"/>
          <p:nvPr/>
        </p:nvSpPr>
        <p:spPr>
          <a:xfrm>
            <a:off x="6391656" y="50292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tx1"/>
                </a:solidFill>
              </a:rPr>
              <a:t>Which accounts are most influential?</a:t>
            </a:r>
            <a:endParaRPr lang="en-US" sz="1150" dirty="0"/>
          </a:p>
        </p:txBody>
      </p:sp>
      <p:sp>
        <p:nvSpPr>
          <p:cNvPr id="94" name="card-110"/>
          <p:cNvSpPr/>
          <p:nvPr/>
        </p:nvSpPr>
        <p:spPr>
          <a:xfrm>
            <a:off x="9061704" y="1737360"/>
            <a:ext cx="2624328" cy="3794760"/>
          </a:xfrm>
          <a:prstGeom prst="roundRect">
            <a:avLst>
              <a:gd name="adj" fmla="val 2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-111"/>
          <p:cNvSpPr txBox="1"/>
          <p:nvPr/>
        </p:nvSpPr>
        <p:spPr>
          <a:xfrm>
            <a:off x="9244584" y="190195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BIOLOGY</a:t>
            </a:r>
            <a:endParaRPr lang="en-US" sz="1050" dirty="0"/>
          </a:p>
        </p:txBody>
      </p:sp>
      <p:sp>
        <p:nvSpPr>
          <p:cNvPr id="96" name="text-112"/>
          <p:cNvSpPr txBox="1"/>
          <p:nvPr/>
        </p:nvSpPr>
        <p:spPr>
          <a:xfrm>
            <a:off x="9244584" y="213969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Protein interactions</a:t>
            </a:r>
            <a:endParaRPr lang="en-US" sz="1400" dirty="0"/>
          </a:p>
        </p:txBody>
      </p:sp>
      <p:sp>
        <p:nvSpPr>
          <p:cNvPr id="97" name="card-113"/>
          <p:cNvSpPr/>
          <p:nvPr/>
        </p:nvSpPr>
        <p:spPr>
          <a:xfrm>
            <a:off x="9244584" y="2514600"/>
            <a:ext cx="2258568" cy="16002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edge-114"/>
          <p:cNvSpPr/>
          <p:nvPr/>
        </p:nvSpPr>
        <p:spPr>
          <a:xfrm flipH="1" flipV="1">
            <a:off x="9589675" y="2892543"/>
            <a:ext cx="361379" cy="295673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edge-115"/>
          <p:cNvSpPr/>
          <p:nvPr/>
        </p:nvSpPr>
        <p:spPr>
          <a:xfrm flipH="1">
            <a:off x="9561894" y="3268297"/>
            <a:ext cx="371220" cy="92805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edge-116"/>
          <p:cNvSpPr/>
          <p:nvPr/>
        </p:nvSpPr>
        <p:spPr>
          <a:xfrm flipH="1">
            <a:off x="9785823" y="3329144"/>
            <a:ext cx="197683" cy="42831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edge-117"/>
          <p:cNvSpPr/>
          <p:nvPr/>
        </p:nvSpPr>
        <p:spPr>
          <a:xfrm flipV="1">
            <a:off x="10050740" y="2784228"/>
            <a:ext cx="125048" cy="375145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edge-118"/>
          <p:cNvSpPr/>
          <p:nvPr/>
        </p:nvSpPr>
        <p:spPr>
          <a:xfrm>
            <a:off x="10054649" y="3331465"/>
            <a:ext cx="162950" cy="42367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edge-119"/>
          <p:cNvSpPr/>
          <p:nvPr/>
        </p:nvSpPr>
        <p:spPr>
          <a:xfrm>
            <a:off x="10111488" y="3264053"/>
            <a:ext cx="672306" cy="134461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edge-120"/>
          <p:cNvSpPr/>
          <p:nvPr/>
        </p:nvSpPr>
        <p:spPr>
          <a:xfrm flipV="1">
            <a:off x="11000882" y="3036458"/>
            <a:ext cx="327884" cy="32788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edge-121"/>
          <p:cNvSpPr/>
          <p:nvPr/>
        </p:nvSpPr>
        <p:spPr>
          <a:xfrm>
            <a:off x="11016499" y="3472786"/>
            <a:ext cx="342370" cy="18674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edge-122"/>
          <p:cNvSpPr/>
          <p:nvPr/>
        </p:nvSpPr>
        <p:spPr>
          <a:xfrm flipH="1" flipV="1">
            <a:off x="10857716" y="2879441"/>
            <a:ext cx="65577" cy="45903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edge-123"/>
          <p:cNvSpPr/>
          <p:nvPr/>
        </p:nvSpPr>
        <p:spPr>
          <a:xfrm flipH="1">
            <a:off x="10859817" y="3519196"/>
            <a:ext cx="61375" cy="36824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edge-124"/>
          <p:cNvSpPr/>
          <p:nvPr/>
        </p:nvSpPr>
        <p:spPr>
          <a:xfrm>
            <a:off x="10339522" y="3861041"/>
            <a:ext cx="416163" cy="9603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vertex-125"/>
          <p:cNvSpPr/>
          <p:nvPr/>
        </p:nvSpPr>
        <p:spPr>
          <a:xfrm>
            <a:off x="9866376" y="309067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0" name="vertex-126"/>
          <p:cNvSpPr/>
          <p:nvPr/>
        </p:nvSpPr>
        <p:spPr>
          <a:xfrm>
            <a:off x="10780776" y="327355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1" name="vertex-127"/>
          <p:cNvSpPr/>
          <p:nvPr/>
        </p:nvSpPr>
        <p:spPr>
          <a:xfrm>
            <a:off x="9427464" y="2743200"/>
            <a:ext cx="182880" cy="18288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2" name="vertex-128"/>
          <p:cNvSpPr/>
          <p:nvPr/>
        </p:nvSpPr>
        <p:spPr>
          <a:xfrm>
            <a:off x="9381744" y="3291840"/>
            <a:ext cx="182880" cy="18288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3" name="vertex-129"/>
          <p:cNvSpPr/>
          <p:nvPr/>
        </p:nvSpPr>
        <p:spPr>
          <a:xfrm>
            <a:off x="9656064" y="3749040"/>
            <a:ext cx="182880" cy="18288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4" name="vertex-130"/>
          <p:cNvSpPr/>
          <p:nvPr/>
        </p:nvSpPr>
        <p:spPr>
          <a:xfrm>
            <a:off x="10113264" y="2606040"/>
            <a:ext cx="182880" cy="18288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5" name="vertex-131"/>
          <p:cNvSpPr/>
          <p:nvPr/>
        </p:nvSpPr>
        <p:spPr>
          <a:xfrm>
            <a:off x="10158984" y="3749040"/>
            <a:ext cx="182880" cy="18288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6" name="vertex-132"/>
          <p:cNvSpPr/>
          <p:nvPr/>
        </p:nvSpPr>
        <p:spPr>
          <a:xfrm>
            <a:off x="11301984" y="2880360"/>
            <a:ext cx="182880" cy="18288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7" name="vertex-133"/>
          <p:cNvSpPr/>
          <p:nvPr/>
        </p:nvSpPr>
        <p:spPr>
          <a:xfrm>
            <a:off x="11347704" y="3611880"/>
            <a:ext cx="182880" cy="18288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8" name="vertex-134"/>
          <p:cNvSpPr/>
          <p:nvPr/>
        </p:nvSpPr>
        <p:spPr>
          <a:xfrm>
            <a:off x="10753344" y="2697480"/>
            <a:ext cx="182880" cy="18288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9" name="vertex-135"/>
          <p:cNvSpPr/>
          <p:nvPr/>
        </p:nvSpPr>
        <p:spPr>
          <a:xfrm>
            <a:off x="10753344" y="3886200"/>
            <a:ext cx="182880" cy="18288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0" name="text-136"/>
          <p:cNvSpPr txBox="1"/>
          <p:nvPr/>
        </p:nvSpPr>
        <p:spPr>
          <a:xfrm>
            <a:off x="9244584" y="4160520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e.g. yeast cells</a:t>
            </a:r>
            <a:endParaRPr lang="en-US" sz="1000" dirty="0"/>
          </a:p>
        </p:txBody>
      </p:sp>
      <p:sp>
        <p:nvSpPr>
          <p:cNvPr id="121" name="text-137"/>
          <p:cNvSpPr txBox="1"/>
          <p:nvPr/>
        </p:nvSpPr>
        <p:spPr>
          <a:xfrm>
            <a:off x="9244584" y="44348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vertex</a:t>
            </a:r>
            <a:endParaRPr lang="en-US" sz="1100" dirty="0"/>
          </a:p>
        </p:txBody>
      </p:sp>
      <p:sp>
        <p:nvSpPr>
          <p:cNvPr id="122" name="text-138"/>
          <p:cNvSpPr txBox="1"/>
          <p:nvPr/>
        </p:nvSpPr>
        <p:spPr>
          <a:xfrm>
            <a:off x="9838944" y="443484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protein</a:t>
            </a:r>
            <a:endParaRPr lang="en-US" sz="1200" dirty="0"/>
          </a:p>
        </p:txBody>
      </p:sp>
      <p:sp>
        <p:nvSpPr>
          <p:cNvPr id="123" name="text-139"/>
          <p:cNvSpPr txBox="1"/>
          <p:nvPr/>
        </p:nvSpPr>
        <p:spPr>
          <a:xfrm>
            <a:off x="9244584" y="47091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edge</a:t>
            </a:r>
            <a:endParaRPr lang="en-US" sz="1100" dirty="0"/>
          </a:p>
        </p:txBody>
      </p:sp>
      <p:sp>
        <p:nvSpPr>
          <p:cNvPr id="124" name="text-140"/>
          <p:cNvSpPr txBox="1"/>
          <p:nvPr/>
        </p:nvSpPr>
        <p:spPr>
          <a:xfrm>
            <a:off x="9838944" y="470916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proteins bind</a:t>
            </a:r>
            <a:endParaRPr lang="en-US" sz="1200" dirty="0"/>
          </a:p>
        </p:txBody>
      </p:sp>
      <p:sp>
        <p:nvSpPr>
          <p:cNvPr id="125" name="text-141"/>
          <p:cNvSpPr txBox="1"/>
          <p:nvPr/>
        </p:nvSpPr>
        <p:spPr>
          <a:xfrm>
            <a:off x="9244584" y="50292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tx1"/>
                </a:solidFill>
              </a:rPr>
              <a:t>Which proteins are central hubs?</a:t>
            </a:r>
            <a:endParaRPr lang="en-US" sz="1150" dirty="0"/>
          </a:p>
        </p:txBody>
      </p:sp>
      <p:sp>
        <p:nvSpPr>
          <p:cNvPr id="126" name="card-142"/>
          <p:cNvSpPr/>
          <p:nvPr/>
        </p:nvSpPr>
        <p:spPr>
          <a:xfrm>
            <a:off x="502920" y="576072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-143"/>
          <p:cNvSpPr txBox="1"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Notice: </a:t>
            </a:r>
            <a:r>
              <a:rPr lang="en-US" sz="1350" dirty="0">
                <a:solidFill>
                  <a:schemeClr val="tx1"/>
                </a:solidFill>
              </a:rPr>
              <a:t>subway tracks and LinkedIn connections go both ways, but “A follows B” does not. Hold that thought.</a:t>
            </a:r>
            <a:endParaRPr lang="en-US" sz="1350" dirty="0"/>
          </a:p>
        </p:txBody>
      </p:sp>
      <p:sp>
        <p:nvSpPr>
          <p:cNvPr id="1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One Model, Many Domains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Modeling a problem as a graph means deciding what a vertex is and what an edge is.</a:t>
            </a:r>
            <a:endParaRPr lang="en-US" sz="1350" dirty="0"/>
          </a:p>
        </p:txBody>
      </p:sp>
      <p:graphicFrame>
        <p:nvGraphicFramePr>
          <p:cNvPr id="5" name="application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7223760" cy="380390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intersection, station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street,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friendship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infectious 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placed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stock, currency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move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protein–protein interaction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synapse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gate, register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card-144"/>
          <p:cNvSpPr/>
          <p:nvPr/>
        </p:nvSpPr>
        <p:spPr>
          <a:xfrm>
            <a:off x="8001000" y="1691640"/>
            <a:ext cx="3685032" cy="3822192"/>
          </a:xfrm>
          <a:prstGeom prst="roundRect">
            <a:avLst>
              <a:gd name="adj" fmla="val 14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-145"/>
          <p:cNvSpPr txBox="1"/>
          <p:nvPr/>
        </p:nvSpPr>
        <p:spPr>
          <a:xfrm>
            <a:off x="8183880" y="18470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SAME ALGORITHMS, DIFFERENT QUESTIONS</a:t>
            </a:r>
            <a:endParaRPr lang="en-US" sz="1050" dirty="0"/>
          </a:p>
        </p:txBody>
      </p:sp>
      <p:sp>
        <p:nvSpPr>
          <p:cNvPr id="8" name="card-146"/>
          <p:cNvSpPr/>
          <p:nvPr/>
        </p:nvSpPr>
        <p:spPr>
          <a:xfrm>
            <a:off x="8183880" y="2240280"/>
            <a:ext cx="3319272" cy="676656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-147"/>
          <p:cNvSpPr txBox="1"/>
          <p:nvPr/>
        </p:nvSpPr>
        <p:spPr>
          <a:xfrm>
            <a:off x="8339328" y="23134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Transportation</a:t>
            </a:r>
            <a:endParaRPr lang="en-US" sz="1200" dirty="0"/>
          </a:p>
        </p:txBody>
      </p:sp>
      <p:sp>
        <p:nvSpPr>
          <p:cNvPr id="10" name="text-148"/>
          <p:cNvSpPr txBox="1"/>
          <p:nvPr/>
        </p:nvSpPr>
        <p:spPr>
          <a:xfrm>
            <a:off x="8339328" y="25694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Shortest route from home to campus?</a:t>
            </a:r>
            <a:endParaRPr lang="en-US" sz="1200" dirty="0"/>
          </a:p>
        </p:txBody>
      </p:sp>
      <p:sp>
        <p:nvSpPr>
          <p:cNvPr id="11" name="card-149"/>
          <p:cNvSpPr/>
          <p:nvPr/>
        </p:nvSpPr>
        <p:spPr>
          <a:xfrm>
            <a:off x="8183880" y="3026664"/>
            <a:ext cx="3319272" cy="676656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-150"/>
          <p:cNvSpPr txBox="1"/>
          <p:nvPr/>
        </p:nvSpPr>
        <p:spPr>
          <a:xfrm>
            <a:off x="8339328" y="30998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Disease</a:t>
            </a:r>
            <a:endParaRPr lang="en-US" sz="1200" dirty="0"/>
          </a:p>
        </p:txBody>
      </p:sp>
      <p:sp>
        <p:nvSpPr>
          <p:cNvPr id="13" name="text-151"/>
          <p:cNvSpPr txBox="1"/>
          <p:nvPr/>
        </p:nvSpPr>
        <p:spPr>
          <a:xfrm>
            <a:off x="8339328" y="33558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If Ana is infected, who could catch it?</a:t>
            </a:r>
            <a:endParaRPr lang="en-US" sz="1200" dirty="0"/>
          </a:p>
        </p:txBody>
      </p:sp>
      <p:sp>
        <p:nvSpPr>
          <p:cNvPr id="14" name="card-152"/>
          <p:cNvSpPr/>
          <p:nvPr/>
        </p:nvSpPr>
        <p:spPr>
          <a:xfrm>
            <a:off x="8183880" y="3813048"/>
            <a:ext cx="3319272" cy="676656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-153"/>
          <p:cNvSpPr txBox="1"/>
          <p:nvPr/>
        </p:nvSpPr>
        <p:spPr>
          <a:xfrm>
            <a:off x="8339328" y="38862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Web</a:t>
            </a:r>
            <a:endParaRPr lang="en-US" sz="1200" dirty="0"/>
          </a:p>
        </p:txBody>
      </p:sp>
      <p:sp>
        <p:nvSpPr>
          <p:cNvPr id="16" name="text-154"/>
          <p:cNvSpPr txBox="1"/>
          <p:nvPr/>
        </p:nvSpPr>
        <p:spPr>
          <a:xfrm>
            <a:off x="8339328" y="4142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Which pages matter most? (PageRank)</a:t>
            </a:r>
            <a:endParaRPr lang="en-US" sz="1200" dirty="0"/>
          </a:p>
        </p:txBody>
      </p:sp>
      <p:sp>
        <p:nvSpPr>
          <p:cNvPr id="17" name="card-155"/>
          <p:cNvSpPr/>
          <p:nvPr/>
        </p:nvSpPr>
        <p:spPr>
          <a:xfrm>
            <a:off x="8183880" y="4599432"/>
            <a:ext cx="3319272" cy="676656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-156"/>
          <p:cNvSpPr txBox="1"/>
          <p:nvPr/>
        </p:nvSpPr>
        <p:spPr>
          <a:xfrm>
            <a:off x="8339328" y="46725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Game</a:t>
            </a:r>
            <a:endParaRPr lang="en-US" sz="1200" dirty="0"/>
          </a:p>
        </p:txBody>
      </p:sp>
      <p:sp>
        <p:nvSpPr>
          <p:cNvPr id="19" name="text-157"/>
          <p:cNvSpPr txBox="1"/>
          <p:nvPr/>
        </p:nvSpPr>
        <p:spPr>
          <a:xfrm>
            <a:off x="8339328" y="49286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Can I reach a winning position from here?</a:t>
            </a:r>
            <a:endParaRPr lang="en-US" sz="1200" dirty="0"/>
          </a:p>
        </p:txBody>
      </p:sp>
      <p:sp>
        <p:nvSpPr>
          <p:cNvPr id="20" name="card-158"/>
          <p:cNvSpPr/>
          <p:nvPr/>
        </p:nvSpPr>
        <p:spPr>
          <a:xfrm>
            <a:off x="502920" y="576072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-159"/>
          <p:cNvSpPr txBox="1"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Model once, solve everywhere: </a:t>
            </a:r>
            <a:r>
              <a:rPr lang="en-US" sz="1350" dirty="0">
                <a:solidFill>
                  <a:schemeClr val="tx1"/>
                </a:solidFill>
              </a:rPr>
              <a:t>one shortest-path algorithm answers the transit, disease and game questions alike.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TERMINOLOGY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Undirected Graphs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Edges have no direction: if v is connected to w, then w is connected to v.</a:t>
            </a:r>
            <a:endParaRPr lang="en-US" sz="1350" dirty="0"/>
          </a:p>
        </p:txBody>
      </p:sp>
      <p:sp>
        <p:nvSpPr>
          <p:cNvPr id="5" name="card-160"/>
          <p:cNvSpPr/>
          <p:nvPr/>
        </p:nvSpPr>
        <p:spPr>
          <a:xfrm>
            <a:off x="502920" y="1691640"/>
            <a:ext cx="562356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dge-161"/>
          <p:cNvSpPr/>
          <p:nvPr/>
        </p:nvSpPr>
        <p:spPr>
          <a:xfrm flipV="1">
            <a:off x="1453338" y="2301636"/>
            <a:ext cx="842363" cy="60169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dge-162"/>
          <p:cNvSpPr/>
          <p:nvPr/>
        </p:nvSpPr>
        <p:spPr>
          <a:xfrm flipH="1">
            <a:off x="1898096" y="2472902"/>
            <a:ext cx="501487" cy="814917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163"/>
          <p:cNvSpPr/>
          <p:nvPr/>
        </p:nvSpPr>
        <p:spPr>
          <a:xfrm flipH="1" flipV="1">
            <a:off x="1332584" y="2573727"/>
            <a:ext cx="352353" cy="704705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164"/>
          <p:cNvSpPr/>
          <p:nvPr/>
        </p:nvSpPr>
        <p:spPr>
          <a:xfrm>
            <a:off x="2690165" y="2417674"/>
            <a:ext cx="746150" cy="559613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165"/>
          <p:cNvSpPr/>
          <p:nvPr/>
        </p:nvSpPr>
        <p:spPr>
          <a:xfrm flipH="1">
            <a:off x="1399691" y="3681391"/>
            <a:ext cx="309578" cy="86681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166"/>
          <p:cNvSpPr/>
          <p:nvPr/>
        </p:nvSpPr>
        <p:spPr>
          <a:xfrm>
            <a:off x="1544909" y="4768569"/>
            <a:ext cx="1024983" cy="64061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dge-167"/>
          <p:cNvSpPr/>
          <p:nvPr/>
        </p:nvSpPr>
        <p:spPr>
          <a:xfrm flipV="1">
            <a:off x="2882866" y="3307291"/>
            <a:ext cx="635068" cy="1340699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dge-168"/>
          <p:cNvSpPr/>
          <p:nvPr/>
        </p:nvSpPr>
        <p:spPr>
          <a:xfrm>
            <a:off x="3689711" y="3314151"/>
            <a:ext cx="347258" cy="915498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edge-169"/>
          <p:cNvSpPr/>
          <p:nvPr/>
        </p:nvSpPr>
        <p:spPr>
          <a:xfrm>
            <a:off x="5044888" y="2608044"/>
            <a:ext cx="380104" cy="178873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dge-170"/>
          <p:cNvSpPr/>
          <p:nvPr/>
        </p:nvSpPr>
        <p:spPr>
          <a:xfrm flipH="1">
            <a:off x="5201477" y="3059648"/>
            <a:ext cx="295527" cy="418663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vertex-171"/>
          <p:cNvSpPr/>
          <p:nvPr/>
        </p:nvSpPr>
        <p:spPr>
          <a:xfrm>
            <a:off x="1014984" y="215798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vertex-172"/>
          <p:cNvSpPr/>
          <p:nvPr/>
        </p:nvSpPr>
        <p:spPr>
          <a:xfrm>
            <a:off x="2295144" y="2066544"/>
            <a:ext cx="438912" cy="438912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vertex-173"/>
          <p:cNvSpPr/>
          <p:nvPr/>
        </p:nvSpPr>
        <p:spPr>
          <a:xfrm>
            <a:off x="1563624" y="325526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vertex-174"/>
          <p:cNvSpPr/>
          <p:nvPr/>
        </p:nvSpPr>
        <p:spPr>
          <a:xfrm>
            <a:off x="3392424" y="288950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vertex-175"/>
          <p:cNvSpPr/>
          <p:nvPr/>
        </p:nvSpPr>
        <p:spPr>
          <a:xfrm>
            <a:off x="1106424" y="453542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vertex-176"/>
          <p:cNvSpPr/>
          <p:nvPr/>
        </p:nvSpPr>
        <p:spPr>
          <a:xfrm>
            <a:off x="2569464" y="462686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vertex-177"/>
          <p:cNvSpPr/>
          <p:nvPr/>
        </p:nvSpPr>
        <p:spPr>
          <a:xfrm>
            <a:off x="3895344" y="421538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vertex-178"/>
          <p:cNvSpPr/>
          <p:nvPr/>
        </p:nvSpPr>
        <p:spPr>
          <a:xfrm>
            <a:off x="4626864" y="229514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vertex-179"/>
          <p:cNvSpPr/>
          <p:nvPr/>
        </p:nvSpPr>
        <p:spPr>
          <a:xfrm>
            <a:off x="5404104" y="266090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25" name="vertex-180"/>
          <p:cNvSpPr/>
          <p:nvPr/>
        </p:nvSpPr>
        <p:spPr>
          <a:xfrm>
            <a:off x="4855464" y="343814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26" name="component-2"/>
          <p:cNvSpPr/>
          <p:nvPr/>
        </p:nvSpPr>
        <p:spPr>
          <a:xfrm>
            <a:off x="4434840" y="2103120"/>
            <a:ext cx="1508760" cy="205740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edge-181"/>
          <p:cNvSpPr/>
          <p:nvPr/>
        </p:nvSpPr>
        <p:spPr>
          <a:xfrm>
            <a:off x="5044888" y="2608044"/>
            <a:ext cx="380104" cy="178873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edge-182"/>
          <p:cNvSpPr/>
          <p:nvPr/>
        </p:nvSpPr>
        <p:spPr>
          <a:xfrm flipH="1">
            <a:off x="5201477" y="3059648"/>
            <a:ext cx="295527" cy="418663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vertex-183"/>
          <p:cNvSpPr/>
          <p:nvPr/>
        </p:nvSpPr>
        <p:spPr>
          <a:xfrm>
            <a:off x="4626864" y="229514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vertex-184"/>
          <p:cNvSpPr/>
          <p:nvPr/>
        </p:nvSpPr>
        <p:spPr>
          <a:xfrm>
            <a:off x="5404104" y="266090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vertex-185"/>
          <p:cNvSpPr/>
          <p:nvPr/>
        </p:nvSpPr>
        <p:spPr>
          <a:xfrm>
            <a:off x="4855464" y="343814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-186"/>
          <p:cNvSpPr txBox="1"/>
          <p:nvPr/>
        </p:nvSpPr>
        <p:spPr>
          <a:xfrm>
            <a:off x="4434840" y="42062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component 2</a:t>
            </a:r>
            <a:endParaRPr lang="en-US" sz="1000" dirty="0"/>
          </a:p>
        </p:txBody>
      </p:sp>
      <p:sp>
        <p:nvSpPr>
          <p:cNvPr id="33" name="legend-187"/>
          <p:cNvSpPr/>
          <p:nvPr/>
        </p:nvSpPr>
        <p:spPr>
          <a:xfrm>
            <a:off x="731520" y="5468112"/>
            <a:ext cx="36576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-188"/>
          <p:cNvSpPr txBox="1"/>
          <p:nvPr/>
        </p:nvSpPr>
        <p:spPr>
          <a:xfrm>
            <a:off x="1188720" y="5349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path  4–5–3–6</a:t>
            </a:r>
            <a:endParaRPr lang="en-US" sz="1100" dirty="0"/>
          </a:p>
        </p:txBody>
      </p:sp>
      <p:sp>
        <p:nvSpPr>
          <p:cNvPr id="35" name="legend-189"/>
          <p:cNvSpPr/>
          <p:nvPr/>
        </p:nvSpPr>
        <p:spPr>
          <a:xfrm>
            <a:off x="3337560" y="5468112"/>
            <a:ext cx="3657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-190"/>
          <p:cNvSpPr txBox="1"/>
          <p:nvPr/>
        </p:nvSpPr>
        <p:spPr>
          <a:xfrm>
            <a:off x="3794760" y="5349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cycle  0–1–2–0</a:t>
            </a:r>
            <a:endParaRPr lang="en-US" sz="1100" dirty="0"/>
          </a:p>
        </p:txBody>
      </p:sp>
      <p:sp>
        <p:nvSpPr>
          <p:cNvPr id="37" name="card-191"/>
          <p:cNvSpPr/>
          <p:nvPr/>
        </p:nvSpPr>
        <p:spPr>
          <a:xfrm>
            <a:off x="6355080" y="1691640"/>
            <a:ext cx="53309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-192"/>
          <p:cNvSpPr txBox="1"/>
          <p:nvPr/>
        </p:nvSpPr>
        <p:spPr>
          <a:xfrm>
            <a:off x="6537960" y="16916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Vertex, edge</a:t>
            </a:r>
            <a:endParaRPr lang="en-US" sz="1300" dirty="0"/>
          </a:p>
        </p:txBody>
      </p:sp>
      <p:sp>
        <p:nvSpPr>
          <p:cNvPr id="39" name="text-193"/>
          <p:cNvSpPr txBox="1"/>
          <p:nvPr/>
        </p:nvSpPr>
        <p:spPr>
          <a:xfrm>
            <a:off x="790956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Vertices are the objects; an edge joins a pair of vertices.</a:t>
            </a:r>
            <a:endParaRPr lang="en-US" sz="1150" dirty="0"/>
          </a:p>
        </p:txBody>
      </p:sp>
      <p:sp>
        <p:nvSpPr>
          <p:cNvPr id="40" name="text-194"/>
          <p:cNvSpPr txBox="1"/>
          <p:nvPr/>
        </p:nvSpPr>
        <p:spPr>
          <a:xfrm>
            <a:off x="10287000" y="1691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V=10, E=10</a:t>
            </a:r>
            <a:endParaRPr lang="en-US" sz="1150" dirty="0"/>
          </a:p>
        </p:txBody>
      </p:sp>
      <p:sp>
        <p:nvSpPr>
          <p:cNvPr id="41" name="card-195"/>
          <p:cNvSpPr/>
          <p:nvPr/>
        </p:nvSpPr>
        <p:spPr>
          <a:xfrm>
            <a:off x="6355080" y="2523744"/>
            <a:ext cx="53309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-196"/>
          <p:cNvSpPr txBox="1"/>
          <p:nvPr/>
        </p:nvSpPr>
        <p:spPr>
          <a:xfrm>
            <a:off x="6537960" y="2523744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Adjacent, degree</a:t>
            </a:r>
            <a:endParaRPr lang="en-US" sz="1300" dirty="0"/>
          </a:p>
        </p:txBody>
      </p:sp>
      <p:sp>
        <p:nvSpPr>
          <p:cNvPr id="43" name="text-197"/>
          <p:cNvSpPr txBox="1"/>
          <p:nvPr/>
        </p:nvSpPr>
        <p:spPr>
          <a:xfrm>
            <a:off x="7909560" y="252374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v and w are adjacent if edge v–w exists. deg(v) = # edges at v.</a:t>
            </a:r>
            <a:endParaRPr lang="en-US" sz="1150" dirty="0"/>
          </a:p>
        </p:txBody>
      </p:sp>
      <p:sp>
        <p:nvSpPr>
          <p:cNvPr id="44" name="text-198"/>
          <p:cNvSpPr txBox="1"/>
          <p:nvPr/>
        </p:nvSpPr>
        <p:spPr>
          <a:xfrm>
            <a:off x="10287000" y="252374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deg(1) = 3</a:t>
            </a:r>
            <a:endParaRPr lang="en-US" sz="1150" dirty="0"/>
          </a:p>
        </p:txBody>
      </p:sp>
      <p:sp>
        <p:nvSpPr>
          <p:cNvPr id="45" name="card-199"/>
          <p:cNvSpPr/>
          <p:nvPr/>
        </p:nvSpPr>
        <p:spPr>
          <a:xfrm>
            <a:off x="6355080" y="3355848"/>
            <a:ext cx="53309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-200"/>
          <p:cNvSpPr txBox="1"/>
          <p:nvPr/>
        </p:nvSpPr>
        <p:spPr>
          <a:xfrm>
            <a:off x="6537960" y="33558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Path</a:t>
            </a:r>
            <a:endParaRPr lang="en-US" sz="1300" dirty="0"/>
          </a:p>
        </p:txBody>
      </p:sp>
      <p:sp>
        <p:nvSpPr>
          <p:cNvPr id="47" name="text-201"/>
          <p:cNvSpPr txBox="1"/>
          <p:nvPr/>
        </p:nvSpPr>
        <p:spPr>
          <a:xfrm>
            <a:off x="7909560" y="33558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Sequence of vertices, each joined to the next by an edge.</a:t>
            </a:r>
            <a:endParaRPr lang="en-US" sz="1150" dirty="0"/>
          </a:p>
        </p:txBody>
      </p:sp>
      <p:sp>
        <p:nvSpPr>
          <p:cNvPr id="48" name="text-202"/>
          <p:cNvSpPr txBox="1"/>
          <p:nvPr/>
        </p:nvSpPr>
        <p:spPr>
          <a:xfrm>
            <a:off x="10287000" y="335584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4–5–3–6</a:t>
            </a:r>
            <a:endParaRPr lang="en-US" sz="1150" dirty="0"/>
          </a:p>
        </p:txBody>
      </p:sp>
      <p:sp>
        <p:nvSpPr>
          <p:cNvPr id="49" name="card-203"/>
          <p:cNvSpPr/>
          <p:nvPr/>
        </p:nvSpPr>
        <p:spPr>
          <a:xfrm>
            <a:off x="6355080" y="4187952"/>
            <a:ext cx="53309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-204"/>
          <p:cNvSpPr txBox="1"/>
          <p:nvPr/>
        </p:nvSpPr>
        <p:spPr>
          <a:xfrm>
            <a:off x="6537960" y="4187952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Cycle</a:t>
            </a:r>
            <a:endParaRPr lang="en-US" sz="1300" dirty="0"/>
          </a:p>
        </p:txBody>
      </p:sp>
      <p:sp>
        <p:nvSpPr>
          <p:cNvPr id="51" name="text-205"/>
          <p:cNvSpPr txBox="1"/>
          <p:nvPr/>
        </p:nvSpPr>
        <p:spPr>
          <a:xfrm>
            <a:off x="7909560" y="41879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A path whose first and last vertices are the same.</a:t>
            </a:r>
            <a:endParaRPr lang="en-US" sz="1150" dirty="0"/>
          </a:p>
        </p:txBody>
      </p:sp>
      <p:sp>
        <p:nvSpPr>
          <p:cNvPr id="52" name="text-206"/>
          <p:cNvSpPr txBox="1"/>
          <p:nvPr/>
        </p:nvSpPr>
        <p:spPr>
          <a:xfrm>
            <a:off x="10287000" y="418795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0–1–2–0</a:t>
            </a:r>
            <a:endParaRPr lang="en-US" sz="1150" dirty="0"/>
          </a:p>
        </p:txBody>
      </p:sp>
      <p:sp>
        <p:nvSpPr>
          <p:cNvPr id="53" name="card-207"/>
          <p:cNvSpPr/>
          <p:nvPr/>
        </p:nvSpPr>
        <p:spPr>
          <a:xfrm>
            <a:off x="6355080" y="5020056"/>
            <a:ext cx="53309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-208"/>
          <p:cNvSpPr txBox="1"/>
          <p:nvPr/>
        </p:nvSpPr>
        <p:spPr>
          <a:xfrm>
            <a:off x="6537960" y="5020056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Connected</a:t>
            </a:r>
            <a:endParaRPr lang="en-US" sz="1300" dirty="0"/>
          </a:p>
        </p:txBody>
      </p:sp>
      <p:sp>
        <p:nvSpPr>
          <p:cNvPr id="55" name="text-209"/>
          <p:cNvSpPr txBox="1"/>
          <p:nvPr/>
        </p:nvSpPr>
        <p:spPr>
          <a:xfrm>
            <a:off x="7909560" y="50200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A path exists between every pair; otherwise the graph splits into connected components.</a:t>
            </a:r>
            <a:endParaRPr lang="en-US" sz="1150" dirty="0"/>
          </a:p>
        </p:txBody>
      </p:sp>
      <p:sp>
        <p:nvSpPr>
          <p:cNvPr id="56" name="text-210"/>
          <p:cNvSpPr txBox="1"/>
          <p:nvPr/>
        </p:nvSpPr>
        <p:spPr>
          <a:xfrm>
            <a:off x="10287000" y="502005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components</a:t>
            </a:r>
            <a:endParaRPr lang="en-US" sz="115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TERMINOLOGY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Directed Graphs (Digraphs)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Each edge points one way: v → w does not mean w → v.</a:t>
            </a:r>
            <a:endParaRPr lang="en-US" sz="1350" dirty="0"/>
          </a:p>
        </p:txBody>
      </p:sp>
      <p:sp>
        <p:nvSpPr>
          <p:cNvPr id="5" name="card-213"/>
          <p:cNvSpPr/>
          <p:nvPr/>
        </p:nvSpPr>
        <p:spPr>
          <a:xfrm>
            <a:off x="502920" y="1691640"/>
            <a:ext cx="562356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dge-214"/>
          <p:cNvSpPr/>
          <p:nvPr/>
        </p:nvSpPr>
        <p:spPr>
          <a:xfrm flipV="1">
            <a:off x="1450910" y="2325085"/>
            <a:ext cx="920621" cy="153437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edge-215"/>
          <p:cNvSpPr/>
          <p:nvPr/>
        </p:nvSpPr>
        <p:spPr>
          <a:xfrm flipH="1">
            <a:off x="2069319" y="2483631"/>
            <a:ext cx="441313" cy="914148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216"/>
          <p:cNvSpPr/>
          <p:nvPr/>
        </p:nvSpPr>
        <p:spPr>
          <a:xfrm flipH="1" flipV="1">
            <a:off x="1366317" y="2712415"/>
            <a:ext cx="477911" cy="716867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217"/>
          <p:cNvSpPr/>
          <p:nvPr/>
        </p:nvSpPr>
        <p:spPr>
          <a:xfrm>
            <a:off x="2167323" y="3699137"/>
            <a:ext cx="952094" cy="41257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218"/>
          <p:cNvSpPr/>
          <p:nvPr/>
        </p:nvSpPr>
        <p:spPr>
          <a:xfrm flipV="1">
            <a:off x="3512283" y="3481415"/>
            <a:ext cx="778995" cy="592036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219"/>
          <p:cNvSpPr/>
          <p:nvPr/>
        </p:nvSpPr>
        <p:spPr>
          <a:xfrm flipV="1">
            <a:off x="4649752" y="2620295"/>
            <a:ext cx="699076" cy="577498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edge-220"/>
          <p:cNvSpPr/>
          <p:nvPr/>
        </p:nvSpPr>
        <p:spPr>
          <a:xfrm flipH="1" flipV="1">
            <a:off x="4501456" y="3574384"/>
            <a:ext cx="96975" cy="1099049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edge-221"/>
          <p:cNvSpPr/>
          <p:nvPr/>
        </p:nvSpPr>
        <p:spPr>
          <a:xfrm flipH="1" flipV="1">
            <a:off x="3547127" y="4318508"/>
            <a:ext cx="877147" cy="4699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vertex-222"/>
          <p:cNvSpPr/>
          <p:nvPr/>
        </p:nvSpPr>
        <p:spPr>
          <a:xfrm>
            <a:off x="1014984" y="229514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vertex-223"/>
          <p:cNvSpPr/>
          <p:nvPr/>
        </p:nvSpPr>
        <p:spPr>
          <a:xfrm>
            <a:off x="2386584" y="206654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vertex-224"/>
          <p:cNvSpPr/>
          <p:nvPr/>
        </p:nvSpPr>
        <p:spPr>
          <a:xfrm>
            <a:off x="1746504" y="3392424"/>
            <a:ext cx="438912" cy="438912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vertex-225"/>
          <p:cNvSpPr/>
          <p:nvPr/>
        </p:nvSpPr>
        <p:spPr>
          <a:xfrm>
            <a:off x="3118104" y="398678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vertex-226"/>
          <p:cNvSpPr/>
          <p:nvPr/>
        </p:nvSpPr>
        <p:spPr>
          <a:xfrm>
            <a:off x="4261104" y="3118104"/>
            <a:ext cx="438912" cy="438912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vertex-227"/>
          <p:cNvSpPr/>
          <p:nvPr/>
        </p:nvSpPr>
        <p:spPr>
          <a:xfrm>
            <a:off x="4398264" y="467258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vertex-228"/>
          <p:cNvSpPr/>
          <p:nvPr/>
        </p:nvSpPr>
        <p:spPr>
          <a:xfrm>
            <a:off x="5312664" y="224942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legend-229"/>
          <p:cNvSpPr/>
          <p:nvPr/>
        </p:nvSpPr>
        <p:spPr>
          <a:xfrm>
            <a:off x="731520" y="5468112"/>
            <a:ext cx="36576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230"/>
          <p:cNvSpPr txBox="1"/>
          <p:nvPr/>
        </p:nvSpPr>
        <p:spPr>
          <a:xfrm>
            <a:off x="1188720" y="5349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directed path  2→3→4→6</a:t>
            </a:r>
            <a:endParaRPr lang="en-US" sz="1100" dirty="0"/>
          </a:p>
        </p:txBody>
      </p:sp>
      <p:sp>
        <p:nvSpPr>
          <p:cNvPr id="23" name="legend-231"/>
          <p:cNvSpPr/>
          <p:nvPr/>
        </p:nvSpPr>
        <p:spPr>
          <a:xfrm>
            <a:off x="3337560" y="5468112"/>
            <a:ext cx="3657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232"/>
          <p:cNvSpPr txBox="1"/>
          <p:nvPr/>
        </p:nvSpPr>
        <p:spPr>
          <a:xfrm>
            <a:off x="3794760" y="5349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directed cycle  0→1→2→0</a:t>
            </a:r>
            <a:endParaRPr lang="en-US" sz="1100" dirty="0"/>
          </a:p>
        </p:txBody>
      </p:sp>
      <p:sp>
        <p:nvSpPr>
          <p:cNvPr id="25" name="card-233"/>
          <p:cNvSpPr/>
          <p:nvPr/>
        </p:nvSpPr>
        <p:spPr>
          <a:xfrm>
            <a:off x="6355080" y="1691640"/>
            <a:ext cx="53309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-234"/>
          <p:cNvSpPr txBox="1"/>
          <p:nvPr/>
        </p:nvSpPr>
        <p:spPr>
          <a:xfrm>
            <a:off x="6537960" y="16916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Directed edge</a:t>
            </a:r>
            <a:endParaRPr lang="en-US" sz="1300" dirty="0"/>
          </a:p>
        </p:txBody>
      </p:sp>
      <p:sp>
        <p:nvSpPr>
          <p:cNvPr id="27" name="text-235"/>
          <p:cNvSpPr txBox="1"/>
          <p:nvPr/>
        </p:nvSpPr>
        <p:spPr>
          <a:xfrm>
            <a:off x="790956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v → w goes from tail v to head w. Order matters.</a:t>
            </a:r>
            <a:endParaRPr lang="en-US" sz="1150" dirty="0"/>
          </a:p>
        </p:txBody>
      </p:sp>
      <p:sp>
        <p:nvSpPr>
          <p:cNvPr id="28" name="text-236"/>
          <p:cNvSpPr txBox="1"/>
          <p:nvPr/>
        </p:nvSpPr>
        <p:spPr>
          <a:xfrm>
            <a:off x="10287000" y="1691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3</a:t>
            </a:r>
            <a:endParaRPr lang="en-US" sz="1300" dirty="0"/>
          </a:p>
        </p:txBody>
      </p:sp>
      <p:sp>
        <p:nvSpPr>
          <p:cNvPr id="29" name="card-237"/>
          <p:cNvSpPr/>
          <p:nvPr/>
        </p:nvSpPr>
        <p:spPr>
          <a:xfrm>
            <a:off x="6355080" y="2523744"/>
            <a:ext cx="53309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-238"/>
          <p:cNvSpPr txBox="1"/>
          <p:nvPr/>
        </p:nvSpPr>
        <p:spPr>
          <a:xfrm>
            <a:off x="6537960" y="2523744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Out- / in-degree</a:t>
            </a:r>
            <a:endParaRPr lang="en-US" sz="1300" dirty="0"/>
          </a:p>
        </p:txBody>
      </p:sp>
      <p:sp>
        <p:nvSpPr>
          <p:cNvPr id="31" name="text-239"/>
          <p:cNvSpPr txBox="1"/>
          <p:nvPr/>
        </p:nvSpPr>
        <p:spPr>
          <a:xfrm>
            <a:off x="7909560" y="252374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Edges leaving v / edges entering v.</a:t>
            </a:r>
            <a:endParaRPr lang="en-US" sz="1150" dirty="0"/>
          </a:p>
        </p:txBody>
      </p:sp>
      <p:sp>
        <p:nvSpPr>
          <p:cNvPr id="32" name="text-240"/>
          <p:cNvSpPr txBox="1"/>
          <p:nvPr/>
        </p:nvSpPr>
        <p:spPr>
          <a:xfrm>
            <a:off x="10287000" y="252374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out(2) = 2</a:t>
            </a:r>
            <a:endParaRPr lang="en-US" sz="1150" dirty="0"/>
          </a:p>
          <a:p>
            <a:pPr marL="0" indent="0" algn="r"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in(4) = 2</a:t>
            </a:r>
            <a:endParaRPr lang="en-US" sz="1150" dirty="0"/>
          </a:p>
        </p:txBody>
      </p:sp>
      <p:sp>
        <p:nvSpPr>
          <p:cNvPr id="33" name="card-241"/>
          <p:cNvSpPr/>
          <p:nvPr/>
        </p:nvSpPr>
        <p:spPr>
          <a:xfrm>
            <a:off x="6355080" y="3355848"/>
            <a:ext cx="53309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-242"/>
          <p:cNvSpPr txBox="1"/>
          <p:nvPr/>
        </p:nvSpPr>
        <p:spPr>
          <a:xfrm>
            <a:off x="6537960" y="33558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Directed path</a:t>
            </a:r>
            <a:endParaRPr lang="en-US" sz="1300" dirty="0"/>
          </a:p>
        </p:txBody>
      </p:sp>
      <p:sp>
        <p:nvSpPr>
          <p:cNvPr id="35" name="text-243"/>
          <p:cNvSpPr txBox="1"/>
          <p:nvPr/>
        </p:nvSpPr>
        <p:spPr>
          <a:xfrm>
            <a:off x="7909560" y="33558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Follow the arrows from vertex to vertex.</a:t>
            </a:r>
            <a:endParaRPr lang="en-US" sz="1150" dirty="0"/>
          </a:p>
        </p:txBody>
      </p:sp>
      <p:sp>
        <p:nvSpPr>
          <p:cNvPr id="36" name="text-244"/>
          <p:cNvSpPr txBox="1"/>
          <p:nvPr/>
        </p:nvSpPr>
        <p:spPr>
          <a:xfrm>
            <a:off x="10287000" y="335584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3 → 4 → 6</a:t>
            </a:r>
            <a:endParaRPr lang="en-US" sz="1300" dirty="0"/>
          </a:p>
        </p:txBody>
      </p:sp>
      <p:sp>
        <p:nvSpPr>
          <p:cNvPr id="37" name="card-245"/>
          <p:cNvSpPr/>
          <p:nvPr/>
        </p:nvSpPr>
        <p:spPr>
          <a:xfrm>
            <a:off x="6355080" y="4187952"/>
            <a:ext cx="53309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-246"/>
          <p:cNvSpPr txBox="1"/>
          <p:nvPr/>
        </p:nvSpPr>
        <p:spPr>
          <a:xfrm>
            <a:off x="6537960" y="4187952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Reachable</a:t>
            </a:r>
            <a:endParaRPr lang="en-US" sz="1300" dirty="0"/>
          </a:p>
        </p:txBody>
      </p:sp>
      <p:sp>
        <p:nvSpPr>
          <p:cNvPr id="39" name="text-247"/>
          <p:cNvSpPr txBox="1"/>
          <p:nvPr/>
        </p:nvSpPr>
        <p:spPr>
          <a:xfrm>
            <a:off x="7909560" y="41879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w is reachable from v if a directed path v ⇝ w exists. Not symmetric!</a:t>
            </a:r>
            <a:endParaRPr lang="en-US" sz="1150" dirty="0"/>
          </a:p>
        </p:txBody>
      </p:sp>
      <p:sp>
        <p:nvSpPr>
          <p:cNvPr id="40" name="text-248"/>
          <p:cNvSpPr txBox="1"/>
          <p:nvPr/>
        </p:nvSpPr>
        <p:spPr>
          <a:xfrm>
            <a:off x="10287000" y="418795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⇝ 6  ✓</a:t>
            </a:r>
            <a:endParaRPr lang="en-US" sz="1300" dirty="0"/>
          </a:p>
          <a:p>
            <a:pPr marL="0" indent="0" algn="r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⇝ 0  ✗</a:t>
            </a:r>
            <a:endParaRPr lang="en-US" sz="1300" dirty="0"/>
          </a:p>
        </p:txBody>
      </p:sp>
      <p:sp>
        <p:nvSpPr>
          <p:cNvPr id="41" name="card-249"/>
          <p:cNvSpPr/>
          <p:nvPr/>
        </p:nvSpPr>
        <p:spPr>
          <a:xfrm>
            <a:off x="6355080" y="5020056"/>
            <a:ext cx="53309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-250"/>
          <p:cNvSpPr txBox="1"/>
          <p:nvPr/>
        </p:nvSpPr>
        <p:spPr>
          <a:xfrm>
            <a:off x="6537960" y="5020056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Directed cycle</a:t>
            </a:r>
            <a:endParaRPr lang="en-US" sz="1300" dirty="0"/>
          </a:p>
        </p:txBody>
      </p:sp>
      <p:sp>
        <p:nvSpPr>
          <p:cNvPr id="43" name="text-251"/>
          <p:cNvSpPr txBox="1"/>
          <p:nvPr/>
        </p:nvSpPr>
        <p:spPr>
          <a:xfrm>
            <a:off x="7909560" y="50200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A directed path that returns to its start.</a:t>
            </a:r>
            <a:endParaRPr lang="en-US" sz="1150" dirty="0"/>
          </a:p>
        </p:txBody>
      </p:sp>
      <p:sp>
        <p:nvSpPr>
          <p:cNvPr id="44" name="text-252"/>
          <p:cNvSpPr txBox="1"/>
          <p:nvPr/>
        </p:nvSpPr>
        <p:spPr>
          <a:xfrm>
            <a:off x="10287000" y="502005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 → 2 → 0</a:t>
            </a:r>
            <a:endParaRPr lang="en-US" sz="1300" dirty="0"/>
          </a:p>
        </p:txBody>
      </p:sp>
      <p:sp>
        <p:nvSpPr>
          <p:cNvPr id="45" name="card-253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-254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Quick poll: </a:t>
            </a:r>
            <a:r>
              <a:rPr lang="en-US" sz="1350" dirty="0">
                <a:solidFill>
                  <a:schemeClr val="tx1"/>
                </a:solidFill>
              </a:rPr>
              <a:t>which is best modeled as a digraph?   A. Facebook friends   B. Web links   C. Internet router links   D. Chemical bonds</a:t>
            </a:r>
            <a:endParaRPr lang="en-US" sz="13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TERMINOLOGY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Cycles: Undirected vs. Directed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A cycle is a path that ends where it started. What counts as a cycle changes once edges have a direction.</a:t>
            </a:r>
            <a:endParaRPr lang="en-US" sz="1350" dirty="0"/>
          </a:p>
        </p:txBody>
      </p:sp>
      <p:sp>
        <p:nvSpPr>
          <p:cNvPr id="5" name="card-1"/>
          <p:cNvSpPr/>
          <p:nvPr/>
        </p:nvSpPr>
        <p:spPr>
          <a:xfrm>
            <a:off x="502920" y="1691640"/>
            <a:ext cx="5486400" cy="2926080"/>
          </a:xfrm>
          <a:prstGeom prst="roundRect">
            <a:avLst>
              <a:gd name="adj" fmla="val 187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-2"/>
          <p:cNvSpPr txBox="1"/>
          <p:nvPr/>
        </p:nvSpPr>
        <p:spPr>
          <a:xfrm>
            <a:off x="68580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UNDIRECTED GRAPH</a:t>
            </a:r>
            <a:endParaRPr lang="en-US" sz="1050" dirty="0"/>
          </a:p>
        </p:txBody>
      </p:sp>
      <p:sp>
        <p:nvSpPr>
          <p:cNvPr id="7" name="text-3"/>
          <p:cNvSpPr txBox="1"/>
          <p:nvPr/>
        </p:nvSpPr>
        <p:spPr>
          <a:xfrm>
            <a:off x="685800" y="20756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A path v₀–v₁–…–vₖ–v₀ with </a:t>
            </a:r>
            <a:r>
              <a:rPr lang="en-US" sz="1200" b="1" dirty="0">
                <a:solidFill>
                  <a:schemeClr val="tx1"/>
                </a:solidFill>
              </a:rPr>
              <a:t>no repeated vertices</a:t>
            </a:r>
            <a:r>
              <a:rPr lang="en-US" sz="1200" dirty="0">
                <a:solidFill>
                  <a:schemeClr val="accent4"/>
                </a:solidFill>
              </a:rPr>
              <a:t> (except v₀ at the end) and </a:t>
            </a:r>
            <a:r>
              <a:rPr lang="en-US" sz="1200" b="1" dirty="0">
                <a:solidFill>
                  <a:schemeClr val="tx1"/>
                </a:solidFill>
              </a:rPr>
              <a:t>no repeated edges</a:t>
            </a:r>
            <a:r>
              <a:rPr lang="en-US" sz="1200" dirty="0">
                <a:solidFill>
                  <a:schemeClr val="accent4"/>
                </a:solidFill>
              </a:rPr>
              <a:t>, so it needs </a:t>
            </a:r>
            <a:r>
              <a:rPr lang="en-US" sz="1200" b="1" dirty="0">
                <a:solidFill>
                  <a:schemeClr val="tx1"/>
                </a:solidFill>
              </a:rPr>
              <a:t>at least 3 vertices</a:t>
            </a:r>
            <a:r>
              <a:rPr lang="en-US" sz="1200" dirty="0">
                <a:solidFill>
                  <a:schemeClr val="accent4"/>
                </a:solidFill>
              </a:rPr>
              <a:t>.</a:t>
            </a:r>
            <a:endParaRPr lang="en-US" sz="1200" dirty="0"/>
          </a:p>
        </p:txBody>
      </p:sp>
      <p:sp>
        <p:nvSpPr>
          <p:cNvPr id="8" name="card-4"/>
          <p:cNvSpPr/>
          <p:nvPr/>
        </p:nvSpPr>
        <p:spPr>
          <a:xfrm>
            <a:off x="685800" y="2715768"/>
            <a:ext cx="1682496" cy="178308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-5"/>
          <p:cNvSpPr txBox="1"/>
          <p:nvPr/>
        </p:nvSpPr>
        <p:spPr>
          <a:xfrm>
            <a:off x="79552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✓  </a:t>
            </a:r>
            <a:r>
              <a:rPr lang="en-US" sz="1250" b="1" dirty="0">
                <a:solidFill>
                  <a:schemeClr val="tx1"/>
                </a:solidFill>
              </a:rPr>
              <a:t>0–1–2–0</a:t>
            </a:r>
            <a:endParaRPr lang="en-US" sz="1250" dirty="0"/>
          </a:p>
        </p:txBody>
      </p:sp>
      <p:sp>
        <p:nvSpPr>
          <p:cNvPr id="10" name="text-6"/>
          <p:cNvSpPr txBox="1"/>
          <p:nvPr/>
        </p:nvSpPr>
        <p:spPr>
          <a:xfrm>
            <a:off x="795528" y="41330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Three different edges.</a:t>
            </a:r>
            <a:endParaRPr lang="en-US" sz="1050" dirty="0"/>
          </a:p>
        </p:txBody>
      </p:sp>
      <p:sp>
        <p:nvSpPr>
          <p:cNvPr id="11" name="edge-7"/>
          <p:cNvSpPr/>
          <p:nvPr/>
        </p:nvSpPr>
        <p:spPr>
          <a:xfrm>
            <a:off x="1225296" y="3008376"/>
            <a:ext cx="603504" cy="914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dge-8"/>
          <p:cNvSpPr/>
          <p:nvPr/>
        </p:nvSpPr>
        <p:spPr>
          <a:xfrm flipH="1">
            <a:off x="1619134" y="3133613"/>
            <a:ext cx="273028" cy="371318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dge-9"/>
          <p:cNvSpPr/>
          <p:nvPr/>
        </p:nvSpPr>
        <p:spPr>
          <a:xfrm flipH="1" flipV="1">
            <a:off x="1161934" y="3133613"/>
            <a:ext cx="273028" cy="371318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vertex-10"/>
          <p:cNvSpPr/>
          <p:nvPr/>
        </p:nvSpPr>
        <p:spPr>
          <a:xfrm>
            <a:off x="914400" y="2852928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5" name="vertex-11"/>
          <p:cNvSpPr/>
          <p:nvPr/>
        </p:nvSpPr>
        <p:spPr>
          <a:xfrm>
            <a:off x="1828800" y="2852928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vertex-12"/>
          <p:cNvSpPr/>
          <p:nvPr/>
        </p:nvSpPr>
        <p:spPr>
          <a:xfrm>
            <a:off x="1371600" y="3474720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card-13"/>
          <p:cNvSpPr/>
          <p:nvPr/>
        </p:nvSpPr>
        <p:spPr>
          <a:xfrm>
            <a:off x="2478024" y="2715768"/>
            <a:ext cx="1682496" cy="178308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-14"/>
          <p:cNvSpPr txBox="1"/>
          <p:nvPr/>
        </p:nvSpPr>
        <p:spPr>
          <a:xfrm>
            <a:off x="2587752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✓  </a:t>
            </a:r>
            <a:r>
              <a:rPr lang="en-US" sz="1250" b="1" dirty="0">
                <a:solidFill>
                  <a:schemeClr val="tx1"/>
                </a:solidFill>
              </a:rPr>
              <a:t>0–1–2–3–0</a:t>
            </a:r>
            <a:endParaRPr lang="en-US" sz="1250" dirty="0"/>
          </a:p>
        </p:txBody>
      </p:sp>
      <p:sp>
        <p:nvSpPr>
          <p:cNvPr id="19" name="text-15"/>
          <p:cNvSpPr txBox="1"/>
          <p:nvPr/>
        </p:nvSpPr>
        <p:spPr>
          <a:xfrm>
            <a:off x="2587752" y="41330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Any length ≥ 3 works.</a:t>
            </a:r>
            <a:endParaRPr lang="en-US" sz="1050" dirty="0"/>
          </a:p>
        </p:txBody>
      </p:sp>
      <p:sp>
        <p:nvSpPr>
          <p:cNvPr id="20" name="edge-16"/>
          <p:cNvSpPr/>
          <p:nvPr/>
        </p:nvSpPr>
        <p:spPr>
          <a:xfrm>
            <a:off x="3044952" y="2990088"/>
            <a:ext cx="557784" cy="914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edge-17"/>
          <p:cNvSpPr/>
          <p:nvPr/>
        </p:nvSpPr>
        <p:spPr>
          <a:xfrm>
            <a:off x="3758184" y="3145536"/>
            <a:ext cx="914" cy="347472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edge-18"/>
          <p:cNvSpPr/>
          <p:nvPr/>
        </p:nvSpPr>
        <p:spPr>
          <a:xfrm flipH="1">
            <a:off x="3044952" y="3648456"/>
            <a:ext cx="557784" cy="914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edge-19"/>
          <p:cNvSpPr/>
          <p:nvPr/>
        </p:nvSpPr>
        <p:spPr>
          <a:xfrm flipV="1">
            <a:off x="2889504" y="3145536"/>
            <a:ext cx="914" cy="347472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vertex-20"/>
          <p:cNvSpPr/>
          <p:nvPr/>
        </p:nvSpPr>
        <p:spPr>
          <a:xfrm>
            <a:off x="2734056" y="2834640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25" name="vertex-21"/>
          <p:cNvSpPr/>
          <p:nvPr/>
        </p:nvSpPr>
        <p:spPr>
          <a:xfrm>
            <a:off x="3602736" y="2834640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vertex-22"/>
          <p:cNvSpPr/>
          <p:nvPr/>
        </p:nvSpPr>
        <p:spPr>
          <a:xfrm>
            <a:off x="3602736" y="3493008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vertex-23"/>
          <p:cNvSpPr/>
          <p:nvPr/>
        </p:nvSpPr>
        <p:spPr>
          <a:xfrm>
            <a:off x="2734056" y="3493008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card-24"/>
          <p:cNvSpPr/>
          <p:nvPr/>
        </p:nvSpPr>
        <p:spPr>
          <a:xfrm>
            <a:off x="4270248" y="2715768"/>
            <a:ext cx="1682496" cy="178308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-25"/>
          <p:cNvSpPr txBox="1"/>
          <p:nvPr/>
        </p:nvSpPr>
        <p:spPr>
          <a:xfrm>
            <a:off x="437997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✗  </a:t>
            </a:r>
            <a:r>
              <a:rPr lang="en-US" sz="1250" b="1" dirty="0">
                <a:solidFill>
                  <a:schemeClr val="tx1"/>
                </a:solidFill>
              </a:rPr>
              <a:t>0–1–0</a:t>
            </a:r>
            <a:endParaRPr lang="en-US" sz="1250" dirty="0"/>
          </a:p>
        </p:txBody>
      </p:sp>
      <p:sp>
        <p:nvSpPr>
          <p:cNvPr id="30" name="text-26"/>
          <p:cNvSpPr txBox="1"/>
          <p:nvPr/>
        </p:nvSpPr>
        <p:spPr>
          <a:xfrm>
            <a:off x="4379976" y="41330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Walks the same edge back.</a:t>
            </a:r>
            <a:endParaRPr lang="en-US" sz="1050" dirty="0"/>
          </a:p>
        </p:txBody>
      </p:sp>
      <p:sp>
        <p:nvSpPr>
          <p:cNvPr id="31" name="edge-27"/>
          <p:cNvSpPr/>
          <p:nvPr/>
        </p:nvSpPr>
        <p:spPr>
          <a:xfrm>
            <a:off x="4809744" y="3319272"/>
            <a:ext cx="603504" cy="914"/>
          </a:xfrm>
          <a:prstGeom prst="line">
            <a:avLst/>
          </a:prstGeom>
          <a:noFill/>
          <a:ln w="349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vertex-28"/>
          <p:cNvSpPr/>
          <p:nvPr/>
        </p:nvSpPr>
        <p:spPr>
          <a:xfrm>
            <a:off x="4498848" y="3163824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3" name="vertex-29"/>
          <p:cNvSpPr/>
          <p:nvPr/>
        </p:nvSpPr>
        <p:spPr>
          <a:xfrm>
            <a:off x="5413248" y="3163824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hint-30"/>
          <p:cNvSpPr/>
          <p:nvPr/>
        </p:nvSpPr>
        <p:spPr>
          <a:xfrm>
            <a:off x="4837176" y="3081528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hint-31"/>
          <p:cNvSpPr/>
          <p:nvPr/>
        </p:nvSpPr>
        <p:spPr>
          <a:xfrm flipH="1">
            <a:off x="4837176" y="3557016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card-32"/>
          <p:cNvSpPr/>
          <p:nvPr/>
        </p:nvSpPr>
        <p:spPr>
          <a:xfrm>
            <a:off x="6199632" y="1691640"/>
            <a:ext cx="5486400" cy="2926080"/>
          </a:xfrm>
          <a:prstGeom prst="roundRect">
            <a:avLst>
              <a:gd name="adj" fmla="val 187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-33"/>
          <p:cNvSpPr txBox="1"/>
          <p:nvPr/>
        </p:nvSpPr>
        <p:spPr>
          <a:xfrm>
            <a:off x="6382512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DIRECTED GRAPH</a:t>
            </a:r>
            <a:endParaRPr lang="en-US" sz="1050" dirty="0"/>
          </a:p>
        </p:txBody>
      </p:sp>
      <p:sp>
        <p:nvSpPr>
          <p:cNvPr id="38" name="text-34"/>
          <p:cNvSpPr txBox="1"/>
          <p:nvPr/>
        </p:nvSpPr>
        <p:spPr>
          <a:xfrm>
            <a:off x="6382512" y="20756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A directed path v₀→v₁→…→vₖ→v₀ with </a:t>
            </a:r>
            <a:r>
              <a:rPr lang="en-US" sz="1200" b="1" dirty="0">
                <a:solidFill>
                  <a:schemeClr val="tx1"/>
                </a:solidFill>
              </a:rPr>
              <a:t>no repeated vertices</a:t>
            </a:r>
            <a:r>
              <a:rPr lang="en-US" sz="1200" dirty="0">
                <a:solidFill>
                  <a:schemeClr val="accent4"/>
                </a:solidFill>
              </a:rPr>
              <a:t> (except v₀ at the end) that </a:t>
            </a:r>
            <a:r>
              <a:rPr lang="en-US" sz="1200" b="1" dirty="0">
                <a:solidFill>
                  <a:schemeClr val="tx1"/>
                </a:solidFill>
              </a:rPr>
              <a:t>follows every arrow</a:t>
            </a:r>
            <a:r>
              <a:rPr lang="en-US" sz="1200" dirty="0">
                <a:solidFill>
                  <a:schemeClr val="accent4"/>
                </a:solidFill>
              </a:rPr>
              <a:t>. </a:t>
            </a:r>
            <a:r>
              <a:rPr lang="en-US" sz="1200" b="1" dirty="0">
                <a:solidFill>
                  <a:schemeClr val="tx1"/>
                </a:solidFill>
              </a:rPr>
              <a:t>Two vertices can be enough</a:t>
            </a:r>
            <a:r>
              <a:rPr lang="en-US" sz="1200" dirty="0">
                <a:solidFill>
                  <a:schemeClr val="accent4"/>
                </a:solidFill>
              </a:rPr>
              <a:t>.</a:t>
            </a:r>
            <a:endParaRPr lang="en-US" sz="1200" dirty="0"/>
          </a:p>
        </p:txBody>
      </p:sp>
      <p:sp>
        <p:nvSpPr>
          <p:cNvPr id="39" name="card-35"/>
          <p:cNvSpPr/>
          <p:nvPr/>
        </p:nvSpPr>
        <p:spPr>
          <a:xfrm>
            <a:off x="6382512" y="2715768"/>
            <a:ext cx="1682496" cy="178308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-36"/>
          <p:cNvSpPr txBox="1"/>
          <p:nvPr/>
        </p:nvSpPr>
        <p:spPr>
          <a:xfrm>
            <a:off x="649224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✓  </a:t>
            </a:r>
            <a:r>
              <a:rPr lang="en-US" sz="1250" b="1" dirty="0">
                <a:solidFill>
                  <a:schemeClr val="tx1"/>
                </a:solidFill>
              </a:rPr>
              <a:t>0→1→2→0</a:t>
            </a:r>
            <a:endParaRPr lang="en-US" sz="1250" dirty="0"/>
          </a:p>
        </p:txBody>
      </p:sp>
      <p:sp>
        <p:nvSpPr>
          <p:cNvPr id="41" name="text-37"/>
          <p:cNvSpPr txBox="1"/>
          <p:nvPr/>
        </p:nvSpPr>
        <p:spPr>
          <a:xfrm>
            <a:off x="6492240" y="41330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Arrows go all the way round.</a:t>
            </a:r>
            <a:endParaRPr lang="en-US" sz="1050" dirty="0"/>
          </a:p>
        </p:txBody>
      </p:sp>
      <p:sp>
        <p:nvSpPr>
          <p:cNvPr id="42" name="edge-38"/>
          <p:cNvSpPr/>
          <p:nvPr/>
        </p:nvSpPr>
        <p:spPr>
          <a:xfrm>
            <a:off x="6922008" y="3008376"/>
            <a:ext cx="585216" cy="914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edge-39"/>
          <p:cNvSpPr/>
          <p:nvPr/>
        </p:nvSpPr>
        <p:spPr>
          <a:xfrm flipH="1">
            <a:off x="7326680" y="3133613"/>
            <a:ext cx="262195" cy="356585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edge-40"/>
          <p:cNvSpPr/>
          <p:nvPr/>
        </p:nvSpPr>
        <p:spPr>
          <a:xfrm flipH="1" flipV="1">
            <a:off x="6869480" y="3148347"/>
            <a:ext cx="262195" cy="356585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vertex-41"/>
          <p:cNvSpPr/>
          <p:nvPr/>
        </p:nvSpPr>
        <p:spPr>
          <a:xfrm>
            <a:off x="6611112" y="2852928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46" name="vertex-42"/>
          <p:cNvSpPr/>
          <p:nvPr/>
        </p:nvSpPr>
        <p:spPr>
          <a:xfrm>
            <a:off x="7525512" y="2852928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vertex-43"/>
          <p:cNvSpPr/>
          <p:nvPr/>
        </p:nvSpPr>
        <p:spPr>
          <a:xfrm>
            <a:off x="7068312" y="3474720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card-44"/>
          <p:cNvSpPr/>
          <p:nvPr/>
        </p:nvSpPr>
        <p:spPr>
          <a:xfrm>
            <a:off x="8174736" y="2715768"/>
            <a:ext cx="1682496" cy="178308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-45"/>
          <p:cNvSpPr txBox="1"/>
          <p:nvPr/>
        </p:nvSpPr>
        <p:spPr>
          <a:xfrm>
            <a:off x="8284464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✗  </a:t>
            </a:r>
            <a:r>
              <a:rPr lang="en-US" sz="1250" b="1" dirty="0">
                <a:solidFill>
                  <a:schemeClr val="tx1"/>
                </a:solidFill>
              </a:rPr>
              <a:t>0→1→2, stuck</a:t>
            </a:r>
            <a:endParaRPr lang="en-US" sz="1250" dirty="0"/>
          </a:p>
        </p:txBody>
      </p:sp>
      <p:sp>
        <p:nvSpPr>
          <p:cNvPr id="50" name="text-46"/>
          <p:cNvSpPr txBox="1"/>
          <p:nvPr/>
        </p:nvSpPr>
        <p:spPr>
          <a:xfrm>
            <a:off x="8284464" y="41330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Edge 0→2 points the wrong way.</a:t>
            </a:r>
            <a:endParaRPr lang="en-US" sz="1050" dirty="0"/>
          </a:p>
        </p:txBody>
      </p:sp>
      <p:sp>
        <p:nvSpPr>
          <p:cNvPr id="51" name="edge-47"/>
          <p:cNvSpPr/>
          <p:nvPr/>
        </p:nvSpPr>
        <p:spPr>
          <a:xfrm>
            <a:off x="8714232" y="3008376"/>
            <a:ext cx="585216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edge-48"/>
          <p:cNvSpPr/>
          <p:nvPr/>
        </p:nvSpPr>
        <p:spPr>
          <a:xfrm flipH="1">
            <a:off x="9118904" y="3133613"/>
            <a:ext cx="262195" cy="356585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edge-49"/>
          <p:cNvSpPr/>
          <p:nvPr/>
        </p:nvSpPr>
        <p:spPr>
          <a:xfrm>
            <a:off x="8650870" y="3133613"/>
            <a:ext cx="262195" cy="356585"/>
          </a:xfrm>
          <a:prstGeom prst="line">
            <a:avLst/>
          </a:prstGeom>
          <a:noFill/>
          <a:ln w="3492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vertex-50"/>
          <p:cNvSpPr/>
          <p:nvPr/>
        </p:nvSpPr>
        <p:spPr>
          <a:xfrm>
            <a:off x="8403336" y="2852928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55" name="vertex-51"/>
          <p:cNvSpPr/>
          <p:nvPr/>
        </p:nvSpPr>
        <p:spPr>
          <a:xfrm>
            <a:off x="9317736" y="2852928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vertex-52"/>
          <p:cNvSpPr/>
          <p:nvPr/>
        </p:nvSpPr>
        <p:spPr>
          <a:xfrm>
            <a:off x="8860536" y="3474720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7" name="card-53"/>
          <p:cNvSpPr/>
          <p:nvPr/>
        </p:nvSpPr>
        <p:spPr>
          <a:xfrm>
            <a:off x="9966960" y="2715768"/>
            <a:ext cx="1682496" cy="178308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-54"/>
          <p:cNvSpPr txBox="1"/>
          <p:nvPr/>
        </p:nvSpPr>
        <p:spPr>
          <a:xfrm>
            <a:off x="1007668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✓  </a:t>
            </a:r>
            <a:r>
              <a:rPr lang="en-US" sz="1250" b="1" dirty="0">
                <a:solidFill>
                  <a:schemeClr val="tx1"/>
                </a:solidFill>
              </a:rPr>
              <a:t>0→1→0</a:t>
            </a:r>
            <a:endParaRPr lang="en-US" sz="1250" dirty="0"/>
          </a:p>
        </p:txBody>
      </p:sp>
      <p:sp>
        <p:nvSpPr>
          <p:cNvPr id="59" name="text-55"/>
          <p:cNvSpPr txBox="1"/>
          <p:nvPr/>
        </p:nvSpPr>
        <p:spPr>
          <a:xfrm>
            <a:off x="10076688" y="41330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Two different edges, 0→1 and 1→0.</a:t>
            </a:r>
            <a:endParaRPr lang="en-US" sz="1050" dirty="0"/>
          </a:p>
        </p:txBody>
      </p:sp>
      <p:sp>
        <p:nvSpPr>
          <p:cNvPr id="60" name="edge-56"/>
          <p:cNvSpPr/>
          <p:nvPr/>
        </p:nvSpPr>
        <p:spPr>
          <a:xfrm>
            <a:off x="10506456" y="3236976"/>
            <a:ext cx="585216" cy="914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1" name="edge-57"/>
          <p:cNvSpPr/>
          <p:nvPr/>
        </p:nvSpPr>
        <p:spPr>
          <a:xfrm flipH="1">
            <a:off x="10524744" y="3401568"/>
            <a:ext cx="585216" cy="914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vertex-58"/>
          <p:cNvSpPr/>
          <p:nvPr/>
        </p:nvSpPr>
        <p:spPr>
          <a:xfrm>
            <a:off x="10195560" y="3163824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63" name="vertex-59"/>
          <p:cNvSpPr/>
          <p:nvPr/>
        </p:nvSpPr>
        <p:spPr>
          <a:xfrm>
            <a:off x="11109960" y="3163824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64" name="rule-60"/>
          <p:cNvSpPr/>
          <p:nvPr/>
        </p:nvSpPr>
        <p:spPr>
          <a:xfrm>
            <a:off x="502920" y="4681728"/>
            <a:ext cx="11183112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-61"/>
          <p:cNvSpPr txBox="1"/>
          <p:nvPr/>
        </p:nvSpPr>
        <p:spPr>
          <a:xfrm>
            <a:off x="594360" y="4681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Follow edge direction?</a:t>
            </a:r>
            <a:endParaRPr lang="en-US" sz="1350" dirty="0"/>
          </a:p>
        </p:txBody>
      </p:sp>
      <p:sp>
        <p:nvSpPr>
          <p:cNvPr id="66" name="text-62"/>
          <p:cNvSpPr txBox="1"/>
          <p:nvPr/>
        </p:nvSpPr>
        <p:spPr>
          <a:xfrm>
            <a:off x="3154680" y="4681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No: edges have none</a:t>
            </a:r>
            <a:endParaRPr lang="en-US" sz="1300" dirty="0"/>
          </a:p>
        </p:txBody>
      </p:sp>
      <p:sp>
        <p:nvSpPr>
          <p:cNvPr id="67" name="text-63"/>
          <p:cNvSpPr txBox="1"/>
          <p:nvPr/>
        </p:nvSpPr>
        <p:spPr>
          <a:xfrm>
            <a:off x="6382512" y="46817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Yes: every edge, tail to head</a:t>
            </a:r>
            <a:endParaRPr lang="en-US" sz="1300" dirty="0"/>
          </a:p>
        </p:txBody>
      </p:sp>
      <p:sp>
        <p:nvSpPr>
          <p:cNvPr id="68" name="rule-64"/>
          <p:cNvSpPr/>
          <p:nvPr/>
        </p:nvSpPr>
        <p:spPr>
          <a:xfrm>
            <a:off x="502920" y="5047488"/>
            <a:ext cx="1118311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-65"/>
          <p:cNvSpPr txBox="1"/>
          <p:nvPr/>
        </p:nvSpPr>
        <p:spPr>
          <a:xfrm>
            <a:off x="594360" y="50474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Repeated vertices?</a:t>
            </a:r>
            <a:endParaRPr lang="en-US" sz="1350" dirty="0"/>
          </a:p>
        </p:txBody>
      </p:sp>
      <p:sp>
        <p:nvSpPr>
          <p:cNvPr id="70" name="text-66"/>
          <p:cNvSpPr txBox="1"/>
          <p:nvPr/>
        </p:nvSpPr>
        <p:spPr>
          <a:xfrm>
            <a:off x="3154680" y="50474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No, except start = end*</a:t>
            </a:r>
            <a:endParaRPr lang="en-US" sz="1300" dirty="0"/>
          </a:p>
        </p:txBody>
      </p:sp>
      <p:sp>
        <p:nvSpPr>
          <p:cNvPr id="71" name="text-67"/>
          <p:cNvSpPr txBox="1"/>
          <p:nvPr/>
        </p:nvSpPr>
        <p:spPr>
          <a:xfrm>
            <a:off x="6382512" y="50474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No, except start = end*</a:t>
            </a:r>
            <a:endParaRPr lang="en-US" sz="1300" dirty="0"/>
          </a:p>
        </p:txBody>
      </p:sp>
      <p:sp>
        <p:nvSpPr>
          <p:cNvPr id="72" name="rule-68"/>
          <p:cNvSpPr/>
          <p:nvPr/>
        </p:nvSpPr>
        <p:spPr>
          <a:xfrm>
            <a:off x="502920" y="5413248"/>
            <a:ext cx="1118311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-69"/>
          <p:cNvSpPr txBox="1"/>
          <p:nvPr/>
        </p:nvSpPr>
        <p:spPr>
          <a:xfrm>
            <a:off x="594360" y="54132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Shortest cycle</a:t>
            </a:r>
            <a:endParaRPr lang="en-US" sz="1350" dirty="0"/>
          </a:p>
        </p:txBody>
      </p:sp>
      <p:sp>
        <p:nvSpPr>
          <p:cNvPr id="74" name="text-70"/>
          <p:cNvSpPr txBox="1"/>
          <p:nvPr/>
        </p:nvSpPr>
        <p:spPr>
          <a:xfrm>
            <a:off x="3154680" y="5413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3 edges   (0–1–2–0)</a:t>
            </a:r>
            <a:endParaRPr lang="en-US" sz="1300" dirty="0"/>
          </a:p>
        </p:txBody>
      </p:sp>
      <p:sp>
        <p:nvSpPr>
          <p:cNvPr id="75" name="text-71"/>
          <p:cNvSpPr txBox="1"/>
          <p:nvPr/>
        </p:nvSpPr>
        <p:spPr>
          <a:xfrm>
            <a:off x="6382512" y="54132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edges   (0→1→0)</a:t>
            </a:r>
            <a:endParaRPr lang="en-US" sz="1300" dirty="0"/>
          </a:p>
        </p:txBody>
      </p:sp>
      <p:sp>
        <p:nvSpPr>
          <p:cNvPr id="76" name="rule-72"/>
          <p:cNvSpPr/>
          <p:nvPr/>
        </p:nvSpPr>
        <p:spPr>
          <a:xfrm>
            <a:off x="502920" y="5779008"/>
            <a:ext cx="11183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card-73"/>
          <p:cNvSpPr/>
          <p:nvPr/>
        </p:nvSpPr>
        <p:spPr>
          <a:xfrm>
            <a:off x="502920" y="5833872"/>
            <a:ext cx="11183112" cy="420624"/>
          </a:xfrm>
          <a:prstGeom prst="roundRect">
            <a:avLst>
              <a:gd name="adj" fmla="val 13043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-74"/>
          <p:cNvSpPr txBox="1"/>
          <p:nvPr/>
        </p:nvSpPr>
        <p:spPr>
          <a:xfrm>
            <a:off x="685800" y="5833872"/>
            <a:ext cx="10817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Key distinction: </a:t>
            </a:r>
            <a:r>
              <a:rPr lang="en-US" sz="1350" dirty="0">
                <a:solidFill>
                  <a:schemeClr val="tx1"/>
                </a:solidFill>
              </a:rPr>
              <a:t>a triangle of edges is always an undirected cycle, but it is a directed cycle only if the arrows all point the same way round.</a:t>
            </a:r>
            <a:endParaRPr lang="en-US" sz="1350" dirty="0"/>
          </a:p>
        </p:txBody>
      </p:sp>
      <p:sp>
        <p:nvSpPr>
          <p:cNvPr id="79" name="text-75"/>
          <p:cNvSpPr txBox="1"/>
          <p:nvPr/>
        </p:nvSpPr>
        <p:spPr>
          <a:xfrm>
            <a:off x="502920" y="6281928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* Some textbooks (e.g. Sedgewick &amp; Wayne) allow repeated vertices in a cycle and call this no-repeats version a simple cycle. Any cycle splits into simple cycles, so whether a graph has a cycle is the same either way.</a:t>
            </a:r>
            <a:endParaRPr lang="en-US" sz="900" dirty="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REPRESENTATION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Storing a Graph in Code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Before choosing a data structure, fix how vertices are named and which operations we need to be fast.</a:t>
            </a:r>
            <a:endParaRPr lang="en-US" sz="1350" dirty="0"/>
          </a:p>
        </p:txBody>
      </p:sp>
      <p:sp>
        <p:nvSpPr>
          <p:cNvPr id="5" name="card-255"/>
          <p:cNvSpPr/>
          <p:nvPr/>
        </p:nvSpPr>
        <p:spPr>
          <a:xfrm>
            <a:off x="502920" y="1691640"/>
            <a:ext cx="5486400" cy="17830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-256"/>
          <p:cNvSpPr txBox="1"/>
          <p:nvPr/>
        </p:nvSpPr>
        <p:spPr>
          <a:xfrm>
            <a:off x="685800" y="1828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NAMING VERTICES</a:t>
            </a:r>
            <a:endParaRPr lang="en-US" sz="1050" dirty="0"/>
          </a:p>
        </p:txBody>
      </p:sp>
      <p:sp>
        <p:nvSpPr>
          <p:cNvPr id="7" name="text-257"/>
          <p:cNvSpPr txBox="1"/>
          <p:nvPr/>
        </p:nvSpPr>
        <p:spPr>
          <a:xfrm>
            <a:off x="68580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Use integers 0 … V−1 so a vertex can index a list. Real names? Map them with a Python dict (a hash table, from last lecture).</a:t>
            </a:r>
            <a:endParaRPr lang="en-US" sz="1200" dirty="0"/>
          </a:p>
        </p:txBody>
      </p:sp>
      <p:sp>
        <p:nvSpPr>
          <p:cNvPr id="8" name="text-258"/>
          <p:cNvSpPr txBox="1"/>
          <p:nvPr/>
        </p:nvSpPr>
        <p:spPr>
          <a:xfrm>
            <a:off x="685800" y="2816352"/>
            <a:ext cx="713232" cy="384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"JFK"</a:t>
            </a:r>
            <a:endParaRPr lang="en-US" sz="1100" dirty="0"/>
          </a:p>
        </p:txBody>
      </p:sp>
      <p:sp>
        <p:nvSpPr>
          <p:cNvPr id="9" name="text-259"/>
          <p:cNvSpPr txBox="1"/>
          <p:nvPr/>
        </p:nvSpPr>
        <p:spPr>
          <a:xfrm>
            <a:off x="1399032" y="2816352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text-260"/>
          <p:cNvSpPr txBox="1"/>
          <p:nvPr/>
        </p:nvSpPr>
        <p:spPr>
          <a:xfrm>
            <a:off x="1627632" y="2816352"/>
            <a:ext cx="27432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text-261"/>
          <p:cNvSpPr txBox="1"/>
          <p:nvPr/>
        </p:nvSpPr>
        <p:spPr>
          <a:xfrm>
            <a:off x="1965960" y="2816352"/>
            <a:ext cx="713232" cy="384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"ORD"</a:t>
            </a:r>
            <a:endParaRPr lang="en-US" sz="1100" dirty="0"/>
          </a:p>
        </p:txBody>
      </p:sp>
      <p:sp>
        <p:nvSpPr>
          <p:cNvPr id="12" name="text-262"/>
          <p:cNvSpPr txBox="1"/>
          <p:nvPr/>
        </p:nvSpPr>
        <p:spPr>
          <a:xfrm>
            <a:off x="2679192" y="2816352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text-263"/>
          <p:cNvSpPr txBox="1"/>
          <p:nvPr/>
        </p:nvSpPr>
        <p:spPr>
          <a:xfrm>
            <a:off x="2907792" y="2816352"/>
            <a:ext cx="27432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-264"/>
          <p:cNvSpPr txBox="1"/>
          <p:nvPr/>
        </p:nvSpPr>
        <p:spPr>
          <a:xfrm>
            <a:off x="3246120" y="2816352"/>
            <a:ext cx="713232" cy="384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"LAX"</a:t>
            </a:r>
            <a:endParaRPr lang="en-US" sz="1100" dirty="0"/>
          </a:p>
        </p:txBody>
      </p:sp>
      <p:sp>
        <p:nvSpPr>
          <p:cNvPr id="15" name="text-265"/>
          <p:cNvSpPr txBox="1"/>
          <p:nvPr/>
        </p:nvSpPr>
        <p:spPr>
          <a:xfrm>
            <a:off x="3959352" y="2816352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text-266"/>
          <p:cNvSpPr txBox="1"/>
          <p:nvPr/>
        </p:nvSpPr>
        <p:spPr>
          <a:xfrm>
            <a:off x="4187952" y="2816352"/>
            <a:ext cx="27432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-267"/>
          <p:cNvSpPr txBox="1"/>
          <p:nvPr/>
        </p:nvSpPr>
        <p:spPr>
          <a:xfrm>
            <a:off x="4526280" y="2816352"/>
            <a:ext cx="713232" cy="384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"SEA"</a:t>
            </a:r>
            <a:endParaRPr lang="en-US" sz="1100" dirty="0"/>
          </a:p>
        </p:txBody>
      </p:sp>
      <p:sp>
        <p:nvSpPr>
          <p:cNvPr id="18" name="text-268"/>
          <p:cNvSpPr txBox="1"/>
          <p:nvPr/>
        </p:nvSpPr>
        <p:spPr>
          <a:xfrm>
            <a:off x="5239512" y="2816352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text-269"/>
          <p:cNvSpPr txBox="1"/>
          <p:nvPr/>
        </p:nvSpPr>
        <p:spPr>
          <a:xfrm>
            <a:off x="5468112" y="2816352"/>
            <a:ext cx="27432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card-270"/>
          <p:cNvSpPr/>
          <p:nvPr/>
        </p:nvSpPr>
        <p:spPr>
          <a:xfrm>
            <a:off x="502920" y="3611880"/>
            <a:ext cx="548640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-271"/>
          <p:cNvSpPr txBox="1"/>
          <p:nvPr/>
        </p:nvSpPr>
        <p:spPr>
          <a:xfrm>
            <a:off x="685800" y="3749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OPERATIONS WE NEED</a:t>
            </a:r>
            <a:endParaRPr lang="en-US" sz="1050" dirty="0"/>
          </a:p>
        </p:txBody>
      </p:sp>
      <p:sp>
        <p:nvSpPr>
          <p:cNvPr id="22" name="text-272"/>
          <p:cNvSpPr txBox="1"/>
          <p:nvPr/>
        </p:nvSpPr>
        <p:spPr>
          <a:xfrm>
            <a:off x="685800" y="4069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add_edge(v, w)</a:t>
            </a:r>
            <a:endParaRPr lang="en-US" sz="1250" dirty="0"/>
          </a:p>
        </p:txBody>
      </p:sp>
      <p:sp>
        <p:nvSpPr>
          <p:cNvPr id="23" name="text-273"/>
          <p:cNvSpPr txBox="1"/>
          <p:nvPr/>
        </p:nvSpPr>
        <p:spPr>
          <a:xfrm>
            <a:off x="2834640" y="40690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add edge v–w</a:t>
            </a:r>
            <a:endParaRPr lang="en-US" sz="1200" dirty="0"/>
          </a:p>
        </p:txBody>
      </p:sp>
      <p:sp>
        <p:nvSpPr>
          <p:cNvPr id="24" name="text-274"/>
          <p:cNvSpPr txBox="1"/>
          <p:nvPr/>
        </p:nvSpPr>
        <p:spPr>
          <a:xfrm>
            <a:off x="685800" y="44622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neighbors(v)</a:t>
            </a:r>
            <a:endParaRPr lang="en-US" sz="1250" dirty="0"/>
          </a:p>
        </p:txBody>
      </p:sp>
      <p:sp>
        <p:nvSpPr>
          <p:cNvPr id="25" name="text-275"/>
          <p:cNvSpPr txBox="1"/>
          <p:nvPr/>
        </p:nvSpPr>
        <p:spPr>
          <a:xfrm>
            <a:off x="2834640" y="44622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iterate:  for w in adj[v]</a:t>
            </a:r>
            <a:endParaRPr lang="en-US" sz="1200" dirty="0"/>
          </a:p>
        </p:txBody>
      </p:sp>
      <p:sp>
        <p:nvSpPr>
          <p:cNvPr id="26" name="text-276"/>
          <p:cNvSpPr txBox="1"/>
          <p:nvPr/>
        </p:nvSpPr>
        <p:spPr>
          <a:xfrm>
            <a:off x="685800" y="48554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has_edge(v, w)</a:t>
            </a:r>
            <a:endParaRPr lang="en-US" sz="1250" dirty="0"/>
          </a:p>
        </p:txBody>
      </p:sp>
      <p:sp>
        <p:nvSpPr>
          <p:cNvPr id="27" name="text-277"/>
          <p:cNvSpPr txBox="1"/>
          <p:nvPr/>
        </p:nvSpPr>
        <p:spPr>
          <a:xfrm>
            <a:off x="2834640" y="48554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is v–w an edge?  (returns bool)</a:t>
            </a:r>
            <a:endParaRPr lang="en-US" sz="1200" dirty="0"/>
          </a:p>
        </p:txBody>
      </p:sp>
      <p:sp>
        <p:nvSpPr>
          <p:cNvPr id="28" name="text-278"/>
          <p:cNvSpPr txBox="1"/>
          <p:nvPr/>
        </p:nvSpPr>
        <p:spPr>
          <a:xfrm>
            <a:off x="685800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len(adj)</a:t>
            </a:r>
            <a:endParaRPr lang="en-US" sz="1250" dirty="0"/>
          </a:p>
        </p:txBody>
      </p:sp>
      <p:sp>
        <p:nvSpPr>
          <p:cNvPr id="29" name="text-279"/>
          <p:cNvSpPr txBox="1"/>
          <p:nvPr/>
        </p:nvSpPr>
        <p:spPr>
          <a:xfrm>
            <a:off x="2834640" y="52486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number of vertices V</a:t>
            </a:r>
            <a:endParaRPr lang="en-US" sz="1200" dirty="0"/>
          </a:p>
        </p:txBody>
      </p:sp>
      <p:sp>
        <p:nvSpPr>
          <p:cNvPr id="30" name="card-280"/>
          <p:cNvSpPr/>
          <p:nvPr/>
        </p:nvSpPr>
        <p:spPr>
          <a:xfrm>
            <a:off x="6217920" y="1691640"/>
            <a:ext cx="5468112" cy="2560320"/>
          </a:xfrm>
          <a:prstGeom prst="roundRect">
            <a:avLst>
              <a:gd name="adj" fmla="val 2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-281"/>
          <p:cNvSpPr txBox="1"/>
          <p:nvPr/>
        </p:nvSpPr>
        <p:spPr>
          <a:xfrm>
            <a:off x="640080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RUNNING EXAMPLE</a:t>
            </a:r>
            <a:endParaRPr lang="en-US" sz="1050" dirty="0"/>
          </a:p>
        </p:txBody>
      </p:sp>
      <p:sp>
        <p:nvSpPr>
          <p:cNvPr id="32" name="edge-282"/>
          <p:cNvSpPr/>
          <p:nvPr/>
        </p:nvSpPr>
        <p:spPr>
          <a:xfrm flipV="1">
            <a:off x="6957405" y="2395335"/>
            <a:ext cx="578431" cy="19281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edge-283"/>
          <p:cNvSpPr/>
          <p:nvPr/>
        </p:nvSpPr>
        <p:spPr>
          <a:xfrm>
            <a:off x="6940325" y="2753123"/>
            <a:ext cx="749751" cy="437355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edge-284"/>
          <p:cNvSpPr/>
          <p:nvPr/>
        </p:nvSpPr>
        <p:spPr>
          <a:xfrm>
            <a:off x="6835813" y="2840632"/>
            <a:ext cx="364414" cy="99385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edge-285"/>
          <p:cNvSpPr/>
          <p:nvPr/>
        </p:nvSpPr>
        <p:spPr>
          <a:xfrm>
            <a:off x="7755129" y="2530866"/>
            <a:ext cx="80261" cy="56182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edge-286"/>
          <p:cNvSpPr/>
          <p:nvPr/>
        </p:nvSpPr>
        <p:spPr>
          <a:xfrm>
            <a:off x="8064834" y="3300215"/>
            <a:ext cx="695293" cy="28971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edge-287"/>
          <p:cNvSpPr/>
          <p:nvPr/>
        </p:nvSpPr>
        <p:spPr>
          <a:xfrm flipV="1">
            <a:off x="9089004" y="2715608"/>
            <a:ext cx="384312" cy="466665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edge-288"/>
          <p:cNvSpPr/>
          <p:nvPr/>
        </p:nvSpPr>
        <p:spPr>
          <a:xfrm flipH="1">
            <a:off x="7455910" y="3413140"/>
            <a:ext cx="1318779" cy="5346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vertex-289"/>
          <p:cNvSpPr/>
          <p:nvPr/>
        </p:nvSpPr>
        <p:spPr>
          <a:xfrm>
            <a:off x="6565392" y="245059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vertex-290"/>
          <p:cNvSpPr/>
          <p:nvPr/>
        </p:nvSpPr>
        <p:spPr>
          <a:xfrm>
            <a:off x="7525512" y="213055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vertex-291"/>
          <p:cNvSpPr/>
          <p:nvPr/>
        </p:nvSpPr>
        <p:spPr>
          <a:xfrm>
            <a:off x="7662672" y="309067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vertex-292"/>
          <p:cNvSpPr/>
          <p:nvPr/>
        </p:nvSpPr>
        <p:spPr>
          <a:xfrm>
            <a:off x="8759952" y="313639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vertex-293"/>
          <p:cNvSpPr/>
          <p:nvPr/>
        </p:nvSpPr>
        <p:spPr>
          <a:xfrm>
            <a:off x="9400032" y="235915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vertex-294"/>
          <p:cNvSpPr/>
          <p:nvPr/>
        </p:nvSpPr>
        <p:spPr>
          <a:xfrm>
            <a:off x="7068312" y="382219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-295"/>
          <p:cNvSpPr txBox="1"/>
          <p:nvPr/>
        </p:nvSpPr>
        <p:spPr>
          <a:xfrm>
            <a:off x="1010412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6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7</a:t>
            </a:r>
            <a:endParaRPr lang="en-US" sz="1500" dirty="0"/>
          </a:p>
        </p:txBody>
      </p:sp>
      <p:sp>
        <p:nvSpPr>
          <p:cNvPr id="46" name="card-296"/>
          <p:cNvSpPr/>
          <p:nvPr/>
        </p:nvSpPr>
        <p:spPr>
          <a:xfrm>
            <a:off x="6217920" y="4343400"/>
            <a:ext cx="5468112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-297"/>
          <p:cNvSpPr txBox="1"/>
          <p:nvPr/>
        </p:nvSpPr>
        <p:spPr>
          <a:xfrm>
            <a:off x="6400800" y="4453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SPARSE VS DENSE</a:t>
            </a:r>
            <a:endParaRPr lang="en-US" sz="1050" dirty="0"/>
          </a:p>
        </p:txBody>
      </p:sp>
      <p:sp>
        <p:nvSpPr>
          <p:cNvPr id="48" name="text-298"/>
          <p:cNvSpPr txBox="1"/>
          <p:nvPr/>
        </p:nvSpPr>
        <p:spPr>
          <a:xfrm>
            <a:off x="640080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≤ E ≤ V(V−1)/2</a:t>
            </a:r>
            <a:endParaRPr lang="en-US" sz="1300" dirty="0"/>
          </a:p>
        </p:txBody>
      </p:sp>
      <p:sp>
        <p:nvSpPr>
          <p:cNvPr id="49" name="text-299"/>
          <p:cNvSpPr txBox="1"/>
          <p:nvPr/>
        </p:nvSpPr>
        <p:spPr>
          <a:xfrm>
            <a:off x="8915400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Dense: </a:t>
            </a:r>
            <a:r>
              <a:rPr lang="en-US" sz="1200" dirty="0">
                <a:solidFill>
                  <a:schemeClr val="accent4"/>
                </a:solidFill>
              </a:rPr>
              <a:t>E close to V²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Sparse: </a:t>
            </a:r>
            <a:r>
              <a:rPr lang="en-US" sz="1200" dirty="0">
                <a:solidFill>
                  <a:schemeClr val="accent4"/>
                </a:solidFill>
              </a:rPr>
              <a:t>E close to V</a:t>
            </a:r>
            <a:endParaRPr lang="en-US" sz="1200" dirty="0"/>
          </a:p>
        </p:txBody>
      </p:sp>
      <p:sp>
        <p:nvSpPr>
          <p:cNvPr id="51" name="card-301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-302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chemeClr val="tx1"/>
                </a:solidFill>
              </a:rPr>
              <a:t>The best representation depends on </a:t>
            </a:r>
            <a:r>
              <a:rPr lang="en-US" sz="1350" b="1" dirty="0">
                <a:solidFill>
                  <a:schemeClr val="tx1"/>
                </a:solidFill>
              </a:rPr>
              <a:t>how dense the graph is</a:t>
            </a:r>
            <a:r>
              <a:rPr lang="en-US" sz="1350" dirty="0">
                <a:solidFill>
                  <a:schemeClr val="tx1"/>
                </a:solidFill>
              </a:rPr>
              <a:t> and </a:t>
            </a:r>
            <a:r>
              <a:rPr lang="en-US" sz="1350" b="1" dirty="0">
                <a:solidFill>
                  <a:schemeClr val="tx1"/>
                </a:solidFill>
              </a:rPr>
              <a:t>which operations the algorithm calls most.</a:t>
            </a:r>
            <a:endParaRPr lang="en-US" sz="135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REPRESENTATION 1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Adjacency Matrix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A V × V list of lists of bools: adj[v][w] is True exactly when there is an edge v–w.</a:t>
            </a:r>
            <a:endParaRPr lang="en-US" sz="1350" dirty="0"/>
          </a:p>
        </p:txBody>
      </p:sp>
      <p:sp>
        <p:nvSpPr>
          <p:cNvPr id="5" name="card-303"/>
          <p:cNvSpPr/>
          <p:nvPr/>
        </p:nvSpPr>
        <p:spPr>
          <a:xfrm>
            <a:off x="502920" y="1691640"/>
            <a:ext cx="3611880" cy="4023360"/>
          </a:xfrm>
          <a:prstGeom prst="roundRect">
            <a:avLst>
              <a:gd name="adj" fmla="val 15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-304"/>
          <p:cNvSpPr txBox="1"/>
          <p:nvPr/>
        </p:nvSpPr>
        <p:spPr>
          <a:xfrm>
            <a:off x="685800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GRAPH</a:t>
            </a:r>
            <a:endParaRPr lang="en-US" sz="1050" dirty="0"/>
          </a:p>
        </p:txBody>
      </p:sp>
      <p:sp>
        <p:nvSpPr>
          <p:cNvPr id="7" name="edge-305"/>
          <p:cNvSpPr/>
          <p:nvPr/>
        </p:nvSpPr>
        <p:spPr>
          <a:xfrm flipV="1">
            <a:off x="1069607" y="2389552"/>
            <a:ext cx="613130" cy="204377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306"/>
          <p:cNvSpPr/>
          <p:nvPr/>
        </p:nvSpPr>
        <p:spPr>
          <a:xfrm>
            <a:off x="1054080" y="2743908"/>
            <a:ext cx="781344" cy="45578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307"/>
          <p:cNvSpPr/>
          <p:nvPr/>
        </p:nvSpPr>
        <p:spPr>
          <a:xfrm>
            <a:off x="959069" y="2823462"/>
            <a:ext cx="377005" cy="1028197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308"/>
          <p:cNvSpPr/>
          <p:nvPr/>
        </p:nvSpPr>
        <p:spPr>
          <a:xfrm>
            <a:off x="1882095" y="2512762"/>
            <a:ext cx="85434" cy="59803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309"/>
          <p:cNvSpPr/>
          <p:nvPr/>
        </p:nvSpPr>
        <p:spPr>
          <a:xfrm>
            <a:off x="2176113" y="3299453"/>
            <a:ext cx="731837" cy="30493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dge-310"/>
          <p:cNvSpPr/>
          <p:nvPr/>
        </p:nvSpPr>
        <p:spPr>
          <a:xfrm flipV="1">
            <a:off x="3206930" y="2701491"/>
            <a:ext cx="407564" cy="494899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dge-311"/>
          <p:cNvSpPr/>
          <p:nvPr/>
        </p:nvSpPr>
        <p:spPr>
          <a:xfrm flipH="1">
            <a:off x="1568514" y="3406269"/>
            <a:ext cx="1352676" cy="54838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vertex-312"/>
          <p:cNvSpPr/>
          <p:nvPr/>
        </p:nvSpPr>
        <p:spPr>
          <a:xfrm>
            <a:off x="713232" y="246888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vertex-313"/>
          <p:cNvSpPr/>
          <p:nvPr/>
        </p:nvSpPr>
        <p:spPr>
          <a:xfrm>
            <a:off x="1673352" y="214884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vertex-314"/>
          <p:cNvSpPr/>
          <p:nvPr/>
        </p:nvSpPr>
        <p:spPr>
          <a:xfrm>
            <a:off x="1810512" y="310896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vertex-315"/>
          <p:cNvSpPr/>
          <p:nvPr/>
        </p:nvSpPr>
        <p:spPr>
          <a:xfrm>
            <a:off x="2907792" y="315468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vertex-316"/>
          <p:cNvSpPr/>
          <p:nvPr/>
        </p:nvSpPr>
        <p:spPr>
          <a:xfrm>
            <a:off x="3547872" y="237744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vertex-317"/>
          <p:cNvSpPr/>
          <p:nvPr/>
        </p:nvSpPr>
        <p:spPr>
          <a:xfrm>
            <a:off x="1216152" y="384048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card-318"/>
          <p:cNvSpPr/>
          <p:nvPr/>
        </p:nvSpPr>
        <p:spPr>
          <a:xfrm>
            <a:off x="640080" y="4251960"/>
            <a:ext cx="3337560" cy="13258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-319"/>
          <p:cNvSpPr txBox="1"/>
          <p:nvPr/>
        </p:nvSpPr>
        <p:spPr>
          <a:xfrm>
            <a:off x="749808" y="42976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 = [[False] * 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for _ in range(V)]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add_edge(v, w):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adj[v][w] =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adj[w][v] = True</a:t>
            </a:r>
            <a:endParaRPr lang="en-US" sz="1050" dirty="0"/>
          </a:p>
        </p:txBody>
      </p:sp>
      <p:sp>
        <p:nvSpPr>
          <p:cNvPr id="22" name="text-320"/>
          <p:cNvSpPr txBox="1"/>
          <p:nvPr/>
        </p:nvSpPr>
        <p:spPr>
          <a:xfrm>
            <a:off x="472744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text-321"/>
          <p:cNvSpPr txBox="1"/>
          <p:nvPr/>
        </p:nvSpPr>
        <p:spPr>
          <a:xfrm>
            <a:off x="51114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-322"/>
          <p:cNvSpPr txBox="1"/>
          <p:nvPr/>
        </p:nvSpPr>
        <p:spPr>
          <a:xfrm>
            <a:off x="5495544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-323"/>
          <p:cNvSpPr txBox="1"/>
          <p:nvPr/>
        </p:nvSpPr>
        <p:spPr>
          <a:xfrm>
            <a:off x="5879592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-324"/>
          <p:cNvSpPr txBox="1"/>
          <p:nvPr/>
        </p:nvSpPr>
        <p:spPr>
          <a:xfrm>
            <a:off x="6263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-325"/>
          <p:cNvSpPr txBox="1"/>
          <p:nvPr/>
        </p:nvSpPr>
        <p:spPr>
          <a:xfrm>
            <a:off x="664768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-326"/>
          <p:cNvSpPr txBox="1"/>
          <p:nvPr/>
        </p:nvSpPr>
        <p:spPr>
          <a:xfrm>
            <a:off x="434340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cell-327"/>
          <p:cNvSpPr/>
          <p:nvPr/>
        </p:nvSpPr>
        <p:spPr>
          <a:xfrm>
            <a:off x="4727448" y="2258568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cell-328"/>
          <p:cNvSpPr/>
          <p:nvPr/>
        </p:nvSpPr>
        <p:spPr>
          <a:xfrm>
            <a:off x="5111496" y="2258568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cell-329"/>
          <p:cNvSpPr/>
          <p:nvPr/>
        </p:nvSpPr>
        <p:spPr>
          <a:xfrm>
            <a:off x="5495544" y="2258568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cell-330"/>
          <p:cNvSpPr/>
          <p:nvPr/>
        </p:nvSpPr>
        <p:spPr>
          <a:xfrm>
            <a:off x="5879592" y="2258568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cell-331"/>
          <p:cNvSpPr/>
          <p:nvPr/>
        </p:nvSpPr>
        <p:spPr>
          <a:xfrm>
            <a:off x="6263640" y="2258568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cell-332"/>
          <p:cNvSpPr/>
          <p:nvPr/>
        </p:nvSpPr>
        <p:spPr>
          <a:xfrm>
            <a:off x="6647688" y="2258568"/>
            <a:ext cx="38404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-333"/>
          <p:cNvSpPr txBox="1"/>
          <p:nvPr/>
        </p:nvSpPr>
        <p:spPr>
          <a:xfrm>
            <a:off x="434340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cell-334"/>
          <p:cNvSpPr/>
          <p:nvPr/>
        </p:nvSpPr>
        <p:spPr>
          <a:xfrm>
            <a:off x="4727448" y="2642616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cell-335"/>
          <p:cNvSpPr/>
          <p:nvPr/>
        </p:nvSpPr>
        <p:spPr>
          <a:xfrm>
            <a:off x="5111496" y="2642616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8" name="cell-336"/>
          <p:cNvSpPr/>
          <p:nvPr/>
        </p:nvSpPr>
        <p:spPr>
          <a:xfrm>
            <a:off x="5495544" y="2642616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cell-337"/>
          <p:cNvSpPr/>
          <p:nvPr/>
        </p:nvSpPr>
        <p:spPr>
          <a:xfrm>
            <a:off x="5879592" y="2642616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cell-338"/>
          <p:cNvSpPr/>
          <p:nvPr/>
        </p:nvSpPr>
        <p:spPr>
          <a:xfrm>
            <a:off x="6263640" y="2642616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cell-339"/>
          <p:cNvSpPr/>
          <p:nvPr/>
        </p:nvSpPr>
        <p:spPr>
          <a:xfrm>
            <a:off x="6647688" y="2642616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text-340"/>
          <p:cNvSpPr txBox="1"/>
          <p:nvPr/>
        </p:nvSpPr>
        <p:spPr>
          <a:xfrm>
            <a:off x="43434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cell-341"/>
          <p:cNvSpPr/>
          <p:nvPr/>
        </p:nvSpPr>
        <p:spPr>
          <a:xfrm>
            <a:off x="4727448" y="3026664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cell-342"/>
          <p:cNvSpPr/>
          <p:nvPr/>
        </p:nvSpPr>
        <p:spPr>
          <a:xfrm>
            <a:off x="5111496" y="3026664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cell-343"/>
          <p:cNvSpPr/>
          <p:nvPr/>
        </p:nvSpPr>
        <p:spPr>
          <a:xfrm>
            <a:off x="5495544" y="3026664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cell-344"/>
          <p:cNvSpPr/>
          <p:nvPr/>
        </p:nvSpPr>
        <p:spPr>
          <a:xfrm>
            <a:off x="5879592" y="3026664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cell-345"/>
          <p:cNvSpPr/>
          <p:nvPr/>
        </p:nvSpPr>
        <p:spPr>
          <a:xfrm>
            <a:off x="6263640" y="3026664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8" name="cell-346"/>
          <p:cNvSpPr/>
          <p:nvPr/>
        </p:nvSpPr>
        <p:spPr>
          <a:xfrm>
            <a:off x="6647688" y="3026664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9" name="text-347"/>
          <p:cNvSpPr txBox="1"/>
          <p:nvPr/>
        </p:nvSpPr>
        <p:spPr>
          <a:xfrm>
            <a:off x="434340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cell-348"/>
          <p:cNvSpPr/>
          <p:nvPr/>
        </p:nvSpPr>
        <p:spPr>
          <a:xfrm>
            <a:off x="4727448" y="3410712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cell-349"/>
          <p:cNvSpPr/>
          <p:nvPr/>
        </p:nvSpPr>
        <p:spPr>
          <a:xfrm>
            <a:off x="5111496" y="3410712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2" name="cell-350"/>
          <p:cNvSpPr/>
          <p:nvPr/>
        </p:nvSpPr>
        <p:spPr>
          <a:xfrm>
            <a:off x="5495544" y="3410712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cell-351"/>
          <p:cNvSpPr/>
          <p:nvPr/>
        </p:nvSpPr>
        <p:spPr>
          <a:xfrm>
            <a:off x="5879592" y="3410712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4" name="cell-352"/>
          <p:cNvSpPr/>
          <p:nvPr/>
        </p:nvSpPr>
        <p:spPr>
          <a:xfrm>
            <a:off x="6263640" y="3410712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5" name="cell-353"/>
          <p:cNvSpPr/>
          <p:nvPr/>
        </p:nvSpPr>
        <p:spPr>
          <a:xfrm>
            <a:off x="6647688" y="3410712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6" name="text-354"/>
          <p:cNvSpPr txBox="1"/>
          <p:nvPr/>
        </p:nvSpPr>
        <p:spPr>
          <a:xfrm>
            <a:off x="43434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57" name="cell-355"/>
          <p:cNvSpPr/>
          <p:nvPr/>
        </p:nvSpPr>
        <p:spPr>
          <a:xfrm>
            <a:off x="4727448" y="3794760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8" name="cell-356"/>
          <p:cNvSpPr/>
          <p:nvPr/>
        </p:nvSpPr>
        <p:spPr>
          <a:xfrm>
            <a:off x="5111496" y="3794760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cell-357"/>
          <p:cNvSpPr/>
          <p:nvPr/>
        </p:nvSpPr>
        <p:spPr>
          <a:xfrm>
            <a:off x="5495544" y="3794760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0" name="cell-358"/>
          <p:cNvSpPr/>
          <p:nvPr/>
        </p:nvSpPr>
        <p:spPr>
          <a:xfrm>
            <a:off x="5879592" y="3794760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cell-359"/>
          <p:cNvSpPr/>
          <p:nvPr/>
        </p:nvSpPr>
        <p:spPr>
          <a:xfrm>
            <a:off x="6263640" y="3794760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2" name="cell-360"/>
          <p:cNvSpPr/>
          <p:nvPr/>
        </p:nvSpPr>
        <p:spPr>
          <a:xfrm>
            <a:off x="6647688" y="3794760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3" name="text-361"/>
          <p:cNvSpPr txBox="1"/>
          <p:nvPr/>
        </p:nvSpPr>
        <p:spPr>
          <a:xfrm>
            <a:off x="434340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64" name="cell-362"/>
          <p:cNvSpPr/>
          <p:nvPr/>
        </p:nvSpPr>
        <p:spPr>
          <a:xfrm>
            <a:off x="4727448" y="4178808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5" name="cell-363"/>
          <p:cNvSpPr/>
          <p:nvPr/>
        </p:nvSpPr>
        <p:spPr>
          <a:xfrm>
            <a:off x="5111496" y="4178808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6" name="cell-364"/>
          <p:cNvSpPr/>
          <p:nvPr/>
        </p:nvSpPr>
        <p:spPr>
          <a:xfrm>
            <a:off x="5495544" y="4178808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7" name="cell-365"/>
          <p:cNvSpPr/>
          <p:nvPr/>
        </p:nvSpPr>
        <p:spPr>
          <a:xfrm>
            <a:off x="5879592" y="4178808"/>
            <a:ext cx="38404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8" name="cell-366"/>
          <p:cNvSpPr/>
          <p:nvPr/>
        </p:nvSpPr>
        <p:spPr>
          <a:xfrm>
            <a:off x="6263640" y="4178808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9" name="cell-367"/>
          <p:cNvSpPr/>
          <p:nvPr/>
        </p:nvSpPr>
        <p:spPr>
          <a:xfrm>
            <a:off x="6647688" y="4178808"/>
            <a:ext cx="384048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0" name="row-highlight"/>
          <p:cNvSpPr/>
          <p:nvPr/>
        </p:nvSpPr>
        <p:spPr>
          <a:xfrm>
            <a:off x="4700016" y="2999232"/>
            <a:ext cx="2359152" cy="438912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-368"/>
          <p:cNvSpPr txBox="1"/>
          <p:nvPr/>
        </p:nvSpPr>
        <p:spPr>
          <a:xfrm>
            <a:off x="4343400" y="4663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adj[0][5]</a:t>
            </a:r>
            <a:r>
              <a:rPr lang="en-US" sz="1150" dirty="0">
                <a:solidFill>
                  <a:schemeClr val="accent4"/>
                </a:solidFill>
              </a:rPr>
              <a:t>  one cell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adj[2]</a:t>
            </a:r>
            <a:r>
              <a:rPr lang="en-US" sz="1150" dirty="0">
                <a:solidFill>
                  <a:schemeClr val="accent4"/>
                </a:solidFill>
              </a:rPr>
              <a:t>  scan the whole row</a:t>
            </a:r>
            <a:endParaRPr lang="en-US" sz="1150" dirty="0"/>
          </a:p>
        </p:txBody>
      </p:sp>
      <p:sp>
        <p:nvSpPr>
          <p:cNvPr id="72" name="text-369"/>
          <p:cNvSpPr txBox="1"/>
          <p:nvPr/>
        </p:nvSpPr>
        <p:spPr>
          <a:xfrm>
            <a:off x="4343400" y="5212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4"/>
                </a:solidFill>
              </a:rPr>
              <a:t>Symmetric: each edge is stored twice.</a:t>
            </a:r>
            <a:endParaRPr lang="en-US" sz="1150" dirty="0"/>
          </a:p>
        </p:txBody>
      </p:sp>
      <p:sp>
        <p:nvSpPr>
          <p:cNvPr id="73" name="card-370"/>
          <p:cNvSpPr/>
          <p:nvPr/>
        </p:nvSpPr>
        <p:spPr>
          <a:xfrm>
            <a:off x="7635240" y="1691640"/>
            <a:ext cx="4050792" cy="896112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-371"/>
          <p:cNvSpPr txBox="1"/>
          <p:nvPr/>
        </p:nvSpPr>
        <p:spPr>
          <a:xfrm>
            <a:off x="7818120" y="18013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has_edge(v, w)</a:t>
            </a:r>
            <a:endParaRPr lang="en-US" sz="1300" dirty="0"/>
          </a:p>
        </p:txBody>
      </p:sp>
      <p:sp>
        <p:nvSpPr>
          <p:cNvPr id="75" name="text-372"/>
          <p:cNvSpPr txBox="1"/>
          <p:nvPr/>
        </p:nvSpPr>
        <p:spPr>
          <a:xfrm>
            <a:off x="10012680" y="1801368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O(1)</a:t>
            </a:r>
            <a:endParaRPr lang="en-US" sz="1400" dirty="0"/>
          </a:p>
        </p:txBody>
      </p:sp>
      <p:sp>
        <p:nvSpPr>
          <p:cNvPr id="76" name="text-373"/>
          <p:cNvSpPr txBox="1"/>
          <p:nvPr/>
        </p:nvSpPr>
        <p:spPr>
          <a:xfrm>
            <a:off x="7818120" y="214884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One lookup: return adj[v][w]</a:t>
            </a:r>
            <a:endParaRPr lang="en-US" sz="1150" dirty="0"/>
          </a:p>
        </p:txBody>
      </p:sp>
      <p:sp>
        <p:nvSpPr>
          <p:cNvPr id="77" name="card-374"/>
          <p:cNvSpPr/>
          <p:nvPr/>
        </p:nvSpPr>
        <p:spPr>
          <a:xfrm>
            <a:off x="7635240" y="2697480"/>
            <a:ext cx="4050792" cy="896112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-375"/>
          <p:cNvSpPr txBox="1"/>
          <p:nvPr/>
        </p:nvSpPr>
        <p:spPr>
          <a:xfrm>
            <a:off x="7818120" y="2807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neighbors(v)</a:t>
            </a:r>
            <a:endParaRPr lang="en-US" sz="1300" dirty="0"/>
          </a:p>
        </p:txBody>
      </p:sp>
      <p:sp>
        <p:nvSpPr>
          <p:cNvPr id="79" name="text-376"/>
          <p:cNvSpPr txBox="1"/>
          <p:nvPr/>
        </p:nvSpPr>
        <p:spPr>
          <a:xfrm>
            <a:off x="10012680" y="2807208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O(V)</a:t>
            </a:r>
            <a:endParaRPr lang="en-US" sz="1400" dirty="0"/>
          </a:p>
        </p:txBody>
      </p:sp>
      <p:sp>
        <p:nvSpPr>
          <p:cNvPr id="80" name="text-377"/>
          <p:cNvSpPr txBox="1"/>
          <p:nvPr/>
        </p:nvSpPr>
        <p:spPr>
          <a:xfrm>
            <a:off x="7818120" y="315468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Scan all of row v, even if v has one neighbor.</a:t>
            </a:r>
            <a:endParaRPr lang="en-US" sz="1150" dirty="0"/>
          </a:p>
        </p:txBody>
      </p:sp>
      <p:sp>
        <p:nvSpPr>
          <p:cNvPr id="81" name="card-378"/>
          <p:cNvSpPr/>
          <p:nvPr/>
        </p:nvSpPr>
        <p:spPr>
          <a:xfrm>
            <a:off x="7635240" y="3703320"/>
            <a:ext cx="4050792" cy="896112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-379"/>
          <p:cNvSpPr txBox="1"/>
          <p:nvPr/>
        </p:nvSpPr>
        <p:spPr>
          <a:xfrm>
            <a:off x="7818120" y="3813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add_edge(v, w)</a:t>
            </a:r>
            <a:endParaRPr lang="en-US" sz="1300" dirty="0"/>
          </a:p>
        </p:txBody>
      </p:sp>
      <p:sp>
        <p:nvSpPr>
          <p:cNvPr id="83" name="text-380"/>
          <p:cNvSpPr txBox="1"/>
          <p:nvPr/>
        </p:nvSpPr>
        <p:spPr>
          <a:xfrm>
            <a:off x="10012680" y="3813048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O(1)</a:t>
            </a:r>
            <a:endParaRPr lang="en-US" sz="1400" dirty="0"/>
          </a:p>
        </p:txBody>
      </p:sp>
      <p:sp>
        <p:nvSpPr>
          <p:cNvPr id="84" name="text-381"/>
          <p:cNvSpPr txBox="1"/>
          <p:nvPr/>
        </p:nvSpPr>
        <p:spPr>
          <a:xfrm>
            <a:off x="7818120" y="416052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Set two cells to True (one for a digraph).</a:t>
            </a:r>
            <a:endParaRPr lang="en-US" sz="1150" dirty="0"/>
          </a:p>
        </p:txBody>
      </p:sp>
      <p:sp>
        <p:nvSpPr>
          <p:cNvPr id="85" name="card-382"/>
          <p:cNvSpPr/>
          <p:nvPr/>
        </p:nvSpPr>
        <p:spPr>
          <a:xfrm>
            <a:off x="7635240" y="4709160"/>
            <a:ext cx="4050792" cy="896112"/>
          </a:xfrm>
          <a:prstGeom prst="roundRect">
            <a:avLst>
              <a:gd name="adj" fmla="val 6122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-383"/>
          <p:cNvSpPr txBox="1"/>
          <p:nvPr/>
        </p:nvSpPr>
        <p:spPr>
          <a:xfrm>
            <a:off x="7818120" y="48188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</a:t>
            </a:r>
            <a:endParaRPr lang="en-US" sz="1300" dirty="0"/>
          </a:p>
        </p:txBody>
      </p:sp>
      <p:sp>
        <p:nvSpPr>
          <p:cNvPr id="87" name="text-384"/>
          <p:cNvSpPr txBox="1"/>
          <p:nvPr/>
        </p:nvSpPr>
        <p:spPr>
          <a:xfrm>
            <a:off x="10012680" y="4818888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Θ(V²)</a:t>
            </a:r>
            <a:endParaRPr lang="en-US" sz="1400" dirty="0"/>
          </a:p>
        </p:txBody>
      </p:sp>
      <p:sp>
        <p:nvSpPr>
          <p:cNvPr id="88" name="text-385"/>
          <p:cNvSpPr txBox="1"/>
          <p:nvPr/>
        </p:nvSpPr>
        <p:spPr>
          <a:xfrm>
            <a:off x="7818120" y="516636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10⁶ vertices → 10¹² cells, almost all 0.</a:t>
            </a:r>
            <a:endParaRPr lang="en-US" sz="1150" dirty="0"/>
          </a:p>
        </p:txBody>
      </p:sp>
      <p:sp>
        <p:nvSpPr>
          <p:cNvPr id="89" name="card-386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-387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Digraph: </a:t>
            </a:r>
            <a:r>
              <a:rPr lang="en-US" sz="1350" dirty="0">
                <a:solidFill>
                  <a:schemeClr val="tx1"/>
                </a:solidFill>
              </a:rPr>
              <a:t>set only adj[v][w] = True for v → w. Row v lists out-edges, column w lists in-edges, and the matrix is no longer symmetric.</a:t>
            </a:r>
            <a:endParaRPr lang="en-US" sz="1350" dirty="0"/>
          </a:p>
        </p:txBody>
      </p:sp>
      <p:sp>
        <p:nvSpPr>
          <p:cNvPr id="9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REPRESENTATION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Adjacency Lists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A list of lists indexed by vertex: adj[v] holds the neighbors of v.</a:t>
            </a:r>
            <a:endParaRPr lang="en-US" sz="1350" dirty="0"/>
          </a:p>
        </p:txBody>
      </p:sp>
      <p:sp>
        <p:nvSpPr>
          <p:cNvPr id="5" name="card-388"/>
          <p:cNvSpPr/>
          <p:nvPr/>
        </p:nvSpPr>
        <p:spPr>
          <a:xfrm>
            <a:off x="502920" y="1691640"/>
            <a:ext cx="3611880" cy="4023360"/>
          </a:xfrm>
          <a:prstGeom prst="roundRect">
            <a:avLst>
              <a:gd name="adj" fmla="val 15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-389"/>
          <p:cNvSpPr txBox="1"/>
          <p:nvPr/>
        </p:nvSpPr>
        <p:spPr>
          <a:xfrm>
            <a:off x="685800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GRAPH</a:t>
            </a:r>
            <a:endParaRPr lang="en-US" sz="1050" dirty="0"/>
          </a:p>
        </p:txBody>
      </p:sp>
      <p:sp>
        <p:nvSpPr>
          <p:cNvPr id="7" name="edge-390"/>
          <p:cNvSpPr/>
          <p:nvPr/>
        </p:nvSpPr>
        <p:spPr>
          <a:xfrm flipV="1">
            <a:off x="1069607" y="2389552"/>
            <a:ext cx="613130" cy="204377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391"/>
          <p:cNvSpPr/>
          <p:nvPr/>
        </p:nvSpPr>
        <p:spPr>
          <a:xfrm>
            <a:off x="1054080" y="2743908"/>
            <a:ext cx="781344" cy="45578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392"/>
          <p:cNvSpPr/>
          <p:nvPr/>
        </p:nvSpPr>
        <p:spPr>
          <a:xfrm>
            <a:off x="959069" y="2823462"/>
            <a:ext cx="377005" cy="1028197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393"/>
          <p:cNvSpPr/>
          <p:nvPr/>
        </p:nvSpPr>
        <p:spPr>
          <a:xfrm>
            <a:off x="1882095" y="2512762"/>
            <a:ext cx="85434" cy="59803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394"/>
          <p:cNvSpPr/>
          <p:nvPr/>
        </p:nvSpPr>
        <p:spPr>
          <a:xfrm>
            <a:off x="2176113" y="3299453"/>
            <a:ext cx="731837" cy="30493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dge-395"/>
          <p:cNvSpPr/>
          <p:nvPr/>
        </p:nvSpPr>
        <p:spPr>
          <a:xfrm flipV="1">
            <a:off x="3206930" y="2701491"/>
            <a:ext cx="407564" cy="494899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dge-396"/>
          <p:cNvSpPr/>
          <p:nvPr/>
        </p:nvSpPr>
        <p:spPr>
          <a:xfrm flipH="1">
            <a:off x="1568514" y="3406269"/>
            <a:ext cx="1352676" cy="54838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vertex-397"/>
          <p:cNvSpPr/>
          <p:nvPr/>
        </p:nvSpPr>
        <p:spPr>
          <a:xfrm>
            <a:off x="713232" y="246888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vertex-398"/>
          <p:cNvSpPr/>
          <p:nvPr/>
        </p:nvSpPr>
        <p:spPr>
          <a:xfrm>
            <a:off x="1673352" y="214884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vertex-399"/>
          <p:cNvSpPr/>
          <p:nvPr/>
        </p:nvSpPr>
        <p:spPr>
          <a:xfrm>
            <a:off x="1810512" y="310896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vertex-400"/>
          <p:cNvSpPr/>
          <p:nvPr/>
        </p:nvSpPr>
        <p:spPr>
          <a:xfrm>
            <a:off x="2907792" y="315468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vertex-401"/>
          <p:cNvSpPr/>
          <p:nvPr/>
        </p:nvSpPr>
        <p:spPr>
          <a:xfrm>
            <a:off x="3547872" y="237744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vertex-402"/>
          <p:cNvSpPr/>
          <p:nvPr/>
        </p:nvSpPr>
        <p:spPr>
          <a:xfrm>
            <a:off x="1216152" y="384048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card-403"/>
          <p:cNvSpPr/>
          <p:nvPr/>
        </p:nvSpPr>
        <p:spPr>
          <a:xfrm>
            <a:off x="640080" y="4251960"/>
            <a:ext cx="3337560" cy="13258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-404"/>
          <p:cNvSpPr txBox="1"/>
          <p:nvPr/>
        </p:nvSpPr>
        <p:spPr>
          <a:xfrm>
            <a:off x="749808" y="42976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 = [[] for _ in range(V)]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add_edge(v, w):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adj[v].append(w)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adj[w].append(v)</a:t>
            </a:r>
            <a:endParaRPr lang="en-US" sz="1050" dirty="0"/>
          </a:p>
        </p:txBody>
      </p:sp>
      <p:sp>
        <p:nvSpPr>
          <p:cNvPr id="22" name="text-405"/>
          <p:cNvSpPr txBox="1"/>
          <p:nvPr/>
        </p:nvSpPr>
        <p:spPr>
          <a:xfrm>
            <a:off x="4343400" y="1783080"/>
            <a:ext cx="457200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ptr-406"/>
          <p:cNvSpPr/>
          <p:nvPr/>
        </p:nvSpPr>
        <p:spPr>
          <a:xfrm>
            <a:off x="4818888" y="2020824"/>
            <a:ext cx="20116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407"/>
          <p:cNvSpPr txBox="1"/>
          <p:nvPr/>
        </p:nvSpPr>
        <p:spPr>
          <a:xfrm>
            <a:off x="5038344" y="1819656"/>
            <a:ext cx="4572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ptr-408"/>
          <p:cNvSpPr/>
          <p:nvPr/>
        </p:nvSpPr>
        <p:spPr>
          <a:xfrm>
            <a:off x="5513832" y="2020824"/>
            <a:ext cx="20116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-409"/>
          <p:cNvSpPr txBox="1"/>
          <p:nvPr/>
        </p:nvSpPr>
        <p:spPr>
          <a:xfrm>
            <a:off x="5733288" y="1819656"/>
            <a:ext cx="4572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ptr-410"/>
          <p:cNvSpPr/>
          <p:nvPr/>
        </p:nvSpPr>
        <p:spPr>
          <a:xfrm>
            <a:off x="6208776" y="2020824"/>
            <a:ext cx="20116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-411"/>
          <p:cNvSpPr txBox="1"/>
          <p:nvPr/>
        </p:nvSpPr>
        <p:spPr>
          <a:xfrm>
            <a:off x="6428232" y="1819656"/>
            <a:ext cx="4572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-412"/>
          <p:cNvSpPr txBox="1"/>
          <p:nvPr/>
        </p:nvSpPr>
        <p:spPr>
          <a:xfrm>
            <a:off x="4343400" y="2313432"/>
            <a:ext cx="457200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ptr-413"/>
          <p:cNvSpPr/>
          <p:nvPr/>
        </p:nvSpPr>
        <p:spPr>
          <a:xfrm>
            <a:off x="4818888" y="2551176"/>
            <a:ext cx="20116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-414"/>
          <p:cNvSpPr txBox="1"/>
          <p:nvPr/>
        </p:nvSpPr>
        <p:spPr>
          <a:xfrm>
            <a:off x="5038344" y="2350008"/>
            <a:ext cx="4572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ptr-415"/>
          <p:cNvSpPr/>
          <p:nvPr/>
        </p:nvSpPr>
        <p:spPr>
          <a:xfrm>
            <a:off x="5513832" y="2551176"/>
            <a:ext cx="20116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-416"/>
          <p:cNvSpPr txBox="1"/>
          <p:nvPr/>
        </p:nvSpPr>
        <p:spPr>
          <a:xfrm>
            <a:off x="5733288" y="2350008"/>
            <a:ext cx="4572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-417"/>
          <p:cNvSpPr txBox="1"/>
          <p:nvPr/>
        </p:nvSpPr>
        <p:spPr>
          <a:xfrm>
            <a:off x="4343400" y="2843784"/>
            <a:ext cx="457200" cy="4754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ptr-418"/>
          <p:cNvSpPr/>
          <p:nvPr/>
        </p:nvSpPr>
        <p:spPr>
          <a:xfrm>
            <a:off x="4818888" y="3081528"/>
            <a:ext cx="201168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-419"/>
          <p:cNvSpPr txBox="1"/>
          <p:nvPr/>
        </p:nvSpPr>
        <p:spPr>
          <a:xfrm>
            <a:off x="5038344" y="2880360"/>
            <a:ext cx="457200" cy="40233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ptr-420"/>
          <p:cNvSpPr/>
          <p:nvPr/>
        </p:nvSpPr>
        <p:spPr>
          <a:xfrm>
            <a:off x="5513832" y="3081528"/>
            <a:ext cx="201168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-421"/>
          <p:cNvSpPr txBox="1"/>
          <p:nvPr/>
        </p:nvSpPr>
        <p:spPr>
          <a:xfrm>
            <a:off x="5733288" y="2880360"/>
            <a:ext cx="457200" cy="40233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ptr-422"/>
          <p:cNvSpPr/>
          <p:nvPr/>
        </p:nvSpPr>
        <p:spPr>
          <a:xfrm>
            <a:off x="6208776" y="3081528"/>
            <a:ext cx="201168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-423"/>
          <p:cNvSpPr txBox="1"/>
          <p:nvPr/>
        </p:nvSpPr>
        <p:spPr>
          <a:xfrm>
            <a:off x="6428232" y="2880360"/>
            <a:ext cx="457200" cy="40233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-424"/>
          <p:cNvSpPr txBox="1"/>
          <p:nvPr/>
        </p:nvSpPr>
        <p:spPr>
          <a:xfrm>
            <a:off x="4343400" y="3374136"/>
            <a:ext cx="457200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ptr-425"/>
          <p:cNvSpPr/>
          <p:nvPr/>
        </p:nvSpPr>
        <p:spPr>
          <a:xfrm>
            <a:off x="4818888" y="3611880"/>
            <a:ext cx="20116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-426"/>
          <p:cNvSpPr txBox="1"/>
          <p:nvPr/>
        </p:nvSpPr>
        <p:spPr>
          <a:xfrm>
            <a:off x="5038344" y="3410712"/>
            <a:ext cx="4572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ptr-427"/>
          <p:cNvSpPr/>
          <p:nvPr/>
        </p:nvSpPr>
        <p:spPr>
          <a:xfrm>
            <a:off x="5513832" y="3611880"/>
            <a:ext cx="20116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-428"/>
          <p:cNvSpPr txBox="1"/>
          <p:nvPr/>
        </p:nvSpPr>
        <p:spPr>
          <a:xfrm>
            <a:off x="5733288" y="3410712"/>
            <a:ext cx="4572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ptr-429"/>
          <p:cNvSpPr/>
          <p:nvPr/>
        </p:nvSpPr>
        <p:spPr>
          <a:xfrm>
            <a:off x="6208776" y="3611880"/>
            <a:ext cx="20116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-430"/>
          <p:cNvSpPr txBox="1"/>
          <p:nvPr/>
        </p:nvSpPr>
        <p:spPr>
          <a:xfrm>
            <a:off x="6428232" y="3410712"/>
            <a:ext cx="4572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-431"/>
          <p:cNvSpPr txBox="1"/>
          <p:nvPr/>
        </p:nvSpPr>
        <p:spPr>
          <a:xfrm>
            <a:off x="4343400" y="3904488"/>
            <a:ext cx="457200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ptr-432"/>
          <p:cNvSpPr/>
          <p:nvPr/>
        </p:nvSpPr>
        <p:spPr>
          <a:xfrm>
            <a:off x="4818888" y="4142232"/>
            <a:ext cx="20116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-433"/>
          <p:cNvSpPr txBox="1"/>
          <p:nvPr/>
        </p:nvSpPr>
        <p:spPr>
          <a:xfrm>
            <a:off x="5038344" y="3941064"/>
            <a:ext cx="4572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51" name="text-434"/>
          <p:cNvSpPr txBox="1"/>
          <p:nvPr/>
        </p:nvSpPr>
        <p:spPr>
          <a:xfrm>
            <a:off x="4343400" y="4434840"/>
            <a:ext cx="457200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52" name="ptr-435"/>
          <p:cNvSpPr/>
          <p:nvPr/>
        </p:nvSpPr>
        <p:spPr>
          <a:xfrm>
            <a:off x="4818888" y="4672584"/>
            <a:ext cx="20116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-436"/>
          <p:cNvSpPr txBox="1"/>
          <p:nvPr/>
        </p:nvSpPr>
        <p:spPr>
          <a:xfrm>
            <a:off x="5038344" y="4471416"/>
            <a:ext cx="4572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4" name="ptr-437"/>
          <p:cNvSpPr/>
          <p:nvPr/>
        </p:nvSpPr>
        <p:spPr>
          <a:xfrm>
            <a:off x="5513832" y="4672584"/>
            <a:ext cx="20116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-438"/>
          <p:cNvSpPr txBox="1"/>
          <p:nvPr/>
        </p:nvSpPr>
        <p:spPr>
          <a:xfrm>
            <a:off x="5733288" y="4471416"/>
            <a:ext cx="4572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text-439"/>
          <p:cNvSpPr txBox="1"/>
          <p:nvPr/>
        </p:nvSpPr>
        <p:spPr>
          <a:xfrm>
            <a:off x="434340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adj[2]</a:t>
            </a:r>
            <a:r>
              <a:rPr lang="en-US" sz="1150" dirty="0">
                <a:solidFill>
                  <a:schemeClr val="accent4"/>
                </a:solidFill>
              </a:rPr>
              <a:t>  holds only 3 neighbors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14 entries = 2E: each edge stored twice.</a:t>
            </a:r>
            <a:endParaRPr lang="en-US" sz="1150" dirty="0"/>
          </a:p>
        </p:txBody>
      </p:sp>
      <p:sp>
        <p:nvSpPr>
          <p:cNvPr id="57" name="card-440"/>
          <p:cNvSpPr/>
          <p:nvPr/>
        </p:nvSpPr>
        <p:spPr>
          <a:xfrm>
            <a:off x="7635240" y="1691640"/>
            <a:ext cx="4050792" cy="896112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-441"/>
          <p:cNvSpPr txBox="1"/>
          <p:nvPr/>
        </p:nvSpPr>
        <p:spPr>
          <a:xfrm>
            <a:off x="7818120" y="18013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neighbors(v)</a:t>
            </a:r>
            <a:endParaRPr lang="en-US" sz="1300" dirty="0"/>
          </a:p>
        </p:txBody>
      </p:sp>
      <p:sp>
        <p:nvSpPr>
          <p:cNvPr id="59" name="text-442"/>
          <p:cNvSpPr txBox="1"/>
          <p:nvPr/>
        </p:nvSpPr>
        <p:spPr>
          <a:xfrm>
            <a:off x="10012680" y="1801368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O(deg v)</a:t>
            </a:r>
            <a:endParaRPr lang="en-US" sz="1400" dirty="0"/>
          </a:p>
        </p:txBody>
      </p:sp>
      <p:sp>
        <p:nvSpPr>
          <p:cNvPr id="60" name="text-443"/>
          <p:cNvSpPr txBox="1"/>
          <p:nvPr/>
        </p:nvSpPr>
        <p:spPr>
          <a:xfrm>
            <a:off x="7818120" y="214884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for w in adj[v]: only real neighbors.</a:t>
            </a:r>
            <a:endParaRPr lang="en-US" sz="1150" dirty="0"/>
          </a:p>
        </p:txBody>
      </p:sp>
      <p:sp>
        <p:nvSpPr>
          <p:cNvPr id="61" name="card-444"/>
          <p:cNvSpPr/>
          <p:nvPr/>
        </p:nvSpPr>
        <p:spPr>
          <a:xfrm>
            <a:off x="7635240" y="2697480"/>
            <a:ext cx="4050792" cy="896112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-445"/>
          <p:cNvSpPr txBox="1"/>
          <p:nvPr/>
        </p:nvSpPr>
        <p:spPr>
          <a:xfrm>
            <a:off x="7818120" y="2807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has_edge(v, w)</a:t>
            </a:r>
            <a:endParaRPr lang="en-US" sz="1300" dirty="0"/>
          </a:p>
        </p:txBody>
      </p:sp>
      <p:sp>
        <p:nvSpPr>
          <p:cNvPr id="63" name="text-446"/>
          <p:cNvSpPr txBox="1"/>
          <p:nvPr/>
        </p:nvSpPr>
        <p:spPr>
          <a:xfrm>
            <a:off x="10012680" y="2807208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O(deg v)</a:t>
            </a:r>
            <a:endParaRPr lang="en-US" sz="1400" dirty="0"/>
          </a:p>
        </p:txBody>
      </p:sp>
      <p:sp>
        <p:nvSpPr>
          <p:cNvPr id="64" name="text-447"/>
          <p:cNvSpPr txBox="1"/>
          <p:nvPr/>
        </p:nvSpPr>
        <p:spPr>
          <a:xfrm>
            <a:off x="7818120" y="315468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w in adj[v] scans v's list.</a:t>
            </a:r>
            <a:endParaRPr lang="en-US" sz="1150" dirty="0"/>
          </a:p>
        </p:txBody>
      </p:sp>
      <p:sp>
        <p:nvSpPr>
          <p:cNvPr id="65" name="card-448"/>
          <p:cNvSpPr/>
          <p:nvPr/>
        </p:nvSpPr>
        <p:spPr>
          <a:xfrm>
            <a:off x="7635240" y="3703320"/>
            <a:ext cx="4050792" cy="896112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-449"/>
          <p:cNvSpPr txBox="1"/>
          <p:nvPr/>
        </p:nvSpPr>
        <p:spPr>
          <a:xfrm>
            <a:off x="7818120" y="3813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add_edge(v, w)</a:t>
            </a:r>
            <a:endParaRPr lang="en-US" sz="1300" dirty="0"/>
          </a:p>
        </p:txBody>
      </p:sp>
      <p:sp>
        <p:nvSpPr>
          <p:cNvPr id="67" name="text-450"/>
          <p:cNvSpPr txBox="1"/>
          <p:nvPr/>
        </p:nvSpPr>
        <p:spPr>
          <a:xfrm>
            <a:off x="10012680" y="3813048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O(1)</a:t>
            </a:r>
            <a:endParaRPr lang="en-US" sz="1400" dirty="0"/>
          </a:p>
        </p:txBody>
      </p:sp>
      <p:sp>
        <p:nvSpPr>
          <p:cNvPr id="68" name="text-451"/>
          <p:cNvSpPr txBox="1"/>
          <p:nvPr/>
        </p:nvSpPr>
        <p:spPr>
          <a:xfrm>
            <a:off x="7818120" y="416052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Two appends (one for a digraph).</a:t>
            </a:r>
            <a:endParaRPr lang="en-US" sz="1150" dirty="0"/>
          </a:p>
        </p:txBody>
      </p:sp>
      <p:sp>
        <p:nvSpPr>
          <p:cNvPr id="69" name="card-452"/>
          <p:cNvSpPr/>
          <p:nvPr/>
        </p:nvSpPr>
        <p:spPr>
          <a:xfrm>
            <a:off x="7635240" y="4709160"/>
            <a:ext cx="4050792" cy="896112"/>
          </a:xfrm>
          <a:prstGeom prst="roundRect">
            <a:avLst>
              <a:gd name="adj" fmla="val 6122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-453"/>
          <p:cNvSpPr txBox="1"/>
          <p:nvPr/>
        </p:nvSpPr>
        <p:spPr>
          <a:xfrm>
            <a:off x="7818120" y="48188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</a:t>
            </a:r>
            <a:endParaRPr lang="en-US" sz="1300" dirty="0"/>
          </a:p>
        </p:txBody>
      </p:sp>
      <p:sp>
        <p:nvSpPr>
          <p:cNvPr id="71" name="text-454"/>
          <p:cNvSpPr txBox="1"/>
          <p:nvPr/>
        </p:nvSpPr>
        <p:spPr>
          <a:xfrm>
            <a:off x="10012680" y="4818888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Θ(V + E)</a:t>
            </a:r>
            <a:endParaRPr lang="en-US" sz="1400" dirty="0"/>
          </a:p>
        </p:txBody>
      </p:sp>
      <p:sp>
        <p:nvSpPr>
          <p:cNvPr id="72" name="text-455"/>
          <p:cNvSpPr txBox="1"/>
          <p:nvPr/>
        </p:nvSpPr>
        <p:spPr>
          <a:xfrm>
            <a:off x="7818120" y="516636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V lists holding 2E entries (E for a digraph).</a:t>
            </a:r>
            <a:endParaRPr lang="en-US" sz="1150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3528CB5-AF4B-29F9-589F-6207DAD99574}"/>
              </a:ext>
            </a:extLst>
          </p:cNvPr>
          <p:cNvGrpSpPr/>
          <p:nvPr/>
        </p:nvGrpSpPr>
        <p:grpSpPr>
          <a:xfrm>
            <a:off x="502920" y="5852160"/>
            <a:ext cx="11183112" cy="457200"/>
            <a:chOff x="502920" y="5852160"/>
            <a:chExt cx="11183112" cy="457200"/>
          </a:xfrm>
        </p:grpSpPr>
        <p:sp>
          <p:nvSpPr>
            <p:cNvPr id="73" name="card-456"/>
            <p:cNvSpPr/>
            <p:nvPr/>
          </p:nvSpPr>
          <p:spPr>
            <a:xfrm>
              <a:off x="502920" y="5852160"/>
              <a:ext cx="11183112" cy="457200"/>
            </a:xfrm>
            <a:prstGeom prst="roundRect">
              <a:avLst>
                <a:gd name="adj" fmla="val 12000"/>
              </a:avLst>
            </a:prstGeom>
            <a:solidFill>
              <a:schemeClr val="accent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-457"/>
            <p:cNvSpPr txBox="1"/>
            <p:nvPr/>
          </p:nvSpPr>
          <p:spPr>
            <a:xfrm>
              <a:off x="685800" y="5852160"/>
              <a:ext cx="108173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chemeClr val="tx1"/>
                  </a:solidFill>
                </a:rPr>
                <a:t>Look familiar? </a:t>
              </a:r>
              <a:r>
                <a:rPr lang="en-US" sz="1350" dirty="0">
                  <a:solidFill>
                    <a:schemeClr val="tx1"/>
                  </a:solidFill>
                </a:rPr>
                <a:t>A list of lists indexed by vertex has the same shape as separate chaining in a hash table.</a:t>
              </a:r>
              <a:endParaRPr lang="en-US" sz="1350" dirty="0"/>
            </a:p>
          </p:txBody>
        </p:sp>
      </p:grpSp>
      <p:sp>
        <p:nvSpPr>
          <p:cNvPr id="7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REPRESENTATION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Why Θ(V²) and Θ(V + E)? Space, Proved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Count what each representation stores. Running example: V = 6 vertices, E = 7 edges.</a:t>
            </a:r>
            <a:endParaRPr lang="en-US" sz="1350" dirty="0"/>
          </a:p>
        </p:txBody>
      </p:sp>
      <p:sp>
        <p:nvSpPr>
          <p:cNvPr id="5" name="card-1"/>
          <p:cNvSpPr/>
          <p:nvPr/>
        </p:nvSpPr>
        <p:spPr>
          <a:xfrm>
            <a:off x="502920" y="1691640"/>
            <a:ext cx="5486400" cy="4041648"/>
          </a:xfrm>
          <a:prstGeom prst="roundRect">
            <a:avLst>
              <a:gd name="adj" fmla="val 13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-2"/>
          <p:cNvSpPr txBox="1"/>
          <p:nvPr/>
        </p:nvSpPr>
        <p:spPr>
          <a:xfrm>
            <a:off x="685800" y="1828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ADJACENCY MATRIX</a:t>
            </a:r>
            <a:endParaRPr lang="en-US" sz="1050" dirty="0"/>
          </a:p>
        </p:txBody>
      </p:sp>
      <p:sp>
        <p:nvSpPr>
          <p:cNvPr id="7" name="text-3"/>
          <p:cNvSpPr txBox="1"/>
          <p:nvPr/>
        </p:nvSpPr>
        <p:spPr>
          <a:xfrm>
            <a:off x="685800" y="20756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Claim: space is 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Θ(V²)</a:t>
            </a:r>
            <a:endParaRPr lang="en-US" sz="1400" dirty="0"/>
          </a:p>
        </p:txBody>
      </p:sp>
      <p:sp>
        <p:nvSpPr>
          <p:cNvPr id="8" name="step-4"/>
          <p:cNvSpPr/>
          <p:nvPr/>
        </p:nvSpPr>
        <p:spPr>
          <a:xfrm>
            <a:off x="685800" y="25237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-5"/>
          <p:cNvSpPr txBox="1"/>
          <p:nvPr/>
        </p:nvSpPr>
        <p:spPr>
          <a:xfrm>
            <a:off x="1069848" y="24688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The matrix has </a:t>
            </a:r>
            <a:r>
              <a:rPr lang="en-US" sz="1200" b="1" dirty="0">
                <a:solidFill>
                  <a:schemeClr val="tx1"/>
                </a:solidFill>
              </a:rPr>
              <a:t>V rows × V columns = V² cells</a:t>
            </a:r>
            <a:r>
              <a:rPr lang="en-US" sz="1200" dirty="0">
                <a:solidFill>
                  <a:schemeClr val="accent4"/>
                </a:solidFill>
              </a:rPr>
              <a:t>.</a:t>
            </a:r>
            <a:endParaRPr lang="en-US" sz="1200" dirty="0"/>
          </a:p>
        </p:txBody>
      </p:sp>
      <p:sp>
        <p:nvSpPr>
          <p:cNvPr id="10" name="step-6"/>
          <p:cNvSpPr/>
          <p:nvPr/>
        </p:nvSpPr>
        <p:spPr>
          <a:xfrm>
            <a:off x="685800" y="29809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-7"/>
          <p:cNvSpPr txBox="1"/>
          <p:nvPr/>
        </p:nvSpPr>
        <p:spPr>
          <a:xfrm>
            <a:off x="1069848" y="29260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Each cell is one bool: </a:t>
            </a:r>
            <a:r>
              <a:rPr lang="en-US" sz="1200" b="1" dirty="0">
                <a:solidFill>
                  <a:schemeClr val="tx1"/>
                </a:solidFill>
              </a:rPr>
              <a:t>constant space</a:t>
            </a:r>
            <a:r>
              <a:rPr lang="en-US" sz="1200" dirty="0">
                <a:solidFill>
                  <a:schemeClr val="accent4"/>
                </a:solidFill>
              </a:rPr>
              <a:t>, edge or no edge.</a:t>
            </a:r>
            <a:endParaRPr lang="en-US" sz="1200" dirty="0"/>
          </a:p>
        </p:txBody>
      </p:sp>
      <p:sp>
        <p:nvSpPr>
          <p:cNvPr id="12" name="step-8"/>
          <p:cNvSpPr/>
          <p:nvPr/>
        </p:nvSpPr>
        <p:spPr>
          <a:xfrm>
            <a:off x="685800" y="34381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-9"/>
          <p:cNvSpPr txBox="1"/>
          <p:nvPr/>
        </p:nvSpPr>
        <p:spPr>
          <a:xfrm>
            <a:off x="1069848" y="33832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The count never looks at E, so space = c · V² = </a:t>
            </a:r>
            <a:r>
              <a:rPr lang="en-US" sz="1200" b="1" dirty="0">
                <a:solidFill>
                  <a:schemeClr val="tx1"/>
                </a:solidFill>
              </a:rPr>
              <a:t>Θ(V²)</a:t>
            </a:r>
            <a:r>
              <a:rPr lang="en-US" sz="1200" dirty="0">
                <a:solidFill>
                  <a:schemeClr val="accent4"/>
                </a:solidFill>
              </a:rPr>
              <a:t>, even when E = 0.</a:t>
            </a:r>
            <a:endParaRPr lang="en-US" sz="1200" dirty="0"/>
          </a:p>
        </p:txBody>
      </p:sp>
      <p:sp>
        <p:nvSpPr>
          <p:cNvPr id="14" name="card-10"/>
          <p:cNvSpPr/>
          <p:nvPr/>
        </p:nvSpPr>
        <p:spPr>
          <a:xfrm>
            <a:off x="685800" y="3931920"/>
            <a:ext cx="5120640" cy="164592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cell-11"/>
          <p:cNvSpPr/>
          <p:nvPr/>
        </p:nvSpPr>
        <p:spPr>
          <a:xfrm>
            <a:off x="868680" y="40690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cell-12"/>
          <p:cNvSpPr/>
          <p:nvPr/>
        </p:nvSpPr>
        <p:spPr>
          <a:xfrm>
            <a:off x="1097280" y="40690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ell-13"/>
          <p:cNvSpPr/>
          <p:nvPr/>
        </p:nvSpPr>
        <p:spPr>
          <a:xfrm>
            <a:off x="1325880" y="40690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ell-14"/>
          <p:cNvSpPr/>
          <p:nvPr/>
        </p:nvSpPr>
        <p:spPr>
          <a:xfrm>
            <a:off x="1554480" y="40690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ell-15"/>
          <p:cNvSpPr/>
          <p:nvPr/>
        </p:nvSpPr>
        <p:spPr>
          <a:xfrm>
            <a:off x="1783080" y="40690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ell-16"/>
          <p:cNvSpPr/>
          <p:nvPr/>
        </p:nvSpPr>
        <p:spPr>
          <a:xfrm>
            <a:off x="2011680" y="40690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ell-17"/>
          <p:cNvSpPr/>
          <p:nvPr/>
        </p:nvSpPr>
        <p:spPr>
          <a:xfrm>
            <a:off x="868680" y="42976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ell-18"/>
          <p:cNvSpPr/>
          <p:nvPr/>
        </p:nvSpPr>
        <p:spPr>
          <a:xfrm>
            <a:off x="1097280" y="42976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cell-19"/>
          <p:cNvSpPr/>
          <p:nvPr/>
        </p:nvSpPr>
        <p:spPr>
          <a:xfrm>
            <a:off x="1325880" y="42976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ell-20"/>
          <p:cNvSpPr/>
          <p:nvPr/>
        </p:nvSpPr>
        <p:spPr>
          <a:xfrm>
            <a:off x="1554480" y="42976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cell-21"/>
          <p:cNvSpPr/>
          <p:nvPr/>
        </p:nvSpPr>
        <p:spPr>
          <a:xfrm>
            <a:off x="1783080" y="42976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cell-22"/>
          <p:cNvSpPr/>
          <p:nvPr/>
        </p:nvSpPr>
        <p:spPr>
          <a:xfrm>
            <a:off x="2011680" y="42976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cell-23"/>
          <p:cNvSpPr/>
          <p:nvPr/>
        </p:nvSpPr>
        <p:spPr>
          <a:xfrm>
            <a:off x="868680" y="45262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cell-24"/>
          <p:cNvSpPr/>
          <p:nvPr/>
        </p:nvSpPr>
        <p:spPr>
          <a:xfrm>
            <a:off x="1097280" y="45262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cell-25"/>
          <p:cNvSpPr/>
          <p:nvPr/>
        </p:nvSpPr>
        <p:spPr>
          <a:xfrm>
            <a:off x="1325880" y="45262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cell-26"/>
          <p:cNvSpPr/>
          <p:nvPr/>
        </p:nvSpPr>
        <p:spPr>
          <a:xfrm>
            <a:off x="1554480" y="45262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cell-27"/>
          <p:cNvSpPr/>
          <p:nvPr/>
        </p:nvSpPr>
        <p:spPr>
          <a:xfrm>
            <a:off x="1783080" y="45262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cell-28"/>
          <p:cNvSpPr/>
          <p:nvPr/>
        </p:nvSpPr>
        <p:spPr>
          <a:xfrm>
            <a:off x="2011680" y="45262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cell-29"/>
          <p:cNvSpPr/>
          <p:nvPr/>
        </p:nvSpPr>
        <p:spPr>
          <a:xfrm>
            <a:off x="868680" y="47548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cell-30"/>
          <p:cNvSpPr/>
          <p:nvPr/>
        </p:nvSpPr>
        <p:spPr>
          <a:xfrm>
            <a:off x="1097280" y="47548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cell-31"/>
          <p:cNvSpPr/>
          <p:nvPr/>
        </p:nvSpPr>
        <p:spPr>
          <a:xfrm>
            <a:off x="1325880" y="47548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cell-32"/>
          <p:cNvSpPr/>
          <p:nvPr/>
        </p:nvSpPr>
        <p:spPr>
          <a:xfrm>
            <a:off x="1554480" y="47548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cell-33"/>
          <p:cNvSpPr/>
          <p:nvPr/>
        </p:nvSpPr>
        <p:spPr>
          <a:xfrm>
            <a:off x="1783080" y="47548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ell-34"/>
          <p:cNvSpPr/>
          <p:nvPr/>
        </p:nvSpPr>
        <p:spPr>
          <a:xfrm>
            <a:off x="2011680" y="47548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ell-35"/>
          <p:cNvSpPr/>
          <p:nvPr/>
        </p:nvSpPr>
        <p:spPr>
          <a:xfrm>
            <a:off x="868680" y="49834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cell-36"/>
          <p:cNvSpPr/>
          <p:nvPr/>
        </p:nvSpPr>
        <p:spPr>
          <a:xfrm>
            <a:off x="1097280" y="49834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ell-37"/>
          <p:cNvSpPr/>
          <p:nvPr/>
        </p:nvSpPr>
        <p:spPr>
          <a:xfrm>
            <a:off x="1325880" y="49834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cell-38"/>
          <p:cNvSpPr/>
          <p:nvPr/>
        </p:nvSpPr>
        <p:spPr>
          <a:xfrm>
            <a:off x="1554480" y="49834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cell-39"/>
          <p:cNvSpPr/>
          <p:nvPr/>
        </p:nvSpPr>
        <p:spPr>
          <a:xfrm>
            <a:off x="1783080" y="49834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cell-40"/>
          <p:cNvSpPr/>
          <p:nvPr/>
        </p:nvSpPr>
        <p:spPr>
          <a:xfrm>
            <a:off x="2011680" y="49834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cell-41"/>
          <p:cNvSpPr/>
          <p:nvPr/>
        </p:nvSpPr>
        <p:spPr>
          <a:xfrm>
            <a:off x="868680" y="52120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cell-42"/>
          <p:cNvSpPr/>
          <p:nvPr/>
        </p:nvSpPr>
        <p:spPr>
          <a:xfrm>
            <a:off x="1097280" y="52120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cell-43"/>
          <p:cNvSpPr/>
          <p:nvPr/>
        </p:nvSpPr>
        <p:spPr>
          <a:xfrm>
            <a:off x="1325880" y="52120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cell-44"/>
          <p:cNvSpPr/>
          <p:nvPr/>
        </p:nvSpPr>
        <p:spPr>
          <a:xfrm>
            <a:off x="1554480" y="5212080"/>
            <a:ext cx="228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cell-45"/>
          <p:cNvSpPr/>
          <p:nvPr/>
        </p:nvSpPr>
        <p:spPr>
          <a:xfrm>
            <a:off x="1783080" y="52120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cell-46"/>
          <p:cNvSpPr/>
          <p:nvPr/>
        </p:nvSpPr>
        <p:spPr>
          <a:xfrm>
            <a:off x="2011680" y="521208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-47"/>
          <p:cNvSpPr txBox="1"/>
          <p:nvPr/>
        </p:nvSpPr>
        <p:spPr>
          <a:xfrm>
            <a:off x="2514600" y="4041648"/>
            <a:ext cx="32461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Example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× 6 = 36</a:t>
            </a:r>
            <a:r>
              <a:rPr lang="en-US" sz="1200" dirty="0">
                <a:solidFill>
                  <a:schemeClr val="accent4"/>
                </a:solidFill>
              </a:rPr>
              <a:t> cells stored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r>
              <a:rPr lang="en-US" sz="1200" dirty="0">
                <a:solidFill>
                  <a:schemeClr val="accent4"/>
                </a:solidFill>
              </a:rPr>
              <a:t> are True (each edge twice: 2E)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r>
              <a:rPr lang="en-US" sz="1200" dirty="0">
                <a:solidFill>
                  <a:schemeClr val="accent4"/>
                </a:solidFill>
              </a:rPr>
              <a:t> are False, but still take space</a:t>
            </a:r>
            <a:endParaRPr lang="en-US" sz="1200" dirty="0"/>
          </a:p>
        </p:txBody>
      </p:sp>
      <p:sp>
        <p:nvSpPr>
          <p:cNvPr id="52" name="card-48"/>
          <p:cNvSpPr/>
          <p:nvPr/>
        </p:nvSpPr>
        <p:spPr>
          <a:xfrm>
            <a:off x="6199632" y="1691640"/>
            <a:ext cx="5486400" cy="4041648"/>
          </a:xfrm>
          <a:prstGeom prst="roundRect">
            <a:avLst>
              <a:gd name="adj" fmla="val 13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-49"/>
          <p:cNvSpPr txBox="1"/>
          <p:nvPr/>
        </p:nvSpPr>
        <p:spPr>
          <a:xfrm>
            <a:off x="6382512" y="1828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ADJACENCY LISTS</a:t>
            </a:r>
            <a:endParaRPr lang="en-US" sz="1050" dirty="0"/>
          </a:p>
        </p:txBody>
      </p:sp>
      <p:sp>
        <p:nvSpPr>
          <p:cNvPr id="54" name="text-50"/>
          <p:cNvSpPr txBox="1"/>
          <p:nvPr/>
        </p:nvSpPr>
        <p:spPr>
          <a:xfrm>
            <a:off x="6382512" y="20756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Claim: space is 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Θ(V + E)</a:t>
            </a:r>
            <a:endParaRPr lang="en-US" sz="1400" dirty="0"/>
          </a:p>
        </p:txBody>
      </p:sp>
      <p:sp>
        <p:nvSpPr>
          <p:cNvPr id="55" name="step-51"/>
          <p:cNvSpPr/>
          <p:nvPr/>
        </p:nvSpPr>
        <p:spPr>
          <a:xfrm>
            <a:off x="6382512" y="25237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56" name="text-52"/>
          <p:cNvSpPr txBox="1"/>
          <p:nvPr/>
        </p:nvSpPr>
        <p:spPr>
          <a:xfrm>
            <a:off x="6766560" y="24688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Outer list: </a:t>
            </a:r>
            <a:r>
              <a:rPr lang="en-US" sz="1200" b="1" dirty="0">
                <a:solidFill>
                  <a:schemeClr val="tx1"/>
                </a:solidFill>
              </a:rPr>
              <a:t>one entry per vertex</a:t>
            </a:r>
            <a:r>
              <a:rPr lang="en-US" sz="1200" dirty="0">
                <a:solidFill>
                  <a:schemeClr val="accent4"/>
                </a:solidFill>
              </a:rPr>
              <a:t> → Θ(V), even if a list is empty.</a:t>
            </a:r>
            <a:endParaRPr lang="en-US" sz="1200" dirty="0"/>
          </a:p>
        </p:txBody>
      </p:sp>
      <p:sp>
        <p:nvSpPr>
          <p:cNvPr id="57" name="step-53"/>
          <p:cNvSpPr/>
          <p:nvPr/>
        </p:nvSpPr>
        <p:spPr>
          <a:xfrm>
            <a:off x="6382512" y="29809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58" name="text-54"/>
          <p:cNvSpPr txBox="1"/>
          <p:nvPr/>
        </p:nvSpPr>
        <p:spPr>
          <a:xfrm>
            <a:off x="6766560" y="29260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adj[v] has deg(v) entries, so all inner lists hold </a:t>
            </a:r>
            <a:r>
              <a:rPr lang="en-US" sz="1200" b="1" dirty="0">
                <a:solidFill>
                  <a:schemeClr val="tx1"/>
                </a:solidFill>
              </a:rPr>
              <a:t>Σ deg(v) = 2E</a:t>
            </a:r>
            <a:endParaRPr lang="en-US" sz="1200" dirty="0"/>
          </a:p>
        </p:txBody>
      </p:sp>
      <p:sp>
        <p:nvSpPr>
          <p:cNvPr id="59" name="step-55"/>
          <p:cNvSpPr/>
          <p:nvPr/>
        </p:nvSpPr>
        <p:spPr>
          <a:xfrm>
            <a:off x="6382512" y="34381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60" name="text-56"/>
          <p:cNvSpPr txBox="1"/>
          <p:nvPr/>
        </p:nvSpPr>
        <p:spPr>
          <a:xfrm>
            <a:off x="6766560" y="33832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Total = Θ(V) + Θ(2E) = </a:t>
            </a:r>
            <a:r>
              <a:rPr lang="en-US" sz="1200" b="1" dirty="0">
                <a:solidFill>
                  <a:schemeClr val="tx1"/>
                </a:solidFill>
              </a:rPr>
              <a:t>Θ(V + E)</a:t>
            </a:r>
            <a:r>
              <a:rPr lang="en-US" sz="1200" dirty="0">
                <a:solidFill>
                  <a:schemeClr val="accent4"/>
                </a:solidFill>
              </a:rPr>
              <a:t>. </a:t>
            </a:r>
            <a:r>
              <a:rPr lang="en-US" sz="1200" b="1" dirty="0">
                <a:solidFill>
                  <a:schemeClr val="accent4"/>
                </a:solidFill>
              </a:rPr>
              <a:t>(Digraph: Σ out-deg(v) = E.)</a:t>
            </a:r>
            <a:endParaRPr lang="en-US" sz="1200" b="1" dirty="0"/>
          </a:p>
        </p:txBody>
      </p:sp>
      <p:sp>
        <p:nvSpPr>
          <p:cNvPr id="61" name="card-57"/>
          <p:cNvSpPr/>
          <p:nvPr/>
        </p:nvSpPr>
        <p:spPr>
          <a:xfrm>
            <a:off x="6382512" y="3931920"/>
            <a:ext cx="5120640" cy="164592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-58"/>
          <p:cNvSpPr txBox="1"/>
          <p:nvPr/>
        </p:nvSpPr>
        <p:spPr>
          <a:xfrm>
            <a:off x="6565392" y="4041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Example</a:t>
            </a:r>
            <a:endParaRPr lang="en-US" sz="1200" dirty="0"/>
          </a:p>
        </p:txBody>
      </p:sp>
      <p:sp>
        <p:nvSpPr>
          <p:cNvPr id="63" name="text-59"/>
          <p:cNvSpPr txBox="1"/>
          <p:nvPr/>
        </p:nvSpPr>
        <p:spPr>
          <a:xfrm>
            <a:off x="6565392" y="43434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150" dirty="0"/>
          </a:p>
        </p:txBody>
      </p:sp>
      <p:sp>
        <p:nvSpPr>
          <p:cNvPr id="64" name="deg-60"/>
          <p:cNvSpPr/>
          <p:nvPr/>
        </p:nvSpPr>
        <p:spPr>
          <a:xfrm>
            <a:off x="6565392" y="4636008"/>
            <a:ext cx="822960" cy="292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deg(v)</a:t>
            </a:r>
            <a:endParaRPr lang="en-US" sz="1150" dirty="0"/>
          </a:p>
        </p:txBody>
      </p:sp>
      <p:sp>
        <p:nvSpPr>
          <p:cNvPr id="65" name="text-61"/>
          <p:cNvSpPr txBox="1"/>
          <p:nvPr/>
        </p:nvSpPr>
        <p:spPr>
          <a:xfrm>
            <a:off x="7388352" y="43434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50" dirty="0"/>
          </a:p>
        </p:txBody>
      </p:sp>
      <p:sp>
        <p:nvSpPr>
          <p:cNvPr id="66" name="deg-62"/>
          <p:cNvSpPr/>
          <p:nvPr/>
        </p:nvSpPr>
        <p:spPr>
          <a:xfrm>
            <a:off x="7388352" y="4636008"/>
            <a:ext cx="512064" cy="29260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67" name="text-63"/>
          <p:cNvSpPr txBox="1"/>
          <p:nvPr/>
        </p:nvSpPr>
        <p:spPr>
          <a:xfrm>
            <a:off x="7900416" y="43434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68" name="deg-64"/>
          <p:cNvSpPr/>
          <p:nvPr/>
        </p:nvSpPr>
        <p:spPr>
          <a:xfrm>
            <a:off x="7900416" y="4636008"/>
            <a:ext cx="512064" cy="29260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69" name="text-65"/>
          <p:cNvSpPr txBox="1"/>
          <p:nvPr/>
        </p:nvSpPr>
        <p:spPr>
          <a:xfrm>
            <a:off x="8412480" y="43434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70" name="deg-66"/>
          <p:cNvSpPr/>
          <p:nvPr/>
        </p:nvSpPr>
        <p:spPr>
          <a:xfrm>
            <a:off x="8412480" y="4636008"/>
            <a:ext cx="512064" cy="29260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71" name="text-67"/>
          <p:cNvSpPr txBox="1"/>
          <p:nvPr/>
        </p:nvSpPr>
        <p:spPr>
          <a:xfrm>
            <a:off x="8924544" y="43434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72" name="deg-68"/>
          <p:cNvSpPr/>
          <p:nvPr/>
        </p:nvSpPr>
        <p:spPr>
          <a:xfrm>
            <a:off x="8924544" y="4636008"/>
            <a:ext cx="512064" cy="29260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73" name="text-69"/>
          <p:cNvSpPr txBox="1"/>
          <p:nvPr/>
        </p:nvSpPr>
        <p:spPr>
          <a:xfrm>
            <a:off x="9436608" y="43434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74" name="deg-70"/>
          <p:cNvSpPr/>
          <p:nvPr/>
        </p:nvSpPr>
        <p:spPr>
          <a:xfrm>
            <a:off x="9436608" y="4636008"/>
            <a:ext cx="512064" cy="29260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75" name="text-71"/>
          <p:cNvSpPr txBox="1"/>
          <p:nvPr/>
        </p:nvSpPr>
        <p:spPr>
          <a:xfrm>
            <a:off x="9948672" y="43434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76" name="deg-72"/>
          <p:cNvSpPr/>
          <p:nvPr/>
        </p:nvSpPr>
        <p:spPr>
          <a:xfrm>
            <a:off x="9948672" y="4636008"/>
            <a:ext cx="512064" cy="29260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77" name="text-73"/>
          <p:cNvSpPr txBox="1"/>
          <p:nvPr/>
        </p:nvSpPr>
        <p:spPr>
          <a:xfrm>
            <a:off x="10460736" y="43434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1150" dirty="0"/>
          </a:p>
        </p:txBody>
      </p:sp>
      <p:sp>
        <p:nvSpPr>
          <p:cNvPr id="78" name="deg-74"/>
          <p:cNvSpPr/>
          <p:nvPr/>
        </p:nvSpPr>
        <p:spPr>
          <a:xfrm>
            <a:off x="10460736" y="4636008"/>
            <a:ext cx="512064" cy="2926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50" dirty="0"/>
          </a:p>
        </p:txBody>
      </p:sp>
      <p:sp>
        <p:nvSpPr>
          <p:cNvPr id="79" name="text-75"/>
          <p:cNvSpPr txBox="1"/>
          <p:nvPr/>
        </p:nvSpPr>
        <p:spPr>
          <a:xfrm>
            <a:off x="6565392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250" dirty="0">
                <a:solidFill>
                  <a:schemeClr val="accent4"/>
                </a:solidFill>
              </a:rPr>
              <a:t> list heads + </a:t>
            </a:r>
            <a:r>
              <a:rPr lang="en-US" sz="12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r>
              <a:rPr lang="en-US" sz="1250" dirty="0">
                <a:solidFill>
                  <a:schemeClr val="accent4"/>
                </a:solidFill>
              </a:rPr>
              <a:t> entries (= 2 × 7) = </a:t>
            </a: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250" dirty="0">
                <a:solidFill>
                  <a:schemeClr val="accent4"/>
                </a:solidFill>
              </a:rPr>
              <a:t> slots in total</a:t>
            </a:r>
            <a:endParaRPr lang="en-US" sz="1250" dirty="0"/>
          </a:p>
        </p:txBody>
      </p:sp>
      <p:sp>
        <p:nvSpPr>
          <p:cNvPr id="80" name="card-76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-77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Matrix pays for every possible edge; lists pay only for edges that exist. </a:t>
            </a:r>
            <a:r>
              <a:rPr lang="en-US" sz="1350" dirty="0">
                <a:solidFill>
                  <a:schemeClr val="tx1"/>
                </a:solidFill>
              </a:rPr>
              <a:t>Here 36 vs 20; in general V² vs V + E.</a:t>
            </a:r>
            <a:endParaRPr lang="en-US" sz="1350" dirty="0"/>
          </a:p>
        </p:txBody>
      </p:sp>
      <p:sp>
        <p:nvSpPr>
          <p:cNvPr id="8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TRADEOFFS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Matrix vs. Lists: Which Should You Use?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Costs for a graph with V vertices and E edges. deg(v) is usually tiny compared with V.</a:t>
            </a:r>
            <a:endParaRPr lang="en-US" sz="1350" dirty="0"/>
          </a:p>
        </p:txBody>
      </p:sp>
      <p:sp>
        <p:nvSpPr>
          <p:cNvPr id="5" name="card-458"/>
          <p:cNvSpPr/>
          <p:nvPr/>
        </p:nvSpPr>
        <p:spPr>
          <a:xfrm>
            <a:off x="8138160" y="1645920"/>
            <a:ext cx="3547872" cy="2971800"/>
          </a:xfrm>
          <a:prstGeom prst="roundRect">
            <a:avLst>
              <a:gd name="adj" fmla="val 184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-459"/>
          <p:cNvSpPr txBox="1"/>
          <p:nvPr/>
        </p:nvSpPr>
        <p:spPr>
          <a:xfrm>
            <a:off x="502920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Say there are </a:t>
            </a:r>
            <a:r>
              <a:rPr lang="en-US" sz="1800" b="1" dirty="0">
                <a:solidFill>
                  <a:schemeClr val="accent2"/>
                </a:solidFill>
              </a:rPr>
              <a:t>V</a:t>
            </a:r>
            <a:r>
              <a:rPr lang="en-US" sz="1800" dirty="0">
                <a:solidFill>
                  <a:schemeClr val="accent2"/>
                </a:solidFill>
              </a:rPr>
              <a:t> vertices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and </a:t>
            </a:r>
            <a:r>
              <a:rPr lang="en-US" sz="1800" b="1" dirty="0">
                <a:solidFill>
                  <a:schemeClr val="accent2"/>
                </a:solidFill>
              </a:rPr>
              <a:t>E</a:t>
            </a:r>
            <a:r>
              <a:rPr lang="en-US" sz="1800" dirty="0">
                <a:solidFill>
                  <a:schemeClr val="accent2"/>
                </a:solidFill>
              </a:rPr>
              <a:t> edges.</a:t>
            </a:r>
            <a:endParaRPr lang="en-US" sz="1800" dirty="0"/>
          </a:p>
        </p:txBody>
      </p:sp>
      <p:sp>
        <p:nvSpPr>
          <p:cNvPr id="7" name="text-460"/>
          <p:cNvSpPr txBox="1"/>
          <p:nvPr/>
        </p:nvSpPr>
        <p:spPr>
          <a:xfrm>
            <a:off x="4754880" y="1920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Adjacency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matrix</a:t>
            </a:r>
            <a:endParaRPr lang="en-US" sz="1400" dirty="0"/>
          </a:p>
        </p:txBody>
      </p:sp>
      <p:sp>
        <p:nvSpPr>
          <p:cNvPr id="8" name="text-461"/>
          <p:cNvSpPr txBox="1"/>
          <p:nvPr/>
        </p:nvSpPr>
        <p:spPr>
          <a:xfrm>
            <a:off x="6217920" y="1828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text-462"/>
          <p:cNvSpPr txBox="1"/>
          <p:nvPr/>
        </p:nvSpPr>
        <p:spPr>
          <a:xfrm>
            <a:off x="6437376" y="1828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0" name="text-463"/>
          <p:cNvSpPr txBox="1"/>
          <p:nvPr/>
        </p:nvSpPr>
        <p:spPr>
          <a:xfrm>
            <a:off x="6656832" y="1828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-464"/>
          <p:cNvSpPr txBox="1"/>
          <p:nvPr/>
        </p:nvSpPr>
        <p:spPr>
          <a:xfrm>
            <a:off x="6876288" y="1828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text-465"/>
          <p:cNvSpPr txBox="1"/>
          <p:nvPr/>
        </p:nvSpPr>
        <p:spPr>
          <a:xfrm>
            <a:off x="6217920" y="2048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text-466"/>
          <p:cNvSpPr txBox="1"/>
          <p:nvPr/>
        </p:nvSpPr>
        <p:spPr>
          <a:xfrm>
            <a:off x="6437376" y="2048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text-467"/>
          <p:cNvSpPr txBox="1"/>
          <p:nvPr/>
        </p:nvSpPr>
        <p:spPr>
          <a:xfrm>
            <a:off x="6656832" y="2048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-468"/>
          <p:cNvSpPr txBox="1"/>
          <p:nvPr/>
        </p:nvSpPr>
        <p:spPr>
          <a:xfrm>
            <a:off x="6876288" y="2048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-469"/>
          <p:cNvSpPr txBox="1"/>
          <p:nvPr/>
        </p:nvSpPr>
        <p:spPr>
          <a:xfrm>
            <a:off x="6217920" y="2267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-470"/>
          <p:cNvSpPr txBox="1"/>
          <p:nvPr/>
        </p:nvSpPr>
        <p:spPr>
          <a:xfrm>
            <a:off x="6437376" y="2267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-471"/>
          <p:cNvSpPr txBox="1"/>
          <p:nvPr/>
        </p:nvSpPr>
        <p:spPr>
          <a:xfrm>
            <a:off x="6656832" y="2267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text-472"/>
          <p:cNvSpPr txBox="1"/>
          <p:nvPr/>
        </p:nvSpPr>
        <p:spPr>
          <a:xfrm>
            <a:off x="6876288" y="2267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-473"/>
          <p:cNvSpPr txBox="1"/>
          <p:nvPr/>
        </p:nvSpPr>
        <p:spPr>
          <a:xfrm>
            <a:off x="6217920" y="2487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1" name="text-474"/>
          <p:cNvSpPr txBox="1"/>
          <p:nvPr/>
        </p:nvSpPr>
        <p:spPr>
          <a:xfrm>
            <a:off x="6437376" y="2487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-475"/>
          <p:cNvSpPr txBox="1"/>
          <p:nvPr/>
        </p:nvSpPr>
        <p:spPr>
          <a:xfrm>
            <a:off x="6656832" y="2487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-476"/>
          <p:cNvSpPr txBox="1"/>
          <p:nvPr/>
        </p:nvSpPr>
        <p:spPr>
          <a:xfrm>
            <a:off x="6876288" y="2487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bracket-477"/>
          <p:cNvSpPr/>
          <p:nvPr/>
        </p:nvSpPr>
        <p:spPr>
          <a:xfrm>
            <a:off x="6181344" y="1828800"/>
            <a:ext cx="0" cy="87782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bracket-478"/>
          <p:cNvSpPr/>
          <p:nvPr/>
        </p:nvSpPr>
        <p:spPr>
          <a:xfrm>
            <a:off x="6181344" y="1828800"/>
            <a:ext cx="640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bracket-479"/>
          <p:cNvSpPr/>
          <p:nvPr/>
        </p:nvSpPr>
        <p:spPr>
          <a:xfrm>
            <a:off x="6181344" y="2706624"/>
            <a:ext cx="640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racket-480"/>
          <p:cNvSpPr/>
          <p:nvPr/>
        </p:nvSpPr>
        <p:spPr>
          <a:xfrm>
            <a:off x="7132320" y="1828800"/>
            <a:ext cx="0" cy="87782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bracket-481"/>
          <p:cNvSpPr/>
          <p:nvPr/>
        </p:nvSpPr>
        <p:spPr>
          <a:xfrm>
            <a:off x="7068312" y="1828800"/>
            <a:ext cx="640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racket-482"/>
          <p:cNvSpPr/>
          <p:nvPr/>
        </p:nvSpPr>
        <p:spPr>
          <a:xfrm>
            <a:off x="7068312" y="2706624"/>
            <a:ext cx="640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483"/>
          <p:cNvSpPr txBox="1"/>
          <p:nvPr/>
        </p:nvSpPr>
        <p:spPr>
          <a:xfrm>
            <a:off x="8275320" y="1783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Adjacency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lists</a:t>
            </a:r>
            <a:endParaRPr lang="en-US" sz="1400" dirty="0"/>
          </a:p>
        </p:txBody>
      </p:sp>
      <p:sp>
        <p:nvSpPr>
          <p:cNvPr id="31" name="text-484"/>
          <p:cNvSpPr txBox="1"/>
          <p:nvPr/>
        </p:nvSpPr>
        <p:spPr>
          <a:xfrm>
            <a:off x="8275320" y="2331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i="1" dirty="0">
                <a:solidFill>
                  <a:schemeClr val="accent2"/>
                </a:solidFill>
              </a:rPr>
              <a:t>Better for sparse graphs</a:t>
            </a:r>
            <a:endParaRPr lang="en-US" sz="1050" dirty="0"/>
          </a:p>
        </p:txBody>
      </p:sp>
      <p:sp>
        <p:nvSpPr>
          <p:cNvPr id="32" name="text-485"/>
          <p:cNvSpPr txBox="1"/>
          <p:nvPr/>
        </p:nvSpPr>
        <p:spPr>
          <a:xfrm>
            <a:off x="9738360" y="1783080"/>
            <a:ext cx="274320" cy="21945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3" name="ptr-486"/>
          <p:cNvSpPr/>
          <p:nvPr/>
        </p:nvSpPr>
        <p:spPr>
          <a:xfrm>
            <a:off x="10021824" y="1892808"/>
            <a:ext cx="16459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vertex-487"/>
          <p:cNvSpPr/>
          <p:nvPr/>
        </p:nvSpPr>
        <p:spPr>
          <a:xfrm>
            <a:off x="10195560" y="1792224"/>
            <a:ext cx="201168" cy="2011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-488"/>
          <p:cNvSpPr txBox="1"/>
          <p:nvPr/>
        </p:nvSpPr>
        <p:spPr>
          <a:xfrm>
            <a:off x="9738360" y="2029968"/>
            <a:ext cx="274320" cy="21945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ptr-489"/>
          <p:cNvSpPr/>
          <p:nvPr/>
        </p:nvSpPr>
        <p:spPr>
          <a:xfrm>
            <a:off x="10021824" y="2139696"/>
            <a:ext cx="16459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vertex-490"/>
          <p:cNvSpPr/>
          <p:nvPr/>
        </p:nvSpPr>
        <p:spPr>
          <a:xfrm>
            <a:off x="10195560" y="2039112"/>
            <a:ext cx="201168" cy="2011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ptr-491"/>
          <p:cNvSpPr/>
          <p:nvPr/>
        </p:nvSpPr>
        <p:spPr>
          <a:xfrm>
            <a:off x="10405872" y="2139696"/>
            <a:ext cx="16459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vertex-492"/>
          <p:cNvSpPr/>
          <p:nvPr/>
        </p:nvSpPr>
        <p:spPr>
          <a:xfrm>
            <a:off x="10579608" y="2039112"/>
            <a:ext cx="201168" cy="2011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-493"/>
          <p:cNvSpPr txBox="1"/>
          <p:nvPr/>
        </p:nvSpPr>
        <p:spPr>
          <a:xfrm>
            <a:off x="9738360" y="2276856"/>
            <a:ext cx="274320" cy="21945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ptr-494"/>
          <p:cNvSpPr/>
          <p:nvPr/>
        </p:nvSpPr>
        <p:spPr>
          <a:xfrm>
            <a:off x="10021824" y="2386584"/>
            <a:ext cx="16459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vertex-495"/>
          <p:cNvSpPr/>
          <p:nvPr/>
        </p:nvSpPr>
        <p:spPr>
          <a:xfrm>
            <a:off x="10195560" y="2286000"/>
            <a:ext cx="201168" cy="2011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43" name="ptr-496"/>
          <p:cNvSpPr/>
          <p:nvPr/>
        </p:nvSpPr>
        <p:spPr>
          <a:xfrm>
            <a:off x="10405872" y="2386584"/>
            <a:ext cx="16459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vertex-497"/>
          <p:cNvSpPr/>
          <p:nvPr/>
        </p:nvSpPr>
        <p:spPr>
          <a:xfrm>
            <a:off x="10579608" y="2286000"/>
            <a:ext cx="201168" cy="2011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ptr-498"/>
          <p:cNvSpPr/>
          <p:nvPr/>
        </p:nvSpPr>
        <p:spPr>
          <a:xfrm>
            <a:off x="10789920" y="2386584"/>
            <a:ext cx="16459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vertex-499"/>
          <p:cNvSpPr/>
          <p:nvPr/>
        </p:nvSpPr>
        <p:spPr>
          <a:xfrm>
            <a:off x="10963656" y="2286000"/>
            <a:ext cx="201168" cy="2011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-500"/>
          <p:cNvSpPr txBox="1"/>
          <p:nvPr/>
        </p:nvSpPr>
        <p:spPr>
          <a:xfrm>
            <a:off x="9738360" y="2523744"/>
            <a:ext cx="274320" cy="21945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ptr-501"/>
          <p:cNvSpPr/>
          <p:nvPr/>
        </p:nvSpPr>
        <p:spPr>
          <a:xfrm>
            <a:off x="10021824" y="2633472"/>
            <a:ext cx="16459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vertex-502"/>
          <p:cNvSpPr/>
          <p:nvPr/>
        </p:nvSpPr>
        <p:spPr>
          <a:xfrm>
            <a:off x="10195560" y="2532888"/>
            <a:ext cx="201168" cy="2011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ptr-503"/>
          <p:cNvSpPr/>
          <p:nvPr/>
        </p:nvSpPr>
        <p:spPr>
          <a:xfrm>
            <a:off x="10405872" y="2633472"/>
            <a:ext cx="16459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vertex-504"/>
          <p:cNvSpPr/>
          <p:nvPr/>
        </p:nvSpPr>
        <p:spPr>
          <a:xfrm>
            <a:off x="10579608" y="2532888"/>
            <a:ext cx="201168" cy="2011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52" name="rule-505"/>
          <p:cNvSpPr/>
          <p:nvPr/>
        </p:nvSpPr>
        <p:spPr>
          <a:xfrm>
            <a:off x="502920" y="2880360"/>
            <a:ext cx="11183112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-506"/>
          <p:cNvSpPr txBox="1"/>
          <p:nvPr/>
        </p:nvSpPr>
        <p:spPr>
          <a:xfrm>
            <a:off x="594360" y="28803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Edge membership</a:t>
            </a:r>
            <a:r>
              <a:rPr lang="en-US" sz="1200" dirty="0">
                <a:solidFill>
                  <a:schemeClr val="accent1"/>
                </a:solidFill>
              </a:rPr>
              <a:t>   Is v–w an edge?</a:t>
            </a:r>
            <a:endParaRPr lang="en-US" sz="1400" dirty="0"/>
          </a:p>
        </p:txBody>
      </p:sp>
      <p:sp>
        <p:nvSpPr>
          <p:cNvPr id="54" name="text-507"/>
          <p:cNvSpPr txBox="1"/>
          <p:nvPr/>
        </p:nvSpPr>
        <p:spPr>
          <a:xfrm>
            <a:off x="4617720" y="28803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O(1)</a:t>
            </a:r>
            <a:endParaRPr lang="en-US" sz="2000" dirty="0"/>
          </a:p>
        </p:txBody>
      </p:sp>
      <p:sp>
        <p:nvSpPr>
          <p:cNvPr id="55" name="text-508"/>
          <p:cNvSpPr txBox="1"/>
          <p:nvPr/>
        </p:nvSpPr>
        <p:spPr>
          <a:xfrm>
            <a:off x="8138160" y="288036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O(deg(v))</a:t>
            </a:r>
            <a:r>
              <a:rPr lang="en-US" sz="1200" b="1" dirty="0">
                <a:solidFill>
                  <a:schemeClr val="accent4"/>
                </a:solidFill>
              </a:rPr>
              <a:t>  or O(deg(w))</a:t>
            </a:r>
            <a:endParaRPr lang="en-US" sz="2000" dirty="0"/>
          </a:p>
        </p:txBody>
      </p:sp>
      <p:sp>
        <p:nvSpPr>
          <p:cNvPr id="56" name="rule-509"/>
          <p:cNvSpPr/>
          <p:nvPr/>
        </p:nvSpPr>
        <p:spPr>
          <a:xfrm>
            <a:off x="502920" y="3355848"/>
            <a:ext cx="1118311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-510"/>
          <p:cNvSpPr txBox="1"/>
          <p:nvPr/>
        </p:nvSpPr>
        <p:spPr>
          <a:xfrm>
            <a:off x="594360" y="335584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Neighbor query</a:t>
            </a:r>
            <a:r>
              <a:rPr lang="en-US" sz="1200" dirty="0">
                <a:solidFill>
                  <a:schemeClr val="accent1"/>
                </a:solidFill>
              </a:rPr>
              <a:t>   Give me all of v’s neighbors.</a:t>
            </a:r>
            <a:endParaRPr lang="en-US" sz="1400" dirty="0"/>
          </a:p>
        </p:txBody>
      </p:sp>
      <p:sp>
        <p:nvSpPr>
          <p:cNvPr id="58" name="text-511"/>
          <p:cNvSpPr txBox="1"/>
          <p:nvPr/>
        </p:nvSpPr>
        <p:spPr>
          <a:xfrm>
            <a:off x="4617720" y="335584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O(V)</a:t>
            </a:r>
            <a:endParaRPr lang="en-US" sz="2000" dirty="0"/>
          </a:p>
        </p:txBody>
      </p:sp>
      <p:sp>
        <p:nvSpPr>
          <p:cNvPr id="59" name="text-512"/>
          <p:cNvSpPr txBox="1"/>
          <p:nvPr/>
        </p:nvSpPr>
        <p:spPr>
          <a:xfrm>
            <a:off x="8138160" y="335584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O(deg(v))</a:t>
            </a:r>
            <a:endParaRPr lang="en-US" sz="2000" dirty="0"/>
          </a:p>
        </p:txBody>
      </p:sp>
      <p:sp>
        <p:nvSpPr>
          <p:cNvPr id="60" name="rule-513"/>
          <p:cNvSpPr/>
          <p:nvPr/>
        </p:nvSpPr>
        <p:spPr>
          <a:xfrm>
            <a:off x="502920" y="3831336"/>
            <a:ext cx="1118311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-514"/>
          <p:cNvSpPr txBox="1"/>
          <p:nvPr/>
        </p:nvSpPr>
        <p:spPr>
          <a:xfrm>
            <a:off x="594360" y="383133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Space</a:t>
            </a:r>
            <a:r>
              <a:rPr lang="en-US" sz="1200" dirty="0">
                <a:solidFill>
                  <a:schemeClr val="accent1"/>
                </a:solidFill>
              </a:rPr>
              <a:t>   Memory for the whole graph.</a:t>
            </a:r>
            <a:endParaRPr lang="en-US" sz="1400" dirty="0"/>
          </a:p>
        </p:txBody>
      </p:sp>
      <p:sp>
        <p:nvSpPr>
          <p:cNvPr id="62" name="text-515"/>
          <p:cNvSpPr txBox="1"/>
          <p:nvPr/>
        </p:nvSpPr>
        <p:spPr>
          <a:xfrm>
            <a:off x="4617720" y="383133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O(V²)</a:t>
            </a:r>
            <a:endParaRPr lang="en-US" sz="2000" dirty="0"/>
          </a:p>
        </p:txBody>
      </p:sp>
      <p:sp>
        <p:nvSpPr>
          <p:cNvPr id="63" name="text-516"/>
          <p:cNvSpPr txBox="1"/>
          <p:nvPr/>
        </p:nvSpPr>
        <p:spPr>
          <a:xfrm>
            <a:off x="8138160" y="3831336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O(V + E)</a:t>
            </a:r>
            <a:endParaRPr lang="en-US" sz="2000" dirty="0"/>
          </a:p>
        </p:txBody>
      </p:sp>
      <p:sp>
        <p:nvSpPr>
          <p:cNvPr id="64" name="text-517"/>
          <p:cNvSpPr txBox="1"/>
          <p:nvPr/>
        </p:nvSpPr>
        <p:spPr>
          <a:xfrm>
            <a:off x="8229600" y="43251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2"/>
                </a:solidFill>
              </a:rPr>
              <a:t>We’ll assume this for the rest of the course.</a:t>
            </a:r>
            <a:endParaRPr lang="en-US" sz="1150" dirty="0"/>
          </a:p>
        </p:txBody>
      </p:sp>
      <p:sp>
        <p:nvSpPr>
          <p:cNvPr id="65" name="card-518"/>
          <p:cNvSpPr/>
          <p:nvPr/>
        </p:nvSpPr>
        <p:spPr>
          <a:xfrm>
            <a:off x="502920" y="4736592"/>
            <a:ext cx="3575304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-519"/>
          <p:cNvSpPr txBox="1"/>
          <p:nvPr/>
        </p:nvSpPr>
        <p:spPr>
          <a:xfrm>
            <a:off x="685800" y="4846320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CHOOSE A MATRIX WHEN</a:t>
            </a:r>
            <a:endParaRPr lang="en-US" sz="1050" dirty="0"/>
          </a:p>
        </p:txBody>
      </p:sp>
      <p:sp>
        <p:nvSpPr>
          <p:cNvPr id="67" name="text-520"/>
          <p:cNvSpPr txBox="1"/>
          <p:nvPr/>
        </p:nvSpPr>
        <p:spPr>
          <a:xfrm>
            <a:off x="685800" y="5102352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The graph is small or dense (E close to V²)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You ask many edge-membership questions</a:t>
            </a:r>
            <a:endParaRPr lang="en-US" sz="1150" dirty="0"/>
          </a:p>
        </p:txBody>
      </p:sp>
      <p:sp>
        <p:nvSpPr>
          <p:cNvPr id="68" name="card-521"/>
          <p:cNvSpPr/>
          <p:nvPr/>
        </p:nvSpPr>
        <p:spPr>
          <a:xfrm>
            <a:off x="4306824" y="4736592"/>
            <a:ext cx="3575304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-522"/>
          <p:cNvSpPr txBox="1"/>
          <p:nvPr/>
        </p:nvSpPr>
        <p:spPr>
          <a:xfrm>
            <a:off x="4489704" y="4846320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CHOOSE ADJACENCY LISTS WHEN</a:t>
            </a:r>
            <a:endParaRPr lang="en-US" sz="1050" dirty="0"/>
          </a:p>
        </p:txBody>
      </p:sp>
      <p:sp>
        <p:nvSpPr>
          <p:cNvPr id="70" name="text-523"/>
          <p:cNvSpPr txBox="1"/>
          <p:nvPr/>
        </p:nvSpPr>
        <p:spPr>
          <a:xfrm>
            <a:off x="4489704" y="5102352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The graph is sparse: almost every real graph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You walk neighbors: DFS, BFS, Dijkstra</a:t>
            </a:r>
            <a:endParaRPr lang="en-US" sz="1150" dirty="0"/>
          </a:p>
        </p:txBody>
      </p:sp>
      <p:sp>
        <p:nvSpPr>
          <p:cNvPr id="71" name="card-524"/>
          <p:cNvSpPr/>
          <p:nvPr/>
        </p:nvSpPr>
        <p:spPr>
          <a:xfrm>
            <a:off x="8110728" y="4736592"/>
            <a:ext cx="3575304" cy="1005840"/>
          </a:xfrm>
          <a:prstGeom prst="roundRect">
            <a:avLst>
              <a:gd name="adj" fmla="val 5455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-525"/>
          <p:cNvSpPr txBox="1"/>
          <p:nvPr/>
        </p:nvSpPr>
        <p:spPr>
          <a:xfrm>
            <a:off x="8293608" y="4846320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V = 10⁹ USERS, E ≈ 10¹¹ FRIENDSHIPS</a:t>
            </a:r>
            <a:endParaRPr lang="en-US" sz="1050" dirty="0"/>
          </a:p>
        </p:txBody>
      </p:sp>
      <p:sp>
        <p:nvSpPr>
          <p:cNvPr id="73" name="text-526"/>
          <p:cNvSpPr txBox="1"/>
          <p:nvPr/>
        </p:nvSpPr>
        <p:spPr>
          <a:xfrm>
            <a:off x="8293608" y="5102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Matrix</a:t>
            </a:r>
            <a:endParaRPr lang="en-US" sz="1100" dirty="0"/>
          </a:p>
        </p:txBody>
      </p:sp>
      <p:sp>
        <p:nvSpPr>
          <p:cNvPr id="74" name="text-527"/>
          <p:cNvSpPr txBox="1"/>
          <p:nvPr/>
        </p:nvSpPr>
        <p:spPr>
          <a:xfrm>
            <a:off x="8293608" y="52852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≈ 125 PB</a:t>
            </a:r>
            <a:endParaRPr lang="en-US" sz="2000" dirty="0"/>
          </a:p>
        </p:txBody>
      </p:sp>
      <p:sp>
        <p:nvSpPr>
          <p:cNvPr id="75" name="text-528"/>
          <p:cNvSpPr txBox="1"/>
          <p:nvPr/>
        </p:nvSpPr>
        <p:spPr>
          <a:xfrm>
            <a:off x="9893808" y="5102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Adjacency lists</a:t>
            </a:r>
            <a:endParaRPr lang="en-US" sz="1100" dirty="0"/>
          </a:p>
        </p:txBody>
      </p:sp>
      <p:sp>
        <p:nvSpPr>
          <p:cNvPr id="76" name="text-529"/>
          <p:cNvSpPr txBox="1"/>
          <p:nvPr/>
        </p:nvSpPr>
        <p:spPr>
          <a:xfrm>
            <a:off x="9893808" y="52852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≈ 1 TB</a:t>
            </a:r>
            <a:endParaRPr lang="en-US" sz="2000" dirty="0"/>
          </a:p>
        </p:txBody>
      </p:sp>
      <p:sp>
        <p:nvSpPr>
          <p:cNvPr id="77" name="card-530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-531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Default: adjacency lists. </a:t>
            </a:r>
            <a:r>
              <a:rPr lang="en-US" sz="1350" dirty="0">
                <a:solidFill>
                  <a:schemeClr val="tx1"/>
                </a:solidFill>
              </a:rPr>
              <a:t>Real graphs are huge and sparse, and most graph algorithms spend their time in the neighbor query.</a:t>
            </a:r>
            <a:endParaRPr lang="en-US" sz="1350" dirty="0"/>
          </a:p>
        </p:txBody>
      </p:sp>
      <p:sp>
        <p:nvSpPr>
          <p:cNvPr id="7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TERMINOLOGY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Connected Components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Reachability splits the vertices of an undirected graph into separate pieces. Each piece is a connected component.</a:t>
            </a:r>
            <a:endParaRPr lang="en-US" sz="1350" dirty="0"/>
          </a:p>
        </p:txBody>
      </p:sp>
      <p:sp>
        <p:nvSpPr>
          <p:cNvPr id="5" name="card-1"/>
          <p:cNvSpPr/>
          <p:nvPr/>
        </p:nvSpPr>
        <p:spPr>
          <a:xfrm>
            <a:off x="502920" y="1691640"/>
            <a:ext cx="562356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-2"/>
          <p:cNvSpPr txBox="1"/>
          <p:nvPr/>
        </p:nvSpPr>
        <p:spPr>
          <a:xfrm>
            <a:off x="68580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EXAMPLE:  V = 10, E = 9</a:t>
            </a:r>
            <a:endParaRPr lang="en-US" sz="1050" dirty="0"/>
          </a:p>
        </p:txBody>
      </p:sp>
      <p:sp>
        <p:nvSpPr>
          <p:cNvPr id="7" name="component-3"/>
          <p:cNvSpPr/>
          <p:nvPr/>
        </p:nvSpPr>
        <p:spPr>
          <a:xfrm>
            <a:off x="640080" y="2194560"/>
            <a:ext cx="251460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4"/>
          <p:cNvSpPr txBox="1"/>
          <p:nvPr/>
        </p:nvSpPr>
        <p:spPr>
          <a:xfrm>
            <a:off x="640080" y="433425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C₁</a:t>
            </a:r>
            <a:endParaRPr lang="en-US" sz="1200" dirty="0"/>
          </a:p>
        </p:txBody>
      </p:sp>
      <p:sp>
        <p:nvSpPr>
          <p:cNvPr id="9" name="component-5"/>
          <p:cNvSpPr/>
          <p:nvPr/>
        </p:nvSpPr>
        <p:spPr>
          <a:xfrm>
            <a:off x="3383280" y="2194560"/>
            <a:ext cx="1554480" cy="17830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6"/>
          <p:cNvSpPr txBox="1"/>
          <p:nvPr/>
        </p:nvSpPr>
        <p:spPr>
          <a:xfrm>
            <a:off x="3383280" y="40142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C₂</a:t>
            </a:r>
            <a:endParaRPr lang="en-US" sz="1200" dirty="0"/>
          </a:p>
        </p:txBody>
      </p:sp>
      <p:sp>
        <p:nvSpPr>
          <p:cNvPr id="11" name="component-7"/>
          <p:cNvSpPr/>
          <p:nvPr/>
        </p:nvSpPr>
        <p:spPr>
          <a:xfrm>
            <a:off x="5166360" y="2743200"/>
            <a:ext cx="6858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-8"/>
          <p:cNvSpPr txBox="1"/>
          <p:nvPr/>
        </p:nvSpPr>
        <p:spPr>
          <a:xfrm>
            <a:off x="5166360" y="346557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C₃</a:t>
            </a:r>
            <a:endParaRPr lang="en-US" sz="1200" dirty="0"/>
          </a:p>
        </p:txBody>
      </p:sp>
      <p:sp>
        <p:nvSpPr>
          <p:cNvPr id="13" name="edge-9"/>
          <p:cNvSpPr/>
          <p:nvPr/>
        </p:nvSpPr>
        <p:spPr>
          <a:xfrm flipV="1">
            <a:off x="1297622" y="2532813"/>
            <a:ext cx="605156" cy="550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edge-10"/>
          <p:cNvSpPr/>
          <p:nvPr/>
        </p:nvSpPr>
        <p:spPr>
          <a:xfrm>
            <a:off x="1115493" y="2806382"/>
            <a:ext cx="55014" cy="605156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dge-11"/>
          <p:cNvSpPr/>
          <p:nvPr/>
        </p:nvSpPr>
        <p:spPr>
          <a:xfrm>
            <a:off x="2103120" y="2715768"/>
            <a:ext cx="914" cy="55778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dge-12"/>
          <p:cNvSpPr/>
          <p:nvPr/>
        </p:nvSpPr>
        <p:spPr>
          <a:xfrm flipV="1">
            <a:off x="1387662" y="3504561"/>
            <a:ext cx="516515" cy="77477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edge-13"/>
          <p:cNvSpPr/>
          <p:nvPr/>
        </p:nvSpPr>
        <p:spPr>
          <a:xfrm>
            <a:off x="2268891" y="3588687"/>
            <a:ext cx="399978" cy="274985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vertex-14"/>
          <p:cNvSpPr/>
          <p:nvPr/>
        </p:nvSpPr>
        <p:spPr>
          <a:xfrm>
            <a:off x="896112" y="2404872"/>
            <a:ext cx="402336" cy="402336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vertex-15"/>
          <p:cNvSpPr/>
          <p:nvPr/>
        </p:nvSpPr>
        <p:spPr>
          <a:xfrm>
            <a:off x="1901952" y="2313432"/>
            <a:ext cx="402336" cy="402336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vertex-16"/>
          <p:cNvSpPr/>
          <p:nvPr/>
        </p:nvSpPr>
        <p:spPr>
          <a:xfrm>
            <a:off x="987552" y="3410712"/>
            <a:ext cx="402336" cy="402336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vertex-17"/>
          <p:cNvSpPr/>
          <p:nvPr/>
        </p:nvSpPr>
        <p:spPr>
          <a:xfrm>
            <a:off x="1901952" y="3273552"/>
            <a:ext cx="402336" cy="402336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vertex-18"/>
          <p:cNvSpPr/>
          <p:nvPr/>
        </p:nvSpPr>
        <p:spPr>
          <a:xfrm>
            <a:off x="2633472" y="3776472"/>
            <a:ext cx="402336" cy="402336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edge-19"/>
          <p:cNvSpPr/>
          <p:nvPr/>
        </p:nvSpPr>
        <p:spPr>
          <a:xfrm>
            <a:off x="3904488" y="2560320"/>
            <a:ext cx="512064" cy="91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edge-20"/>
          <p:cNvSpPr/>
          <p:nvPr/>
        </p:nvSpPr>
        <p:spPr>
          <a:xfrm>
            <a:off x="4617720" y="2761488"/>
            <a:ext cx="914" cy="51206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edge-21"/>
          <p:cNvSpPr/>
          <p:nvPr/>
        </p:nvSpPr>
        <p:spPr>
          <a:xfrm flipH="1">
            <a:off x="3904488" y="3474720"/>
            <a:ext cx="512064" cy="91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edge-22"/>
          <p:cNvSpPr/>
          <p:nvPr/>
        </p:nvSpPr>
        <p:spPr>
          <a:xfrm>
            <a:off x="3845567" y="2702567"/>
            <a:ext cx="629905" cy="629905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vertex-23"/>
          <p:cNvSpPr/>
          <p:nvPr/>
        </p:nvSpPr>
        <p:spPr>
          <a:xfrm>
            <a:off x="3502152" y="2359152"/>
            <a:ext cx="402336" cy="40233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vertex-24"/>
          <p:cNvSpPr/>
          <p:nvPr/>
        </p:nvSpPr>
        <p:spPr>
          <a:xfrm>
            <a:off x="4416552" y="2359152"/>
            <a:ext cx="402336" cy="40233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vertex-25"/>
          <p:cNvSpPr/>
          <p:nvPr/>
        </p:nvSpPr>
        <p:spPr>
          <a:xfrm>
            <a:off x="4416552" y="3273552"/>
            <a:ext cx="402336" cy="40233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vertex-26"/>
          <p:cNvSpPr/>
          <p:nvPr/>
        </p:nvSpPr>
        <p:spPr>
          <a:xfrm>
            <a:off x="3502152" y="3273552"/>
            <a:ext cx="402336" cy="40233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vertex-27"/>
          <p:cNvSpPr/>
          <p:nvPr/>
        </p:nvSpPr>
        <p:spPr>
          <a:xfrm>
            <a:off x="5308092" y="2884932"/>
            <a:ext cx="402336" cy="402336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-28"/>
          <p:cNvSpPr txBox="1"/>
          <p:nvPr/>
        </p:nvSpPr>
        <p:spPr>
          <a:xfrm>
            <a:off x="685800" y="46634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3 components:  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{0,1,2,3,4}</a:t>
            </a:r>
            <a:r>
              <a:rPr lang="en-US" sz="1300" dirty="0">
                <a:solidFill>
                  <a:srgbClr val="000000"/>
                </a:solidFill>
              </a:rPr>
              <a:t>   </a:t>
            </a: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{5,6,7,8}</a:t>
            </a:r>
            <a:r>
              <a:rPr lang="en-US" sz="1300" dirty="0">
                <a:solidFill>
                  <a:srgbClr val="000000"/>
                </a:solidFill>
              </a:rPr>
              <a:t>   </a:t>
            </a: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{9}</a:t>
            </a:r>
            <a:endParaRPr lang="en-US" sz="1300" dirty="0"/>
          </a:p>
        </p:txBody>
      </p:sp>
      <p:sp>
        <p:nvSpPr>
          <p:cNvPr id="33" name="text-29"/>
          <p:cNvSpPr txBox="1"/>
          <p:nvPr/>
        </p:nvSpPr>
        <p:spPr>
          <a:xfrm>
            <a:off x="685800" y="49834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✗ </a:t>
            </a: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{5,6,7}</a:t>
            </a:r>
            <a:r>
              <a:rPr lang="en-US" sz="1200" dirty="0">
                <a:solidFill>
                  <a:schemeClr val="accent4"/>
                </a:solidFill>
              </a:rPr>
              <a:t>  connected, but not maximal: 8 can join.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✗ </a:t>
            </a: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{3,4,5}</a:t>
            </a:r>
            <a:r>
              <a:rPr lang="en-US" sz="1200" dirty="0">
                <a:solidFill>
                  <a:schemeClr val="accent4"/>
                </a:solidFill>
              </a:rPr>
              <a:t>  not connected: no path from 4 to 5.</a:t>
            </a:r>
            <a:endParaRPr lang="en-US" sz="1200" dirty="0"/>
          </a:p>
        </p:txBody>
      </p:sp>
      <p:sp>
        <p:nvSpPr>
          <p:cNvPr id="34" name="card-30"/>
          <p:cNvSpPr/>
          <p:nvPr/>
        </p:nvSpPr>
        <p:spPr>
          <a:xfrm>
            <a:off x="6355080" y="1691640"/>
            <a:ext cx="5330952" cy="896112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-31"/>
          <p:cNvSpPr txBox="1"/>
          <p:nvPr/>
        </p:nvSpPr>
        <p:spPr>
          <a:xfrm>
            <a:off x="6537960" y="1691640"/>
            <a:ext cx="1463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Reachability</a:t>
            </a:r>
            <a:endParaRPr lang="en-US" sz="1300" dirty="0"/>
          </a:p>
        </p:txBody>
      </p:sp>
      <p:sp>
        <p:nvSpPr>
          <p:cNvPr id="36" name="text-32"/>
          <p:cNvSpPr txBox="1"/>
          <p:nvPr/>
        </p:nvSpPr>
        <p:spPr>
          <a:xfrm>
            <a:off x="8092440" y="1691640"/>
            <a:ext cx="3456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~ v</a:t>
            </a:r>
            <a:r>
              <a:rPr lang="en-US" sz="1200" dirty="0">
                <a:solidFill>
                  <a:schemeClr val="accent4"/>
                </a:solidFill>
              </a:rPr>
              <a:t>  ⇔  G contains a path from u to v. (Every vertex reaches itself by a path of length 0.)</a:t>
            </a:r>
            <a:endParaRPr lang="en-US" sz="1200" dirty="0"/>
          </a:p>
        </p:txBody>
      </p:sp>
      <p:sp>
        <p:nvSpPr>
          <p:cNvPr id="37" name="card-33"/>
          <p:cNvSpPr/>
          <p:nvPr/>
        </p:nvSpPr>
        <p:spPr>
          <a:xfrm>
            <a:off x="6355080" y="2734056"/>
            <a:ext cx="5330952" cy="896112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-34"/>
          <p:cNvSpPr txBox="1"/>
          <p:nvPr/>
        </p:nvSpPr>
        <p:spPr>
          <a:xfrm>
            <a:off x="6537960" y="2734056"/>
            <a:ext cx="1463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Equivalence relation</a:t>
            </a:r>
            <a:endParaRPr lang="en-US" sz="1300" dirty="0"/>
          </a:p>
        </p:txBody>
      </p:sp>
      <p:sp>
        <p:nvSpPr>
          <p:cNvPr id="39" name="text-35"/>
          <p:cNvSpPr txBox="1"/>
          <p:nvPr/>
        </p:nvSpPr>
        <p:spPr>
          <a:xfrm>
            <a:off x="8092440" y="2734056"/>
            <a:ext cx="3456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~ is </a:t>
            </a:r>
            <a:r>
              <a:rPr lang="en-US" sz="1200" b="1" dirty="0">
                <a:solidFill>
                  <a:schemeClr val="tx1"/>
                </a:solidFill>
              </a:rPr>
              <a:t>reflexive</a:t>
            </a:r>
            <a:r>
              <a:rPr lang="en-US" sz="1200" dirty="0">
                <a:solidFill>
                  <a:schemeClr val="accent4"/>
                </a:solidFill>
              </a:rPr>
              <a:t> (v ~ v), </a:t>
            </a:r>
            <a:r>
              <a:rPr lang="en-US" sz="1200" b="1" dirty="0">
                <a:solidFill>
                  <a:schemeClr val="tx1"/>
                </a:solidFill>
              </a:rPr>
              <a:t>symmetric</a:t>
            </a:r>
            <a:r>
              <a:rPr lang="en-US" sz="1200" dirty="0">
                <a:solidFill>
                  <a:schemeClr val="accent4"/>
                </a:solidFill>
              </a:rPr>
              <a:t> (u ~ v ⇒ v ~ u) and </a:t>
            </a:r>
            <a:r>
              <a:rPr lang="en-US" sz="1200" b="1" dirty="0">
                <a:solidFill>
                  <a:schemeClr val="tx1"/>
                </a:solidFill>
              </a:rPr>
              <a:t>transitive</a:t>
            </a:r>
            <a:r>
              <a:rPr lang="en-US" sz="1200" dirty="0">
                <a:solidFill>
                  <a:schemeClr val="accent4"/>
                </a:solidFill>
              </a:rPr>
              <a:t> (u ~ v, v ~ w ⇒ u ~ w).</a:t>
            </a:r>
            <a:endParaRPr lang="en-US" sz="1200" dirty="0"/>
          </a:p>
        </p:txBody>
      </p:sp>
      <p:sp>
        <p:nvSpPr>
          <p:cNvPr id="40" name="card-36"/>
          <p:cNvSpPr/>
          <p:nvPr/>
        </p:nvSpPr>
        <p:spPr>
          <a:xfrm>
            <a:off x="6355080" y="3776472"/>
            <a:ext cx="5330952" cy="896112"/>
          </a:xfrm>
          <a:prstGeom prst="roundRect">
            <a:avLst>
              <a:gd name="adj" fmla="val 6122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-37"/>
          <p:cNvSpPr txBox="1"/>
          <p:nvPr/>
        </p:nvSpPr>
        <p:spPr>
          <a:xfrm>
            <a:off x="6537960" y="3776472"/>
            <a:ext cx="1463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Connected component</a:t>
            </a:r>
            <a:endParaRPr lang="en-US" sz="1300" dirty="0"/>
          </a:p>
        </p:txBody>
      </p:sp>
      <p:sp>
        <p:nvSpPr>
          <p:cNvPr id="42" name="text-38"/>
          <p:cNvSpPr txBox="1"/>
          <p:nvPr/>
        </p:nvSpPr>
        <p:spPr>
          <a:xfrm>
            <a:off x="8092440" y="3776472"/>
            <a:ext cx="3456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An </a:t>
            </a:r>
            <a:r>
              <a:rPr lang="en-US" sz="1200" b="1" dirty="0">
                <a:solidFill>
                  <a:schemeClr val="tx1"/>
                </a:solidFill>
              </a:rPr>
              <a:t>equivalence class</a:t>
            </a:r>
            <a:r>
              <a:rPr lang="en-US" sz="1200" dirty="0">
                <a:solidFill>
                  <a:schemeClr val="accent4"/>
                </a:solidFill>
              </a:rPr>
              <a:t> of ~ : a </a:t>
            </a:r>
            <a:r>
              <a:rPr lang="en-US" sz="1200" b="1" dirty="0">
                <a:solidFill>
                  <a:schemeClr val="tx1"/>
                </a:solidFill>
              </a:rPr>
              <a:t>maximal</a:t>
            </a:r>
            <a:r>
              <a:rPr lang="en-US" sz="1200" dirty="0">
                <a:solidFill>
                  <a:schemeClr val="accent4"/>
                </a:solidFill>
              </a:rPr>
              <a:t> set S ⊆ V in which every pair of vertices is joined by a path.</a:t>
            </a:r>
            <a:endParaRPr lang="en-US" sz="1200" dirty="0"/>
          </a:p>
        </p:txBody>
      </p:sp>
      <p:sp>
        <p:nvSpPr>
          <p:cNvPr id="43" name="card-39"/>
          <p:cNvSpPr/>
          <p:nvPr/>
        </p:nvSpPr>
        <p:spPr>
          <a:xfrm>
            <a:off x="6355080" y="4818888"/>
            <a:ext cx="5330952" cy="896112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-40"/>
          <p:cNvSpPr txBox="1"/>
          <p:nvPr/>
        </p:nvSpPr>
        <p:spPr>
          <a:xfrm>
            <a:off x="6537960" y="4818888"/>
            <a:ext cx="1463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Connected graph</a:t>
            </a:r>
            <a:endParaRPr lang="en-US" sz="1300" dirty="0"/>
          </a:p>
        </p:txBody>
      </p:sp>
      <p:sp>
        <p:nvSpPr>
          <p:cNvPr id="45" name="text-41"/>
          <p:cNvSpPr txBox="1"/>
          <p:nvPr/>
        </p:nvSpPr>
        <p:spPr>
          <a:xfrm>
            <a:off x="8092440" y="4818888"/>
            <a:ext cx="3456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G has </a:t>
            </a:r>
            <a:r>
              <a:rPr lang="en-US" sz="1200" b="1" dirty="0">
                <a:solidFill>
                  <a:schemeClr val="tx1"/>
                </a:solidFill>
              </a:rPr>
              <a:t>exactly one</a:t>
            </a:r>
            <a:r>
              <a:rPr lang="en-US" sz="1200" dirty="0">
                <a:solidFill>
                  <a:schemeClr val="accent4"/>
                </a:solidFill>
              </a:rPr>
              <a:t> connected component. The example on the left is not.</a:t>
            </a:r>
            <a:endParaRPr lang="en-US" sz="1200" dirty="0"/>
          </a:p>
        </p:txBody>
      </p:sp>
      <p:sp>
        <p:nvSpPr>
          <p:cNvPr id="46" name="card-42"/>
          <p:cNvSpPr/>
          <p:nvPr/>
        </p:nvSpPr>
        <p:spPr>
          <a:xfrm>
            <a:off x="502920" y="5852160"/>
            <a:ext cx="11183112" cy="420624"/>
          </a:xfrm>
          <a:prstGeom prst="roundRect">
            <a:avLst>
              <a:gd name="adj" fmla="val 13043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-43"/>
          <p:cNvSpPr txBox="1"/>
          <p:nvPr/>
        </p:nvSpPr>
        <p:spPr>
          <a:xfrm>
            <a:off x="685800" y="5852160"/>
            <a:ext cx="10817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Components partition V: </a:t>
            </a:r>
            <a:r>
              <a:rPr lang="en-US" sz="1350" dirty="0">
                <a:solidFill>
                  <a:schemeClr val="tx1"/>
                </a:solidFill>
              </a:rPr>
              <a:t>every vertex is in exactly one component (an isolated vertex like 9 is a component on its own).</a:t>
            </a:r>
            <a:endParaRPr lang="en-US" sz="1350" dirty="0"/>
          </a:p>
        </p:txBody>
      </p:sp>
      <p:sp>
        <p:nvSpPr>
          <p:cNvPr id="48" name="text-44"/>
          <p:cNvSpPr txBox="1"/>
          <p:nvPr/>
        </p:nvSpPr>
        <p:spPr>
          <a:xfrm>
            <a:off x="502920" y="6281928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In a directed graph, u ⇝ v does not imply v ⇝ u, so ~ is not symmetric. There we use strongly connected components: u and v can each reach the other.</a:t>
            </a:r>
            <a:endParaRPr lang="en-US" sz="9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TERMINOLOGY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How Many Edges Can a Connected Graph Have?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For a connected, simple, undirected graph with V vertices:   V − 1  ≤  E  ≤  V(V − 1)/2.</a:t>
            </a:r>
            <a:endParaRPr lang="en-US" sz="1350" dirty="0"/>
          </a:p>
        </p:txBody>
      </p:sp>
      <p:sp>
        <p:nvSpPr>
          <p:cNvPr id="5" name="card-1"/>
          <p:cNvSpPr/>
          <p:nvPr/>
        </p:nvSpPr>
        <p:spPr>
          <a:xfrm>
            <a:off x="502920" y="1691640"/>
            <a:ext cx="5486400" cy="4041648"/>
          </a:xfrm>
          <a:prstGeom prst="roundRect">
            <a:avLst>
              <a:gd name="adj" fmla="val 13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-2"/>
          <p:cNvSpPr txBox="1"/>
          <p:nvPr/>
        </p:nvSpPr>
        <p:spPr>
          <a:xfrm>
            <a:off x="685800" y="1828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MINIMUM</a:t>
            </a:r>
            <a:endParaRPr lang="en-US" sz="1050" dirty="0"/>
          </a:p>
        </p:txBody>
      </p:sp>
      <p:sp>
        <p:nvSpPr>
          <p:cNvPr id="7" name="text-3"/>
          <p:cNvSpPr txBox="1"/>
          <p:nvPr/>
        </p:nvSpPr>
        <p:spPr>
          <a:xfrm>
            <a:off x="685800" y="20756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Claim: E ≥ 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− 1</a:t>
            </a:r>
            <a:endParaRPr lang="en-US" sz="1400" dirty="0"/>
          </a:p>
        </p:txBody>
      </p:sp>
      <p:sp>
        <p:nvSpPr>
          <p:cNvPr id="8" name="step-4"/>
          <p:cNvSpPr/>
          <p:nvPr/>
        </p:nvSpPr>
        <p:spPr>
          <a:xfrm>
            <a:off x="685800" y="25237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-5"/>
          <p:cNvSpPr txBox="1"/>
          <p:nvPr/>
        </p:nvSpPr>
        <p:spPr>
          <a:xfrm>
            <a:off x="1069848" y="24688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Start with V vertices and no edges: </a:t>
            </a:r>
            <a:r>
              <a:rPr lang="en-US" sz="1200" b="1" dirty="0">
                <a:solidFill>
                  <a:schemeClr val="tx1"/>
                </a:solidFill>
              </a:rPr>
              <a:t>V components</a:t>
            </a:r>
            <a:r>
              <a:rPr lang="en-US" sz="1200" dirty="0">
                <a:solidFill>
                  <a:schemeClr val="accent4"/>
                </a:solidFill>
              </a:rPr>
              <a:t>.</a:t>
            </a:r>
            <a:endParaRPr lang="en-US" sz="1200" dirty="0"/>
          </a:p>
        </p:txBody>
      </p:sp>
      <p:sp>
        <p:nvSpPr>
          <p:cNvPr id="10" name="step-6"/>
          <p:cNvSpPr/>
          <p:nvPr/>
        </p:nvSpPr>
        <p:spPr>
          <a:xfrm>
            <a:off x="685800" y="29809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-7"/>
          <p:cNvSpPr txBox="1"/>
          <p:nvPr/>
        </p:nvSpPr>
        <p:spPr>
          <a:xfrm>
            <a:off x="1069848" y="29260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Adding one edge joins </a:t>
            </a:r>
            <a:r>
              <a:rPr lang="en-US" sz="1200" b="1" dirty="0">
                <a:solidFill>
                  <a:schemeClr val="tx1"/>
                </a:solidFill>
              </a:rPr>
              <a:t>at most two components</a:t>
            </a:r>
            <a:r>
              <a:rPr lang="en-US" sz="1200" dirty="0">
                <a:solidFill>
                  <a:schemeClr val="accent4"/>
                </a:solidFill>
              </a:rPr>
              <a:t>, so the count drops by at most 1.</a:t>
            </a:r>
            <a:endParaRPr lang="en-US" sz="1200" dirty="0"/>
          </a:p>
        </p:txBody>
      </p:sp>
      <p:sp>
        <p:nvSpPr>
          <p:cNvPr id="12" name="step-8"/>
          <p:cNvSpPr/>
          <p:nvPr/>
        </p:nvSpPr>
        <p:spPr>
          <a:xfrm>
            <a:off x="685800" y="34381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-9"/>
          <p:cNvSpPr txBox="1"/>
          <p:nvPr/>
        </p:nvSpPr>
        <p:spPr>
          <a:xfrm>
            <a:off x="1069848" y="33832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Getting down to 1 component needs </a:t>
            </a:r>
            <a:r>
              <a:rPr lang="en-US" sz="1200" b="1" dirty="0">
                <a:solidFill>
                  <a:schemeClr val="tx1"/>
                </a:solidFill>
              </a:rPr>
              <a:t>at least V − 1 edges</a:t>
            </a:r>
            <a:r>
              <a:rPr lang="en-US" sz="1200" dirty="0">
                <a:solidFill>
                  <a:schemeClr val="accent4"/>
                </a:solidFill>
              </a:rPr>
              <a:t>. A tree uses exactly V − 1.</a:t>
            </a:r>
            <a:endParaRPr lang="en-US" sz="1200" dirty="0"/>
          </a:p>
        </p:txBody>
      </p:sp>
      <p:sp>
        <p:nvSpPr>
          <p:cNvPr id="14" name="card-10"/>
          <p:cNvSpPr/>
          <p:nvPr/>
        </p:nvSpPr>
        <p:spPr>
          <a:xfrm>
            <a:off x="685800" y="3931920"/>
            <a:ext cx="5120640" cy="164592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-11"/>
          <p:cNvSpPr txBox="1"/>
          <p:nvPr/>
        </p:nvSpPr>
        <p:spPr>
          <a:xfrm>
            <a:off x="868680" y="4023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Example: V = 5, a path</a:t>
            </a:r>
            <a:endParaRPr lang="en-US" sz="1200" dirty="0"/>
          </a:p>
        </p:txBody>
      </p:sp>
      <p:sp>
        <p:nvSpPr>
          <p:cNvPr id="16" name="edge-12"/>
          <p:cNvSpPr/>
          <p:nvPr/>
        </p:nvSpPr>
        <p:spPr>
          <a:xfrm>
            <a:off x="1389888" y="4617720"/>
            <a:ext cx="649224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edge-no-13"/>
          <p:cNvSpPr/>
          <p:nvPr/>
        </p:nvSpPr>
        <p:spPr>
          <a:xfrm>
            <a:off x="1595628" y="4233672"/>
            <a:ext cx="237744" cy="23774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/>
                </a:solidFill>
              </a:rPr>
              <a:t>1</a:t>
            </a:r>
            <a:endParaRPr lang="en-US" sz="950" dirty="0"/>
          </a:p>
        </p:txBody>
      </p:sp>
      <p:sp>
        <p:nvSpPr>
          <p:cNvPr id="18" name="edge-14"/>
          <p:cNvSpPr/>
          <p:nvPr/>
        </p:nvSpPr>
        <p:spPr>
          <a:xfrm>
            <a:off x="2441448" y="4617720"/>
            <a:ext cx="649224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dge-no-15"/>
          <p:cNvSpPr/>
          <p:nvPr/>
        </p:nvSpPr>
        <p:spPr>
          <a:xfrm>
            <a:off x="2647188" y="4233672"/>
            <a:ext cx="237744" cy="23774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/>
                </a:solidFill>
              </a:rPr>
              <a:t>2</a:t>
            </a:r>
            <a:endParaRPr lang="en-US" sz="950" dirty="0"/>
          </a:p>
        </p:txBody>
      </p:sp>
      <p:sp>
        <p:nvSpPr>
          <p:cNvPr id="20" name="edge-16"/>
          <p:cNvSpPr/>
          <p:nvPr/>
        </p:nvSpPr>
        <p:spPr>
          <a:xfrm>
            <a:off x="3493008" y="4617720"/>
            <a:ext cx="649224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edge-no-17"/>
          <p:cNvSpPr/>
          <p:nvPr/>
        </p:nvSpPr>
        <p:spPr>
          <a:xfrm>
            <a:off x="3698748" y="4233672"/>
            <a:ext cx="237744" cy="23774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/>
                </a:solidFill>
              </a:rPr>
              <a:t>3</a:t>
            </a:r>
            <a:endParaRPr lang="en-US" sz="950" dirty="0"/>
          </a:p>
        </p:txBody>
      </p:sp>
      <p:sp>
        <p:nvSpPr>
          <p:cNvPr id="22" name="edge-18"/>
          <p:cNvSpPr/>
          <p:nvPr/>
        </p:nvSpPr>
        <p:spPr>
          <a:xfrm>
            <a:off x="4544568" y="4617720"/>
            <a:ext cx="649224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edge-no-19"/>
          <p:cNvSpPr/>
          <p:nvPr/>
        </p:nvSpPr>
        <p:spPr>
          <a:xfrm>
            <a:off x="4750308" y="4233672"/>
            <a:ext cx="237744" cy="23774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/>
                </a:solidFill>
              </a:rPr>
              <a:t>4</a:t>
            </a:r>
            <a:endParaRPr lang="en-US" sz="950" dirty="0"/>
          </a:p>
        </p:txBody>
      </p:sp>
      <p:sp>
        <p:nvSpPr>
          <p:cNvPr id="24" name="vertex-20"/>
          <p:cNvSpPr/>
          <p:nvPr/>
        </p:nvSpPr>
        <p:spPr>
          <a:xfrm>
            <a:off x="987552" y="441655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vertex-21"/>
          <p:cNvSpPr/>
          <p:nvPr/>
        </p:nvSpPr>
        <p:spPr>
          <a:xfrm>
            <a:off x="2039112" y="441655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vertex-22"/>
          <p:cNvSpPr/>
          <p:nvPr/>
        </p:nvSpPr>
        <p:spPr>
          <a:xfrm>
            <a:off x="3090672" y="441655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vertex-23"/>
          <p:cNvSpPr/>
          <p:nvPr/>
        </p:nvSpPr>
        <p:spPr>
          <a:xfrm>
            <a:off x="4142232" y="441655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vertex-24"/>
          <p:cNvSpPr/>
          <p:nvPr/>
        </p:nvSpPr>
        <p:spPr>
          <a:xfrm>
            <a:off x="5193792" y="441655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-25"/>
          <p:cNvSpPr txBox="1"/>
          <p:nvPr/>
        </p:nvSpPr>
        <p:spPr>
          <a:xfrm>
            <a:off x="868680" y="4956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Components after each edge:  </a:t>
            </a: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→ 4 → 3 → 2 → 1</a:t>
            </a:r>
            <a:r>
              <a:rPr lang="en-US" sz="1150" b="1" dirty="0">
                <a:solidFill>
                  <a:schemeClr val="accent1"/>
                </a:solidFill>
              </a:rPr>
              <a:t>   E = 4 = V − 1</a:t>
            </a:r>
            <a:endParaRPr lang="en-US" sz="1150" dirty="0"/>
          </a:p>
        </p:txBody>
      </p:sp>
      <p:sp>
        <p:nvSpPr>
          <p:cNvPr id="30" name="text-26"/>
          <p:cNvSpPr txBox="1"/>
          <p:nvPr/>
        </p:nvSpPr>
        <p:spPr>
          <a:xfrm>
            <a:off x="868680" y="52303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4"/>
                </a:solidFill>
              </a:rPr>
              <a:t>Remove any one edge and the graph falls apart.</a:t>
            </a:r>
            <a:endParaRPr lang="en-US" sz="1150" dirty="0"/>
          </a:p>
        </p:txBody>
      </p:sp>
      <p:sp>
        <p:nvSpPr>
          <p:cNvPr id="31" name="card-27"/>
          <p:cNvSpPr/>
          <p:nvPr/>
        </p:nvSpPr>
        <p:spPr>
          <a:xfrm>
            <a:off x="6199632" y="1691640"/>
            <a:ext cx="5486400" cy="4041648"/>
          </a:xfrm>
          <a:prstGeom prst="roundRect">
            <a:avLst>
              <a:gd name="adj" fmla="val 13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-28"/>
          <p:cNvSpPr txBox="1"/>
          <p:nvPr/>
        </p:nvSpPr>
        <p:spPr>
          <a:xfrm>
            <a:off x="6382512" y="1828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MAXIMUM</a:t>
            </a:r>
            <a:endParaRPr lang="en-US" sz="1050" dirty="0"/>
          </a:p>
        </p:txBody>
      </p:sp>
      <p:sp>
        <p:nvSpPr>
          <p:cNvPr id="33" name="text-29"/>
          <p:cNvSpPr txBox="1"/>
          <p:nvPr/>
        </p:nvSpPr>
        <p:spPr>
          <a:xfrm>
            <a:off x="6382512" y="20756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Claim: E ≤ 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V(V − 1)/2</a:t>
            </a:r>
            <a:endParaRPr lang="en-US" sz="1400" dirty="0"/>
          </a:p>
        </p:txBody>
      </p:sp>
      <p:sp>
        <p:nvSpPr>
          <p:cNvPr id="34" name="step-30"/>
          <p:cNvSpPr/>
          <p:nvPr/>
        </p:nvSpPr>
        <p:spPr>
          <a:xfrm>
            <a:off x="6382512" y="25237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5" name="text-31"/>
          <p:cNvSpPr txBox="1"/>
          <p:nvPr/>
        </p:nvSpPr>
        <p:spPr>
          <a:xfrm>
            <a:off x="6766560" y="24688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Each edge is a </a:t>
            </a:r>
            <a:r>
              <a:rPr lang="en-US" sz="1200" b="1" dirty="0">
                <a:solidFill>
                  <a:schemeClr val="tx1"/>
                </a:solidFill>
              </a:rPr>
              <a:t>pair {v, w} of distinct vertices</a:t>
            </a:r>
            <a:r>
              <a:rPr lang="en-US" sz="1200" dirty="0">
                <a:solidFill>
                  <a:schemeClr val="accent4"/>
                </a:solidFill>
              </a:rPr>
              <a:t> (no self-loops).</a:t>
            </a:r>
            <a:endParaRPr lang="en-US" sz="1200" dirty="0"/>
          </a:p>
        </p:txBody>
      </p:sp>
      <p:sp>
        <p:nvSpPr>
          <p:cNvPr id="36" name="step-32"/>
          <p:cNvSpPr/>
          <p:nvPr/>
        </p:nvSpPr>
        <p:spPr>
          <a:xfrm>
            <a:off x="6382512" y="29809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text-33"/>
          <p:cNvSpPr txBox="1"/>
          <p:nvPr/>
        </p:nvSpPr>
        <p:spPr>
          <a:xfrm>
            <a:off x="6766560" y="29260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No parallel edges, so each pair is used </a:t>
            </a:r>
            <a:r>
              <a:rPr lang="en-US" sz="1200" b="1" dirty="0">
                <a:solidFill>
                  <a:schemeClr val="tx1"/>
                </a:solidFill>
              </a:rPr>
              <a:t>at most once</a:t>
            </a:r>
            <a:r>
              <a:rPr lang="en-US" sz="1200" dirty="0">
                <a:solidFill>
                  <a:schemeClr val="accent4"/>
                </a:solidFill>
              </a:rPr>
              <a:t>.</a:t>
            </a:r>
            <a:endParaRPr lang="en-US" sz="1200" dirty="0"/>
          </a:p>
        </p:txBody>
      </p:sp>
      <p:sp>
        <p:nvSpPr>
          <p:cNvPr id="38" name="step-34"/>
          <p:cNvSpPr/>
          <p:nvPr/>
        </p:nvSpPr>
        <p:spPr>
          <a:xfrm>
            <a:off x="6382512" y="34381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9" name="text-35"/>
          <p:cNvSpPr txBox="1"/>
          <p:nvPr/>
        </p:nvSpPr>
        <p:spPr>
          <a:xfrm>
            <a:off x="6766560" y="33832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Number of pairs = </a:t>
            </a:r>
            <a:r>
              <a:rPr lang="en-US" sz="1200" b="1" dirty="0">
                <a:solidFill>
                  <a:schemeClr val="tx1"/>
                </a:solidFill>
              </a:rPr>
              <a:t>V choose 2= V(V − 1)/2</a:t>
            </a:r>
            <a:r>
              <a:rPr lang="en-US" sz="1200" dirty="0">
                <a:solidFill>
                  <a:schemeClr val="accent4"/>
                </a:solidFill>
              </a:rPr>
              <a:t>. The complete graph uses them all.</a:t>
            </a:r>
            <a:endParaRPr lang="en-US" sz="1200" dirty="0"/>
          </a:p>
        </p:txBody>
      </p:sp>
      <p:sp>
        <p:nvSpPr>
          <p:cNvPr id="40" name="card-36"/>
          <p:cNvSpPr/>
          <p:nvPr/>
        </p:nvSpPr>
        <p:spPr>
          <a:xfrm>
            <a:off x="6382512" y="3931920"/>
            <a:ext cx="5120640" cy="164592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-37"/>
          <p:cNvSpPr txBox="1"/>
          <p:nvPr/>
        </p:nvSpPr>
        <p:spPr>
          <a:xfrm>
            <a:off x="8485632" y="40690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Example: V = 5, complete graph K</a:t>
            </a:r>
            <a:r>
              <a:rPr lang="en-US" sz="1200" b="1" baseline="-40000" dirty="0">
                <a:solidFill>
                  <a:schemeClr val="accent2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edge-38"/>
          <p:cNvSpPr/>
          <p:nvPr/>
        </p:nvSpPr>
        <p:spPr>
          <a:xfrm>
            <a:off x="7521510" y="4293841"/>
            <a:ext cx="307651" cy="22352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edge-39"/>
          <p:cNvSpPr/>
          <p:nvPr/>
        </p:nvSpPr>
        <p:spPr>
          <a:xfrm>
            <a:off x="7439214" y="4353632"/>
            <a:ext cx="253007" cy="77867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edge-40"/>
          <p:cNvSpPr/>
          <p:nvPr/>
        </p:nvSpPr>
        <p:spPr>
          <a:xfrm flipH="1">
            <a:off x="7084483" y="4353632"/>
            <a:ext cx="253007" cy="77867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edge-41"/>
          <p:cNvSpPr/>
          <p:nvPr/>
        </p:nvSpPr>
        <p:spPr>
          <a:xfrm flipH="1">
            <a:off x="6947543" y="4293841"/>
            <a:ext cx="307651" cy="22352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edge-42"/>
          <p:cNvSpPr/>
          <p:nvPr/>
        </p:nvSpPr>
        <p:spPr>
          <a:xfrm flipH="1">
            <a:off x="7793944" y="4770643"/>
            <a:ext cx="117512" cy="361665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edge-43"/>
          <p:cNvSpPr/>
          <p:nvPr/>
        </p:nvSpPr>
        <p:spPr>
          <a:xfrm flipH="1">
            <a:off x="7166779" y="4710852"/>
            <a:ext cx="662382" cy="48124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edge-44"/>
          <p:cNvSpPr/>
          <p:nvPr/>
        </p:nvSpPr>
        <p:spPr>
          <a:xfrm flipH="1">
            <a:off x="6978978" y="4614107"/>
            <a:ext cx="818749" cy="91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edge-45"/>
          <p:cNvSpPr/>
          <p:nvPr/>
        </p:nvSpPr>
        <p:spPr>
          <a:xfrm flipH="1">
            <a:off x="7198213" y="5288845"/>
            <a:ext cx="380278" cy="91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edge-46"/>
          <p:cNvSpPr/>
          <p:nvPr/>
        </p:nvSpPr>
        <p:spPr>
          <a:xfrm flipH="1" flipV="1">
            <a:off x="6947543" y="4710852"/>
            <a:ext cx="662382" cy="48124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edge-47"/>
          <p:cNvSpPr/>
          <p:nvPr/>
        </p:nvSpPr>
        <p:spPr>
          <a:xfrm flipH="1" flipV="1">
            <a:off x="6865247" y="4770643"/>
            <a:ext cx="117512" cy="361665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vertex-48"/>
          <p:cNvSpPr/>
          <p:nvPr/>
        </p:nvSpPr>
        <p:spPr>
          <a:xfrm>
            <a:off x="7223760" y="4032504"/>
            <a:ext cx="329184" cy="3291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53" name="vertex-49"/>
          <p:cNvSpPr/>
          <p:nvPr/>
        </p:nvSpPr>
        <p:spPr>
          <a:xfrm>
            <a:off x="7797726" y="4449515"/>
            <a:ext cx="329184" cy="3291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vertex-50"/>
          <p:cNvSpPr/>
          <p:nvPr/>
        </p:nvSpPr>
        <p:spPr>
          <a:xfrm>
            <a:off x="7578491" y="5124253"/>
            <a:ext cx="329184" cy="3291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vertex-51"/>
          <p:cNvSpPr/>
          <p:nvPr/>
        </p:nvSpPr>
        <p:spPr>
          <a:xfrm>
            <a:off x="6869029" y="5124253"/>
            <a:ext cx="329184" cy="3291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56" name="vertex-52"/>
          <p:cNvSpPr/>
          <p:nvPr/>
        </p:nvSpPr>
        <p:spPr>
          <a:xfrm>
            <a:off x="6649794" y="4449515"/>
            <a:ext cx="329184" cy="3291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57" name="text-53"/>
          <p:cNvSpPr txBox="1"/>
          <p:nvPr/>
        </p:nvSpPr>
        <p:spPr>
          <a:xfrm>
            <a:off x="8485632" y="4343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Every pair is joined.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× 4 / 2 = 10</a:t>
            </a:r>
            <a:r>
              <a:rPr lang="en-US" sz="1200" dirty="0">
                <a:solidFill>
                  <a:schemeClr val="accent4"/>
                </a:solidFill>
              </a:rPr>
              <a:t> edges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Check: each degree is 4 = V − 1;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Σ deg = 20 = 2E.</a:t>
            </a:r>
            <a:endParaRPr lang="en-US" sz="1200" dirty="0"/>
          </a:p>
        </p:txBody>
      </p:sp>
      <p:sp>
        <p:nvSpPr>
          <p:cNvPr id="58" name="card-54"/>
          <p:cNvSpPr/>
          <p:nvPr/>
        </p:nvSpPr>
        <p:spPr>
          <a:xfrm>
            <a:off x="502920" y="5833872"/>
            <a:ext cx="11183112" cy="420624"/>
          </a:xfrm>
          <a:prstGeom prst="roundRect">
            <a:avLst>
              <a:gd name="adj" fmla="val 13043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-55"/>
          <p:cNvSpPr txBox="1"/>
          <p:nvPr/>
        </p:nvSpPr>
        <p:spPr>
          <a:xfrm>
            <a:off x="685800" y="5833872"/>
            <a:ext cx="10817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Trees sit at the minimum (V − 1), complete graphs at the maximum (V(V − 1)/2). </a:t>
            </a:r>
            <a:endParaRPr lang="en-US" sz="1350" dirty="0"/>
          </a:p>
        </p:txBody>
      </p:sp>
      <p:sp>
        <p:nvSpPr>
          <p:cNvPr id="60" name="text-56"/>
          <p:cNvSpPr txBox="1"/>
          <p:nvPr/>
        </p:nvSpPr>
        <p:spPr>
          <a:xfrm>
            <a:off x="502920" y="6281928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Assumes simple undirected graphs. Without the “connected” requirement the minimum is 0. </a:t>
            </a:r>
            <a:r>
              <a:rPr lang="en-US" sz="900" b="1" i="1" dirty="0">
                <a:solidFill>
                  <a:schemeClr val="accent4"/>
                </a:solidFill>
              </a:rPr>
              <a:t>A digraph can have up to V(V − 1) edges, since (v, w) and (w, v) are different.</a:t>
            </a:r>
            <a:endParaRPr lang="en-US" sz="900" b="1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gorithms Course">
  <a:themeElements>
    <a:clrScheme name="Algorithms Course">
      <a:dk1>
        <a:srgbClr val="1E2A44"/>
      </a:dk1>
      <a:lt1>
        <a:srgbClr val="FFFFFF"/>
      </a:lt1>
      <a:dk2>
        <a:srgbClr val="333F50"/>
      </a:dk2>
      <a:lt2>
        <a:srgbClr val="EEF3FC"/>
      </a:lt2>
      <a:accent1>
        <a:srgbClr val="4472C4"/>
      </a:accent1>
      <a:accent2>
        <a:srgbClr val="C55A11"/>
      </a:accent2>
      <a:accent3>
        <a:srgbClr val="FBE4D5"/>
      </a:accent3>
      <a:accent4>
        <a:srgbClr val="595959"/>
      </a:accent4>
      <a:accent5>
        <a:srgbClr val="D9D9D9"/>
      </a:accent5>
      <a:accent6>
        <a:srgbClr val="DCE6F7"/>
      </a:accent6>
      <a:hlink>
        <a:srgbClr val="0563C1"/>
      </a:hlink>
      <a:folHlink>
        <a:srgbClr val="954F72"/>
      </a:folHlink>
    </a:clrScheme>
    <a:fontScheme name="Algorithms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1041</TotalTime>
  <Words>2784</Words>
  <Application>Microsoft Macintosh PowerPoint</Application>
  <PresentationFormat>Widescreen</PresentationFormat>
  <Paragraphs>580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Algorithms Course</vt:lpstr>
      <vt:lpstr>Graphs: An Introduction</vt:lpstr>
      <vt:lpstr>Graphs Are Everywhere</vt:lpstr>
      <vt:lpstr>One Model, Many Domains</vt:lpstr>
      <vt:lpstr>Undirected Graphs</vt:lpstr>
      <vt:lpstr>Directed Graphs (Digraphs)</vt:lpstr>
      <vt:lpstr>Cycles: Undirected vs. Directed</vt:lpstr>
      <vt:lpstr>Storing a Graph in Code</vt:lpstr>
      <vt:lpstr>Adjacency Matrix</vt:lpstr>
      <vt:lpstr>Adjacency Lists</vt:lpstr>
      <vt:lpstr>Why Θ(V²) and Θ(V + E)? Space, Proved</vt:lpstr>
      <vt:lpstr>Matrix vs. Lists: Which Should You Use?</vt:lpstr>
      <vt:lpstr>Connected Components</vt:lpstr>
      <vt:lpstr>How Many Edges Can a Connected Graph Have?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Graphs: Terminology and Representation</dc:title>
  <dc:subject>PptxGenJS Presentation</dc:subject>
  <dc:creator>Tanwistha Saha</dc:creator>
  <cp:lastModifiedBy>Tanwistha Saha</cp:lastModifiedBy>
  <cp:revision>12</cp:revision>
  <dcterms:created xsi:type="dcterms:W3CDTF">2026-10-22T17:24:54Z</dcterms:created>
  <dcterms:modified xsi:type="dcterms:W3CDTF">2026-10-28T18:13:26Z</dcterms:modified>
</cp:coreProperties>
</file>