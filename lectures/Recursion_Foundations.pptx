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6" r:id="rId3"/>
    <p:sldId id="267" r:id="rId4"/>
    <p:sldId id="268" r:id="rId5"/>
    <p:sldId id="269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5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92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2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4824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anwistha/cs383_fall26/blob/main/assignments/PA1/PA1_Assignment.md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14806" y="1005840"/>
            <a:ext cx="3291840" cy="329184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5875">
            <a:solidFill>
              <a:srgbClr val="4472C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898854" y="1389888"/>
            <a:ext cx="2468880" cy="2468880"/>
          </a:xfrm>
          <a:prstGeom prst="roundRect">
            <a:avLst>
              <a:gd name="adj" fmla="val 6667"/>
            </a:avLst>
          </a:prstGeom>
          <a:solidFill>
            <a:srgbClr val="E7E6E6">
              <a:alpha val="12000"/>
            </a:srgbClr>
          </a:solidFill>
          <a:ln w="15875">
            <a:solidFill>
              <a:srgbClr val="4472C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282902" y="1773936"/>
            <a:ext cx="1828800" cy="1828800"/>
          </a:xfrm>
          <a:prstGeom prst="roundRect">
            <a:avLst>
              <a:gd name="adj" fmla="val 9000"/>
            </a:avLst>
          </a:prstGeom>
          <a:solidFill>
            <a:srgbClr val="D9E2F3">
              <a:alpha val="16000"/>
            </a:srgbClr>
          </a:solidFill>
          <a:ln w="15875">
            <a:solidFill>
              <a:srgbClr val="4472C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66950" y="2157984"/>
            <a:ext cx="1325880" cy="1325880"/>
          </a:xfrm>
          <a:prstGeom prst="roundRect">
            <a:avLst>
              <a:gd name="adj" fmla="val 12414"/>
            </a:avLst>
          </a:prstGeom>
          <a:solidFill>
            <a:srgbClr val="B4C6E7">
              <a:alpha val="20000"/>
            </a:srgbClr>
          </a:solidFill>
          <a:ln w="15875">
            <a:solidFill>
              <a:srgbClr val="4472C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050998" y="2542032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ED7D31">
              <a:alpha val="24000"/>
            </a:srgbClr>
          </a:solidFill>
          <a:ln w="15875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50382" y="1508686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4472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STACKS, QUEUES RECAP &amp; RECURSION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30936" y="3198114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a problem by solving a smaller version of itself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3977640"/>
            <a:ext cx="1280160" cy="0"/>
          </a:xfrm>
          <a:prstGeom prst="line">
            <a:avLst/>
          </a:prstGeom>
          <a:noFill/>
          <a:ln w="381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4160519"/>
            <a:ext cx="5486400" cy="7713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383 Algorithms Analysis and Design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Tanwistha Saha</a:t>
            </a:r>
            <a:endParaRPr lang="en-US" sz="1400" dirty="0">
              <a:solidFill>
                <a:schemeClr val="bg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501887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Session 4  ·  September 9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333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LIFO — Last In, First Out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Analysis of Algorithms  ·   Stacks &amp; Queues  ·  Sep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44546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0574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4231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only add or remove from one end — the top.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8680" y="3291840"/>
            <a:ext cx="4754880" cy="0"/>
          </a:xfrm>
          <a:prstGeom prst="line">
            <a:avLst/>
          </a:prstGeom>
          <a:noFill/>
          <a:ln w="12700">
            <a:solidFill>
              <a:srgbClr val="E7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3474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push(item)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8404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the top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4251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pop()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46177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and return the top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51206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Real-world: a stack of trays, your browser's back button, undo (Ctrl+Z).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1828800"/>
            <a:ext cx="5349240" cy="3931920"/>
          </a:xfrm>
          <a:prstGeom prst="roundRect">
            <a:avLst>
              <a:gd name="adj" fmla="val 2791"/>
            </a:avLst>
          </a:prstGeom>
          <a:solidFill>
            <a:srgbClr val="E7E6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0" y="20574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98080" y="2743200"/>
            <a:ext cx="2926080" cy="640080"/>
          </a:xfrm>
          <a:prstGeom prst="roundRect">
            <a:avLst>
              <a:gd name="adj" fmla="val 8571"/>
            </a:avLst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98080" y="27432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(top)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498080" y="3493008"/>
            <a:ext cx="2926080" cy="640080"/>
          </a:xfrm>
          <a:prstGeom prst="roundRect">
            <a:avLst>
              <a:gd name="adj" fmla="val 8571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98080" y="349300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498080" y="4242816"/>
            <a:ext cx="2926080" cy="640080"/>
          </a:xfrm>
          <a:prstGeom prst="roundRect">
            <a:avLst>
              <a:gd name="adj" fmla="val 8571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98080" y="4242816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83680" y="23774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push / pop happen here ↑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0" y="5074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push, pop, peek — all instant, one step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333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FIFO — First In, First Out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Analysis of Algorithms  ·  Stacks &amp; Queues  ·  Sep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44546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0574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4231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at the back, remove from the front.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8680" y="3291840"/>
            <a:ext cx="4754880" cy="0"/>
          </a:xfrm>
          <a:prstGeom prst="line">
            <a:avLst/>
          </a:prstGeom>
          <a:noFill/>
          <a:ln w="12700">
            <a:solidFill>
              <a:srgbClr val="E7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3474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enqueue(item)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8404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the back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4251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dequeue()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46177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and return the front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51206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Real-world: a checkout line, a printer's job queue, customer support tickets.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1828800"/>
            <a:ext cx="5349240" cy="3931920"/>
          </a:xfrm>
          <a:prstGeom prst="roundRect">
            <a:avLst>
              <a:gd name="adj" fmla="val 2791"/>
            </a:avLst>
          </a:prstGeom>
          <a:solidFill>
            <a:srgbClr val="E7E6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0" y="20574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0" y="3017520"/>
            <a:ext cx="960120" cy="6858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49440" y="301752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92440" y="3017520"/>
            <a:ext cx="960120" cy="685800"/>
          </a:xfrm>
          <a:prstGeom prst="roundRect">
            <a:avLst>
              <a:gd name="adj" fmla="val 8000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092440" y="301752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235440" y="3017520"/>
            <a:ext cx="960120" cy="685800"/>
          </a:xfrm>
          <a:prstGeom prst="roundRect">
            <a:avLst>
              <a:gd name="adj" fmla="val 8000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235440" y="301752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12280" y="38130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dequeue (front)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823960" y="38130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 (back) 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83680" y="429768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E7E6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12280" y="44348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GOTCHA WORTH KNOWING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12280" y="470916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 backed by a plain Python list is instant to enqueue, but dequeue has to shift every remaining item forward one spot — it's not instant at all.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333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vs. Queue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Analysis of Algorithms  ·  Stacks &amp; Queues  ·  Sep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44546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011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20640" y="2057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0" y="2057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2468880"/>
            <a:ext cx="10332720" cy="0"/>
          </a:xfrm>
          <a:prstGeom prst="line">
            <a:avLst/>
          </a:prstGeom>
          <a:noFill/>
          <a:ln w="12700">
            <a:solidFill>
              <a:srgbClr val="E7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6060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20640" y="26060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46720" y="26060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447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FIFO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31546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operation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0" y="3154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push()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0" y="3154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447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enqueue()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37033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operation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20640" y="37033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pop()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46720" y="37033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447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dequeue()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42519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from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20640" y="4251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top (same end as add)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0" y="4251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447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front (opposite end from add)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48006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20640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 back button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046720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447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Checkout line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544068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22960" y="544068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Explorations : PA1 problems — remember this table while implementing.</a:t>
            </a:r>
          </a:p>
          <a:p>
            <a:pPr marL="0" indent="0">
              <a:buNone/>
            </a:pPr>
            <a:endParaRPr lang="en-US" sz="1300" i="1" dirty="0">
              <a:solidFill>
                <a:srgbClr val="333F5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for thought: How can we implement stacks and queues with LinkedList? </a:t>
            </a:r>
            <a:endParaRPr lang="en-US" sz="13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ELEMENTARY DATA STRUCTURE 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333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structures, one big idea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445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7830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333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 trade flexibility for speed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80160" y="2212848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Contiguous memory gives instant index access, but shifting elements makes middle insert/delete much slower.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445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30175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333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 lists trade speed for flexibility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80160" y="3447288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index arithmetic means reaching a position takes a walk from the start, but inserting or deleting a node is just relinking pointers.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445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42519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333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Stacks and queues are access patterns, not new memory layouts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80160" y="4681728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can be built on arrays or linked lists — LIFO vs. FIFO is about which end you're allowed to touch.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440680"/>
            <a:ext cx="1106424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5623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FOCUS  ·  Sep 9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foundations — a new way to break a problem down, using the call stack you just met today.</a:t>
            </a:r>
            <a:endParaRPr lang="en-US" sz="1400" dirty="0"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6D2E6A93-E58C-B3D6-0EAB-7105EA78136C}"/>
              </a:ext>
            </a:extLst>
          </p:cNvPr>
          <p:cNvSpPr/>
          <p:nvPr/>
        </p:nvSpPr>
        <p:spPr>
          <a:xfrm>
            <a:off x="548640" y="6510528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Analysis of Algorithms  ·  Stacks &amp; Queues  ·  Sep 9</a:t>
            </a:r>
            <a:endParaRPr lang="en-US" sz="900" dirty="0"/>
          </a:p>
        </p:txBody>
      </p:sp>
      <p:sp>
        <p:nvSpPr>
          <p:cNvPr id="20" name="TextBox 19"/>
          <p:cNvSpPr txBox="1"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- WHY THIS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333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problem you already know how to solve — almost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Analysis of Algorithms  ·  Recursion Foundations  ·  Sep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you can already solve every SMALLER version of a problem.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use that to solve the full problem?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154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question — answered "yes" — is recursion.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60920" y="1691640"/>
            <a:ext cx="425196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27000" dist="38100" dir="5400000" algn="bl" rotWithShape="0">
              <a:srgbClr val="1B103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635240" y="192024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RECURSION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35240" y="228600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in line: to know your position, ask the person in front of you their position, then add one.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3337560"/>
            <a:ext cx="3703320" cy="0"/>
          </a:xfrm>
          <a:prstGeom prst="line">
            <a:avLst/>
          </a:prstGeom>
          <a:noFill/>
          <a:ln w="12700">
            <a:solidFill>
              <a:srgbClr val="E7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35240" y="352044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boxes: open one, find a smaller one inside — same shape, smaller size, until the smallest box doesn't open at all.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635240" y="4617720"/>
            <a:ext cx="3703320" cy="0"/>
          </a:xfrm>
          <a:prstGeom prst="line">
            <a:avLst/>
          </a:prstGeom>
          <a:noFill/>
          <a:ln w="12700">
            <a:solidFill>
              <a:srgbClr val="E7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35240" y="475488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stop somewhere. That stopping point is the piece we'll formalize first.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333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recursive function needs exactly two parts</a:t>
            </a:r>
          </a:p>
          <a:p>
            <a:pPr marL="0" indent="0">
              <a:buNone/>
            </a:pPr>
            <a:r>
              <a:rPr lang="en-US" b="1">
                <a:solidFill>
                  <a:srgbClr val="333F50"/>
                </a:solidFill>
                <a:latin typeface="Cambria" pitchFamily="34" charset="0"/>
              </a:rPr>
              <a:t>Example: factorial of n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Analysis of Algorithms  ·  Recursion Foundations  ·  Sep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21208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1B103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2240280"/>
            <a:ext cx="502920" cy="502920"/>
          </a:xfrm>
          <a:prstGeom prst="ellipse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22402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333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Base Case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" y="29718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version of the problem — small enough to answer directly, with no further calls.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" y="3886200"/>
            <a:ext cx="4572000" cy="640080"/>
          </a:xfrm>
          <a:prstGeom prst="roundRect">
            <a:avLst>
              <a:gd name="adj" fmla="val 11429"/>
            </a:avLst>
          </a:prstGeom>
          <a:solidFill>
            <a:srgbClr val="F2F2F2"/>
          </a:solidFill>
          <a:ln w="12700">
            <a:solidFill>
              <a:srgbClr val="E7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51560" y="388620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 == 0:  return 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47091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this, the function never stops calling itself.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920240"/>
            <a:ext cx="521208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1B103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537960" y="2240280"/>
            <a:ext cx="502920" cy="502920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3796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223760" y="22402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333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Recursive Case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37960" y="29718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a smaller version of the same problem, then use that result to build the answer.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37960" y="3886200"/>
            <a:ext cx="4572000" cy="640080"/>
          </a:xfrm>
          <a:prstGeom prst="roundRect">
            <a:avLst>
              <a:gd name="adj" fmla="val 11429"/>
            </a:avLst>
          </a:prstGeom>
          <a:solidFill>
            <a:srgbClr val="F2F2F2"/>
          </a:solidFill>
          <a:ln w="12700">
            <a:solidFill>
              <a:srgbClr val="E7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20840" y="388620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  return n * factorial(n - 1)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37960" y="47091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must shrink toward the base case every call — or it never arrives.  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333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Tracing factorial(4): calls go down, answers come back up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Analysis of Algorithms  ·  Recursion Foundations  ·  Sep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factorial(4)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14600" y="2171700"/>
            <a:ext cx="320040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834640" y="178308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34640" y="178308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factorial(3)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00600" y="2171700"/>
            <a:ext cx="320040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120640" y="178308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20640" y="178308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factorial(2)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086600" y="2171700"/>
            <a:ext cx="320040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406640" y="178308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06640" y="178308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factorial(1)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372600" y="2171700"/>
            <a:ext cx="320040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692640" y="178308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692640" y="178308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factorial(0)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2697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down  →  (each waits on the next)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92640" y="393192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692640" y="393192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447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1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372600" y="4320540"/>
            <a:ext cx="32004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406640" y="393192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406640" y="393192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447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× 1 = 1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086600" y="4320540"/>
            <a:ext cx="32004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120640" y="393192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120640" y="393192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447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× 1 = 2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00600" y="4320540"/>
            <a:ext cx="32004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834640" y="393192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834640" y="393192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447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× 2 = 6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514600" y="4320540"/>
            <a:ext cx="32004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48640" y="393192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48640" y="393192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447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× 6 = 24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4800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answers come back up  (each multiplies by its own n)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2F2F2"/>
          </a:solidFill>
          <a:ln w="12700">
            <a:solidFill>
              <a:srgbClr val="E7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u="sng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r>
              <a:rPr lang="en-US" sz="140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doesn't compute the answer on the way down — it computes it on the way back up, once the base case has returned something concrete.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TRICKIER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333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Fibonacci: a recursive case that calls itself twice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Analysis of Algorithms  ·  Recursion Foundations  ·  Sep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333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965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DEFINITION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F(0) = 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2880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F(1) = 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" y="34290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ED7D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F(n) = F(n-1) + F(n-2),   n ≥ 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68680" y="416052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E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base cases this time — and the recursive case makes TWO smaller calls, not one.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63640" y="1737360"/>
            <a:ext cx="534924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1B103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83680" y="1965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24231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fib(n):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83680" y="2926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== 0: return 0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83680" y="34290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== 1: return 1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0" y="39319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fib(n-1) + fib(n-2)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83680" y="4526280"/>
            <a:ext cx="4754880" cy="0"/>
          </a:xfrm>
          <a:prstGeom prst="line">
            <a:avLst/>
          </a:prstGeom>
          <a:noFill/>
          <a:ln w="12700">
            <a:solidFill>
              <a:srgbClr val="E7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83680" y="47091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for the room: how many total calls does fib(5) make? We'll draw it out next.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THE CALLS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333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recursion tree for fib(5)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Analysis of Algorithms  ·  Recursion Foundations  ·  Sep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394960" y="1691640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94960" y="169164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fib(5)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08960" y="2514600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08960" y="251460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fib(4)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80960" y="2514600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680960" y="251460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fib(3)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 flipH="1">
            <a:off x="3721608" y="2075688"/>
            <a:ext cx="1581912" cy="36576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875020" y="2148840"/>
            <a:ext cx="2286000" cy="36576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874520" y="3337560"/>
            <a:ext cx="960120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874520" y="333756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fib(3)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43400" y="3337560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43400" y="333756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fib(2)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46520" y="3337560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46520" y="333756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fib(2)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15400" y="3337560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915400" y="333756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flipH="1">
            <a:off x="2066544" y="2852928"/>
            <a:ext cx="960120" cy="32004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589020" y="2971800"/>
            <a:ext cx="1234440" cy="36576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 flipH="1">
            <a:off x="6926580" y="2852928"/>
            <a:ext cx="754380" cy="438912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161020" y="2971800"/>
            <a:ext cx="1234440" cy="36576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60120" y="4160520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60120" y="416052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fib(2)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651760" y="4160520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651760" y="416052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794760" y="4160520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794760" y="416052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37760" y="4160520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37760" y="416052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fib(0)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80760" y="4160520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080760" y="416052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223760" y="4160520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223760" y="416052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fib(0)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 flipH="1">
            <a:off x="1211580" y="3749040"/>
            <a:ext cx="594360" cy="301752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354580" y="3794760"/>
            <a:ext cx="777240" cy="36576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 flipH="1">
            <a:off x="4069080" y="3794760"/>
            <a:ext cx="205740" cy="256032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823460" y="3794760"/>
            <a:ext cx="594360" cy="36576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 flipH="1">
            <a:off x="6446520" y="3794760"/>
            <a:ext cx="114300" cy="256032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926580" y="3794760"/>
            <a:ext cx="777240" cy="36576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02920" y="4983480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02920" y="498348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508760" y="4983480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508760" y="498348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fib(0)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 flipH="1">
            <a:off x="777240" y="4617720"/>
            <a:ext cx="205740" cy="210312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440180" y="4617720"/>
            <a:ext cx="548640" cy="36576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9921240" y="3977640"/>
            <a:ext cx="1691640" cy="457200"/>
          </a:xfrm>
          <a:prstGeom prst="roundRect">
            <a:avLst>
              <a:gd name="adj" fmla="val 16000"/>
            </a:avLst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9921240" y="39776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repeated!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fib(3) and fib(2) each appear more than once — the tree recomputes identical subproblems from scratch.</a:t>
            </a:r>
            <a:endParaRPr lang="en-US" sz="1400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DDDA6FB-162C-2676-377C-49B6FCF9E3E0}"/>
              </a:ext>
            </a:extLst>
          </p:cNvPr>
          <p:cNvCxnSpPr>
            <a:cxnSpLocks/>
          </p:cNvCxnSpPr>
          <p:nvPr/>
        </p:nvCxnSpPr>
        <p:spPr>
          <a:xfrm flipH="1">
            <a:off x="1714500" y="4100515"/>
            <a:ext cx="8161020" cy="0"/>
          </a:xfrm>
          <a:prstGeom prst="straightConnector1">
            <a:avLst/>
          </a:prstGeom>
          <a:ln w="22225">
            <a:solidFill>
              <a:schemeClr val="accent2"/>
            </a:solidFill>
            <a:prstDash val="sysDash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333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recursion can be exponentially slow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Analysis of Algorithms  ·  Recursion Foundations  ·  Sep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12064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101600" dist="25400" dir="5400000" algn="bl" rotWithShape="0">
              <a:srgbClr val="1B103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011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MADE BY FIB(N)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423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0" y="2423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calls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299008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0" y="29900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355701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00400" y="35570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177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412394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00400" y="412394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21,891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469087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33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00400" y="46908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>
                <a:solidFill>
                  <a:srgbClr val="ED7D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2,692,537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43600" y="1783080"/>
            <a:ext cx="5669280" cy="3840480"/>
          </a:xfrm>
          <a:prstGeom prst="roundRect">
            <a:avLst>
              <a:gd name="adj" fmla="val 2857"/>
            </a:avLst>
          </a:prstGeom>
          <a:solidFill>
            <a:srgbClr val="333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63640" y="1965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CURVE THAT SHOULD WORRY YOU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5029200"/>
            <a:ext cx="502920" cy="137160"/>
          </a:xfrm>
          <a:prstGeom prst="roundRect">
            <a:avLst>
              <a:gd name="adj" fmla="val 26667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63640" y="521208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60920" y="4910328"/>
            <a:ext cx="502920" cy="256032"/>
          </a:xfrm>
          <a:prstGeom prst="roundRect">
            <a:avLst>
              <a:gd name="adj" fmla="val 14286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223760" y="521208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321040" y="4709160"/>
            <a:ext cx="502920" cy="457200"/>
          </a:xfrm>
          <a:prstGeom prst="roundRect">
            <a:avLst>
              <a:gd name="adj" fmla="val 8000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183880" y="521208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281160" y="4389120"/>
            <a:ext cx="502920" cy="777240"/>
          </a:xfrm>
          <a:prstGeom prst="roundRect">
            <a:avLst>
              <a:gd name="adj" fmla="val 7273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44000" y="521208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241280" y="3931920"/>
            <a:ext cx="502920" cy="1234440"/>
          </a:xfrm>
          <a:prstGeom prst="roundRect">
            <a:avLst>
              <a:gd name="adj" fmla="val 7273"/>
            </a:avLst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104120" y="521208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5166360"/>
            <a:ext cx="493776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63640" y="31089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E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O(2ⁿ)  —  each call spawns two more.</a:t>
            </a:r>
            <a:endParaRPr lang="en-US" sz="1300" dirty="0"/>
          </a:p>
          <a:p>
            <a:pPr marL="0" indent="0">
              <a:buNone/>
            </a:pPr>
            <a:r>
              <a:rPr lang="en-US" sz="1300" i="1">
                <a:solidFill>
                  <a:srgbClr val="E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Doubling n doesn't double the work; it squares it.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576072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 w="12700">
            <a:solidFill>
              <a:srgbClr val="E7E6E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822960" y="57607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revisit Computational Complexity in next couple of classes.</a:t>
            </a:r>
            <a:endParaRPr lang="en-US" sz="1300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73E72B2-1533-AF58-441B-F591AABB75B5}"/>
              </a:ext>
            </a:extLst>
          </p:cNvPr>
          <p:cNvCxnSpPr>
            <a:cxnSpLocks/>
          </p:cNvCxnSpPr>
          <p:nvPr/>
        </p:nvCxnSpPr>
        <p:spPr>
          <a:xfrm flipH="1">
            <a:off x="6652260" y="2496312"/>
            <a:ext cx="2811780" cy="722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DC67646-34A6-17F2-5F02-98FF3475F6B5}"/>
              </a:ext>
            </a:extLst>
          </p:cNvPr>
          <p:cNvCxnSpPr/>
          <p:nvPr/>
        </p:nvCxnSpPr>
        <p:spPr>
          <a:xfrm>
            <a:off x="12051792" y="4279392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94F37FCA-8276-2A06-18D2-F6E92C61AA3B}"/>
              </a:ext>
            </a:extLst>
          </p:cNvPr>
          <p:cNvSpPr/>
          <p:nvPr/>
        </p:nvSpPr>
        <p:spPr>
          <a:xfrm>
            <a:off x="9628632" y="2148840"/>
            <a:ext cx="1408176" cy="731520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/>
              </a:rPr>
              <a:t>Complexity of a solution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WRITE 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333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a recursive function breaks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Analysis of Algorithms  ·  Recursion Foundations  ·  Sep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64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76200" dist="25400" dir="5400000" algn="bl" rotWithShape="0">
              <a:srgbClr val="1B103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057400"/>
            <a:ext cx="411480" cy="411480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198424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333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or unreachable base case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17320" y="251460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condition ever stops the calls — the function recurses forever until the process runs out of memory </a:t>
            </a:r>
            <a:r>
              <a:rPr lang="en-US" sz="1300" i="1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stack overflow).</a:t>
            </a:r>
            <a:endParaRPr lang="en-US" sz="1300" i="1" dirty="0"/>
          </a:p>
        </p:txBody>
      </p:sp>
      <p:sp>
        <p:nvSpPr>
          <p:cNvPr id="11" name="Shape 9"/>
          <p:cNvSpPr/>
          <p:nvPr/>
        </p:nvSpPr>
        <p:spPr>
          <a:xfrm>
            <a:off x="6675120" y="2011680"/>
            <a:ext cx="4709160" cy="1371600"/>
          </a:xfrm>
          <a:prstGeom prst="roundRect">
            <a:avLst>
              <a:gd name="adj" fmla="val 5333"/>
            </a:avLst>
          </a:prstGeom>
          <a:solidFill>
            <a:srgbClr val="333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903720" y="201168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bad(n):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never checks n == 0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 * bad(n - 1)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11064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  <a:effectLst>
            <a:outerShdw blurRad="76200" dist="25400" dir="5400000" algn="bl" rotWithShape="0">
              <a:srgbClr val="1B103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2960" y="4160520"/>
            <a:ext cx="411480" cy="411480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4160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408736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333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doesn't shrink toward the base case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17320" y="46177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recursive call passes the same value, or moves away from the base case instead of toward it.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75120" y="4114800"/>
            <a:ext cx="4709160" cy="1371600"/>
          </a:xfrm>
          <a:prstGeom prst="roundRect">
            <a:avLst>
              <a:gd name="adj" fmla="val 5333"/>
            </a:avLst>
          </a:prstGeom>
          <a:solidFill>
            <a:srgbClr val="333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03720" y="411480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bad(n):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== 0: return 1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n never decreases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 * bad(n)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333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Recursion, in three ideas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445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333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case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221284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recursive function needs a smallest case it can answer directly, with no further calls.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445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2971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333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Shrinking input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340156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recursive call must move strictly closer to the base case — or it never terminates.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ED7D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445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4160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333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Hidden cost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459028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Recomputing the same subproblem repeatedly (as in naive Fibonacci) can blow up to exponential time.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440680"/>
            <a:ext cx="1106424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5623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  ·  Sep 11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58704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Logarithms &amp; growth rates</a:t>
            </a:r>
          </a:p>
          <a:p>
            <a:r>
              <a:rPr lang="en-US" sz="1400" b="1" i="1" dirty="0">
                <a:solidFill>
                  <a:srgbClr val="595959"/>
                </a:solidFill>
                <a:latin typeface="Calibri" pitchFamily="34" charset="0"/>
                <a:cs typeface="Calibri" pitchFamily="34" charset="-120"/>
              </a:rPr>
              <a:t>PA1 posted ! Due on Sept 18: </a:t>
            </a: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cs typeface="Calibri" pitchFamily="34" charset="-120"/>
                <a:hlinkClick r:id="rId3"/>
              </a:rPr>
              <a:t>https://github.com/tanwistha/cs383_fall26/blob/main/assignments/PA1/PA1_Assignment.md</a:t>
            </a: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cs typeface="Calibri" pitchFamily="34" charset="-120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US" sz="90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1416</Words>
  <Application>Microsoft Macintosh PowerPoint</Application>
  <PresentationFormat>Widescreen</PresentationFormat>
  <Paragraphs>230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Tanwistha Saha</cp:lastModifiedBy>
  <cp:revision>39</cp:revision>
  <dcterms:created xsi:type="dcterms:W3CDTF">2026-08-21T19:25:30Z</dcterms:created>
  <dcterms:modified xsi:type="dcterms:W3CDTF">2026-09-09T19:06:55Z</dcterms:modified>
</cp:coreProperties>
</file>