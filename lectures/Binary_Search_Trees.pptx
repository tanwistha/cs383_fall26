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7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82" r:id="rId15"/>
    <p:sldId id="280" r:id="rId16"/>
    <p:sldId id="270" r:id="rId17"/>
    <p:sldId id="271" r:id="rId18"/>
    <p:sldId id="272" r:id="rId19"/>
    <p:sldId id="268" r:id="rId20"/>
    <p:sldId id="267" r:id="rId21"/>
    <p:sldId id="279" r:id="rId22"/>
    <p:sldId id="281" r:id="rId23"/>
    <p:sldId id="274" r:id="rId24"/>
    <p:sldId id="273" r:id="rId25"/>
    <p:sldId id="275" r:id="rId26"/>
    <p:sldId id="276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04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6394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Trees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 entire tree, not just parent and child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property, search, insert, delete and traversals— then why height is everything.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H="1">
            <a:off x="8727440" y="2039112"/>
            <a:ext cx="1166368" cy="38404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7660640" y="2816352"/>
            <a:ext cx="642112" cy="33686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02752" y="2816352"/>
            <a:ext cx="731512" cy="33686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>
            <a:off x="8930641" y="3593592"/>
            <a:ext cx="432815" cy="285659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893808" y="2039111"/>
            <a:ext cx="804672" cy="285659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 flipH="1">
            <a:off x="10424160" y="2816352"/>
            <a:ext cx="530352" cy="23811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954512" y="2816352"/>
            <a:ext cx="530352" cy="23811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637776" y="1527048"/>
            <a:ext cx="512064" cy="512064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37776" y="154753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637776" y="180356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46720" y="230428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0" y="232477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046720" y="258080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516368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16368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16368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07424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07424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07424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577072" y="385876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577072" y="387925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577072" y="413528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698480" y="230428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698480" y="232477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698480" y="258080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168128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168128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168128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228832" y="308152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1228832" y="3102011"/>
            <a:ext cx="512064" cy="26883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1228832" y="3358043"/>
            <a:ext cx="512064" cy="217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31520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running example for today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AD9FD026-1D6E-6938-19A9-3FA3209AF3D0}"/>
              </a:ext>
            </a:extLst>
          </p:cNvPr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ANALYSIS AND DESIGN </a:t>
            </a:r>
            <a:endParaRPr lang="en-US" sz="1200" dirty="0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C9F3A8AD-A514-21E8-BD88-A884C8512A56}"/>
              </a:ext>
            </a:extLst>
          </p:cNvPr>
          <p:cNvSpPr/>
          <p:nvPr/>
        </p:nvSpPr>
        <p:spPr>
          <a:xfrm>
            <a:off x="502920" y="5897880"/>
            <a:ext cx="69494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B6288DF8-5B0E-7DB5-78FE-1B112EB0BFCE}"/>
              </a:ext>
            </a:extLst>
          </p:cNvPr>
          <p:cNvSpPr txBox="1"/>
          <p:nvPr/>
        </p:nvSpPr>
        <p:spPr>
          <a:xfrm>
            <a:off x="50292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Session 14  ·  October 2</a:t>
            </a:r>
            <a:endParaRPr lang="en-US" sz="11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86848E75-1327-67DC-0356-46CBD97D4B72}"/>
              </a:ext>
            </a:extLst>
          </p:cNvPr>
          <p:cNvSpPr txBox="1"/>
          <p:nvPr/>
        </p:nvSpPr>
        <p:spPr>
          <a:xfrm>
            <a:off x="50292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Tanwistha Saha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headed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rule, applied everywhere in the tree.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8653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property, and how it differs from a heap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176272"/>
            <a:ext cx="1052748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ordering rule, not just a local 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68833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insert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299923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just follow the same left/right rule down the tree.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355701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Traversals, min/max, successor, and delete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386791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tree back out, and the trickiest operation: removing a node.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4805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5568" y="442569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height matters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15568" y="4736592"/>
            <a:ext cx="1052748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caveat that sets up next class.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37">
            <a:extLst>
              <a:ext uri="{FF2B5EF4-FFF2-40B4-BE49-F238E27FC236}">
                <a16:creationId xmlns:a16="http://schemas.microsoft.com/office/drawing/2014/main" id="{4C6B01AF-B19E-F6B4-07A4-D1D4220C4A13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use what we already have?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structures we know, and where each one falls short.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binary heap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10527487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min is O(1) — but </a:t>
            </a:r>
            <a:r>
              <a:rPr lang="en-US" sz="13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an ARBITRARY key means scanning the whole array, O(n). A heap only promises order between a parent and its children, nothing between siblings.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2369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sorted array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547872"/>
            <a:ext cx="10527487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is O(log n) via binary search — but inserting a new key means shifting everything after it, O(n).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548640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goal: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insert, AND delete fast — without shifting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the whole structure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binary search tree gets close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37">
            <a:extLst>
              <a:ext uri="{FF2B5EF4-FFF2-40B4-BE49-F238E27FC236}">
                <a16:creationId xmlns:a16="http://schemas.microsoft.com/office/drawing/2014/main" id="{2F194B9A-5CC6-7DF2-F8FD-2FC48BF3FF66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  <p:sp>
        <p:nvSpPr>
          <p:cNvPr id="18" name="Oval 17"/>
          <p:cNvSpPr/>
          <p:nvPr/>
        </p:nvSpPr>
        <p:spPr>
          <a:xfrm>
            <a:off x="548640" y="4389120"/>
            <a:ext cx="438912" cy="43891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43891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568" y="4334256"/>
            <a:ext cx="10527487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600" b="1">
                <a:solidFill>
                  <a:srgbClr val="333F50"/>
                </a:solidFill>
                <a:latin typeface="Calibri"/>
              </a:rPr>
              <a:t>A sorted linked 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15568" y="4645152"/>
            <a:ext cx="10527487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595959"/>
                </a:solidFill>
                <a:latin typeface="Calibri"/>
              </a:rPr>
              <a:t>Searching is O(n) because nodes are followed one by one. Inserting is O(n) to find the position — then O(1) once the predecessor is known.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arrays search quickly—but updates still cost O(n)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binary search tree trades direct indexing for faster updates to ordered data.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sorted array supports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10527487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O(log n) with binary search; min/max O(1); predecessor/successor O(log n); direct access by index O(1).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115568" y="32369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insert() and delete() hurt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1115568" y="3547872"/>
            <a:ext cx="10527487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position is O(log n), but opening or closing a gap shifts up to n elements: O(n) overall.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548640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does not mean perfectly symmetric: it means preventing long chains so height stays O(log n). This matters when updates are frequent or input order could otherwise create a skewed tree.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/>
          </a:p>
        </p:txBody>
      </p:sp>
      <p:sp>
        <p:nvSpPr>
          <p:cNvPr id="17" name="Text 37">
            <a:extLst>
              <a:ext uri="{FF2B5EF4-FFF2-40B4-BE49-F238E27FC236}">
                <a16:creationId xmlns:a16="http://schemas.microsoft.com/office/drawing/2014/main" id="{2F194B9A-5CC6-7DF2-F8FD-2FC48BF3FF66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  <p:sp>
        <p:nvSpPr>
          <p:cNvPr id="18" name="Oval 17"/>
          <p:cNvSpPr/>
          <p:nvPr/>
        </p:nvSpPr>
        <p:spPr>
          <a:xfrm>
            <a:off x="548640" y="4389120"/>
            <a:ext cx="438912" cy="438912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43891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568" y="4334256"/>
            <a:ext cx="10527487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600" b="1">
                <a:solidFill>
                  <a:srgbClr val="333F50"/>
                </a:solidFill>
                <a:latin typeface="Calibri"/>
              </a:rPr>
              <a:t>When a balanced BST wins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15568" y="4645152"/>
            <a:ext cx="10527487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595959"/>
                </a:solidFill>
                <a:latin typeface="Calibri"/>
              </a:rPr>
              <a:t>Balanced BSTs keep height O(log n), so search, insert, and delete are O(log n). Favor them for frequently changing ordered sets, range queries, or sorted iteration; favor arrays for O(1) index access and read-heavy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vocabulary: the parts of </a:t>
            </a: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BST is a binary tree built around search – a binary tree in a symmetric order. Symmetric as in, each node has a key strictly larger than all keys of left subtree, and strictly smaller than all keys of right subtree. [No duplicate keys in today’s examples]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node, key, and leaf node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54681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is one element of the binary tree; the root node is the topmost node and has no parent.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node’s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 the value compared during search to choose left or right. A leaf node has no children.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108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540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child and right child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364992"/>
            <a:ext cx="5468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node’s left child is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child reached by the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link;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right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link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97096"/>
            <a:ext cx="6035040" cy="1938528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8096" y="4608576"/>
            <a:ext cx="55778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Subtrees: The left or right subtree contains that child and all of its descendants. Height: the number of edges on the longest path from the root to a leaf (</a:t>
            </a:r>
            <a:r>
              <a:rPr lang="en-US" sz="12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this tree).</a:t>
            </a:r>
          </a:p>
          <a:p>
            <a:pPr marL="0" indent="0" algn="l">
              <a:buNone/>
            </a:pPr>
            <a:endParaRPr lang="en-US" sz="1250" dirty="0">
              <a:solidFill>
                <a:srgbClr val="59595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250" b="1" u="sng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Invariant:</a:t>
            </a: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BST, every key in the left subtree is smaller than the node’s key, and every key in the right subtree is larger.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flipH="1">
            <a:off x="8463280" y="2167128"/>
            <a:ext cx="1174496" cy="278983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836408" y="2944368"/>
            <a:ext cx="265176" cy="26618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01584" y="2944368"/>
            <a:ext cx="686812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707125" y="3721608"/>
            <a:ext cx="418587" cy="24222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37776" y="2167128"/>
            <a:ext cx="777240" cy="22960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10149840" y="2944368"/>
            <a:ext cx="512064" cy="16459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661904" y="2944368"/>
            <a:ext cx="512064" cy="18187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45720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13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= 13 · 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= 5 · </a:t>
            </a: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</a:t>
            </a:r>
            <a:r>
              <a:rPr lang="en-US" sz="1100" i="1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= 20 · leaves = 2, 7, 17, 25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Text 37">
            <a:extLst>
              <a:ext uri="{FF2B5EF4-FFF2-40B4-BE49-F238E27FC236}">
                <a16:creationId xmlns:a16="http://schemas.microsoft.com/office/drawing/2014/main" id="{CC94E6E0-0372-1A89-425F-5D34024806F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TRAP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BST-order: local isn't enough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can look fine at every parent-child pair, and still be broken.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fine locally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&lt; 10 ✓.  10 &lt; 15 ✓.  5 &lt; 12 ✓ (12 is 5's right child, so it should be bigger than 5 — and it is).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19125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globally broken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502152"/>
            <a:ext cx="546811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sits in 10's LEFT subtree — yet 12 &gt; 10. Every node in that subtree must be less than 10, not just less than its own immediate parent.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6035040" cy="1234440"/>
          </a:xfrm>
          <a:prstGeom prst="roundRect">
            <a:avLst>
              <a:gd name="adj" fmla="val 4444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checking a BST means tracking a valid (min, max) range for every node as you go — not just comparing it to its parent. This is exactly why a BST differs from a heap: </a:t>
            </a:r>
            <a:r>
              <a:rPr lang="en-US" sz="12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heap only ever compares a node to its immediate children; a BST's rule must hold at every depth, all the way down.</a:t>
            </a:r>
            <a:endParaRPr lang="en-US" sz="1200" b="1" dirty="0"/>
          </a:p>
        </p:txBody>
      </p:sp>
      <p:sp>
        <p:nvSpPr>
          <p:cNvPr id="15" name="Shape 13"/>
          <p:cNvSpPr/>
          <p:nvPr/>
        </p:nvSpPr>
        <p:spPr>
          <a:xfrm flipH="1">
            <a:off x="9217152" y="2450592"/>
            <a:ext cx="1572768" cy="33832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961120" y="3319272"/>
            <a:ext cx="914400" cy="86868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89920" y="2450592"/>
            <a:ext cx="772160" cy="31089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533888" y="1938528"/>
            <a:ext cx="512064" cy="512064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533888" y="19385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05088" y="280720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05088" y="2807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619488" y="3675888"/>
            <a:ext cx="512064" cy="512064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19488" y="3675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1448288" y="2807208"/>
            <a:ext cx="512064" cy="512064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448288" y="2807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2376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violates the BST property relative to the root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37">
            <a:extLst>
              <a:ext uri="{FF2B5EF4-FFF2-40B4-BE49-F238E27FC236}">
                <a16:creationId xmlns:a16="http://schemas.microsoft.com/office/drawing/2014/main" id="{95B9C7E6-A78E-9F59-C609-148D7AC2C87F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follow the rule down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comparison eliminates an entire subtree.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the current node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Equal? Found it. Smaller? Go left. Larger? Go right.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8712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Repeat, one level at a time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18211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comparison rules out an entire subtree — not just one node.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886200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binary search on a sorted array — except this “array” is already arranged in exactly the shape the comparisons will follow.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H="1">
            <a:off x="8348472" y="2167128"/>
            <a:ext cx="1289304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607807" y="2944368"/>
            <a:ext cx="493777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01584" y="2944368"/>
            <a:ext cx="686816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595360" y="3721608"/>
            <a:ext cx="530352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37776" y="2167128"/>
            <a:ext cx="777240" cy="20985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10168128" y="2944368"/>
            <a:ext cx="493776" cy="20985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661904" y="2944368"/>
            <a:ext cx="414528" cy="20985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for 7: 13 → 5 → 8 → 7, found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9" name="Text 37">
            <a:extLst>
              <a:ext uri="{FF2B5EF4-FFF2-40B4-BE49-F238E27FC236}">
                <a16:creationId xmlns:a16="http://schemas.microsoft.com/office/drawing/2014/main" id="{DFEB0DF5-565B-1BE6-EFE4-F032E402D928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comparisons, one recursive call, repeat.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1920240"/>
          </a:xfrm>
          <a:prstGeom prst="roundRect">
            <a:avLst>
              <a:gd name="adj" fmla="val 2857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SEARCH(node, key):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node = NIL or key = node.key:
        return node
    if key &lt; node.key:
        return SEARCH(node.left, key)
    else:
        return SEARCH(node.right, key)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node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root-to-leaf path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O(h) nodes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tree's HEIGHT — not automatically log n. We'll come back to exactly why that distinction matters, later today.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E398CC0-1ABE-7D88-AE71-0AE1FF4E6D6F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search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successful search, one that comes up empty.</a:t>
            </a:r>
            <a:endParaRPr lang="en-US" sz="14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51086"/>
              </p:ext>
            </p:extLst>
          </p:nvPr>
        </p:nvGraphicFramePr>
        <p:xfrm>
          <a:off x="548640" y="1920240"/>
          <a:ext cx="11094415" cy="3200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5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[13:E root, 5:B &amp; 20:G children, 2:A/8:D under 5, 17:F/25:H under 20, 7:C under 8].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SEARCH(root, 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&lt; 13, go left to 5. 7 &gt; 5, go right to 8. 7 &lt; 8, go left to 7. Found — return (7,C).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SEARCH(root, 11)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&lt; 13, go left to 5. 11 &gt; 5, go right to 8. 11 &gt; 8, go right — but 8 has no right child. Return NIL: not found.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did 11 stop at 8, and not somewhere else?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0" name="Text 37">
            <a:extLst>
              <a:ext uri="{FF2B5EF4-FFF2-40B4-BE49-F238E27FC236}">
                <a16:creationId xmlns:a16="http://schemas.microsoft.com/office/drawing/2014/main" id="{33E5C0CA-5214-C20F-4E7E-220B01B99DB2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search for the gap, then fill 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never rearranges anything that's already there.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where the key WOULD be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same left/right logic as search, until you fall off the tree (hit an empty child).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14553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there, as a new leaf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456432"/>
            <a:ext cx="5468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becomes the left or right child of whatever node you stopped 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6035040" cy="868680"/>
          </a:xfrm>
          <a:prstGeom prst="roundRect">
            <a:avLst>
              <a:gd name="adj" fmla="val 631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never has to shuffle existing nodes — it just finds the one empty spot that keeps the BST property intact, and fills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H="1">
            <a:off x="8209280" y="2148840"/>
            <a:ext cx="1483360" cy="39547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406640" y="2926080"/>
            <a:ext cx="457200" cy="25831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863840" y="2926080"/>
            <a:ext cx="685786" cy="29032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321040" y="3703320"/>
            <a:ext cx="457200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778240" y="3703320"/>
            <a:ext cx="457181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692640" y="2148840"/>
            <a:ext cx="812800" cy="30175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 flipH="1">
            <a:off x="10149840" y="2926080"/>
            <a:ext cx="457200" cy="24003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607040" y="2926080"/>
            <a:ext cx="469392" cy="25831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464040" y="169164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464040" y="170992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464040" y="193852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635240" y="246888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635240" y="248716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635240" y="271576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78040" y="324612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1780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1780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549640" y="324612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5496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496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92440" y="402336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092440" y="404164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092440" y="427024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006840" y="4023360"/>
            <a:ext cx="457200" cy="457200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006840" y="404164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006840" y="427024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378440" y="246888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0378440" y="248716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378440" y="271576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921240" y="324612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99212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212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835640" y="3246120"/>
            <a:ext cx="457200" cy="45720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0835640" y="3264408"/>
            <a:ext cx="457200" cy="2400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0835640" y="3493008"/>
            <a:ext cx="457200" cy="194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040880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Inserting (11, I): 13 → 5 → 8 → new right child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3" name="Text 37">
            <a:extLst>
              <a:ext uri="{FF2B5EF4-FFF2-40B4-BE49-F238E27FC236}">
                <a16:creationId xmlns:a16="http://schemas.microsoft.com/office/drawing/2014/main" id="{B500F36E-CF49-5C55-15E6-5D91ED8BC598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  <p:sp>
        <p:nvSpPr>
          <p:cNvPr id="51" name="Text 2">
            <a:extLst>
              <a:ext uri="{FF2B5EF4-FFF2-40B4-BE49-F238E27FC236}">
                <a16:creationId xmlns:a16="http://schemas.microsoft.com/office/drawing/2014/main" id="{56D41FC3-D8E5-F07B-AE73-1064B6C1D3CA}"/>
              </a:ext>
            </a:extLst>
          </p:cNvPr>
          <p:cNvSpPr/>
          <p:nvPr/>
        </p:nvSpPr>
        <p:spPr>
          <a:xfrm>
            <a:off x="548639" y="5751576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would you handle duplicate key values?  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 that plants a new node the moment it falls off the tree.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2103120"/>
          </a:xfrm>
          <a:prstGeom prst="roundRect">
            <a:avLst>
              <a:gd name="adj" fmla="val 260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INSERT(node, key, val):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node = NIL:
        return NEW-NODE(key, val)
    if key &lt; node.key:
        node.left = INSERT(node.left, key, val)
    else:
        node.right = INSERT(node.right, key, val)
    return node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node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root-to-leaf path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O(h) nodes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5852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this is nearly identical to SEARCH — the only difference is what happens when you hit NIL. Same cost, same O(h) bound.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4120ED8-688F-E5C9-1F69-7FD9C83C321E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insert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tree — let's grow it by one.</a:t>
            </a:r>
            <a:endParaRPr lang="en-US" sz="14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1179528"/>
              </p:ext>
            </p:extLst>
          </p:nvPr>
        </p:nvGraphicFramePr>
        <p:xfrm>
          <a:off x="548640" y="1920240"/>
          <a:ext cx="11094415" cy="29718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5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draw / ask the 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Starting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same tree from the search demo.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INSERT(root, 11, 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&lt; 13, go left to 5. 11 &gt; 5, go right to 8. 11 &gt; 8, and 8 has no right child — stop here.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becomes the right child of 8. 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an inorder traversal of the new tree out loud — it should still come out sorted.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B06E4BAD-EB9C-5522-4B49-4DCB5382FEBB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BUILDING 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Minimum, maximum, and successor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quick helpers — the last one is exactly what delete needs next.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/ maximum: walk to the edge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55595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left as far as you can for the minimum, right as far as you can for the maximum — both O(h), no comparisons needed.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9981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Successor, if a right subtree exists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410712"/>
            <a:ext cx="55595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MINIMUM of that right subtree. Example: successor(5) — 5's right subtree is {8, 7} — minimum is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428853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Successor, if right subtree doesn’t exist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4599432"/>
            <a:ext cx="55595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up until you move from a LEFT child to a RIGHT child's parent. Example: successor(8) — 8 is the right child of 5; 5 is the left child of 13 — stop, successor is 13.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8366760" y="2167128"/>
            <a:ext cx="1271016" cy="28794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7589520" y="2944368"/>
            <a:ext cx="512064" cy="24222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01584" y="2944368"/>
            <a:ext cx="886960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8631936" y="3721608"/>
            <a:ext cx="493776" cy="26618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637776" y="2167128"/>
            <a:ext cx="1024128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 flipH="1">
            <a:off x="10168128" y="2944367"/>
            <a:ext cx="493776" cy="285933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661904" y="2944368"/>
            <a:ext cx="530344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269480" y="3172968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2376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= 2 (leftmost)   max = 25 (rightmost)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7C0828A4-9BBA-AC16-A9AA-8BD1B14C729F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BUILDING BLOCKS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and maximum: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one edge repeatedly: left for minimum, right for maximum. Both take O(h) time and O(1) extra space.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MINIMUM(node):</a:t>
            </a:r>
            <a:endParaRPr lang="en-US" sz="135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 NIL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while node.left !=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node = node.left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return node</a:t>
            </a:r>
          </a:p>
        </p:txBody>
      </p:sp>
      <p:sp>
        <p:nvSpPr>
          <p:cNvPr id="7" name="Shape 5"/>
          <p:cNvSpPr/>
          <p:nvPr/>
        </p:nvSpPr>
        <p:spPr>
          <a:xfrm>
            <a:off x="6263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MAXIMUM(node):</a:t>
            </a:r>
            <a:endParaRPr lang="en-US" sz="130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 NIL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while node.right !=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node = node.right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return node</a:t>
            </a:r>
          </a:p>
        </p:txBody>
      </p:sp>
      <p:sp>
        <p:nvSpPr>
          <p:cNvPr id="10" name="Text 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/>
          </a:p>
        </p:txBody>
      </p:sp>
      <p:sp>
        <p:nvSpPr>
          <p:cNvPr id="11" name="Text 37">
            <a:extLst>
              <a:ext uri="{FF2B5EF4-FFF2-40B4-BE49-F238E27FC236}">
                <a16:creationId xmlns:a16="http://schemas.microsoft.com/office/drawing/2014/main" id="{5540E56E-D42B-FD99-9701-64BEF48DFF71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BUILDING BLOCKS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Successor: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right subtree when it exists; otherwise, walk up through parent links.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2103120"/>
          </a:xfrm>
          <a:prstGeom prst="roundRect">
            <a:avLst>
              <a:gd name="adj" fmla="val 260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SUCCESSOR(node):
    if node.right != NIL:
        return MINIMUM(node.right)
    parent = node.parent
    while parent != NIL and node = parent.right:
        node = parent
        parent = parent.parent
    return parent</a:t>
            </a:r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step</a:t>
            </a:r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link followed</a:t>
            </a:r>
            <a:endParaRPr lang="en-US" sz="115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downward or upward path</a:t>
            </a:r>
            <a:endParaRPr lang="en-US" sz="115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O(h) nodes</a:t>
            </a:r>
            <a:endParaRPr lang="en-US" sz="115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O(h)</a:t>
            </a:r>
            <a:endParaRPr lang="en-US" sz="170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5852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cases, one result: go right then all the way left, or climb until the current node is a LEFT child. If no such ancestor exists, the node is the maximum and its successor is NIL.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4120ED8-688F-E5C9-1F69-7FD9C83C321E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three cases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node is easy — unless it has two children.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(no children)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remove it. Nothing else to patch up.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8254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child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13639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Splice it out — the child takes the deleted node's place directly.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369417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children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4005072"/>
            <a:ext cx="5468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just remove it — which child would take over? Instead: copy in its SUCCESSOR's key, then delete the successor (which always falls into case 1 or 2).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8366760" y="2167128"/>
            <a:ext cx="1271016" cy="36576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7360919" y="2944368"/>
            <a:ext cx="740665" cy="37490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01584" y="2944368"/>
            <a:ext cx="899537" cy="419161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8595360" y="3721608"/>
            <a:ext cx="530352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637776" y="2167128"/>
            <a:ext cx="1024128" cy="32918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 flipH="1">
            <a:off x="10168128" y="2944368"/>
            <a:ext cx="493776" cy="23774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661904" y="2944368"/>
            <a:ext cx="493776" cy="20116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C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40880" y="45720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5 (two children): copy in successor 7,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delete the old 7 (a leaf)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058B8DC9-2CA6-671F-C8CE-40C4EAE8AB05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cases, in one recursive function.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19"/>
            <a:ext cx="6309360" cy="3826193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3575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DELETE(node, key):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node = NIL: return NIL
    if key &lt; node.key:
        node.left = DELETE(node.left, key)
    elif key &gt; node.key:
        node.right = DELETE(node.right, key)
    else:
        if node.left = NIL: return node.right
        if node.right = NIL: return node.left
        succ = MINIMUM(node.right)
        node.key, node.val = succ.key, succ.val
        node.right = DELETE(node.right, succ.key)
    return node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3826192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0" y="1874520"/>
            <a:ext cx="41148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branch costs at most O(h): the search down to the node, MINIMUM's walk down the right subtree, and the recursive delete of the successor are each a single root-to-leaf-ish path.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11" name="Text 37">
            <a:extLst>
              <a:ext uri="{FF2B5EF4-FFF2-40B4-BE49-F238E27FC236}">
                <a16:creationId xmlns:a16="http://schemas.microsoft.com/office/drawing/2014/main" id="{5540E56E-D42B-FD99-9701-64BEF48DFF71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delete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two-children case — the one worth slowing down for.</a:t>
            </a:r>
            <a:endParaRPr lang="en-US" sz="14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340156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5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draw / ask the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DELETE(root, 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node 5. It has TWO children (2, and the 8/7 subtree) — this is case 3.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successor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MINIMUM(5's right subtree) — walk left from 8: 8 has a left child 7, 7 has no left child. Successor = (7, C).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Overwrite node 5's key/value with (7, C) — the node that used to say “5, B” now says “7, C.”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the old successor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Recursively DELETE(7) from its original spot — it's a leaf, so it's just removed.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tree: 13 root; left = 7(C) with children 2(A), 8(D); right unchanged (20,17,25). Inorder traversal should still be sorted.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B0CB56AD-EDD3-33D3-B1A3-30CC3124F508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traversals, one tree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traversal visits every node once; </a:t>
            </a: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</a:t>
            </a: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us when to process the node relative to its children</a:t>
            </a: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21945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traversal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 on our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left, node,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out sorted keys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2,5,7,8,13,17,20,25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node, left,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/ serialize a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13,5,2,8,7,20,17,25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left, right, node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tree safely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2,7,8,5,17,25,20,13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06240"/>
            <a:ext cx="11094415" cy="100584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4206240"/>
            <a:ext cx="106372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Postorder deletes children before the node itself — the only order where you're guaranteed not to orphan a subtree you still need. Preorder visits the root first — handy for rebuilding the same tree shape elsewhere.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57B8BE5C-29F7-1E65-E43A-3B73719A426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Inorder traversal: read the tree back out, sorted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payoff of the BST property.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rule: left, node, right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4681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Recursively visit the left subtree, then the node itself, then the right subtree.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0837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319272"/>
            <a:ext cx="54681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of the BST property, this ALWAYS visits every key in increasing order — no sorting step required.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6035040" cy="109728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02336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the same 8 numbers that gave us a clean binary heap two lectures ago also read out as a clean sorted sequence here — a BST and a sorted array are two different views of the same order.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flipH="1">
            <a:off x="8366760" y="2167128"/>
            <a:ext cx="1271016" cy="35515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 flipH="1">
            <a:off x="7607807" y="2944368"/>
            <a:ext cx="493777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01585" y="2944367"/>
            <a:ext cx="777236" cy="303215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8631936" y="3721608"/>
            <a:ext cx="493776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37776" y="2167128"/>
            <a:ext cx="1024128" cy="28346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 flipH="1">
            <a:off x="10168128" y="2944368"/>
            <a:ext cx="493776" cy="259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661904" y="2944368"/>
            <a:ext cx="493776" cy="22960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90888" y="1673352"/>
            <a:ext cx="493776" cy="49377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90888" y="169310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90888" y="193999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85469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5469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5469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4263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4263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34263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878824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78824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878824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366760" y="400507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366760" y="402482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6760" y="427171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415016" y="245059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415016" y="247034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415016" y="271723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02952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902952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902952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3227832"/>
            <a:ext cx="493776" cy="49377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3247583"/>
            <a:ext cx="493776" cy="2592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0927080" y="3494471"/>
            <a:ext cx="493776" cy="209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Inorder: 2, 5, 7, 8, 13, 17, 20, 25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9" name="Text 37">
            <a:extLst>
              <a:ext uri="{FF2B5EF4-FFF2-40B4-BE49-F238E27FC236}">
                <a16:creationId xmlns:a16="http://schemas.microsoft.com/office/drawing/2014/main" id="{5FE14099-F0AA-DBEE-8620-98B891E0C31D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Inorder traversal: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visit happens between the left and right recursive calls.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2103120"/>
          </a:xfrm>
          <a:prstGeom prst="roundRect">
            <a:avLst>
              <a:gd name="adj" fmla="val 260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INORDER(node):
    if node = NIL:
        return
    INORDER(node.left)
    VISIT(node.key, node.val)
    INORDER(node.right)</a:t>
            </a:r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node</a:t>
            </a:r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the node once</a:t>
            </a:r>
            <a:endParaRPr lang="en-US" sz="115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visited</a:t>
            </a:r>
            <a:endParaRPr lang="en-US" sz="135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exactly once</a:t>
            </a:r>
            <a:endParaRPr lang="en-US" sz="115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n nodes</a:t>
            </a:r>
            <a:endParaRPr lang="en-US" sz="115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70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5852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recursive stack uses O(h) space: O(log n) when balanced, O(n) when skewed. VISIT sits between the two recursive calls — that left, node, right order is what produces sorted keys.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/>
          </a:p>
        </p:txBody>
      </p:sp>
      <p:sp>
        <p:nvSpPr>
          <p:cNvPr id="23" name="Text 37">
            <a:extLst>
              <a:ext uri="{FF2B5EF4-FFF2-40B4-BE49-F238E27FC236}">
                <a16:creationId xmlns:a16="http://schemas.microsoft.com/office/drawing/2014/main" id="{04120ED8-688F-E5C9-1F69-7FD9C83C321E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Preorder and postorder: pseudocode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recursive skeleton; only VISIT moves. Both take O(n) time and O(h) stack space.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548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PREORDER(node):</a:t>
            </a:r>
            <a:endParaRPr lang="en-US" sz="135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VISIT(node.key, node.val)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PREORDER(node.left)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PREORDER(node.right)</a:t>
            </a:r>
          </a:p>
        </p:txBody>
      </p:sp>
      <p:sp>
        <p:nvSpPr>
          <p:cNvPr id="7" name="Shape 5"/>
          <p:cNvSpPr/>
          <p:nvPr/>
        </p:nvSpPr>
        <p:spPr>
          <a:xfrm>
            <a:off x="6263640" y="1874519"/>
            <a:ext cx="5376672" cy="3822191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49194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sz="1350" b="1">
                <a:solidFill>
                  <a:srgbClr val="333F50"/>
                </a:solidFill>
                <a:latin typeface="Courier New"/>
              </a:rPr>
              <a:t>POSTORDER(node):</a:t>
            </a:r>
            <a:endParaRPr lang="en-US" sz="1300"/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if node = NIL: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    return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POSTORDER(node.left)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POSTORDER(node.right)</a:t>
            </a:r>
          </a:p>
          <a:p>
            <a:r>
              <a:rPr sz="1350" b="0">
                <a:solidFill>
                  <a:srgbClr val="333F50"/>
                </a:solidFill>
                <a:latin typeface="Courier New"/>
              </a:rPr>
              <a:t>    VISIT(node.key, node.val)</a:t>
            </a:r>
          </a:p>
        </p:txBody>
      </p:sp>
      <p:sp>
        <p:nvSpPr>
          <p:cNvPr id="10" name="Text 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/>
          </a:p>
        </p:txBody>
      </p:sp>
      <p:sp>
        <p:nvSpPr>
          <p:cNvPr id="11" name="Text 37">
            <a:extLst>
              <a:ext uri="{FF2B5EF4-FFF2-40B4-BE49-F238E27FC236}">
                <a16:creationId xmlns:a16="http://schemas.microsoft.com/office/drawing/2014/main" id="{5540E56E-D42B-FD99-9701-64BEF48DFF71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operations: the complete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today, in one table.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332841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13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root-to-leaf-ish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search that plants a node at the 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/ maximum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 left / right to the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subtree walk, or one walk 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+ (sometimes) successor + delete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inorder traversal (whole tree)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visit every node once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O(log n) if the tree is balanced, but O(n) in the worst case — that gap is the whole motivation for next class.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C5643F9B-6321-050F-6779-6B10B98E57C2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CAVEAT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is O(h) — but h depends on HOW you built 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8 keys. Two wildly different shapes.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 flipH="1">
            <a:off x="2670048" y="2304288"/>
            <a:ext cx="1700784" cy="38404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H="1">
            <a:off x="2103120" y="3081528"/>
            <a:ext cx="566928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670048" y="3081528"/>
            <a:ext cx="932678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H="1">
            <a:off x="3337560" y="3858768"/>
            <a:ext cx="466344" cy="33832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70832" y="2304288"/>
            <a:ext cx="932688" cy="28346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>
            <a:off x="4937760" y="3081528"/>
            <a:ext cx="566928" cy="32004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504688" y="3081528"/>
            <a:ext cx="530342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69664" y="1901952"/>
            <a:ext cx="402336" cy="402336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69664" y="19019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468880" y="267919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68880" y="2679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901952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901952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02736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02736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035808" y="423367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035808" y="4233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03520" y="267919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0" y="2679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36592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36592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3456432"/>
            <a:ext cx="402336" cy="402336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70448" y="3456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" y="4617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insertion order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892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= 3  (= ⌊log₂ 8⌋)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589520" y="2112264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046720" y="2587752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503920" y="3063240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961120" y="3538728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418320" y="4014216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875520" y="4489704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0332720" y="4965192"/>
            <a:ext cx="457200" cy="4754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397496" y="1728216"/>
            <a:ext cx="384048" cy="384048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97496" y="1728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854696" y="2203704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854696" y="2203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311896" y="2679192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311896" y="26791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769096" y="3154680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769096" y="3154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226296" y="3630168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226296" y="36301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683496" y="4105656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683496" y="4105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140696" y="4581144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0140696" y="45811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597896" y="5056632"/>
            <a:ext cx="384048" cy="38404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10597896" y="5056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309360" y="5440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Sorted-order insertion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309360" y="5715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= 7  (a straight chain)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" y="6080760"/>
            <a:ext cx="11094415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77240" y="608076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case, every BST operation is O(n), not O(log n) — a plain BST makes NO guarantee about its own shape.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Text 37">
            <a:extLst>
              <a:ext uri="{FF2B5EF4-FFF2-40B4-BE49-F238E27FC236}">
                <a16:creationId xmlns:a16="http://schemas.microsoft.com/office/drawing/2014/main" id="{E523EB52-32B7-E532-88C8-C5A0194FBBE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class: guaranteeing the height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gave us the rule. Next class, we guarantee the shape.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18608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67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TODAY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6785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property: a global rule, not just a local one.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insert, min/max, successor, and delete: all O(h), all just walking a single path.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is NOT guaranteed — a plain BST can degrade to a linked list.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4448" y="2011680"/>
            <a:ext cx="5318608" cy="3566160"/>
          </a:xfrm>
          <a:prstGeom prst="roundRect">
            <a:avLst>
              <a:gd name="adj" fmla="val 2051"/>
            </a:avLst>
          </a:prstGeom>
          <a:solidFill>
            <a:srgbClr val="E7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44488" y="2286000"/>
            <a:ext cx="467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CLASS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44488" y="2697480"/>
            <a:ext cx="46785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BSTs (e.g. red-black trees): extra bookkeeping that GUARANTEES O(log n) height, no matter the insertion order.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Rotations: the mechanism used to restore balance after an insert or delete.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Text 37">
            <a:extLst>
              <a:ext uri="{FF2B5EF4-FFF2-40B4-BE49-F238E27FC236}">
                <a16:creationId xmlns:a16="http://schemas.microsoft.com/office/drawing/2014/main" id="{10C8FFCA-DEF8-7D67-6B11-27F70F6A52E9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: Three ideas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81965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rule, held everywhere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213055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BST property is about the WHOLE subtree, not just a node's direct children.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82549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follows one path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136392"/>
            <a:ext cx="10527487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insert, min/max, successor, delete — all O(h), all just walking down (or up) a single path.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8862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83133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is not guaranteed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4142232"/>
            <a:ext cx="10527487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BST can degrade to a linked list. Today's O(h) is only O(log n) if the shape cooperates.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class: be able to trace search/insert/delete on paper for any small tree, and explain in one sentence why a BST built from sorted input is bad news.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Text 37">
            <a:extLst>
              <a:ext uri="{FF2B5EF4-FFF2-40B4-BE49-F238E27FC236}">
                <a16:creationId xmlns:a16="http://schemas.microsoft.com/office/drawing/2014/main" id="{177DB91C-3FE9-3F96-1E3C-8AB3422CCBEC}"/>
              </a:ext>
            </a:extLst>
          </p:cNvPr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Design and Analysis  ·  Binary Search Trees  ·  Tanwistha Saha 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643</TotalTime>
  <Words>4036</Words>
  <Application>Microsoft Macintosh PowerPoint</Application>
  <PresentationFormat>Widescreen</PresentationFormat>
  <Paragraphs>550</Paragraphs>
  <Slides>26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Tanwistha Saha</cp:lastModifiedBy>
  <cp:revision>49</cp:revision>
  <dcterms:created xsi:type="dcterms:W3CDTF">2026-09-30T21:00:46Z</dcterms:created>
  <dcterms:modified xsi:type="dcterms:W3CDTF">2026-10-05T18:03:36Z</dcterms:modified>
</cp:coreProperties>
</file>