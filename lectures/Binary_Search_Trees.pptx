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77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9" r:id="rId14"/>
    <p:sldId id="282" r:id="rId15"/>
    <p:sldId id="280" r:id="rId16"/>
    <p:sldId id="270" r:id="rId17"/>
    <p:sldId id="271" r:id="rId18"/>
    <p:sldId id="272" r:id="rId19"/>
    <p:sldId id="268" r:id="rId20"/>
    <p:sldId id="267" r:id="rId21"/>
    <p:sldId id="279" r:id="rId22"/>
    <p:sldId id="281" r:id="rId23"/>
    <p:sldId id="274" r:id="rId24"/>
    <p:sldId id="273" r:id="rId25"/>
    <p:sldId id="275" r:id="rId26"/>
    <p:sldId id="276" r:id="rId2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  <p:ext uri="{1BD7E111-0CB8-44D6-8891-C1BB2F81B7CC}">
      <p1710:readonlyRecommended xmlns:p1710="http://schemas.microsoft.com/office/powerpoint/2017/10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8633"/>
    <p:restoredTop sz="94610"/>
  </p:normalViewPr>
  <p:slideViewPr>
    <p:cSldViewPr snapToGrid="0" snapToObjects="1">
      <p:cViewPr varScale="1">
        <p:scale>
          <a:sx n="107" d="100"/>
          <a:sy n="107" d="100"/>
        </p:scale>
        <p:origin x="192" y="5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463945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1188720"/>
            <a:ext cx="69494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42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Search Trees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7223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D7D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Ordering an entire tree, not just parent and child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2788920"/>
            <a:ext cx="6766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5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BST property, search, insert, delete and traversals— then why height is everything.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 flipH="1">
            <a:off x="8727440" y="2039112"/>
            <a:ext cx="1166368" cy="384048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 flipH="1">
            <a:off x="7660640" y="2816352"/>
            <a:ext cx="642112" cy="336866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8302752" y="2816352"/>
            <a:ext cx="731512" cy="336866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 flipH="1">
            <a:off x="8930641" y="3593592"/>
            <a:ext cx="432815" cy="285659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9893808" y="2039111"/>
            <a:ext cx="804672" cy="285659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 flipH="1">
            <a:off x="10424160" y="2816352"/>
            <a:ext cx="530352" cy="238110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10954512" y="2816352"/>
            <a:ext cx="530352" cy="238110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9637776" y="1527048"/>
            <a:ext cx="512064" cy="512064"/>
          </a:xfrm>
          <a:prstGeom prst="ellipse">
            <a:avLst/>
          </a:prstGeom>
          <a:solidFill>
            <a:srgbClr val="333F50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9637776" y="1547531"/>
            <a:ext cx="512064" cy="26883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9637776" y="1803563"/>
            <a:ext cx="512064" cy="217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CB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8046720" y="2304288"/>
            <a:ext cx="512064" cy="512064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8046720" y="2324771"/>
            <a:ext cx="512064" cy="26883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046720" y="2580803"/>
            <a:ext cx="512064" cy="217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516368" y="3081528"/>
            <a:ext cx="512064" cy="512064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516368" y="3102011"/>
            <a:ext cx="512064" cy="26883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7516368" y="3358043"/>
            <a:ext cx="512064" cy="217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9107424" y="3081528"/>
            <a:ext cx="512064" cy="512064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9107424" y="3102011"/>
            <a:ext cx="512064" cy="26883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9107424" y="3358043"/>
            <a:ext cx="512064" cy="217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8577072" y="3858768"/>
            <a:ext cx="512064" cy="512064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8577072" y="3879251"/>
            <a:ext cx="512064" cy="26883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8577072" y="4135283"/>
            <a:ext cx="512064" cy="217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10698480" y="2304288"/>
            <a:ext cx="512064" cy="512064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10698480" y="2324771"/>
            <a:ext cx="512064" cy="26883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10698480" y="2580803"/>
            <a:ext cx="512064" cy="217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10168128" y="3081528"/>
            <a:ext cx="512064" cy="512064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10168128" y="3102011"/>
            <a:ext cx="512064" cy="26883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10168128" y="3358043"/>
            <a:ext cx="512064" cy="217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11228832" y="3081528"/>
            <a:ext cx="512064" cy="512064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11228832" y="3102011"/>
            <a:ext cx="512064" cy="26883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11228832" y="3358043"/>
            <a:ext cx="512064" cy="217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7315200" y="443484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running example for today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383 Algorithms Design and Analysis  ·  Binary Search Trees  ·  Tanwistha Saha 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0728655" y="654710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41" name="Text 0">
            <a:extLst>
              <a:ext uri="{FF2B5EF4-FFF2-40B4-BE49-F238E27FC236}">
                <a16:creationId xmlns:a16="http://schemas.microsoft.com/office/drawing/2014/main" id="{AD9FD026-1D6E-6938-19A9-3FA3209AF3D0}"/>
              </a:ext>
            </a:extLst>
          </p:cNvPr>
          <p:cNvSpPr/>
          <p:nvPr/>
        </p:nvSpPr>
        <p:spPr>
          <a:xfrm>
            <a:off x="548640" y="9601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383 ALGORITHMS ANALYSIS AND DESIGN </a:t>
            </a:r>
            <a:endParaRPr lang="en-US" sz="1200" dirty="0"/>
          </a:p>
        </p:txBody>
      </p:sp>
      <p:sp>
        <p:nvSpPr>
          <p:cNvPr id="42" name="Shape 18">
            <a:extLst>
              <a:ext uri="{FF2B5EF4-FFF2-40B4-BE49-F238E27FC236}">
                <a16:creationId xmlns:a16="http://schemas.microsoft.com/office/drawing/2014/main" id="{C9F3A8AD-A514-21E8-BD88-A884C8512A56}"/>
              </a:ext>
            </a:extLst>
          </p:cNvPr>
          <p:cNvSpPr/>
          <p:nvPr/>
        </p:nvSpPr>
        <p:spPr>
          <a:xfrm>
            <a:off x="502920" y="5897880"/>
            <a:ext cx="694944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20">
            <a:extLst>
              <a:ext uri="{FF2B5EF4-FFF2-40B4-BE49-F238E27FC236}">
                <a16:creationId xmlns:a16="http://schemas.microsoft.com/office/drawing/2014/main" id="{B6288DF8-5B0E-7DB5-78FE-1B112EB0BFCE}"/>
              </a:ext>
            </a:extLst>
          </p:cNvPr>
          <p:cNvSpPr txBox="1"/>
          <p:nvPr/>
        </p:nvSpPr>
        <p:spPr>
          <a:xfrm>
            <a:off x="502920" y="6263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 ·  Session 15  ·  October 5</a:t>
            </a:r>
            <a:endParaRPr lang="en-US" sz="1100" dirty="0"/>
          </a:p>
        </p:txBody>
      </p:sp>
      <p:sp>
        <p:nvSpPr>
          <p:cNvPr id="44" name="Text 19">
            <a:extLst>
              <a:ext uri="{FF2B5EF4-FFF2-40B4-BE49-F238E27FC236}">
                <a16:creationId xmlns:a16="http://schemas.microsoft.com/office/drawing/2014/main" id="{86848E75-1327-67DC-0356-46CBD97D4B72}"/>
              </a:ext>
            </a:extLst>
          </p:cNvPr>
          <p:cNvSpPr txBox="1"/>
          <p:nvPr/>
        </p:nvSpPr>
        <p:spPr>
          <a:xfrm>
            <a:off x="502920" y="5989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Tanwistha Saha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we're headed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61872"/>
            <a:ext cx="1109441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new rule, applied everywhere in the tree.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438912" cy="438912"/>
          </a:xfrm>
          <a:prstGeom prst="ellipse">
            <a:avLst/>
          </a:prstGeom>
          <a:solidFill>
            <a:srgbClr val="ED7D3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192024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15568" y="1865376"/>
            <a:ext cx="10527487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BST property, and how it differs from a heap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15568" y="2176272"/>
            <a:ext cx="10527487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global ordering rule, not just a local one.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743200"/>
            <a:ext cx="438912" cy="438912"/>
          </a:xfrm>
          <a:prstGeom prst="ellipse">
            <a:avLst/>
          </a:prstGeom>
          <a:solidFill>
            <a:srgbClr val="ED7D3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48640" y="274320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15568" y="2688336"/>
            <a:ext cx="10527487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&amp; insert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115568" y="2999232"/>
            <a:ext cx="10527487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just follow the same left/right rule down the tree.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611880"/>
            <a:ext cx="438912" cy="438912"/>
          </a:xfrm>
          <a:prstGeom prst="ellipse">
            <a:avLst/>
          </a:prstGeom>
          <a:solidFill>
            <a:srgbClr val="ED7D3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48640" y="361188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115568" y="3557016"/>
            <a:ext cx="10527487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Traversals, min/max, successor, and delete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115568" y="3867912"/>
            <a:ext cx="10527487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tree back out, and the trickiest operation: removing a node.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4480560"/>
            <a:ext cx="438912" cy="438912"/>
          </a:xfrm>
          <a:prstGeom prst="ellipse">
            <a:avLst/>
          </a:prstGeom>
          <a:solidFill>
            <a:srgbClr val="ED7D3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48640" y="448056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115568" y="4425696"/>
            <a:ext cx="10527487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height matters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115568" y="4736592"/>
            <a:ext cx="10527487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 caveat that sets up next class.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0728655" y="654710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Text 37">
            <a:extLst>
              <a:ext uri="{FF2B5EF4-FFF2-40B4-BE49-F238E27FC236}">
                <a16:creationId xmlns:a16="http://schemas.microsoft.com/office/drawing/2014/main" id="{4C6B01AF-B19E-F6B4-07A4-D1D4220C4A13}"/>
              </a:ext>
            </a:extLst>
          </p:cNvPr>
          <p:cNvSpPr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383 Algorithms Design and Analysis  ·  Binary Search Trees  ·  Tanwistha Saha 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not just use what we already have?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61872"/>
            <a:ext cx="1109441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5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</a:t>
            </a:r>
            <a:r>
              <a:rPr lang="en-US" sz="14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structures we know, and where each one falls short.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438912" cy="438912"/>
          </a:xfrm>
          <a:prstGeom prst="ellipse">
            <a:avLst/>
          </a:prstGeom>
          <a:solidFill>
            <a:srgbClr val="ED7D3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201168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15568" y="1956816"/>
            <a:ext cx="10527487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binary heap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15568" y="2267712"/>
            <a:ext cx="10527487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the min is O(1) — but </a:t>
            </a:r>
            <a:r>
              <a:rPr lang="en-US" sz="1300" b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searching</a:t>
            </a: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an ARBITRARY key means scanning the whole array, O(n). A heap only promises order between a parent and its children, nothing between siblings.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291840"/>
            <a:ext cx="438912" cy="438912"/>
          </a:xfrm>
          <a:prstGeom prst="ellipse">
            <a:avLst/>
          </a:prstGeom>
          <a:solidFill>
            <a:srgbClr val="ED7D3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48640" y="329184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15568" y="3236976"/>
            <a:ext cx="10527487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sorted array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115568" y="3547872"/>
            <a:ext cx="10527487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Searching is O(log n) via binary search — but inserting a new key means shifting everything after it, O(n).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5486400"/>
            <a:ext cx="11094415" cy="731520"/>
          </a:xfrm>
          <a:prstGeom prst="roundRect">
            <a:avLst>
              <a:gd name="adj" fmla="val 5455"/>
            </a:avLst>
          </a:prstGeom>
          <a:solidFill>
            <a:srgbClr val="F5F5F5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77240" y="5486400"/>
            <a:ext cx="106372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goal: </a:t>
            </a:r>
            <a:r>
              <a:rPr lang="en-US" sz="130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</a:t>
            </a: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search, insert, AND delete fast — without shifting </a:t>
            </a:r>
            <a:r>
              <a:rPr lang="en-US" sz="130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elements </a:t>
            </a: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</a:t>
            </a:r>
            <a:r>
              <a:rPr lang="en-US" sz="130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walking the whole structure</a:t>
            </a: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A binary search tree gets close</a:t>
            </a:r>
            <a:r>
              <a:rPr lang="en-US" sz="130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728655" y="654710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7" name="Text 37">
            <a:extLst>
              <a:ext uri="{FF2B5EF4-FFF2-40B4-BE49-F238E27FC236}">
                <a16:creationId xmlns:a16="http://schemas.microsoft.com/office/drawing/2014/main" id="{2F194B9A-5CC6-7DF2-F8FD-2FC48BF3FF66}"/>
              </a:ext>
            </a:extLst>
          </p:cNvPr>
          <p:cNvSpPr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383 Algorithms Design and Analysis  ·  Binary Search Trees  ·  Tanwistha Saha </a:t>
            </a:r>
            <a:endParaRPr lang="en-US" sz="1000" dirty="0"/>
          </a:p>
        </p:txBody>
      </p:sp>
      <p:sp>
        <p:nvSpPr>
          <p:cNvPr id="18" name="Oval 17"/>
          <p:cNvSpPr/>
          <p:nvPr/>
        </p:nvSpPr>
        <p:spPr>
          <a:xfrm>
            <a:off x="548640" y="4389120"/>
            <a:ext cx="438912" cy="438912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48640" y="4389120"/>
            <a:ext cx="438912" cy="4389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15568" y="4334256"/>
            <a:ext cx="10527487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l"/>
            <a:r>
              <a:rPr sz="1600" b="1">
                <a:solidFill>
                  <a:srgbClr val="333F50"/>
                </a:solidFill>
                <a:latin typeface="Calibri"/>
              </a:rPr>
              <a:t>A sorted linked list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15568" y="4645152"/>
            <a:ext cx="10527487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l">
              <a:lnSpc>
                <a:spcPct val="105000"/>
              </a:lnSpc>
            </a:pPr>
            <a:r>
              <a:rPr sz="1300">
                <a:solidFill>
                  <a:srgbClr val="595959"/>
                </a:solidFill>
                <a:latin typeface="Calibri"/>
              </a:rPr>
              <a:t>Searching is O(n) because nodes are followed one by one. Inserting is O(n) to find the position — then O(1) once the predecessor is known.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10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Sorted arrays search quickly—but updates still cost O(n)</a:t>
            </a:r>
            <a:endParaRPr lang="en-US" sz="3200"/>
          </a:p>
        </p:txBody>
      </p:sp>
      <p:sp>
        <p:nvSpPr>
          <p:cNvPr id="4" name="Text 2"/>
          <p:cNvSpPr/>
          <p:nvPr/>
        </p:nvSpPr>
        <p:spPr>
          <a:xfrm>
            <a:off x="548640" y="1261872"/>
            <a:ext cx="1109441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5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balanced binary search tree trades direct indexing for faster updates to ordered data.</a:t>
            </a:r>
            <a:endParaRPr lang="en-US" sz="145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438912" cy="438912"/>
          </a:xfrm>
          <a:prstGeom prst="ellipse">
            <a:avLst/>
          </a:prstGeom>
          <a:solidFill>
            <a:srgbClr val="ED7D3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201168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/>
          </a:p>
        </p:txBody>
      </p:sp>
      <p:sp>
        <p:nvSpPr>
          <p:cNvPr id="7" name="Text 5"/>
          <p:cNvSpPr/>
          <p:nvPr/>
        </p:nvSpPr>
        <p:spPr>
          <a:xfrm>
            <a:off x="1115568" y="1956816"/>
            <a:ext cx="10527487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b="1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sorted array supports</a:t>
            </a:r>
            <a:endParaRPr lang="en-US" sz="1600"/>
          </a:p>
        </p:txBody>
      </p:sp>
      <p:sp>
        <p:nvSpPr>
          <p:cNvPr id="8" name="Text 6"/>
          <p:cNvSpPr/>
          <p:nvPr/>
        </p:nvSpPr>
        <p:spPr>
          <a:xfrm>
            <a:off x="1115568" y="2267712"/>
            <a:ext cx="10527487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O(log n) with binary search; min/max O(1); predecessor/successor O(log n); direct access by index O(1).</a:t>
            </a:r>
            <a:endParaRPr lang="en-US" sz="1300"/>
          </a:p>
        </p:txBody>
      </p:sp>
      <p:sp>
        <p:nvSpPr>
          <p:cNvPr id="9" name="Shape 7"/>
          <p:cNvSpPr/>
          <p:nvPr/>
        </p:nvSpPr>
        <p:spPr>
          <a:xfrm>
            <a:off x="548640" y="3291840"/>
            <a:ext cx="438912" cy="438912"/>
          </a:xfrm>
          <a:prstGeom prst="ellipse">
            <a:avLst/>
          </a:prstGeom>
          <a:solidFill>
            <a:srgbClr val="ED7D3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48640" y="329184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/>
          </a:p>
        </p:txBody>
      </p:sp>
      <p:sp>
        <p:nvSpPr>
          <p:cNvPr id="11" name="Text 9"/>
          <p:cNvSpPr/>
          <p:nvPr/>
        </p:nvSpPr>
        <p:spPr>
          <a:xfrm>
            <a:off x="1115568" y="3236976"/>
            <a:ext cx="10527487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b="1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insert() and delete() hurt</a:t>
            </a:r>
            <a:endParaRPr lang="en-US" sz="1600"/>
          </a:p>
        </p:txBody>
      </p:sp>
      <p:sp>
        <p:nvSpPr>
          <p:cNvPr id="12" name="Text 10"/>
          <p:cNvSpPr/>
          <p:nvPr/>
        </p:nvSpPr>
        <p:spPr>
          <a:xfrm>
            <a:off x="1115568" y="3547872"/>
            <a:ext cx="10527487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the position is O(log n), but opening or closing a gap shifts up to n elements: O(n) overall.</a:t>
            </a:r>
            <a:endParaRPr lang="en-US" sz="1300"/>
          </a:p>
        </p:txBody>
      </p:sp>
      <p:sp>
        <p:nvSpPr>
          <p:cNvPr id="13" name="Shape 11"/>
          <p:cNvSpPr/>
          <p:nvPr/>
        </p:nvSpPr>
        <p:spPr>
          <a:xfrm>
            <a:off x="548640" y="5486400"/>
            <a:ext cx="11094415" cy="731520"/>
          </a:xfrm>
          <a:prstGeom prst="roundRect">
            <a:avLst>
              <a:gd name="adj" fmla="val 5455"/>
            </a:avLst>
          </a:prstGeom>
          <a:solidFill>
            <a:srgbClr val="F5F5F5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77240" y="5486400"/>
            <a:ext cx="106372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Balanced does not mean perfectly symmetric: it means preventing long chains so height stays O(log n). This matters when updates are frequent or input order could otherwise create a skewed tree.</a:t>
            </a:r>
            <a:endParaRPr lang="en-US" sz="1300"/>
          </a:p>
        </p:txBody>
      </p:sp>
      <p:sp>
        <p:nvSpPr>
          <p:cNvPr id="16" name="Text 14"/>
          <p:cNvSpPr/>
          <p:nvPr/>
        </p:nvSpPr>
        <p:spPr>
          <a:xfrm>
            <a:off x="10728655" y="654710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/>
          </a:p>
        </p:txBody>
      </p:sp>
      <p:sp>
        <p:nvSpPr>
          <p:cNvPr id="17" name="Text 37">
            <a:extLst>
              <a:ext uri="{FF2B5EF4-FFF2-40B4-BE49-F238E27FC236}">
                <a16:creationId xmlns:a16="http://schemas.microsoft.com/office/drawing/2014/main" id="{2F194B9A-5CC6-7DF2-F8FD-2FC48BF3FF66}"/>
              </a:ext>
            </a:extLst>
          </p:cNvPr>
          <p:cNvSpPr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383 Algorithms Design and Analysis  ·  Binary Search Trees  ·  Tanwistha Saha </a:t>
            </a:r>
            <a:endParaRPr lang="en-US" sz="1000"/>
          </a:p>
        </p:txBody>
      </p:sp>
      <p:sp>
        <p:nvSpPr>
          <p:cNvPr id="18" name="Oval 17"/>
          <p:cNvSpPr/>
          <p:nvPr/>
        </p:nvSpPr>
        <p:spPr>
          <a:xfrm>
            <a:off x="548640" y="4389120"/>
            <a:ext cx="438912" cy="438912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48640" y="4389120"/>
            <a:ext cx="438912" cy="4389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15568" y="4334256"/>
            <a:ext cx="10527487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l"/>
            <a:r>
              <a:rPr sz="1600" b="1">
                <a:solidFill>
                  <a:srgbClr val="333F50"/>
                </a:solidFill>
                <a:latin typeface="Calibri"/>
              </a:rPr>
              <a:t>When a balanced BST wins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15568" y="4645152"/>
            <a:ext cx="10527487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l">
              <a:lnSpc>
                <a:spcPct val="105000"/>
              </a:lnSpc>
            </a:pPr>
            <a:r>
              <a:rPr sz="1300">
                <a:solidFill>
                  <a:srgbClr val="595959"/>
                </a:solidFill>
                <a:latin typeface="Calibri"/>
              </a:rPr>
              <a:t>Balanced BSTs keep height O(log n), so search, insert, and delete are O(log n). Favor them for frequently changing ordered sets, range queries, or sorted iteration; favor arrays for O(1) index access and read-heavy data.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BST vocabulary: the parts of </a:t>
            </a:r>
            <a:r>
              <a:rPr lang="en-US" sz="32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tree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61872"/>
            <a:ext cx="1109441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BST is a binary tree built around search – a binary tree in a symmetric order. Symmetric as in, each node has a key strictly larger than all keys of left subtree, and strictly smaller than all keys of right subtree. [No duplicate keys in today’s examples]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438912" cy="438912"/>
          </a:xfrm>
          <a:prstGeom prst="ellipse">
            <a:avLst/>
          </a:prstGeom>
          <a:solidFill>
            <a:srgbClr val="ED7D3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196596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15568" y="1911096"/>
            <a:ext cx="5468112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b="1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node, key, and leaf node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15568" y="2221992"/>
            <a:ext cx="546811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node is one element of the binary tree; the root node is the topmost node and has no parent. </a:t>
            </a:r>
            <a:r>
              <a:rPr lang="en-US" sz="130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node’s </a:t>
            </a: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is the value compared during search to choose left or right. A leaf node has no children.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108960"/>
            <a:ext cx="438912" cy="438912"/>
          </a:xfrm>
          <a:prstGeom prst="ellipse">
            <a:avLst/>
          </a:prstGeom>
          <a:solidFill>
            <a:srgbClr val="ED7D3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48640" y="310896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15568" y="3054096"/>
            <a:ext cx="5468112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b="1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child and right child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115568" y="3364992"/>
            <a:ext cx="5468112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node’s left child is </a:t>
            </a: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</a:t>
            </a:r>
            <a:r>
              <a:rPr lang="en-US" sz="130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child reached by the </a:t>
            </a: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</a:t>
            </a:r>
            <a:r>
              <a:rPr lang="en-US" sz="130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link; </a:t>
            </a: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right </a:t>
            </a:r>
            <a:r>
              <a:rPr lang="en-US" sz="130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child </a:t>
            </a: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</a:t>
            </a:r>
            <a:r>
              <a:rPr lang="en-US" sz="130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reached by </a:t>
            </a: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r>
              <a:rPr lang="en-US" sz="130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link</a:t>
            </a: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4197096"/>
            <a:ext cx="6035040" cy="1938528"/>
          </a:xfrm>
          <a:prstGeom prst="roundRect">
            <a:avLst>
              <a:gd name="adj" fmla="val 5455"/>
            </a:avLst>
          </a:prstGeom>
          <a:solidFill>
            <a:srgbClr val="F5F5F5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68096" y="4608576"/>
            <a:ext cx="5577840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Subtrees: The left or right subtree contains that child and all of its descendants. Height: the number of edges on the longest path from the root to a leaf (</a:t>
            </a:r>
            <a:r>
              <a:rPr lang="en-US" sz="125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2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this tree).</a:t>
            </a:r>
          </a:p>
          <a:p>
            <a:pPr marL="0" indent="0" algn="l">
              <a:buNone/>
            </a:pPr>
            <a:endParaRPr lang="en-US" sz="1250" dirty="0">
              <a:solidFill>
                <a:srgbClr val="59595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l">
              <a:buNone/>
            </a:pPr>
            <a:r>
              <a:rPr lang="en-US" sz="1250" b="1" u="sng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Invariant:</a:t>
            </a:r>
            <a:r>
              <a:rPr lang="en-US" sz="12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a BST, every key in the left subtree is smaller than the node’s key, and every key in the right subtree is larger.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 flipH="1">
            <a:off x="8463280" y="2167128"/>
            <a:ext cx="1174496" cy="278983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 flipH="1">
            <a:off x="7836408" y="2944368"/>
            <a:ext cx="265176" cy="266182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101584" y="2944368"/>
            <a:ext cx="686812" cy="320040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 flipH="1">
            <a:off x="8707125" y="3721608"/>
            <a:ext cx="418587" cy="242225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9637776" y="2167128"/>
            <a:ext cx="777240" cy="229606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 flipH="1">
            <a:off x="10149840" y="2944368"/>
            <a:ext cx="512064" cy="164592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10661904" y="2944368"/>
            <a:ext cx="512064" cy="181874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9390888" y="1673352"/>
            <a:ext cx="493776" cy="493776"/>
          </a:xfrm>
          <a:prstGeom prst="ellipse">
            <a:avLst/>
          </a:prstGeom>
          <a:solidFill>
            <a:srgbClr val="333F50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9390888" y="1693103"/>
            <a:ext cx="493776" cy="2592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9390888" y="1939991"/>
            <a:ext cx="493776" cy="20985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CB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7854696" y="2450592"/>
            <a:ext cx="493776" cy="493776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7854696" y="2470343"/>
            <a:ext cx="493776" cy="2592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7854696" y="2717231"/>
            <a:ext cx="493776" cy="20985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342632" y="3227832"/>
            <a:ext cx="493776" cy="493776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7342632" y="3247583"/>
            <a:ext cx="493776" cy="2592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7342632" y="3494471"/>
            <a:ext cx="493776" cy="20985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8878824" y="3227832"/>
            <a:ext cx="493776" cy="493776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8878824" y="3247583"/>
            <a:ext cx="493776" cy="2592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8878824" y="3494471"/>
            <a:ext cx="493776" cy="20985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8366760" y="4005072"/>
            <a:ext cx="493776" cy="493776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8366760" y="4024823"/>
            <a:ext cx="493776" cy="2592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8366760" y="4271711"/>
            <a:ext cx="493776" cy="20985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10415016" y="2450592"/>
            <a:ext cx="493776" cy="493776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10415016" y="2470343"/>
            <a:ext cx="493776" cy="2592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10415016" y="2717231"/>
            <a:ext cx="493776" cy="20985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9902952" y="3227832"/>
            <a:ext cx="493776" cy="493776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9902952" y="3247583"/>
            <a:ext cx="493776" cy="2592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250" dirty="0"/>
          </a:p>
        </p:txBody>
      </p:sp>
      <p:sp>
        <p:nvSpPr>
          <p:cNvPr id="42" name="Text 40"/>
          <p:cNvSpPr/>
          <p:nvPr/>
        </p:nvSpPr>
        <p:spPr>
          <a:xfrm>
            <a:off x="9902952" y="3494471"/>
            <a:ext cx="493776" cy="20985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10927080" y="3227832"/>
            <a:ext cx="493776" cy="493776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10927080" y="3247583"/>
            <a:ext cx="493776" cy="2592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10927080" y="3494471"/>
            <a:ext cx="493776" cy="20985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7223760" y="4572000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</a:t>
            </a:r>
            <a:r>
              <a:rPr lang="en-US" sz="11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</a:t>
            </a:r>
            <a:r>
              <a:rPr lang="en-US" sz="1100" i="1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13</a:t>
            </a:r>
            <a:r>
              <a:rPr lang="en-US" sz="11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1100" i="1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= 13 · </a:t>
            </a:r>
            <a:r>
              <a:rPr lang="en-US" sz="11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</a:t>
            </a:r>
            <a:r>
              <a:rPr lang="en-US" sz="1100" i="1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child = 5 · </a:t>
            </a:r>
            <a:r>
              <a:rPr lang="en-US" sz="11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</a:t>
            </a:r>
            <a:r>
              <a:rPr lang="en-US" sz="1100" i="1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child = 20 · leaves = 2, 7, 17, 25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10728655" y="654710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49" name="Text 37">
            <a:extLst>
              <a:ext uri="{FF2B5EF4-FFF2-40B4-BE49-F238E27FC236}">
                <a16:creationId xmlns:a16="http://schemas.microsoft.com/office/drawing/2014/main" id="{CC94E6E0-0372-1A89-425F-5D34024806FC}"/>
              </a:ext>
            </a:extLst>
          </p:cNvPr>
          <p:cNvSpPr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383 Algorithms Design and Analysis  ·  Binary Search Trees  ·  Tanwistha Saha 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COMMON TRAP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Checking BST-order: local isn't enough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61872"/>
            <a:ext cx="1109441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tree can look fine at every parent-child pair, and still be broken.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438912" cy="438912"/>
          </a:xfrm>
          <a:prstGeom prst="ellipse">
            <a:avLst/>
          </a:prstGeom>
          <a:solidFill>
            <a:srgbClr val="ED7D3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201168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15568" y="1956816"/>
            <a:ext cx="5468112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Looks fine locally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15568" y="2267712"/>
            <a:ext cx="546811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&lt; 10 ✓.  10 &lt; 15 ✓.  5 &lt; 12 ✓ (12 is 5's right child, so it should be bigger than 5 — and it is).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246120"/>
            <a:ext cx="438912" cy="438912"/>
          </a:xfrm>
          <a:prstGeom prst="ellipse">
            <a:avLst/>
          </a:prstGeom>
          <a:solidFill>
            <a:srgbClr val="ED7D3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48640" y="324612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15568" y="3191256"/>
            <a:ext cx="5468112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globally broken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115568" y="3502152"/>
            <a:ext cx="546811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sits in 10's LEFT subtree — yet 12 &gt; 10. Every node in that subtree must be less than 10, not just less than its own immediate parent.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4617720"/>
            <a:ext cx="6035040" cy="1234440"/>
          </a:xfrm>
          <a:prstGeom prst="roundRect">
            <a:avLst>
              <a:gd name="adj" fmla="val 4444"/>
            </a:avLst>
          </a:prstGeom>
          <a:solidFill>
            <a:srgbClr val="F5F5F5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77240" y="4617720"/>
            <a:ext cx="55778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Correctly checking a BST means tracking a valid (min, max) range for every node as you go — not just comparing it to its parent. This is exactly why a BST differs from a heap: </a:t>
            </a:r>
            <a:r>
              <a:rPr lang="en-US" sz="1200" b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heap only ever compares a node to its immediate children; a BST's rule must hold at every depth, all the way down.</a:t>
            </a:r>
            <a:endParaRPr lang="en-US" sz="1200" b="1" dirty="0"/>
          </a:p>
        </p:txBody>
      </p:sp>
      <p:sp>
        <p:nvSpPr>
          <p:cNvPr id="15" name="Shape 13"/>
          <p:cNvSpPr/>
          <p:nvPr/>
        </p:nvSpPr>
        <p:spPr>
          <a:xfrm flipH="1">
            <a:off x="9217152" y="2450592"/>
            <a:ext cx="1572768" cy="338328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961120" y="3319272"/>
            <a:ext cx="914400" cy="868680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10789920" y="2450592"/>
            <a:ext cx="772160" cy="310896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10533888" y="1938528"/>
            <a:ext cx="512064" cy="512064"/>
          </a:xfrm>
          <a:prstGeom prst="ellipse">
            <a:avLst/>
          </a:prstGeom>
          <a:solidFill>
            <a:srgbClr val="333F50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10533888" y="193852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705088" y="2807208"/>
            <a:ext cx="512064" cy="512064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8705088" y="28072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9619488" y="3675888"/>
            <a:ext cx="512064" cy="512064"/>
          </a:xfrm>
          <a:prstGeom prst="ellipse">
            <a:avLst/>
          </a:prstGeom>
          <a:solidFill>
            <a:srgbClr val="ED7D3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9619488" y="367588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11448288" y="2807208"/>
            <a:ext cx="512064" cy="512064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11448288" y="28072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223760" y="42062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violates the BST property relative to the root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728655" y="654710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29" name="Text 37">
            <a:extLst>
              <a:ext uri="{FF2B5EF4-FFF2-40B4-BE49-F238E27FC236}">
                <a16:creationId xmlns:a16="http://schemas.microsoft.com/office/drawing/2014/main" id="{95B9C7E6-A78E-9F59-C609-148D7AC2C87F}"/>
              </a:ext>
            </a:extLst>
          </p:cNvPr>
          <p:cNvSpPr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383 Algorithms Design and Analysis  ·  Binary Search Trees  ·  Tanwistha Saha 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Search: follow the rule down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61872"/>
            <a:ext cx="1109441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comparison eliminates an entire subtree.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438912" cy="438912"/>
          </a:xfrm>
          <a:prstGeom prst="ellipse">
            <a:avLst/>
          </a:prstGeom>
          <a:solidFill>
            <a:srgbClr val="ED7D3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201168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15568" y="1956816"/>
            <a:ext cx="5468112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to the current node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15568" y="2267712"/>
            <a:ext cx="546811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Equal? Found it. Smaller? Go left. Larger? Go right.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926080"/>
            <a:ext cx="438912" cy="438912"/>
          </a:xfrm>
          <a:prstGeom prst="ellipse">
            <a:avLst/>
          </a:prstGeom>
          <a:solidFill>
            <a:srgbClr val="ED7D3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48640" y="292608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15568" y="2871216"/>
            <a:ext cx="5468112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Repeat, one level at a time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115568" y="3182112"/>
            <a:ext cx="546811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comparison rules out an entire subtree — not just one node.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886200"/>
            <a:ext cx="6035040" cy="868680"/>
          </a:xfrm>
          <a:prstGeom prst="roundRect">
            <a:avLst>
              <a:gd name="adj" fmla="val 6316"/>
            </a:avLst>
          </a:prstGeom>
          <a:solidFill>
            <a:srgbClr val="F5F5F5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77240" y="3886200"/>
            <a:ext cx="5577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 binary search on a sorted array — except this “array” is already arranged in exactly the shape the comparisons will follow.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 flipH="1">
            <a:off x="8348472" y="2167128"/>
            <a:ext cx="1289304" cy="320040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 flipH="1">
            <a:off x="7607807" y="2944368"/>
            <a:ext cx="493777" cy="246888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101584" y="2944368"/>
            <a:ext cx="686816" cy="303215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 flipH="1">
            <a:off x="8595360" y="3721608"/>
            <a:ext cx="530352" cy="259232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9637776" y="2167128"/>
            <a:ext cx="777240" cy="209855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 flipH="1">
            <a:off x="10168128" y="2944368"/>
            <a:ext cx="493776" cy="209855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10661904" y="2944368"/>
            <a:ext cx="414528" cy="209855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9390888" y="1673352"/>
            <a:ext cx="493776" cy="493776"/>
          </a:xfrm>
          <a:prstGeom prst="ellipse">
            <a:avLst/>
          </a:prstGeom>
          <a:solidFill>
            <a:srgbClr val="ED7D3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9390888" y="1693103"/>
            <a:ext cx="493776" cy="2592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9390888" y="1939991"/>
            <a:ext cx="493776" cy="20985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FC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7854696" y="2450592"/>
            <a:ext cx="493776" cy="493776"/>
          </a:xfrm>
          <a:prstGeom prst="ellipse">
            <a:avLst/>
          </a:prstGeom>
          <a:solidFill>
            <a:srgbClr val="ED7D3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7854696" y="2470343"/>
            <a:ext cx="493776" cy="2592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7854696" y="2717231"/>
            <a:ext cx="493776" cy="20985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FC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342632" y="3227832"/>
            <a:ext cx="493776" cy="493776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7342632" y="3247583"/>
            <a:ext cx="493776" cy="2592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7342632" y="3494471"/>
            <a:ext cx="493776" cy="20985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8878824" y="3227832"/>
            <a:ext cx="493776" cy="493776"/>
          </a:xfrm>
          <a:prstGeom prst="ellipse">
            <a:avLst/>
          </a:prstGeom>
          <a:solidFill>
            <a:srgbClr val="ED7D3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8878824" y="3247583"/>
            <a:ext cx="493776" cy="2592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8878824" y="3494471"/>
            <a:ext cx="493776" cy="20985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FC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8366760" y="4005072"/>
            <a:ext cx="493776" cy="493776"/>
          </a:xfrm>
          <a:prstGeom prst="ellipse">
            <a:avLst/>
          </a:prstGeom>
          <a:solidFill>
            <a:srgbClr val="ED7D3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8366760" y="4024823"/>
            <a:ext cx="493776" cy="2592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8366760" y="4271711"/>
            <a:ext cx="493776" cy="20985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FC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10415016" y="2450592"/>
            <a:ext cx="493776" cy="493776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10415016" y="2470343"/>
            <a:ext cx="493776" cy="2592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10415016" y="2717231"/>
            <a:ext cx="493776" cy="20985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9902952" y="3227832"/>
            <a:ext cx="493776" cy="493776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9902952" y="3247583"/>
            <a:ext cx="493776" cy="2592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250" dirty="0"/>
          </a:p>
        </p:txBody>
      </p:sp>
      <p:sp>
        <p:nvSpPr>
          <p:cNvPr id="42" name="Text 40"/>
          <p:cNvSpPr/>
          <p:nvPr/>
        </p:nvSpPr>
        <p:spPr>
          <a:xfrm>
            <a:off x="9902952" y="3494471"/>
            <a:ext cx="493776" cy="20985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10927080" y="3227832"/>
            <a:ext cx="493776" cy="493776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10927080" y="3247583"/>
            <a:ext cx="493776" cy="2592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10927080" y="3494471"/>
            <a:ext cx="493776" cy="20985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7223760" y="45720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Searching for 7: 13 → 5 → 8 → 7, found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10728655" y="654710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49" name="Text 37">
            <a:extLst>
              <a:ext uri="{FF2B5EF4-FFF2-40B4-BE49-F238E27FC236}">
                <a16:creationId xmlns:a16="http://schemas.microsoft.com/office/drawing/2014/main" id="{DFEB0DF5-565B-1BE6-EFE4-F032E402D928}"/>
              </a:ext>
            </a:extLst>
          </p:cNvPr>
          <p:cNvSpPr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383 Algorithms Design and Analysis  ·  Binary Search Trees  ·  Tanwistha Saha 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Search: pseudocode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61872"/>
            <a:ext cx="1109441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comparisons, one recursive call, repeat.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6309360" cy="1920240"/>
          </a:xfrm>
          <a:prstGeom prst="roundRect">
            <a:avLst>
              <a:gd name="adj" fmla="val 2857"/>
            </a:avLst>
          </a:prstGeom>
          <a:solidFill>
            <a:srgbClr val="F5F5F5"/>
          </a:solidFill>
          <a:ln w="9525">
            <a:solidFill>
              <a:srgbClr val="E3E3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49808" y="2020824"/>
            <a:ext cx="5907024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333F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SEARCH(node, key):
</a:t>
            </a:r>
            <a:r>
              <a:rPr lang="en-US" sz="1350" dirty="0">
                <a:solidFill>
                  <a:srgbClr val="333F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node = NIL or key = node.key:
        return node
    if key &lt; node.key:
        return SEARCH(node.left, key)
    else:
        return SEARCH(node.right, key)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7086600" y="1874520"/>
            <a:ext cx="457200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269480" y="19659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per node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269480" y="2258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comparison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9921240" y="1874520"/>
            <a:ext cx="1554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4472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O(1)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086600" y="2926080"/>
            <a:ext cx="457200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269480" y="3017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Nodes visited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7269480" y="331012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root-to-leaf path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9921240" y="2926080"/>
            <a:ext cx="1554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4472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O(h)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086600" y="3977640"/>
            <a:ext cx="457200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269480" y="40690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7269480" y="43616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O(1) · O(h) nodes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9921240" y="3977640"/>
            <a:ext cx="1554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ED7D3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O(h)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548640" y="3977640"/>
            <a:ext cx="6309360" cy="1371600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77240" y="39776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is the tree's HEIGHT — not automatically log n. We'll come back to exactly why that distinction matters, later today.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10728655" y="654710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23" name="Text 37">
            <a:extLst>
              <a:ext uri="{FF2B5EF4-FFF2-40B4-BE49-F238E27FC236}">
                <a16:creationId xmlns:a16="http://schemas.microsoft.com/office/drawing/2014/main" id="{0E398CC0-1ABE-7D88-AE71-0AE1FF4E6D6F}"/>
              </a:ext>
            </a:extLst>
          </p:cNvPr>
          <p:cNvSpPr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383 Algorithms Design and Analysis  ·  Binary Search Trees  ·  Tanwistha Saha 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ON THE BOARD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demo: trace search by hand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61872"/>
            <a:ext cx="1109441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successful search, one that comes up empty.</a:t>
            </a:r>
            <a:endParaRPr lang="en-US" sz="14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3651086"/>
              </p:ext>
            </p:extLst>
          </p:nvPr>
        </p:nvGraphicFramePr>
        <p:xfrm>
          <a:off x="548640" y="1920240"/>
          <a:ext cx="11094415" cy="320040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656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F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happens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F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Draw the tree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[13:E root, 5:B &amp; 20:G children, 2:A/8:D under 5, 17:F/25:H under 20, 7:C under 8].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SEARCH(root, 7)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&lt; 13, go left to 5. 7 &gt; 5, go right to 8. 7 &lt; 8, go left to 7. Found — return (7,C).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SEARCH(root, 11)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 &lt; 13, go left to 5. 11 &gt; 5, go right to 8. 11 &gt; 8, go right — but 8 has no right child. Return NIL: not found.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did 11 stop at 8, and not somewhere else?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 6"/>
          <p:cNvSpPr/>
          <p:nvPr/>
        </p:nvSpPr>
        <p:spPr>
          <a:xfrm>
            <a:off x="10728655" y="654710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10" name="Text 37">
            <a:extLst>
              <a:ext uri="{FF2B5EF4-FFF2-40B4-BE49-F238E27FC236}">
                <a16:creationId xmlns:a16="http://schemas.microsoft.com/office/drawing/2014/main" id="{33E5C0CA-5214-C20F-4E7E-220B01B99DB2}"/>
              </a:ext>
            </a:extLst>
          </p:cNvPr>
          <p:cNvSpPr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383 Algorithms Design and Analysis  ·  Binary Search Trees  ·  Tanwistha Saha 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Insert: search for the gap, then fill it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61872"/>
            <a:ext cx="1109441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never rearranges anything that's already there.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438912" cy="438912"/>
          </a:xfrm>
          <a:prstGeom prst="ellipse">
            <a:avLst/>
          </a:prstGeom>
          <a:solidFill>
            <a:srgbClr val="ED7D3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201168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15568" y="1956816"/>
            <a:ext cx="5468112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for where the key WOULD be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15568" y="2267712"/>
            <a:ext cx="546811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same left/right logic as search, until you fall off the tree (hit an empty child).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200400"/>
            <a:ext cx="438912" cy="438912"/>
          </a:xfrm>
          <a:prstGeom prst="ellipse">
            <a:avLst/>
          </a:prstGeom>
          <a:solidFill>
            <a:srgbClr val="ED7D3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48640" y="320040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15568" y="3145536"/>
            <a:ext cx="5468112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it there, as a new leaf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115568" y="3456432"/>
            <a:ext cx="546811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becomes the left or right child of whatever node you stopped at.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4206240"/>
            <a:ext cx="6035040" cy="868680"/>
          </a:xfrm>
          <a:prstGeom prst="roundRect">
            <a:avLst>
              <a:gd name="adj" fmla="val 6316"/>
            </a:avLst>
          </a:prstGeom>
          <a:solidFill>
            <a:srgbClr val="F5F5F5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77240" y="4206240"/>
            <a:ext cx="5577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never has to shuffle existing nodes — it just finds the one empty spot that keeps the BST property intact, and fills it.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 flipH="1">
            <a:off x="8209280" y="2148840"/>
            <a:ext cx="1483360" cy="395478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 flipH="1">
            <a:off x="7406640" y="2926080"/>
            <a:ext cx="457200" cy="258318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7863840" y="2926080"/>
            <a:ext cx="685786" cy="290322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 flipH="1">
            <a:off x="8321040" y="3703320"/>
            <a:ext cx="457200" cy="274320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778240" y="3703320"/>
            <a:ext cx="457181" cy="274320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9692640" y="2148840"/>
            <a:ext cx="812800" cy="301752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 flipH="1">
            <a:off x="10149840" y="2926080"/>
            <a:ext cx="457200" cy="240030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10607040" y="2926080"/>
            <a:ext cx="469392" cy="258318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9464040" y="1691640"/>
            <a:ext cx="457200" cy="457200"/>
          </a:xfrm>
          <a:prstGeom prst="ellipse">
            <a:avLst/>
          </a:prstGeom>
          <a:solidFill>
            <a:srgbClr val="ED7D3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9464040" y="1709928"/>
            <a:ext cx="457200" cy="24003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9464040" y="1938528"/>
            <a:ext cx="457200" cy="1943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FC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7635240" y="2468880"/>
            <a:ext cx="457200" cy="457200"/>
          </a:xfrm>
          <a:prstGeom prst="ellipse">
            <a:avLst/>
          </a:prstGeom>
          <a:solidFill>
            <a:srgbClr val="ED7D3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7635240" y="2487168"/>
            <a:ext cx="457200" cy="24003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7635240" y="2715768"/>
            <a:ext cx="457200" cy="1943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FC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7178040" y="3246120"/>
            <a:ext cx="457200" cy="457200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7178040" y="3264408"/>
            <a:ext cx="457200" cy="24003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7178040" y="3493008"/>
            <a:ext cx="457200" cy="1943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549640" y="3246120"/>
            <a:ext cx="457200" cy="457200"/>
          </a:xfrm>
          <a:prstGeom prst="ellipse">
            <a:avLst/>
          </a:prstGeom>
          <a:solidFill>
            <a:srgbClr val="ED7D3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8549640" y="3264408"/>
            <a:ext cx="457200" cy="24003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8549640" y="3493008"/>
            <a:ext cx="457200" cy="1943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FC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8092440" y="4023360"/>
            <a:ext cx="457200" cy="457200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8092440" y="4041648"/>
            <a:ext cx="457200" cy="24003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8092440" y="4270248"/>
            <a:ext cx="457200" cy="1943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9006840" y="4023360"/>
            <a:ext cx="457200" cy="457200"/>
          </a:xfrm>
          <a:prstGeom prst="ellipse">
            <a:avLst/>
          </a:prstGeom>
          <a:solidFill>
            <a:srgbClr val="ED7D3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9006840" y="4041648"/>
            <a:ext cx="457200" cy="24003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9006840" y="4270248"/>
            <a:ext cx="457200" cy="1943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FC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10378440" y="2468880"/>
            <a:ext cx="457200" cy="457200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10378440" y="2487168"/>
            <a:ext cx="457200" cy="24003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10378440" y="2715768"/>
            <a:ext cx="457200" cy="1943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9921240" y="3246120"/>
            <a:ext cx="457200" cy="457200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9921240" y="3264408"/>
            <a:ext cx="457200" cy="24003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9921240" y="3493008"/>
            <a:ext cx="457200" cy="1943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10835640" y="3246120"/>
            <a:ext cx="457200" cy="457200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10835640" y="3264408"/>
            <a:ext cx="457200" cy="24003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250" dirty="0"/>
          </a:p>
        </p:txBody>
      </p:sp>
      <p:sp>
        <p:nvSpPr>
          <p:cNvPr id="49" name="Text 47"/>
          <p:cNvSpPr/>
          <p:nvPr/>
        </p:nvSpPr>
        <p:spPr>
          <a:xfrm>
            <a:off x="10835640" y="3493008"/>
            <a:ext cx="457200" cy="1943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040880" y="457200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Inserting (11, I): 13 → 5 → 8 → new right child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10728655" y="654710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53" name="Text 37">
            <a:extLst>
              <a:ext uri="{FF2B5EF4-FFF2-40B4-BE49-F238E27FC236}">
                <a16:creationId xmlns:a16="http://schemas.microsoft.com/office/drawing/2014/main" id="{B500F36E-CF49-5C55-15E6-5D91ED8BC598}"/>
              </a:ext>
            </a:extLst>
          </p:cNvPr>
          <p:cNvSpPr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383 Algorithms Design and Analysis  ·  Binary Search Trees  ·  Tanwistha Saha </a:t>
            </a:r>
            <a:endParaRPr lang="en-US" sz="1000" dirty="0"/>
          </a:p>
        </p:txBody>
      </p:sp>
      <p:sp>
        <p:nvSpPr>
          <p:cNvPr id="51" name="Text 2">
            <a:extLst>
              <a:ext uri="{FF2B5EF4-FFF2-40B4-BE49-F238E27FC236}">
                <a16:creationId xmlns:a16="http://schemas.microsoft.com/office/drawing/2014/main" id="{56D41FC3-D8E5-F07B-AE73-1064B6C1D3CA}"/>
              </a:ext>
            </a:extLst>
          </p:cNvPr>
          <p:cNvSpPr/>
          <p:nvPr/>
        </p:nvSpPr>
        <p:spPr>
          <a:xfrm>
            <a:off x="548639" y="5751576"/>
            <a:ext cx="1109441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How would you handle duplicate key values?  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Insert: pseudocode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61872"/>
            <a:ext cx="1109441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search that plants a new node the moment it falls off the tree.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6309360" cy="2103120"/>
          </a:xfrm>
          <a:prstGeom prst="roundRect">
            <a:avLst>
              <a:gd name="adj" fmla="val 2609"/>
            </a:avLst>
          </a:prstGeom>
          <a:solidFill>
            <a:srgbClr val="F5F5F5"/>
          </a:solidFill>
          <a:ln w="9525">
            <a:solidFill>
              <a:srgbClr val="E3E3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49808" y="2020824"/>
            <a:ext cx="5907024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333F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INSERT(node, key, val):
</a:t>
            </a:r>
            <a:r>
              <a:rPr lang="en-US" sz="1350" dirty="0">
                <a:solidFill>
                  <a:srgbClr val="333F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node = NIL:
        return NEW-NODE(key, val)
    if key &lt; node.key:
        node.left = INSERT(node.left, key, val)
    else:
        node.right = INSERT(node.right, key, val)
    return node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7086600" y="1874520"/>
            <a:ext cx="457200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269480" y="19659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per node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269480" y="2258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comparison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9921240" y="1874520"/>
            <a:ext cx="1554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4472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O(1)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086600" y="2926080"/>
            <a:ext cx="457200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269480" y="3017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Nodes visited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7269480" y="331012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root-to-leaf path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9921240" y="2926080"/>
            <a:ext cx="1554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4472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O(h)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086600" y="3977640"/>
            <a:ext cx="457200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269480" y="40690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7269480" y="43616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O(1) · O(h) nodes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9921240" y="3977640"/>
            <a:ext cx="1554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ED7D3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O(h)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548640" y="4206240"/>
            <a:ext cx="6309360" cy="1280160"/>
          </a:xfrm>
          <a:prstGeom prst="roundRect">
            <a:avLst>
              <a:gd name="adj" fmla="val 4286"/>
            </a:avLst>
          </a:prstGeom>
          <a:solidFill>
            <a:srgbClr val="F5F5F5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77240" y="4206240"/>
            <a:ext cx="5852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Notice: this is nearly identical to SEARCH — the only difference is what happens when you hit NIL. Same cost, same O(h) bound.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10728655" y="654710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23" name="Text 37">
            <a:extLst>
              <a:ext uri="{FF2B5EF4-FFF2-40B4-BE49-F238E27FC236}">
                <a16:creationId xmlns:a16="http://schemas.microsoft.com/office/drawing/2014/main" id="{04120ED8-688F-E5C9-1F69-7FD9C83C321E}"/>
              </a:ext>
            </a:extLst>
          </p:cNvPr>
          <p:cNvSpPr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383 Algorithms Design and Analysis  ·  Binary Search Trees  ·  Tanwistha Saha 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ON THE BOARD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demo: trace insert by hand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61872"/>
            <a:ext cx="1109441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tree — let's grow it by one.</a:t>
            </a:r>
            <a:endParaRPr lang="en-US" sz="14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1179528"/>
              </p:ext>
            </p:extLst>
          </p:nvPr>
        </p:nvGraphicFramePr>
        <p:xfrm>
          <a:off x="548640" y="1920240"/>
          <a:ext cx="11094415" cy="297180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656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F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to draw / ask the class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F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Starting tree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Draw the same tree from the search demo.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INSERT(root, 11, I)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 &lt; 13, go left to 5. 11 &gt; 5, go right to 8. 11 &gt; 8, and 8 has no right child — stop here.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 becomes the right child of 8. 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 an inorder traversal of the new tree out loud — it should still come out sorted.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10728655" y="654710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Text 37">
            <a:extLst>
              <a:ext uri="{FF2B5EF4-FFF2-40B4-BE49-F238E27FC236}">
                <a16:creationId xmlns:a16="http://schemas.microsoft.com/office/drawing/2014/main" id="{B06E4BAD-EB9C-5522-4B49-4DCB5382FEBB}"/>
              </a:ext>
            </a:extLst>
          </p:cNvPr>
          <p:cNvSpPr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383 Algorithms Design and Analysis  ·  Binary Search Trees  ·  Tanwistha Saha 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BUILDING BLOCKS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Minimum, maximum, and successor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61872"/>
            <a:ext cx="1109441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quick helpers — the last one is exactly what delete needs next.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438912" cy="438912"/>
          </a:xfrm>
          <a:prstGeom prst="ellipse">
            <a:avLst/>
          </a:prstGeom>
          <a:solidFill>
            <a:srgbClr val="ED7D3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196596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15568" y="1911096"/>
            <a:ext cx="5559552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/ maximum: walk to the edge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15568" y="2221992"/>
            <a:ext cx="555955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 left as far as you can for the minimum, right as far as you can for the maximum — both O(h), no comparisons needed.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154680"/>
            <a:ext cx="438912" cy="438912"/>
          </a:xfrm>
          <a:prstGeom prst="ellipse">
            <a:avLst/>
          </a:prstGeom>
          <a:solidFill>
            <a:srgbClr val="ED7D3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48640" y="315468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15568" y="3099816"/>
            <a:ext cx="5559552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Successor, if a right subtree exists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115568" y="3410712"/>
            <a:ext cx="555955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the MINIMUM of that right subtree. Example: successor(5) — 5's right subtree is {8, 7} — minimum is 7.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4343400"/>
            <a:ext cx="438912" cy="438912"/>
          </a:xfrm>
          <a:prstGeom prst="ellipse">
            <a:avLst/>
          </a:prstGeom>
          <a:solidFill>
            <a:srgbClr val="ED7D3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48640" y="434340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115568" y="4288536"/>
            <a:ext cx="5559552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Successor, if right subtree doesn’t exist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115568" y="4599432"/>
            <a:ext cx="555955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 up until you move from a LEFT child to a RIGHT child's parent. Example: successor(8) — 8 is the right child of 5; 5 is the left child of 13 — stop, successor is 13.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 flipH="1">
            <a:off x="8366760" y="2167128"/>
            <a:ext cx="1271016" cy="287945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 flipH="1">
            <a:off x="7589520" y="2944368"/>
            <a:ext cx="512064" cy="242225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101584" y="2944368"/>
            <a:ext cx="886960" cy="303215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 flipH="1">
            <a:off x="8631936" y="3721608"/>
            <a:ext cx="493776" cy="266182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9637776" y="2167128"/>
            <a:ext cx="1024128" cy="259232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 flipH="1">
            <a:off x="10168128" y="2944367"/>
            <a:ext cx="493776" cy="285933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10661904" y="2944368"/>
            <a:ext cx="530344" cy="303215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9390888" y="1673352"/>
            <a:ext cx="493776" cy="493776"/>
          </a:xfrm>
          <a:prstGeom prst="ellipse">
            <a:avLst/>
          </a:prstGeom>
          <a:solidFill>
            <a:srgbClr val="333F50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9390888" y="1693103"/>
            <a:ext cx="493776" cy="2592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9390888" y="1939991"/>
            <a:ext cx="493776" cy="20985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CB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854696" y="2450592"/>
            <a:ext cx="493776" cy="493776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7854696" y="2470343"/>
            <a:ext cx="493776" cy="2592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7854696" y="2717231"/>
            <a:ext cx="493776" cy="20985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269480" y="3172968"/>
            <a:ext cx="493776" cy="493776"/>
          </a:xfrm>
          <a:prstGeom prst="ellipse">
            <a:avLst/>
          </a:prstGeom>
          <a:solidFill>
            <a:srgbClr val="ED7D3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7342632" y="3247583"/>
            <a:ext cx="493776" cy="2592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7342632" y="3494471"/>
            <a:ext cx="493776" cy="20985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FC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8878824" y="3227832"/>
            <a:ext cx="493776" cy="493776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8878824" y="3247583"/>
            <a:ext cx="493776" cy="2592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8878824" y="3494471"/>
            <a:ext cx="493776" cy="20985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8366760" y="4005072"/>
            <a:ext cx="493776" cy="493776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8366760" y="4024823"/>
            <a:ext cx="493776" cy="2592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8366760" y="4271711"/>
            <a:ext cx="493776" cy="20985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10415016" y="2450592"/>
            <a:ext cx="493776" cy="493776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10415016" y="2470343"/>
            <a:ext cx="493776" cy="2592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10415016" y="2717231"/>
            <a:ext cx="493776" cy="20985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9902952" y="3227832"/>
            <a:ext cx="493776" cy="493776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9902952" y="3247583"/>
            <a:ext cx="493776" cy="2592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9902952" y="3494471"/>
            <a:ext cx="493776" cy="20985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10927080" y="3227832"/>
            <a:ext cx="493776" cy="493776"/>
          </a:xfrm>
          <a:prstGeom prst="ellipse">
            <a:avLst/>
          </a:prstGeom>
          <a:solidFill>
            <a:srgbClr val="ED7D3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10927080" y="3247583"/>
            <a:ext cx="493776" cy="2592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10927080" y="3494471"/>
            <a:ext cx="493776" cy="20985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FC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223760" y="45720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= 2 (leftmost)   max = 25 (rightmost)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0728655" y="654710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51" name="Text 37">
            <a:extLst>
              <a:ext uri="{FF2B5EF4-FFF2-40B4-BE49-F238E27FC236}">
                <a16:creationId xmlns:a16="http://schemas.microsoft.com/office/drawing/2014/main" id="{7C0828A4-9BBA-AC16-A9AA-8BD1B14C729F}"/>
              </a:ext>
            </a:extLst>
          </p:cNvPr>
          <p:cNvSpPr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383 Algorithms Design and Analysis  ·  Binary Search Trees  ·  Tanwistha Saha 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10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BUILDING BLOCKS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and maximum: pseudocode</a:t>
            </a:r>
            <a:endParaRPr lang="en-US" sz="3200"/>
          </a:p>
        </p:txBody>
      </p:sp>
      <p:sp>
        <p:nvSpPr>
          <p:cNvPr id="4" name="Text 2"/>
          <p:cNvSpPr/>
          <p:nvPr/>
        </p:nvSpPr>
        <p:spPr>
          <a:xfrm>
            <a:off x="548640" y="1261872"/>
            <a:ext cx="1109441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5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one edge repeatedly: left for minimum, right for maximum. Both take O(h) time and O(1) extra space.</a:t>
            </a:r>
            <a:endParaRPr lang="en-US" sz="1450"/>
          </a:p>
        </p:txBody>
      </p:sp>
      <p:sp>
        <p:nvSpPr>
          <p:cNvPr id="5" name="Shape 3"/>
          <p:cNvSpPr/>
          <p:nvPr/>
        </p:nvSpPr>
        <p:spPr>
          <a:xfrm>
            <a:off x="548640" y="1874519"/>
            <a:ext cx="5376672" cy="3822191"/>
          </a:xfrm>
          <a:prstGeom prst="roundRect">
            <a:avLst>
              <a:gd name="adj" fmla="val 1818"/>
            </a:avLst>
          </a:prstGeom>
          <a:solidFill>
            <a:srgbClr val="F5F5F5"/>
          </a:solidFill>
          <a:ln w="9525">
            <a:solidFill>
              <a:srgbClr val="E3E3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77240" y="2057400"/>
            <a:ext cx="4919472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sz="1350" b="1">
                <a:solidFill>
                  <a:srgbClr val="333F50"/>
                </a:solidFill>
                <a:latin typeface="Courier New"/>
              </a:rPr>
              <a:t>MINIMUM(node):</a:t>
            </a:r>
            <a:endParaRPr lang="en-US" sz="1350"/>
          </a:p>
          <a:p>
            <a:r>
              <a:rPr sz="1350" b="0">
                <a:solidFill>
                  <a:srgbClr val="333F50"/>
                </a:solidFill>
                <a:latin typeface="Courier New"/>
              </a:rPr>
              <a:t>    if node = NIL:</a:t>
            </a:r>
          </a:p>
          <a:p>
            <a:r>
              <a:rPr sz="1350" b="0">
                <a:solidFill>
                  <a:srgbClr val="333F50"/>
                </a:solidFill>
                <a:latin typeface="Courier New"/>
              </a:rPr>
              <a:t>        return NIL</a:t>
            </a:r>
          </a:p>
          <a:p>
            <a:r>
              <a:rPr sz="1350" b="0">
                <a:solidFill>
                  <a:srgbClr val="333F50"/>
                </a:solidFill>
                <a:latin typeface="Courier New"/>
              </a:rPr>
              <a:t>    while node.left != NIL:</a:t>
            </a:r>
          </a:p>
          <a:p>
            <a:r>
              <a:rPr sz="1350" b="0">
                <a:solidFill>
                  <a:srgbClr val="333F50"/>
                </a:solidFill>
                <a:latin typeface="Courier New"/>
              </a:rPr>
              <a:t>        node = node.left</a:t>
            </a:r>
          </a:p>
          <a:p>
            <a:r>
              <a:rPr sz="1350" b="0">
                <a:solidFill>
                  <a:srgbClr val="333F50"/>
                </a:solidFill>
                <a:latin typeface="Courier New"/>
              </a:rPr>
              <a:t>    return node</a:t>
            </a:r>
          </a:p>
        </p:txBody>
      </p:sp>
      <p:sp>
        <p:nvSpPr>
          <p:cNvPr id="7" name="Shape 5"/>
          <p:cNvSpPr/>
          <p:nvPr/>
        </p:nvSpPr>
        <p:spPr>
          <a:xfrm>
            <a:off x="6263640" y="1874519"/>
            <a:ext cx="5376672" cy="3822191"/>
          </a:xfrm>
          <a:prstGeom prst="roundRect">
            <a:avLst>
              <a:gd name="adj" fmla="val 1818"/>
            </a:avLst>
          </a:prstGeom>
          <a:solidFill>
            <a:srgbClr val="F5F5F5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92240" y="2057400"/>
            <a:ext cx="4919472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sz="1350" b="1">
                <a:solidFill>
                  <a:srgbClr val="333F50"/>
                </a:solidFill>
                <a:latin typeface="Courier New"/>
              </a:rPr>
              <a:t>MAXIMUM(node):</a:t>
            </a:r>
            <a:endParaRPr lang="en-US" sz="1300"/>
          </a:p>
          <a:p>
            <a:r>
              <a:rPr sz="1350" b="0">
                <a:solidFill>
                  <a:srgbClr val="333F50"/>
                </a:solidFill>
                <a:latin typeface="Courier New"/>
              </a:rPr>
              <a:t>    if node = NIL:</a:t>
            </a:r>
          </a:p>
          <a:p>
            <a:r>
              <a:rPr sz="1350" b="0">
                <a:solidFill>
                  <a:srgbClr val="333F50"/>
                </a:solidFill>
                <a:latin typeface="Courier New"/>
              </a:rPr>
              <a:t>        return NIL</a:t>
            </a:r>
          </a:p>
          <a:p>
            <a:r>
              <a:rPr sz="1350" b="0">
                <a:solidFill>
                  <a:srgbClr val="333F50"/>
                </a:solidFill>
                <a:latin typeface="Courier New"/>
              </a:rPr>
              <a:t>    while node.right != NIL:</a:t>
            </a:r>
          </a:p>
          <a:p>
            <a:r>
              <a:rPr sz="1350" b="0">
                <a:solidFill>
                  <a:srgbClr val="333F50"/>
                </a:solidFill>
                <a:latin typeface="Courier New"/>
              </a:rPr>
              <a:t>        node = node.right</a:t>
            </a:r>
          </a:p>
          <a:p>
            <a:r>
              <a:rPr sz="1350" b="0">
                <a:solidFill>
                  <a:srgbClr val="333F50"/>
                </a:solidFill>
                <a:latin typeface="Courier New"/>
              </a:rPr>
              <a:t>    return node</a:t>
            </a:r>
          </a:p>
        </p:txBody>
      </p:sp>
      <p:sp>
        <p:nvSpPr>
          <p:cNvPr id="10" name="Text 8"/>
          <p:cNvSpPr/>
          <p:nvPr/>
        </p:nvSpPr>
        <p:spPr>
          <a:xfrm>
            <a:off x="10728655" y="654710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/>
          </a:p>
        </p:txBody>
      </p:sp>
      <p:sp>
        <p:nvSpPr>
          <p:cNvPr id="11" name="Text 37">
            <a:extLst>
              <a:ext uri="{FF2B5EF4-FFF2-40B4-BE49-F238E27FC236}">
                <a16:creationId xmlns:a16="http://schemas.microsoft.com/office/drawing/2014/main" id="{5540E56E-D42B-FD99-9701-64BEF48DFF71}"/>
              </a:ext>
            </a:extLst>
          </p:cNvPr>
          <p:cNvSpPr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383 Algorithms Design and Analysis  ·  Binary Search Trees  ·  Tanwistha Saha </a:t>
            </a:r>
            <a:endParaRPr lang="en-US" sz="1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10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BUILDING BLOCKS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Successor: pseudocode</a:t>
            </a:r>
            <a:endParaRPr lang="en-US" sz="3200"/>
          </a:p>
        </p:txBody>
      </p:sp>
      <p:sp>
        <p:nvSpPr>
          <p:cNvPr id="4" name="Text 2"/>
          <p:cNvSpPr/>
          <p:nvPr/>
        </p:nvSpPr>
        <p:spPr>
          <a:xfrm>
            <a:off x="548640" y="1261872"/>
            <a:ext cx="1109441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5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right subtree when it exists; otherwise, walk up through parent links.</a:t>
            </a:r>
            <a:endParaRPr lang="en-US" sz="145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6309360" cy="2103120"/>
          </a:xfrm>
          <a:prstGeom prst="roundRect">
            <a:avLst>
              <a:gd name="adj" fmla="val 2609"/>
            </a:avLst>
          </a:prstGeom>
          <a:solidFill>
            <a:srgbClr val="F5F5F5"/>
          </a:solidFill>
          <a:ln w="9525">
            <a:solidFill>
              <a:srgbClr val="E3E3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49808" y="2020824"/>
            <a:ext cx="5907024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350" b="1">
                <a:solidFill>
                  <a:srgbClr val="333F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SUCCESSOR(node):
    if node.right != NIL:
        return MINIMUM(node.right)
    parent = node.parent
    while parent != NIL and node = parent.right:
        node = parent
        parent = parent.parent
    return parent</a:t>
            </a:r>
            <a:endParaRPr lang="en-US" sz="1350"/>
          </a:p>
        </p:txBody>
      </p:sp>
      <p:sp>
        <p:nvSpPr>
          <p:cNvPr id="7" name="Shape 5"/>
          <p:cNvSpPr/>
          <p:nvPr/>
        </p:nvSpPr>
        <p:spPr>
          <a:xfrm>
            <a:off x="7086600" y="1874520"/>
            <a:ext cx="457200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269480" y="19659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per step</a:t>
            </a:r>
            <a:endParaRPr lang="en-US" sz="1350"/>
          </a:p>
        </p:txBody>
      </p:sp>
      <p:sp>
        <p:nvSpPr>
          <p:cNvPr id="9" name="Text 7"/>
          <p:cNvSpPr/>
          <p:nvPr/>
        </p:nvSpPr>
        <p:spPr>
          <a:xfrm>
            <a:off x="7269480" y="2258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link followed</a:t>
            </a:r>
            <a:endParaRPr lang="en-US" sz="1150"/>
          </a:p>
        </p:txBody>
      </p:sp>
      <p:sp>
        <p:nvSpPr>
          <p:cNvPr id="10" name="Text 8"/>
          <p:cNvSpPr/>
          <p:nvPr/>
        </p:nvSpPr>
        <p:spPr>
          <a:xfrm>
            <a:off x="9921240" y="1874520"/>
            <a:ext cx="1554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700" b="1">
                <a:solidFill>
                  <a:srgbClr val="4472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O(1)</a:t>
            </a:r>
            <a:endParaRPr lang="en-US" sz="1700"/>
          </a:p>
        </p:txBody>
      </p:sp>
      <p:sp>
        <p:nvSpPr>
          <p:cNvPr id="11" name="Shape 9"/>
          <p:cNvSpPr/>
          <p:nvPr/>
        </p:nvSpPr>
        <p:spPr>
          <a:xfrm>
            <a:off x="7086600" y="2926080"/>
            <a:ext cx="457200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269480" y="3017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Nodes visited</a:t>
            </a:r>
            <a:endParaRPr lang="en-US" sz="1350"/>
          </a:p>
        </p:txBody>
      </p:sp>
      <p:sp>
        <p:nvSpPr>
          <p:cNvPr id="13" name="Text 11"/>
          <p:cNvSpPr/>
          <p:nvPr/>
        </p:nvSpPr>
        <p:spPr>
          <a:xfrm>
            <a:off x="7269480" y="331012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downward or upward path</a:t>
            </a:r>
            <a:endParaRPr lang="en-US" sz="1150"/>
          </a:p>
        </p:txBody>
      </p:sp>
      <p:sp>
        <p:nvSpPr>
          <p:cNvPr id="14" name="Text 12"/>
          <p:cNvSpPr/>
          <p:nvPr/>
        </p:nvSpPr>
        <p:spPr>
          <a:xfrm>
            <a:off x="9921240" y="2926080"/>
            <a:ext cx="1554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700" b="1">
                <a:solidFill>
                  <a:srgbClr val="4472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O(h)</a:t>
            </a:r>
            <a:endParaRPr lang="en-US" sz="1700"/>
          </a:p>
        </p:txBody>
      </p:sp>
      <p:sp>
        <p:nvSpPr>
          <p:cNvPr id="15" name="Shape 13"/>
          <p:cNvSpPr/>
          <p:nvPr/>
        </p:nvSpPr>
        <p:spPr>
          <a:xfrm>
            <a:off x="7086600" y="3977640"/>
            <a:ext cx="457200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269480" y="40690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</a:t>
            </a:r>
            <a:endParaRPr lang="en-US" sz="1350"/>
          </a:p>
        </p:txBody>
      </p:sp>
      <p:sp>
        <p:nvSpPr>
          <p:cNvPr id="17" name="Text 15"/>
          <p:cNvSpPr/>
          <p:nvPr/>
        </p:nvSpPr>
        <p:spPr>
          <a:xfrm>
            <a:off x="7269480" y="43616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O(1) · O(h) nodes</a:t>
            </a:r>
            <a:endParaRPr lang="en-US" sz="1150"/>
          </a:p>
        </p:txBody>
      </p:sp>
      <p:sp>
        <p:nvSpPr>
          <p:cNvPr id="18" name="Text 16"/>
          <p:cNvSpPr/>
          <p:nvPr/>
        </p:nvSpPr>
        <p:spPr>
          <a:xfrm>
            <a:off x="9921240" y="3977640"/>
            <a:ext cx="1554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700" b="1">
                <a:solidFill>
                  <a:srgbClr val="ED7D3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O(h)</a:t>
            </a:r>
            <a:endParaRPr lang="en-US" sz="1700"/>
          </a:p>
        </p:txBody>
      </p:sp>
      <p:sp>
        <p:nvSpPr>
          <p:cNvPr id="19" name="Shape 17"/>
          <p:cNvSpPr/>
          <p:nvPr/>
        </p:nvSpPr>
        <p:spPr>
          <a:xfrm>
            <a:off x="548640" y="4206240"/>
            <a:ext cx="6309360" cy="1280160"/>
          </a:xfrm>
          <a:prstGeom prst="roundRect">
            <a:avLst>
              <a:gd name="adj" fmla="val 4286"/>
            </a:avLst>
          </a:prstGeom>
          <a:solidFill>
            <a:srgbClr val="F5F5F5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77240" y="4206240"/>
            <a:ext cx="5852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cases, one result: go right then all the way left, or climb until the current node is a LEFT child. If no such ancestor exists, the node is the maximum and its successor is NIL.</a:t>
            </a:r>
            <a:endParaRPr lang="en-US" sz="1250"/>
          </a:p>
        </p:txBody>
      </p:sp>
      <p:sp>
        <p:nvSpPr>
          <p:cNvPr id="22" name="Text 20"/>
          <p:cNvSpPr/>
          <p:nvPr/>
        </p:nvSpPr>
        <p:spPr>
          <a:xfrm>
            <a:off x="10728655" y="654710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/>
          </a:p>
        </p:txBody>
      </p:sp>
      <p:sp>
        <p:nvSpPr>
          <p:cNvPr id="23" name="Text 37">
            <a:extLst>
              <a:ext uri="{FF2B5EF4-FFF2-40B4-BE49-F238E27FC236}">
                <a16:creationId xmlns:a16="http://schemas.microsoft.com/office/drawing/2014/main" id="{04120ED8-688F-E5C9-1F69-7FD9C83C321E}"/>
              </a:ext>
            </a:extLst>
          </p:cNvPr>
          <p:cNvSpPr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383 Algorithms Design and Analysis  ·  Binary Search Trees  ·  Tanwistha Saha </a:t>
            </a:r>
            <a:endParaRPr lang="en-US" sz="1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Delete: three cases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61872"/>
            <a:ext cx="1109441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Removing a node is easy — unless it has two children.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438912" cy="438912"/>
          </a:xfrm>
          <a:prstGeom prst="ellipse">
            <a:avLst/>
          </a:prstGeom>
          <a:solidFill>
            <a:srgbClr val="ED7D3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201168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15568" y="1956816"/>
            <a:ext cx="5468112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 (no children)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15568" y="2267712"/>
            <a:ext cx="546811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remove it. Nothing else to patch up.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880360"/>
            <a:ext cx="438912" cy="438912"/>
          </a:xfrm>
          <a:prstGeom prst="ellipse">
            <a:avLst/>
          </a:prstGeom>
          <a:solidFill>
            <a:srgbClr val="ED7D3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48640" y="288036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15568" y="2825496"/>
            <a:ext cx="5468112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child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115568" y="3136392"/>
            <a:ext cx="546811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Splice it out — the child takes the deleted node's place directly.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749040"/>
            <a:ext cx="438912" cy="438912"/>
          </a:xfrm>
          <a:prstGeom prst="ellipse">
            <a:avLst/>
          </a:prstGeom>
          <a:solidFill>
            <a:srgbClr val="ED7D3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48640" y="374904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115568" y="3694176"/>
            <a:ext cx="5468112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children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115568" y="4005072"/>
            <a:ext cx="5468112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Can't just remove it — which child would take over? Instead: copy in its SUCCESSOR's key, then delete the successor (which always falls into case 1 or 2).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 flipH="1">
            <a:off x="8366760" y="2167128"/>
            <a:ext cx="1271016" cy="365760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 flipH="1">
            <a:off x="7360919" y="2944368"/>
            <a:ext cx="740665" cy="374904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101584" y="2944368"/>
            <a:ext cx="899537" cy="419161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 flipH="1">
            <a:off x="8595360" y="3721608"/>
            <a:ext cx="530352" cy="320040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9637776" y="2167128"/>
            <a:ext cx="1024128" cy="329184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 flipH="1">
            <a:off x="10168128" y="2944368"/>
            <a:ext cx="493776" cy="237744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10661904" y="2944368"/>
            <a:ext cx="493776" cy="201168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9390888" y="1673352"/>
            <a:ext cx="493776" cy="493776"/>
          </a:xfrm>
          <a:prstGeom prst="ellipse">
            <a:avLst/>
          </a:prstGeom>
          <a:solidFill>
            <a:srgbClr val="333F50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9390888" y="1693103"/>
            <a:ext cx="493776" cy="2592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9390888" y="1939991"/>
            <a:ext cx="493776" cy="20985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CB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854696" y="2450592"/>
            <a:ext cx="493776" cy="493776"/>
          </a:xfrm>
          <a:prstGeom prst="ellipse">
            <a:avLst/>
          </a:prstGeom>
          <a:solidFill>
            <a:srgbClr val="ED7D3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7854696" y="2470343"/>
            <a:ext cx="493776" cy="2592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7854696" y="2717231"/>
            <a:ext cx="493776" cy="20985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FC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342632" y="3227832"/>
            <a:ext cx="493776" cy="493776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7342632" y="3247583"/>
            <a:ext cx="493776" cy="2592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7342632" y="3494471"/>
            <a:ext cx="493776" cy="20985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8878824" y="3227832"/>
            <a:ext cx="493776" cy="493776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8878824" y="3247583"/>
            <a:ext cx="493776" cy="2592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8878824" y="3494471"/>
            <a:ext cx="493776" cy="20985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8366760" y="4005072"/>
            <a:ext cx="493776" cy="493776"/>
          </a:xfrm>
          <a:prstGeom prst="ellipse">
            <a:avLst/>
          </a:prstGeom>
          <a:solidFill>
            <a:srgbClr val="ED7D3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8366760" y="4024823"/>
            <a:ext cx="493776" cy="2592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8366760" y="4271711"/>
            <a:ext cx="493776" cy="20985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FC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10415016" y="2450592"/>
            <a:ext cx="493776" cy="493776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10415016" y="2470343"/>
            <a:ext cx="493776" cy="2592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10415016" y="2717231"/>
            <a:ext cx="493776" cy="20985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9902952" y="3227832"/>
            <a:ext cx="493776" cy="493776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9902952" y="3247583"/>
            <a:ext cx="493776" cy="2592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9902952" y="3494471"/>
            <a:ext cx="493776" cy="20985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10927080" y="3227832"/>
            <a:ext cx="493776" cy="493776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10927080" y="3247583"/>
            <a:ext cx="493776" cy="2592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10927080" y="3494471"/>
            <a:ext cx="493776" cy="20985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040880" y="457200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Deleting 5 (two children): copy in successor 7,</a:t>
            </a:r>
            <a:endParaRPr lang="en-US" sz="105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delete the old 7 (a leaf)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10728655" y="654710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51" name="Text 37">
            <a:extLst>
              <a:ext uri="{FF2B5EF4-FFF2-40B4-BE49-F238E27FC236}">
                <a16:creationId xmlns:a16="http://schemas.microsoft.com/office/drawing/2014/main" id="{058B8DC9-2CA6-671F-C8CE-40C4EAE8AB05}"/>
              </a:ext>
            </a:extLst>
          </p:cNvPr>
          <p:cNvSpPr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383 Algorithms Design and Analysis  ·  Binary Search Trees  ·  Tanwistha Saha 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Delete: pseudocode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61872"/>
            <a:ext cx="1109441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cases, in one recursive function.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1874519"/>
            <a:ext cx="6309360" cy="3826193"/>
          </a:xfrm>
          <a:prstGeom prst="roundRect">
            <a:avLst>
              <a:gd name="adj" fmla="val 1818"/>
            </a:avLst>
          </a:prstGeom>
          <a:solidFill>
            <a:srgbClr val="F5F5F5"/>
          </a:solidFill>
          <a:ln w="9525">
            <a:solidFill>
              <a:srgbClr val="E3E3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49808" y="2020824"/>
            <a:ext cx="5907024" cy="3575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333F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DELETE(node, key):
</a:t>
            </a:r>
            <a:r>
              <a:rPr lang="en-US" sz="1350" dirty="0">
                <a:solidFill>
                  <a:srgbClr val="333F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node = NIL: return NIL
    if key &lt; node.key:
        node.left = DELETE(node.left, key)
    elif key &gt; node.key:
        node.right = DELETE(node.right, key)
    else:
        if node.left = NIL: return node.right
        if node.right = NIL: return node.left
        succ = MINIMUM(node.right)
        node.key, node.val = succ.key, succ.val
        node.right = DELETE(node.right, succ.key)
    return node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7086600" y="1874520"/>
            <a:ext cx="4572000" cy="3826192"/>
          </a:xfrm>
          <a:prstGeom prst="roundRect">
            <a:avLst>
              <a:gd name="adj" fmla="val 1818"/>
            </a:avLst>
          </a:prstGeom>
          <a:solidFill>
            <a:srgbClr val="F5F5F5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315200" y="1874520"/>
            <a:ext cx="411480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branch costs at most O(h): the search down to the node, MINIMUM's walk down the right subtree, and the recursive delete of the successor are each a single root-to-leaf-ish path.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728655" y="654710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11" name="Text 37">
            <a:extLst>
              <a:ext uri="{FF2B5EF4-FFF2-40B4-BE49-F238E27FC236}">
                <a16:creationId xmlns:a16="http://schemas.microsoft.com/office/drawing/2014/main" id="{5540E56E-D42B-FD99-9701-64BEF48DFF71}"/>
              </a:ext>
            </a:extLst>
          </p:cNvPr>
          <p:cNvSpPr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383 Algorithms Design and Analysis  ·  Binary Search Trees  ·  Tanwistha Saha 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ON THE BOARD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demo: trace delete by hand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61872"/>
            <a:ext cx="1109441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two-children case — the one worth slowing down for.</a:t>
            </a:r>
            <a:endParaRPr lang="en-US" sz="14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4415" cy="3401568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656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F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to draw / ask the class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F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DELETE(root, 5)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 node 5. It has TWO children (2, and the 8/7 subtree) — this is case 3.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 successor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MINIMUM(5's right subtree) — walk left from 8: 8 has a left child 7, 7 has no left child. Successor = (7, C).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Copy 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Overwrite node 5's key/value with (7, C) — the node that used to say “5, B” now says “7, C.”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Delete the old successor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Recursively DELETE(7) from its original spot — it's a leaf, so it's just removed.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 tree: 13 root; left = 7(C) with children 2(A), 8(D); right unchanged (20,17,25). Inorder traversal should still be sorted.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10728655" y="654710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5" name="Text 37">
            <a:extLst>
              <a:ext uri="{FF2B5EF4-FFF2-40B4-BE49-F238E27FC236}">
                <a16:creationId xmlns:a16="http://schemas.microsoft.com/office/drawing/2014/main" id="{B0CB56AD-EDD3-33D3-B1A3-30CC3124F508}"/>
              </a:ext>
            </a:extLst>
          </p:cNvPr>
          <p:cNvSpPr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383 Algorithms Design and Analysis  ·  Binary Search Trees  ·  Tanwistha Saha 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TRAVERSAL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traversals, one tree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61872"/>
            <a:ext cx="1109441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5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tree traversal visits every node once; </a:t>
            </a:r>
            <a:r>
              <a:rPr lang="en-US" sz="14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order </a:t>
            </a:r>
            <a:r>
              <a:rPr lang="en-US" sz="145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tells us when to process the node relative to its children</a:t>
            </a:r>
            <a:r>
              <a:rPr lang="en-US" sz="14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94415" cy="219456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936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traversal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F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F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typical use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F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 on our tree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F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Inorder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left, node, right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 out sorted keys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2,5,7,8,13,17,20,25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Preorder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node, left, right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copy / serialize a tree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13,5,2,8,7,20,17,25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Postorder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left, right, node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delete a tree safely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2,7,8,5,17,25,20,13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206240"/>
            <a:ext cx="11094415" cy="1005840"/>
          </a:xfrm>
          <a:prstGeom prst="roundRect">
            <a:avLst>
              <a:gd name="adj" fmla="val 5455"/>
            </a:avLst>
          </a:prstGeom>
          <a:solidFill>
            <a:srgbClr val="F5F5F5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777240" y="4206240"/>
            <a:ext cx="1063721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Postorder deletes children before the node itself — the only order where you're guaranteed not to orphan a subtree you still need. Preorder visits the root first — handy for rebuilding the same tree shape elsewhere.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10728655" y="654710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Text 37">
            <a:extLst>
              <a:ext uri="{FF2B5EF4-FFF2-40B4-BE49-F238E27FC236}">
                <a16:creationId xmlns:a16="http://schemas.microsoft.com/office/drawing/2014/main" id="{57B8BE5C-29F7-1E65-E43A-3B73719A426C}"/>
              </a:ext>
            </a:extLst>
          </p:cNvPr>
          <p:cNvSpPr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383 Algorithms Design and Analysis  ·  Binary Search Trees  ·  Tanwistha Saha 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TRAVERSAL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Inorder traversal: read the tree back out, sorted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61872"/>
            <a:ext cx="1109441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single biggest payoff of the BST property.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438912" cy="438912"/>
          </a:xfrm>
          <a:prstGeom prst="ellipse">
            <a:avLst/>
          </a:prstGeom>
          <a:solidFill>
            <a:srgbClr val="ED7D3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201168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15568" y="1956816"/>
            <a:ext cx="5468112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rule: left, node, right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15568" y="2267712"/>
            <a:ext cx="546811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Recursively visit the left subtree, then the node itself, then the right subtree.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063240"/>
            <a:ext cx="438912" cy="438912"/>
          </a:xfrm>
          <a:prstGeom prst="ellipse">
            <a:avLst/>
          </a:prstGeom>
          <a:solidFill>
            <a:srgbClr val="ED7D3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48640" y="306324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15568" y="3008376"/>
            <a:ext cx="5468112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payoff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115568" y="3319272"/>
            <a:ext cx="546811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of the BST property, this ALWAYS visits every key in increasing order — no sorting step required.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4023360"/>
            <a:ext cx="6035040" cy="1097280"/>
          </a:xfrm>
          <a:prstGeom prst="roundRect">
            <a:avLst>
              <a:gd name="adj" fmla="val 5000"/>
            </a:avLst>
          </a:prstGeom>
          <a:solidFill>
            <a:srgbClr val="F5F5F5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77240" y="4023360"/>
            <a:ext cx="5577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why the same 8 numbers that gave us a clean binary heap two lectures ago also read out as a clean sorted sequence here — a BST and a sorted array are two different views of the same order.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 flipH="1">
            <a:off x="8366760" y="2167128"/>
            <a:ext cx="1271016" cy="355154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 flipH="1">
            <a:off x="7607807" y="2944368"/>
            <a:ext cx="493777" cy="259232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101585" y="2944367"/>
            <a:ext cx="777236" cy="303215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 flipH="1">
            <a:off x="8631936" y="3721608"/>
            <a:ext cx="493776" cy="259232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9637776" y="2167128"/>
            <a:ext cx="1024128" cy="283464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 flipH="1">
            <a:off x="10168128" y="2944368"/>
            <a:ext cx="493776" cy="259232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10661904" y="2944368"/>
            <a:ext cx="493776" cy="229606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9390888" y="1673352"/>
            <a:ext cx="493776" cy="493776"/>
          </a:xfrm>
          <a:prstGeom prst="ellipse">
            <a:avLst/>
          </a:prstGeom>
          <a:solidFill>
            <a:srgbClr val="333F50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9390888" y="1693103"/>
            <a:ext cx="493776" cy="2592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9390888" y="1939991"/>
            <a:ext cx="493776" cy="20985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CB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7854696" y="2450592"/>
            <a:ext cx="493776" cy="493776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7854696" y="2470343"/>
            <a:ext cx="493776" cy="2592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7854696" y="2717231"/>
            <a:ext cx="493776" cy="20985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342632" y="3227832"/>
            <a:ext cx="493776" cy="493776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7342632" y="3247583"/>
            <a:ext cx="493776" cy="2592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7342632" y="3494471"/>
            <a:ext cx="493776" cy="20985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8878824" y="3227832"/>
            <a:ext cx="493776" cy="493776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8878824" y="3247583"/>
            <a:ext cx="493776" cy="2592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8878824" y="3494471"/>
            <a:ext cx="493776" cy="20985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8366760" y="4005072"/>
            <a:ext cx="493776" cy="493776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8366760" y="4024823"/>
            <a:ext cx="493776" cy="2592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8366760" y="4271711"/>
            <a:ext cx="493776" cy="20985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10415016" y="2450592"/>
            <a:ext cx="493776" cy="493776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10415016" y="2470343"/>
            <a:ext cx="493776" cy="2592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10415016" y="2717231"/>
            <a:ext cx="493776" cy="20985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9902952" y="3227832"/>
            <a:ext cx="493776" cy="493776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9902952" y="3247583"/>
            <a:ext cx="493776" cy="2592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250" dirty="0"/>
          </a:p>
        </p:txBody>
      </p:sp>
      <p:sp>
        <p:nvSpPr>
          <p:cNvPr id="42" name="Text 40"/>
          <p:cNvSpPr/>
          <p:nvPr/>
        </p:nvSpPr>
        <p:spPr>
          <a:xfrm>
            <a:off x="9902952" y="3494471"/>
            <a:ext cx="493776" cy="20985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10927080" y="3227832"/>
            <a:ext cx="493776" cy="493776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10927080" y="3247583"/>
            <a:ext cx="493776" cy="2592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10927080" y="3494471"/>
            <a:ext cx="493776" cy="20985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7223760" y="45720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472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Inorder: 2, 5, 7, 8, 13, 17, 20, 25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10728655" y="654710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49" name="Text 37">
            <a:extLst>
              <a:ext uri="{FF2B5EF4-FFF2-40B4-BE49-F238E27FC236}">
                <a16:creationId xmlns:a16="http://schemas.microsoft.com/office/drawing/2014/main" id="{5FE14099-F0AA-DBEE-8620-98B891E0C31D}"/>
              </a:ext>
            </a:extLst>
          </p:cNvPr>
          <p:cNvSpPr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383 Algorithms Design and Analysis  ·  Binary Search Trees  ·  Tanwistha Saha 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10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TRAVERSAL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Inorder traversal: pseudocode</a:t>
            </a:r>
            <a:endParaRPr lang="en-US" sz="3200"/>
          </a:p>
        </p:txBody>
      </p:sp>
      <p:sp>
        <p:nvSpPr>
          <p:cNvPr id="4" name="Text 2"/>
          <p:cNvSpPr/>
          <p:nvPr/>
        </p:nvSpPr>
        <p:spPr>
          <a:xfrm>
            <a:off x="548640" y="1261872"/>
            <a:ext cx="1109441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5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visit happens between the left and right recursive calls.</a:t>
            </a:r>
            <a:endParaRPr lang="en-US" sz="145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6309360" cy="2103120"/>
          </a:xfrm>
          <a:prstGeom prst="roundRect">
            <a:avLst>
              <a:gd name="adj" fmla="val 2609"/>
            </a:avLst>
          </a:prstGeom>
          <a:solidFill>
            <a:srgbClr val="F5F5F5"/>
          </a:solidFill>
          <a:ln w="9525">
            <a:solidFill>
              <a:srgbClr val="E3E3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49808" y="2020824"/>
            <a:ext cx="5907024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350" b="1">
                <a:solidFill>
                  <a:srgbClr val="333F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INORDER(node):
    if node = NIL:
        return
    INORDER(node.left)
    VISIT(node.key, node.val)
    INORDER(node.right)</a:t>
            </a:r>
            <a:endParaRPr lang="en-US" sz="1350"/>
          </a:p>
        </p:txBody>
      </p:sp>
      <p:sp>
        <p:nvSpPr>
          <p:cNvPr id="7" name="Shape 5"/>
          <p:cNvSpPr/>
          <p:nvPr/>
        </p:nvSpPr>
        <p:spPr>
          <a:xfrm>
            <a:off x="7086600" y="1874520"/>
            <a:ext cx="457200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269480" y="19659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per node</a:t>
            </a:r>
            <a:endParaRPr lang="en-US" sz="1350"/>
          </a:p>
        </p:txBody>
      </p:sp>
      <p:sp>
        <p:nvSpPr>
          <p:cNvPr id="9" name="Text 7"/>
          <p:cNvSpPr/>
          <p:nvPr/>
        </p:nvSpPr>
        <p:spPr>
          <a:xfrm>
            <a:off x="7269480" y="2258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the node once</a:t>
            </a:r>
            <a:endParaRPr lang="en-US" sz="1150"/>
          </a:p>
        </p:txBody>
      </p:sp>
      <p:sp>
        <p:nvSpPr>
          <p:cNvPr id="10" name="Text 8"/>
          <p:cNvSpPr/>
          <p:nvPr/>
        </p:nvSpPr>
        <p:spPr>
          <a:xfrm>
            <a:off x="9921240" y="1874520"/>
            <a:ext cx="1554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700" b="1">
                <a:solidFill>
                  <a:srgbClr val="4472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O(1)</a:t>
            </a:r>
            <a:endParaRPr lang="en-US" sz="1700"/>
          </a:p>
        </p:txBody>
      </p:sp>
      <p:sp>
        <p:nvSpPr>
          <p:cNvPr id="11" name="Shape 9"/>
          <p:cNvSpPr/>
          <p:nvPr/>
        </p:nvSpPr>
        <p:spPr>
          <a:xfrm>
            <a:off x="7086600" y="2926080"/>
            <a:ext cx="457200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269480" y="3017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Nodes visited</a:t>
            </a:r>
            <a:endParaRPr lang="en-US" sz="1350"/>
          </a:p>
        </p:txBody>
      </p:sp>
      <p:sp>
        <p:nvSpPr>
          <p:cNvPr id="13" name="Text 11"/>
          <p:cNvSpPr/>
          <p:nvPr/>
        </p:nvSpPr>
        <p:spPr>
          <a:xfrm>
            <a:off x="7269480" y="331012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node exactly once</a:t>
            </a:r>
            <a:endParaRPr lang="en-US" sz="1150"/>
          </a:p>
        </p:txBody>
      </p:sp>
      <p:sp>
        <p:nvSpPr>
          <p:cNvPr id="14" name="Text 12"/>
          <p:cNvSpPr/>
          <p:nvPr/>
        </p:nvSpPr>
        <p:spPr>
          <a:xfrm>
            <a:off x="9921240" y="2926080"/>
            <a:ext cx="1554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700" b="1">
                <a:solidFill>
                  <a:srgbClr val="4472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1700"/>
          </a:p>
        </p:txBody>
      </p:sp>
      <p:sp>
        <p:nvSpPr>
          <p:cNvPr id="15" name="Shape 13"/>
          <p:cNvSpPr/>
          <p:nvPr/>
        </p:nvSpPr>
        <p:spPr>
          <a:xfrm>
            <a:off x="7086600" y="3977640"/>
            <a:ext cx="457200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269480" y="40690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time</a:t>
            </a:r>
            <a:endParaRPr lang="en-US" sz="1350"/>
          </a:p>
        </p:txBody>
      </p:sp>
      <p:sp>
        <p:nvSpPr>
          <p:cNvPr id="17" name="Text 15"/>
          <p:cNvSpPr/>
          <p:nvPr/>
        </p:nvSpPr>
        <p:spPr>
          <a:xfrm>
            <a:off x="7269480" y="43616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O(1) · n nodes</a:t>
            </a:r>
            <a:endParaRPr lang="en-US" sz="1150"/>
          </a:p>
        </p:txBody>
      </p:sp>
      <p:sp>
        <p:nvSpPr>
          <p:cNvPr id="18" name="Text 16"/>
          <p:cNvSpPr/>
          <p:nvPr/>
        </p:nvSpPr>
        <p:spPr>
          <a:xfrm>
            <a:off x="9921240" y="3977640"/>
            <a:ext cx="1554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700" b="1">
                <a:solidFill>
                  <a:srgbClr val="ED7D3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O(n)</a:t>
            </a:r>
            <a:endParaRPr lang="en-US" sz="1700"/>
          </a:p>
        </p:txBody>
      </p:sp>
      <p:sp>
        <p:nvSpPr>
          <p:cNvPr id="19" name="Shape 17"/>
          <p:cNvSpPr/>
          <p:nvPr/>
        </p:nvSpPr>
        <p:spPr>
          <a:xfrm>
            <a:off x="548640" y="4206240"/>
            <a:ext cx="6309360" cy="1280160"/>
          </a:xfrm>
          <a:prstGeom prst="roundRect">
            <a:avLst>
              <a:gd name="adj" fmla="val 4286"/>
            </a:avLst>
          </a:prstGeom>
          <a:solidFill>
            <a:srgbClr val="F5F5F5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77240" y="4206240"/>
            <a:ext cx="5852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recursive stack uses O(h) space: O(log n) when balanced, O(n) when skewed. VISIT sits between the two recursive calls — that left, node, right order is what produces sorted keys.</a:t>
            </a:r>
            <a:endParaRPr lang="en-US" sz="1250"/>
          </a:p>
        </p:txBody>
      </p:sp>
      <p:sp>
        <p:nvSpPr>
          <p:cNvPr id="22" name="Text 20"/>
          <p:cNvSpPr/>
          <p:nvPr/>
        </p:nvSpPr>
        <p:spPr>
          <a:xfrm>
            <a:off x="10728655" y="654710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/>
          </a:p>
        </p:txBody>
      </p:sp>
      <p:sp>
        <p:nvSpPr>
          <p:cNvPr id="23" name="Text 37">
            <a:extLst>
              <a:ext uri="{FF2B5EF4-FFF2-40B4-BE49-F238E27FC236}">
                <a16:creationId xmlns:a16="http://schemas.microsoft.com/office/drawing/2014/main" id="{04120ED8-688F-E5C9-1F69-7FD9C83C321E}"/>
              </a:ext>
            </a:extLst>
          </p:cNvPr>
          <p:cNvSpPr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383 Algorithms Design and Analysis  ·  Binary Search Trees  ·  Tanwistha Saha </a:t>
            </a:r>
            <a:endParaRPr lang="en-US" sz="100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10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TRAVERSAL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Preorder and postorder: pseudocode</a:t>
            </a:r>
            <a:endParaRPr lang="en-US" sz="3200"/>
          </a:p>
        </p:txBody>
      </p:sp>
      <p:sp>
        <p:nvSpPr>
          <p:cNvPr id="4" name="Text 2"/>
          <p:cNvSpPr/>
          <p:nvPr/>
        </p:nvSpPr>
        <p:spPr>
          <a:xfrm>
            <a:off x="548640" y="1261872"/>
            <a:ext cx="1109441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5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recursive skeleton; only VISIT moves. Both take O(n) time and O(h) stack space.</a:t>
            </a:r>
            <a:endParaRPr lang="en-US" sz="1450"/>
          </a:p>
        </p:txBody>
      </p:sp>
      <p:sp>
        <p:nvSpPr>
          <p:cNvPr id="5" name="Shape 3"/>
          <p:cNvSpPr/>
          <p:nvPr/>
        </p:nvSpPr>
        <p:spPr>
          <a:xfrm>
            <a:off x="548640" y="1874519"/>
            <a:ext cx="5376672" cy="3822191"/>
          </a:xfrm>
          <a:prstGeom prst="roundRect">
            <a:avLst>
              <a:gd name="adj" fmla="val 1818"/>
            </a:avLst>
          </a:prstGeom>
          <a:solidFill>
            <a:srgbClr val="F5F5F5"/>
          </a:solidFill>
          <a:ln w="9525">
            <a:solidFill>
              <a:srgbClr val="E3E3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77240" y="2057400"/>
            <a:ext cx="4919472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sz="1350" b="1">
                <a:solidFill>
                  <a:srgbClr val="333F50"/>
                </a:solidFill>
                <a:latin typeface="Courier New"/>
              </a:rPr>
              <a:t>PREORDER(node):</a:t>
            </a:r>
            <a:endParaRPr lang="en-US" sz="1350"/>
          </a:p>
          <a:p>
            <a:r>
              <a:rPr sz="1350" b="0">
                <a:solidFill>
                  <a:srgbClr val="333F50"/>
                </a:solidFill>
                <a:latin typeface="Courier New"/>
              </a:rPr>
              <a:t>    if node = NIL:</a:t>
            </a:r>
          </a:p>
          <a:p>
            <a:r>
              <a:rPr sz="1350" b="0">
                <a:solidFill>
                  <a:srgbClr val="333F50"/>
                </a:solidFill>
                <a:latin typeface="Courier New"/>
              </a:rPr>
              <a:t>        return</a:t>
            </a:r>
          </a:p>
          <a:p>
            <a:r>
              <a:rPr sz="1350" b="0">
                <a:solidFill>
                  <a:srgbClr val="333F50"/>
                </a:solidFill>
                <a:latin typeface="Courier New"/>
              </a:rPr>
              <a:t>    VISIT(node.key, node.val)</a:t>
            </a:r>
          </a:p>
          <a:p>
            <a:r>
              <a:rPr sz="1350" b="0">
                <a:solidFill>
                  <a:srgbClr val="333F50"/>
                </a:solidFill>
                <a:latin typeface="Courier New"/>
              </a:rPr>
              <a:t>    PREORDER(node.left)</a:t>
            </a:r>
          </a:p>
          <a:p>
            <a:r>
              <a:rPr sz="1350" b="0">
                <a:solidFill>
                  <a:srgbClr val="333F50"/>
                </a:solidFill>
                <a:latin typeface="Courier New"/>
              </a:rPr>
              <a:t>    PREORDER(node.right)</a:t>
            </a:r>
          </a:p>
        </p:txBody>
      </p:sp>
      <p:sp>
        <p:nvSpPr>
          <p:cNvPr id="7" name="Shape 5"/>
          <p:cNvSpPr/>
          <p:nvPr/>
        </p:nvSpPr>
        <p:spPr>
          <a:xfrm>
            <a:off x="6263640" y="1874519"/>
            <a:ext cx="5376672" cy="3822191"/>
          </a:xfrm>
          <a:prstGeom prst="roundRect">
            <a:avLst>
              <a:gd name="adj" fmla="val 1818"/>
            </a:avLst>
          </a:prstGeom>
          <a:solidFill>
            <a:srgbClr val="F5F5F5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92240" y="2057400"/>
            <a:ext cx="4919472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sz="1350" b="1">
                <a:solidFill>
                  <a:srgbClr val="333F50"/>
                </a:solidFill>
                <a:latin typeface="Courier New"/>
              </a:rPr>
              <a:t>POSTORDER(node):</a:t>
            </a:r>
            <a:endParaRPr lang="en-US" sz="1300"/>
          </a:p>
          <a:p>
            <a:r>
              <a:rPr sz="1350" b="0">
                <a:solidFill>
                  <a:srgbClr val="333F50"/>
                </a:solidFill>
                <a:latin typeface="Courier New"/>
              </a:rPr>
              <a:t>    if node = NIL:</a:t>
            </a:r>
          </a:p>
          <a:p>
            <a:r>
              <a:rPr sz="1350" b="0">
                <a:solidFill>
                  <a:srgbClr val="333F50"/>
                </a:solidFill>
                <a:latin typeface="Courier New"/>
              </a:rPr>
              <a:t>        return</a:t>
            </a:r>
          </a:p>
          <a:p>
            <a:r>
              <a:rPr sz="1350" b="0">
                <a:solidFill>
                  <a:srgbClr val="333F50"/>
                </a:solidFill>
                <a:latin typeface="Courier New"/>
              </a:rPr>
              <a:t>    POSTORDER(node.left)</a:t>
            </a:r>
          </a:p>
          <a:p>
            <a:r>
              <a:rPr sz="1350" b="0">
                <a:solidFill>
                  <a:srgbClr val="333F50"/>
                </a:solidFill>
                <a:latin typeface="Courier New"/>
              </a:rPr>
              <a:t>    POSTORDER(node.right)</a:t>
            </a:r>
          </a:p>
          <a:p>
            <a:r>
              <a:rPr sz="1350" b="0">
                <a:solidFill>
                  <a:srgbClr val="333F50"/>
                </a:solidFill>
                <a:latin typeface="Courier New"/>
              </a:rPr>
              <a:t>    VISIT(node.key, node.val)</a:t>
            </a:r>
          </a:p>
        </p:txBody>
      </p:sp>
      <p:sp>
        <p:nvSpPr>
          <p:cNvPr id="10" name="Text 8"/>
          <p:cNvSpPr/>
          <p:nvPr/>
        </p:nvSpPr>
        <p:spPr>
          <a:xfrm>
            <a:off x="10728655" y="654710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/>
          </a:p>
        </p:txBody>
      </p:sp>
      <p:sp>
        <p:nvSpPr>
          <p:cNvPr id="11" name="Text 37">
            <a:extLst>
              <a:ext uri="{FF2B5EF4-FFF2-40B4-BE49-F238E27FC236}">
                <a16:creationId xmlns:a16="http://schemas.microsoft.com/office/drawing/2014/main" id="{5540E56E-D42B-FD99-9701-64BEF48DFF71}"/>
              </a:ext>
            </a:extLst>
          </p:cNvPr>
          <p:cNvSpPr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383 Algorithms Design and Analysis  ·  Binary Search Trees  ·  Tanwistha Saha </a:t>
            </a:r>
            <a:endParaRPr lang="en-US" sz="10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BST operations: the complete picture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61872"/>
            <a:ext cx="1109441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today, in one table.</a:t>
            </a:r>
            <a:endParaRPr lang="en-US" sz="14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11094415" cy="3328416"/>
        </p:xfrm>
        <a:graphic>
          <a:graphicData uri="http://schemas.openxmlformats.org/drawingml/2006/table">
            <a:tbl>
              <a:tblPr/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138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F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F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F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search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root-to-leaf-ish path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insert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search that plants a node at the end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minimum / maximum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walk left / right to the edge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successor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subtree walk, or one walk up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delete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search + (sometimes) successor + delete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inorder traversal (whole tree)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must visit every node once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120640"/>
            <a:ext cx="11094415" cy="777240"/>
          </a:xfrm>
          <a:prstGeom prst="roundRect">
            <a:avLst>
              <a:gd name="adj" fmla="val 7059"/>
            </a:avLst>
          </a:prstGeom>
          <a:solidFill>
            <a:srgbClr val="F5F5F5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777240" y="5120640"/>
            <a:ext cx="1063721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= O(log n) if the tree is balanced, but O(n) in the worst case — that gap is the whole motivation for next class.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0728655" y="654710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5" name="Text 37">
            <a:extLst>
              <a:ext uri="{FF2B5EF4-FFF2-40B4-BE49-F238E27FC236}">
                <a16:creationId xmlns:a16="http://schemas.microsoft.com/office/drawing/2014/main" id="{C5643F9B-6321-050F-6779-6B10B98E57C2}"/>
              </a:ext>
            </a:extLst>
          </p:cNvPr>
          <p:cNvSpPr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383 Algorithms Design and Analysis  ·  Binary Search Trees  ·  Tanwistha Saha 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 CAVEAT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operation is O(h) — but h depends on HOW you built it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61872"/>
            <a:ext cx="1109441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8 keys. Two wildly different shapes.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 flipH="1">
            <a:off x="2670048" y="2304288"/>
            <a:ext cx="1700784" cy="384048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 flipH="1">
            <a:off x="2103120" y="3081528"/>
            <a:ext cx="566928" cy="347472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2670048" y="3081528"/>
            <a:ext cx="932678" cy="274320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 flipH="1">
            <a:off x="3337560" y="3858768"/>
            <a:ext cx="466344" cy="338328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370832" y="2304288"/>
            <a:ext cx="932688" cy="283464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 flipH="1">
            <a:off x="4937760" y="3081528"/>
            <a:ext cx="566928" cy="320040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5504688" y="3081528"/>
            <a:ext cx="530342" cy="274320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169664" y="1901952"/>
            <a:ext cx="402336" cy="402336"/>
          </a:xfrm>
          <a:prstGeom prst="ellipse">
            <a:avLst/>
          </a:prstGeom>
          <a:solidFill>
            <a:srgbClr val="333F50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169664" y="190195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468880" y="2679192"/>
            <a:ext cx="402336" cy="402336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2468880" y="267919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901952" y="3456432"/>
            <a:ext cx="402336" cy="402336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901952" y="345643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602736" y="3456432"/>
            <a:ext cx="402336" cy="402336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3602736" y="345643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035808" y="4233672"/>
            <a:ext cx="402336" cy="402336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035808" y="423367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303520" y="2679192"/>
            <a:ext cx="402336" cy="402336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303520" y="267919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736592" y="3456432"/>
            <a:ext cx="402336" cy="402336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736592" y="345643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870448" y="3456432"/>
            <a:ext cx="402336" cy="402336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870448" y="345643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22960" y="46177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insertion order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22960" y="48920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height = 3  (= ⌊log₂ 8⌋)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7589520" y="2112264"/>
            <a:ext cx="457200" cy="475488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8046720" y="2587752"/>
            <a:ext cx="457200" cy="475488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8503920" y="3063240"/>
            <a:ext cx="457200" cy="475488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8961120" y="3538728"/>
            <a:ext cx="457200" cy="475488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9418320" y="4014216"/>
            <a:ext cx="457200" cy="475488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9875520" y="4489704"/>
            <a:ext cx="457200" cy="475488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10332720" y="4965192"/>
            <a:ext cx="457200" cy="475488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7397496" y="1728216"/>
            <a:ext cx="384048" cy="384048"/>
          </a:xfrm>
          <a:prstGeom prst="ellipse">
            <a:avLst/>
          </a:prstGeom>
          <a:solidFill>
            <a:srgbClr val="333F50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7397496" y="172821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7854696" y="2203704"/>
            <a:ext cx="384048" cy="384048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7854696" y="220370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8311896" y="2679192"/>
            <a:ext cx="384048" cy="384048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8311896" y="267919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8769096" y="3154680"/>
            <a:ext cx="384048" cy="384048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8769096" y="31546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9226296" y="3630168"/>
            <a:ext cx="384048" cy="384048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9226296" y="363016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9683496" y="4105656"/>
            <a:ext cx="384048" cy="384048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9683496" y="410565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10140696" y="4581144"/>
            <a:ext cx="384048" cy="384048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10140696" y="458114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10597896" y="5056632"/>
            <a:ext cx="384048" cy="384048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10597896" y="505663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6309360" y="544068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D7D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Sorted-order insertion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6309360" y="571500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height = 7  (a straight chain)</a:t>
            </a:r>
            <a:endParaRPr lang="en-US" sz="1150" dirty="0"/>
          </a:p>
        </p:txBody>
      </p:sp>
      <p:sp>
        <p:nvSpPr>
          <p:cNvPr id="55" name="Shape 53"/>
          <p:cNvSpPr/>
          <p:nvPr/>
        </p:nvSpPr>
        <p:spPr>
          <a:xfrm>
            <a:off x="548640" y="6080760"/>
            <a:ext cx="11094415" cy="4572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Text 54"/>
          <p:cNvSpPr/>
          <p:nvPr/>
        </p:nvSpPr>
        <p:spPr>
          <a:xfrm>
            <a:off x="777240" y="6080760"/>
            <a:ext cx="106372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case, every BST operation is O(n), not O(log n) — a plain BST makes NO guarantee about its own shape.</a:t>
            </a:r>
            <a:endParaRPr lang="en-US" sz="1150" dirty="0"/>
          </a:p>
        </p:txBody>
      </p:sp>
      <p:sp>
        <p:nvSpPr>
          <p:cNvPr id="58" name="Text 56"/>
          <p:cNvSpPr/>
          <p:nvPr/>
        </p:nvSpPr>
        <p:spPr>
          <a:xfrm>
            <a:off x="10728655" y="654710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59" name="Text 37">
            <a:extLst>
              <a:ext uri="{FF2B5EF4-FFF2-40B4-BE49-F238E27FC236}">
                <a16:creationId xmlns:a16="http://schemas.microsoft.com/office/drawing/2014/main" id="{E523EB52-32B7-E532-88C8-C5A0194FBBEC}"/>
              </a:ext>
            </a:extLst>
          </p:cNvPr>
          <p:cNvSpPr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383 Algorithms Design and Analysis  ·  Binary Search Trees  ·  Tanwistha Saha 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LOOKING AHEAD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class: guaranteeing the height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61872"/>
            <a:ext cx="1109441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gave us the rule. Next class, we guarantee the shape.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5318608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68680" y="2286000"/>
            <a:ext cx="46785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TODAY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68680" y="2697480"/>
            <a:ext cx="4678528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BST property: a global rule, not just a local one.</a:t>
            </a:r>
            <a:endParaRPr lang="en-US" sz="1350" dirty="0"/>
          </a:p>
          <a:p>
            <a:pPr marL="0" indent="0">
              <a:lnSpc>
                <a:spcPct val="130000"/>
              </a:lnSpc>
              <a:buNone/>
            </a:pPr>
            <a:endParaRPr lang="en-US" sz="13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Search, insert, min/max, successor, and delete: all O(h), all just walking a single path.</a:t>
            </a:r>
            <a:endParaRPr lang="en-US" sz="1350" dirty="0"/>
          </a:p>
          <a:p>
            <a:pPr marL="0" indent="0">
              <a:lnSpc>
                <a:spcPct val="130000"/>
              </a:lnSpc>
              <a:buNone/>
            </a:pPr>
            <a:endParaRPr lang="en-US" sz="13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Height is NOT guaranteed — a plain BST can degrade to a linked list.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324448" y="2011680"/>
            <a:ext cx="5318608" cy="3566160"/>
          </a:xfrm>
          <a:prstGeom prst="roundRect">
            <a:avLst>
              <a:gd name="adj" fmla="val 2051"/>
            </a:avLst>
          </a:prstGeom>
          <a:solidFill>
            <a:srgbClr val="E7E6E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644488" y="2286000"/>
            <a:ext cx="46785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ED7D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CLASS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644488" y="2697480"/>
            <a:ext cx="4678528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Balanced BSTs (e.g. red-black trees): extra bookkeeping that GUARANTEES O(log n) height, no matter the insertion order.</a:t>
            </a:r>
            <a:endParaRPr lang="en-US" sz="1350" dirty="0"/>
          </a:p>
          <a:p>
            <a:pPr marL="0" indent="0">
              <a:lnSpc>
                <a:spcPct val="130000"/>
              </a:lnSpc>
              <a:buNone/>
            </a:pPr>
            <a:endParaRPr lang="en-US" sz="13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Rotations: the mechanism used to restore balance after an insert or delete.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10728655" y="654710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sp>
        <p:nvSpPr>
          <p:cNvPr id="13" name="Text 37">
            <a:extLst>
              <a:ext uri="{FF2B5EF4-FFF2-40B4-BE49-F238E27FC236}">
                <a16:creationId xmlns:a16="http://schemas.microsoft.com/office/drawing/2014/main" id="{10C8FFCA-DEF8-7D67-6B11-27F70F6A52E9}"/>
              </a:ext>
            </a:extLst>
          </p:cNvPr>
          <p:cNvSpPr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383 Algorithms Design and Analysis  ·  Binary Search Trees  ·  Tanwistha Saha 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BST : Three ideas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438912" cy="438912"/>
          </a:xfrm>
          <a:prstGeom prst="ellipse">
            <a:avLst/>
          </a:prstGeom>
          <a:solidFill>
            <a:srgbClr val="ED7D3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48640" y="187452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15568" y="1819656"/>
            <a:ext cx="10527487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rule, held everywhere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15568" y="2130552"/>
            <a:ext cx="10527487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BST property is about the WHOLE subtree, not just a node's direct children.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880360"/>
            <a:ext cx="438912" cy="438912"/>
          </a:xfrm>
          <a:prstGeom prst="ellipse">
            <a:avLst/>
          </a:prstGeom>
          <a:solidFill>
            <a:srgbClr val="ED7D3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48640" y="288036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15568" y="2825496"/>
            <a:ext cx="10527487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operation follows one path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15568" y="3136392"/>
            <a:ext cx="10527487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Search, insert, min/max, successor, delete — all O(h), all just walking down (or up) a single path.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886200"/>
            <a:ext cx="438912" cy="438912"/>
          </a:xfrm>
          <a:prstGeom prst="ellipse">
            <a:avLst/>
          </a:prstGeom>
          <a:solidFill>
            <a:srgbClr val="ED7D3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48640" y="388620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15568" y="3831336"/>
            <a:ext cx="10527487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Height is not guaranteed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115568" y="4142232"/>
            <a:ext cx="10527487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plain BST can degrade to a linked list. Today's O(h) is only O(log n) if the shape cooperates.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5120640"/>
            <a:ext cx="11094415" cy="777240"/>
          </a:xfrm>
          <a:prstGeom prst="roundRect">
            <a:avLst>
              <a:gd name="adj" fmla="val 7059"/>
            </a:avLst>
          </a:prstGeom>
          <a:solidFill>
            <a:srgbClr val="F5F5F5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77240" y="5120640"/>
            <a:ext cx="1063721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next class: be able to trace search/insert/delete on paper for any small tree, and explain in one sentence why a BST built from sorted input is bad news.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728655" y="654710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sp>
        <p:nvSpPr>
          <p:cNvPr id="20" name="Text 37">
            <a:extLst>
              <a:ext uri="{FF2B5EF4-FFF2-40B4-BE49-F238E27FC236}">
                <a16:creationId xmlns:a16="http://schemas.microsoft.com/office/drawing/2014/main" id="{177DB91C-3FE9-3F96-1E3C-8AB3422CCBEC}"/>
              </a:ext>
            </a:extLst>
          </p:cNvPr>
          <p:cNvSpPr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383 Algorithms Design and Analysis  ·  Binary Search Trees  ·  Tanwistha Saha 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643</TotalTime>
  <Words>4036</Words>
  <Application>Microsoft Macintosh PowerPoint</Application>
  <PresentationFormat>Widescreen</PresentationFormat>
  <Paragraphs>550</Paragraphs>
  <Slides>26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0" baseType="lpstr"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Tanwistha Saha</cp:lastModifiedBy>
  <cp:revision>52</cp:revision>
  <dcterms:created xsi:type="dcterms:W3CDTF">2026-09-30T21:00:46Z</dcterms:created>
  <dcterms:modified xsi:type="dcterms:W3CDTF">2026-10-05T18:05:00Z</dcterms:modified>
</cp:coreProperties>
</file>