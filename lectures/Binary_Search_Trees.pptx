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82" r:id="rId15"/>
    <p:sldId id="283" r:id="rId16"/>
    <p:sldId id="284" r:id="rId17"/>
    <p:sldId id="285" r:id="rId18"/>
    <p:sldId id="270" r:id="rId19"/>
    <p:sldId id="271" r:id="rId20"/>
    <p:sldId id="272" r:id="rId21"/>
    <p:sldId id="286" r:id="rId22"/>
    <p:sldId id="267" r:id="rId23"/>
    <p:sldId id="287" r:id="rId24"/>
    <p:sldId id="274" r:id="rId25"/>
    <p:sldId id="273" r:id="rId26"/>
    <p:sldId id="275" r:id="rId27"/>
    <p:sldId id="27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312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81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BST holding our running example A = 20, 13, 25, 2, 17, 8, 5, 7 with root 13 (it is also the shape the red-black tree ends up in). Start from what students know: in-order traversal lists the keys in sorted order, 2, 5, 7, 8, 13, 17, 20, 25. The successor of a key is simply the next key in that list and the predecessor is the previous one: succ(13) = 17, pred(13) = 8. We could find them by doing the full traversal, but that costs O(n). The point of the next two slides is that the tree's shape lets us find them by walking a single path, O(h). Ask: where in the tree are 8 and 17 relative to 13? (Deepest-right in the left subtree, deepest-left in the right subtree.)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cases, decided by whether x has a right subtree. Case 1, succ(13): 13 has a right subtree, so the next larger key is the smallest key in it. Go right once to 20, then left as far as possible: 17. Case 2, succ(8): 8 has no right subtree, so nothing below 8 is larger. Walk up. We arrive at 5 from its right child, which means 5 is smaller than 8, so keep going. We arrive at 13 from its left child, which means 13 is larger than everything in that left subtree: 13 is the successor. Phrase it as: walk up until you come from a left child. If we run off the top of the tree, x was the maximum, e.g. succ(25) does not exist. Each case walks one path, so the cost is O(h).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Predecessor is the mirror image: swap left and right everywhere. Case 1, pred(13): 13 has a left subtree, so the next smaller key is the largest key in it. Go left once to 5, then right as far as possible: 8 (8 has no right child, so stop). Case 2, pred(17): 17 has no left subtree. Walk up: we arrive at 20 from its left child, so 20 is larger, keep going; we arrive at 13 from its right child, so 13 is smaller than everything in that right subtree: 13 is the predecessor. Roughgarden phrases Case 2 as: follow parent pointers until you reach a key smaller than x. Same thing. pred(2) does not exist: 2 is the minimum.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All three depth-first traversals use the same recursion; the only difference is where the visit happens relative to the two recursive calls. Preorder visits the node before its subtrees, in-order between them, </a:t>
            </a:r>
            <a:r>
              <a:rPr dirty="0" err="1"/>
              <a:t>postorder</a:t>
            </a:r>
            <a:r>
              <a:rPr dirty="0"/>
              <a:t> after them. Students already know in-order prints a BST in sorted order. On our tree: preorder 13, 5, 2, 8, 7, 20, 17, 25: the root comes first, then the entire left subtree, then the right. </a:t>
            </a:r>
            <a:r>
              <a:rPr dirty="0" err="1"/>
              <a:t>Postorder</a:t>
            </a:r>
            <a:r>
              <a:rPr dirty="0"/>
              <a:t> 2, 7, 8, 5, 17, 25, 20, 13: the root comes last, and every node appears after all of its descendants. Each node is visited once with O(1) work, so all three take Theta(n) time; the recursion stack is as deep as the height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 the nodes in the order each traversal visits them. Preorder (blue): the root 13 gets 1; then we finish the whole left subtree (5, 2, 8, 7 get 2 to 5) before touching 20. Postorder (orange): leaves come early, 2 gets 1, 7 gets 2; a node is numbered only after both its subtrees are done, so the root 13 is last. Teaching trick: trace a line around the outside of the tree, starting on the left of the root and hugging every node. Preorder lists a node the first time you pass it (on its left side), in-order when you pass underneath it, postorder the last time you pass it (on its right side). Why we care: preorder writes parents before children, so it is the natural way to copy or serialize a tree; inserting the preorder sequence into an empty BST rebuilds exactly this tree. Postorder handles children before parents: freeing memory, or computing subtree sizes and heights (which AVL and red-black trees need).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an entire tree, not just parent and child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property, search, insert, delete and traversals— then why height is everything.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8727440" y="2039112"/>
            <a:ext cx="1166368" cy="38404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7660640" y="2816352"/>
            <a:ext cx="642112" cy="33686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02752" y="2816352"/>
            <a:ext cx="731512" cy="33686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8930641" y="3593592"/>
            <a:ext cx="432815" cy="285659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893808" y="2039111"/>
            <a:ext cx="804672" cy="285659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10424160" y="2816352"/>
            <a:ext cx="530352" cy="23811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54512" y="2816352"/>
            <a:ext cx="530352" cy="23811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37776" y="1527048"/>
            <a:ext cx="512064" cy="512064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37776" y="154753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37776" y="180356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230428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0" y="232477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258080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16368" y="308152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16368" y="310201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16368" y="335804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07424" y="308152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07424" y="310201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07424" y="335804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77072" y="385876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77072" y="387925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77072" y="413528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698480" y="230428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0" y="232477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698480" y="258080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168128" y="308152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168128" y="310201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168128" y="335804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228832" y="308152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228832" y="3102011"/>
            <a:ext cx="512064" cy="2688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28832" y="3358043"/>
            <a:ext cx="512064" cy="217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running example for today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AD9FD026-1D6E-6938-19A9-3FA3209AF3D0}"/>
              </a:ext>
            </a:extLst>
          </p:cNvPr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 </a:t>
            </a:r>
            <a:endParaRPr lang="en-US" sz="12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C9F3A8AD-A514-21E8-BD88-A884C8512A56}"/>
              </a:ext>
            </a:extLst>
          </p:cNvPr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6288DF8-5B0E-7DB5-78FE-1B112EB0BFCE}"/>
              </a:ext>
            </a:extLst>
          </p:cNvPr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Session 15  ·  October 5</a:t>
            </a:r>
            <a:endParaRPr lang="en-US" sz="11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86848E75-1327-67DC-0356-46CBD97D4B72}"/>
              </a:ext>
            </a:extLst>
          </p:cNvPr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rule, applied everywhere in the tree.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8653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property, and how it differs from a heap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17627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ordering rule, not just a local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6883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insert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99923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just follow the same left/right rule down the tree.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55701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Traversals, min/max, successor, and delete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86791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tree back out, and the trickiest operation: removing a node.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44256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height matters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473659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caveat that sets up next class.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37">
            <a:extLst>
              <a:ext uri="{FF2B5EF4-FFF2-40B4-BE49-F238E27FC236}">
                <a16:creationId xmlns:a16="http://schemas.microsoft.com/office/drawing/2014/main" id="{4C6B01AF-B19E-F6B4-07A4-D1D4220C4A13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what we already have?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structures we know, and where each one falls short.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heap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1052748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 is O(1) — but </a:t>
            </a: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ARBITRARY key means scanning the whole array, O(n). A heap only promises order between a parent and its children, nothing between siblings.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2369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array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1052748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O(log n) via binary search — but inserting a new key means shifting everything after it, O(n).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insert, AND delete fast — without shifting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whole structure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binary search tree gets close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37">
            <a:extLst>
              <a:ext uri="{FF2B5EF4-FFF2-40B4-BE49-F238E27FC236}">
                <a16:creationId xmlns:a16="http://schemas.microsoft.com/office/drawing/2014/main" id="{2F194B9A-5CC6-7DF2-F8FD-2FC48BF3FF66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  <p:sp>
        <p:nvSpPr>
          <p:cNvPr id="18" name="Oval 17"/>
          <p:cNvSpPr/>
          <p:nvPr/>
        </p:nvSpPr>
        <p:spPr>
          <a:xfrm>
            <a:off x="548640" y="4389120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4389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4334256"/>
            <a:ext cx="10527487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600" b="1">
                <a:solidFill>
                  <a:srgbClr val="333F50"/>
                </a:solidFill>
                <a:latin typeface="Calibri"/>
              </a:rPr>
              <a:t>A sorted linked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568" y="4645152"/>
            <a:ext cx="10527487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595959"/>
                </a:solidFill>
                <a:latin typeface="Calibri"/>
              </a:rPr>
              <a:t>Searching is O(n) because nodes are followed one by one. Inserting is O(n) to find the position — then O(1) once the predecessor is known.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arrays search quickly—but updates still cost O(n)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binary search tree trades direct indexing for faster updates to ordered data.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sorted array supports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1052748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O(log n) with binary search; min/max O(1); predecessor/successor O(log n); direct access by index O(1).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15568" y="32369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insert() and delete() hurt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1052748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position is O(log n), but opening or closing a gap shifts up to n elements: O(n) overall.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does not mean perfectly symmetric: it means preventing long chains so height stays O(log n). This matters when updates are frequent or input order could otherwise create a skewed tree.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17" name="Text 37">
            <a:extLst>
              <a:ext uri="{FF2B5EF4-FFF2-40B4-BE49-F238E27FC236}">
                <a16:creationId xmlns:a16="http://schemas.microsoft.com/office/drawing/2014/main" id="{2F194B9A-5CC6-7DF2-F8FD-2FC48BF3FF66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18" name="Oval 17"/>
          <p:cNvSpPr/>
          <p:nvPr/>
        </p:nvSpPr>
        <p:spPr>
          <a:xfrm>
            <a:off x="548640" y="4389120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4389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4334256"/>
            <a:ext cx="10527487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600" b="1">
                <a:solidFill>
                  <a:srgbClr val="333F50"/>
                </a:solidFill>
                <a:latin typeface="Calibri"/>
              </a:rPr>
              <a:t>When a balanced BST wins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568" y="4645152"/>
            <a:ext cx="10527487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05000"/>
              </a:lnSpc>
            </a:pPr>
            <a:r>
              <a:rPr sz="1300">
                <a:solidFill>
                  <a:srgbClr val="595959"/>
                </a:solidFill>
                <a:latin typeface="Calibri"/>
              </a:rPr>
              <a:t>Balanced BSTs keep height O(log n), so search, insert, and delete are O(log n). Favor them for frequently changing ordered sets, range queries, or sorted iteration; favor arrays for O(1) index access and read-heavy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vocabulary: the parts of </a:t>
            </a: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BST is a binary tree built around search – a binary tree in a symmetric order. Symmetric as in, each node has a key strictly larger than all keys of left subtree, and strictly smaller than all keys of right subtree. [No duplicate keys in today’s examples]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node, key, and leaf node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4681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one element of the binary tree; the root node is the topmost node and has no parent.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node’s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the value compared during search to choose left or right. A leaf node has no children.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5409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child and right child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364992"/>
            <a:ext cx="5468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node’s left child is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child reached by the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link;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right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by 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link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6035040" cy="1938528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" y="4608576"/>
            <a:ext cx="5577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Subtrees: The left or right subtree contains that child and all of its descendants. Height: the number of edges on the longest path from the root to a leaf (</a:t>
            </a:r>
            <a:r>
              <a:rPr lang="en-US" sz="12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this tree).</a:t>
            </a:r>
          </a:p>
          <a:p>
            <a:pPr marL="0" indent="0" algn="l">
              <a:buNone/>
            </a:pPr>
            <a:endParaRPr lang="en-US" sz="1250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50" b="1" u="sng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BST, every key in the left subtree is smaller than the node’s key, and every key in the right subtree is larger.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H="1">
            <a:off x="8463280" y="2167128"/>
            <a:ext cx="1174496" cy="278983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7836408" y="2944368"/>
            <a:ext cx="265176" cy="26618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1584" y="2944368"/>
            <a:ext cx="686812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8707125" y="3721608"/>
            <a:ext cx="418587" cy="24222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37776" y="2167128"/>
            <a:ext cx="777240" cy="22960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10149840" y="2944368"/>
            <a:ext cx="512064" cy="16459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661904" y="2944368"/>
            <a:ext cx="512064" cy="18187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90888" y="1673352"/>
            <a:ext cx="493776" cy="493776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90888" y="169310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90888" y="193999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5469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5469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5469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4263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4263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4263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78824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78824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78824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66760" y="400507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402482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6760" y="427171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41501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1501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1501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0295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0295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90295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27080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27080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27080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572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13 ·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</a:t>
            </a: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= 5 ·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</a:t>
            </a: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= 20 · leaves = 2, 7, 17, 25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CC94E6E0-0372-1A89-425F-5D34024806FC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BST-order: local isn't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can look fine at every parent-child pair, and still be broken.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fine locally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4681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&lt; 10 ✓.  10 &lt; 15 ✓.  5 &lt; 12 ✓ (12 is 5's right child, so it should be bigger than 5 — and it is).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19125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globally broken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502152"/>
            <a:ext cx="54681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sits in 10's LEFT subtree — yet 12 &gt; 10. Every node in that subtree must be less than 10, not just less than its own immediate parent.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6035040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checking a BST means tracking a valid (min, max) range for every node as you go — not just comparing it to its parent. This is exactly why a BST differs from a heap: </a:t>
            </a: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heap only ever compares a node to its immediate children; a BST's rule must hold at every depth, all the way down.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 flipH="1">
            <a:off x="9217152" y="2450592"/>
            <a:ext cx="1572768" cy="33832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0" y="3319272"/>
            <a:ext cx="914400" cy="8686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2450592"/>
            <a:ext cx="772160" cy="31089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33888" y="1938528"/>
            <a:ext cx="512064" cy="512064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3388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05088" y="280720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05088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19488" y="3675888"/>
            <a:ext cx="512064" cy="512064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19488" y="3675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48288" y="2807208"/>
            <a:ext cx="512064" cy="512064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48288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violates the BST property relative to the root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95B9C7E6-A78E-9F59-C609-148D7AC2C87F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follow the rule 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eliminates an entire subtree.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current node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Equal? Found it. Smaller? Go left. Larger? Go right.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8712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one level at a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18211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comparison rules out an entire subtree — not just one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binary search on a sorted array — except this “array” is already arranged in exactly the shape the comparisons will follow.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8348472" y="2167128"/>
            <a:ext cx="1289304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7607807" y="2944368"/>
            <a:ext cx="493777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1584" y="2944368"/>
            <a:ext cx="686816" cy="30321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8595360" y="3721608"/>
            <a:ext cx="530352" cy="259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37776" y="2167128"/>
            <a:ext cx="777240" cy="20985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10168128" y="2944368"/>
            <a:ext cx="493776" cy="20985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661904" y="2944368"/>
            <a:ext cx="414528" cy="20985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90888" y="167335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90888" y="169310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90888" y="193999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54696" y="245059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5469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5469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4263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4263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4263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78824" y="322783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78824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78824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66760" y="400507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402482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6760" y="427171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41501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1501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1501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0295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0295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90295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27080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27080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27080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7: 13 → 5 → 8 → 7, found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DFEB0DF5-565B-1BE6-EFE4-F032E402D928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comparisons, one recursive call, repeat.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SEARCH(node, key):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 = NIL or key = node.key:
        return node
    if key &lt; node.key:
        return SEARCH(node.left, key)
    else:
        return SEARCH(node.right, key)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node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visited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root-to-leaf path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· O(h) nodes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the tree's HEIGHT — not automatically log n. We'll come back to exactly why that distinction matters, later today.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37">
            <a:extLst>
              <a:ext uri="{FF2B5EF4-FFF2-40B4-BE49-F238E27FC236}">
                <a16:creationId xmlns:a16="http://schemas.microsoft.com/office/drawing/2014/main" id="{0E398CC0-1ABE-7D88-AE71-0AE1FF4E6D6F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search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successful search, one that comes up empty.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51086"/>
              </p:ext>
            </p:extLst>
          </p:nvPr>
        </p:nvGraphicFramePr>
        <p:xfrm>
          <a:off x="548640" y="1920240"/>
          <a:ext cx="11094415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[13:E root, 5:B &amp; 20:G children, 2:A/8:D under 5, 17:F/25:H under 20, 7:C under 8].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SEARCH(root, 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&lt; 13, go left to 5. 7 &gt; 5, go right to 8. 7 &lt; 8, go left to 7. Found — return (7,C).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SEARCH(root, 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&lt; 13, go left to 5. 11 &gt; 5, go right to 8. 11 &gt; 8, go right — but 8 has no right child. Return NIL: not found.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11 stop at 8, and not somewhere else?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37">
            <a:extLst>
              <a:ext uri="{FF2B5EF4-FFF2-40B4-BE49-F238E27FC236}">
                <a16:creationId xmlns:a16="http://schemas.microsoft.com/office/drawing/2014/main" id="{33E5C0CA-5214-C20F-4E7E-220B01B99DB2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search for the gap, then fill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never rearranges anything that's already there.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where the key WOULD be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4681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same left/right logic as search, until you fall off the tree (hit an empty child).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14553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it there, as a new leaf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456432"/>
            <a:ext cx="5468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the left or right child of whatever node you stopped 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never has to shuffle existing nodes — it just finds the one empty spot that keeps the BST property intact, and fills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8209280" y="2148840"/>
            <a:ext cx="1483360" cy="39547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7406640" y="2926080"/>
            <a:ext cx="457200" cy="25831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63840" y="2926080"/>
            <a:ext cx="685786" cy="29032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8321040" y="3703320"/>
            <a:ext cx="45720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78240" y="3703320"/>
            <a:ext cx="457181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92640" y="2148840"/>
            <a:ext cx="812800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10149840" y="2926080"/>
            <a:ext cx="457200" cy="24003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07040" y="2926080"/>
            <a:ext cx="469392" cy="25831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64040" y="1691640"/>
            <a:ext cx="457200" cy="4572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64040" y="170992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64040" y="193852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35240" y="2468880"/>
            <a:ext cx="457200" cy="4572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35240" y="248716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35240" y="271576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3246120"/>
            <a:ext cx="457200" cy="4572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78040" y="326440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178040" y="349300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49640" y="3246120"/>
            <a:ext cx="457200" cy="4572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49640" y="326440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49640" y="349300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92440" y="4023360"/>
            <a:ext cx="457200" cy="4572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92440" y="404164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092440" y="427024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06840" y="4023360"/>
            <a:ext cx="457200" cy="457200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06840" y="404164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06840" y="427024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378440" y="2468880"/>
            <a:ext cx="457200" cy="4572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378440" y="248716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378440" y="271576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921240" y="3246120"/>
            <a:ext cx="457200" cy="4572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21240" y="326440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921240" y="349300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35640" y="3246120"/>
            <a:ext cx="457200" cy="45720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835640" y="3264408"/>
            <a:ext cx="457200" cy="240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835640" y="3493008"/>
            <a:ext cx="457200" cy="194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(11, I): 13 → 5 → 8 → new right child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B500F36E-CF49-5C55-15E6-5D91ED8BC598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56D41FC3-D8E5-F07B-AE73-1064B6C1D3CA}"/>
              </a:ext>
            </a:extLst>
          </p:cNvPr>
          <p:cNvSpPr/>
          <p:nvPr/>
        </p:nvSpPr>
        <p:spPr>
          <a:xfrm>
            <a:off x="548639" y="5751576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would you handle duplicate key values?  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that plants a new node the moment it falls off the tree.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2103120"/>
          </a:xfrm>
          <a:prstGeom prst="roundRect">
            <a:avLst>
              <a:gd name="adj" fmla="val 2609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INSERT(node, key, val):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 = NIL:
        return NEW-NODE(key, val)
    if key &lt; node.key:
        node.left = INSERT(node.left, key, val)
    else:
        node.right = INSERT(node.right, key, val)
    return node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node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visited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root-to-leaf path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· O(h) nodes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6309360" cy="128016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this is nearly identical to SEARCH — the only difference is what happens when you hit NIL. Same cost, same O(h) bound.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37">
            <a:extLst>
              <a:ext uri="{FF2B5EF4-FFF2-40B4-BE49-F238E27FC236}">
                <a16:creationId xmlns:a16="http://schemas.microsoft.com/office/drawing/2014/main" id="{04120ED8-688F-E5C9-1F69-7FD9C83C321E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insert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tree — let's grow it by one.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79528"/>
              </p:ext>
            </p:extLst>
          </p:nvPr>
        </p:nvGraphicFramePr>
        <p:xfrm>
          <a:off x="548640" y="1920240"/>
          <a:ext cx="11094415" cy="2971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draw / ask the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same tree from the search demo.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INSERT(root, 11, 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&lt; 13, go left to 5. 11 &gt; 5, go right to 8. 11 &gt; 8, and 8 has no right child — stop here.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becomes the right child of 8.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an inorder traversal of the new tree out loud — it should still come out sorted.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7">
            <a:extLst>
              <a:ext uri="{FF2B5EF4-FFF2-40B4-BE49-F238E27FC236}">
                <a16:creationId xmlns:a16="http://schemas.microsoft.com/office/drawing/2014/main" id="{B06E4BAD-EB9C-5522-4B49-4DCB5382FEBB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maximum, and successor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helpers — the last one is exactly what delete needs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/ maximum: walk to the edge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559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left as far as you can for the minimum, right as far as you can for the maximum — both O(h), no comparisons needed.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9981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Successor, if a right subtree exists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410712"/>
            <a:ext cx="5559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MINIMUM of that right subtree. Example: successor(5) — 5's right subtree is {8, 7} — minimum is 7.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28853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Successor, if right subtree doesn’t exist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599432"/>
            <a:ext cx="5559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up until you move from a LEFT child to a RIGHT child's parent. Example: successor(8) — 8 is the right child of 5; 5 is the left child of 13 — stop, successor is 13.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8366760" y="2167128"/>
            <a:ext cx="1271016" cy="28794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7589520" y="2944368"/>
            <a:ext cx="512064" cy="24222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1584" y="2944368"/>
            <a:ext cx="886960" cy="30321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8631936" y="3721608"/>
            <a:ext cx="493776" cy="26618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37776" y="2167128"/>
            <a:ext cx="1024128" cy="259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10168128" y="2944367"/>
            <a:ext cx="493776" cy="285933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61904" y="2944368"/>
            <a:ext cx="530344" cy="30321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90888" y="1673352"/>
            <a:ext cx="493776" cy="493776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90888" y="169310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90888" y="193999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5469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5469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69480" y="3172968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4263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4263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78824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78824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878824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66760" y="400507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402482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66760" y="427171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1501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1501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41501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90295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90295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90295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927080" y="322783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927080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27080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23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2 (leftmost)   max = 25 (rightmost)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7C0828A4-9BBA-AC16-A9AA-8BD1B14C729F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edge repeatedly: left for minimum, right for maximum. Both take O(h) time and O(1) extra space.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874519"/>
            <a:ext cx="5376672" cy="3822191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194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sz="1350" b="1">
                <a:solidFill>
                  <a:srgbClr val="333F50"/>
                </a:solidFill>
                <a:latin typeface="Courier New"/>
              </a:rPr>
              <a:t>MINIMUM(node):</a:t>
            </a:r>
            <a:endParaRPr lang="en-US" sz="1350"/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if node = NIL: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    return NIL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while node.left != NIL: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    node = node.left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return node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874519"/>
            <a:ext cx="5376672" cy="3822191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9194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sz="1350" b="1">
                <a:solidFill>
                  <a:srgbClr val="333F50"/>
                </a:solidFill>
                <a:latin typeface="Courier New"/>
              </a:rPr>
              <a:t>MAXIMUM(node):</a:t>
            </a:r>
            <a:endParaRPr lang="en-US" sz="1300"/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if node = NIL: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    return NIL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while node.right != NIL: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    node = node.right</a:t>
            </a:r>
          </a:p>
          <a:p>
            <a:r>
              <a:rPr sz="1350" b="0">
                <a:solidFill>
                  <a:srgbClr val="333F50"/>
                </a:solidFill>
                <a:latin typeface="Courier New"/>
              </a:rPr>
              <a:t>    return node</a:t>
            </a:r>
          </a:p>
        </p:txBody>
      </p:sp>
      <p:sp>
        <p:nvSpPr>
          <p:cNvPr id="10" name="Text 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  <p:sp>
        <p:nvSpPr>
          <p:cNvPr id="11" name="Text 37">
            <a:extLst>
              <a:ext uri="{FF2B5EF4-FFF2-40B4-BE49-F238E27FC236}">
                <a16:creationId xmlns:a16="http://schemas.microsoft.com/office/drawing/2014/main" id="{5540E56E-D42B-FD99-9701-64BEF48DFF71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Predecessor and successor: neighbors in sorted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320165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95959"/>
                </a:solidFill>
                <a:latin typeface="Calibri"/>
              </a:rPr>
              <a:t>Running example A = 20, 13, 25, 2, 17, 8, 5, 7 stored in a BST with root 13. In-order traversal lists its keys in sorted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THE RUNNING TREE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011680" y="2560320"/>
            <a:ext cx="1280159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2560320"/>
            <a:ext cx="1280161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71600" y="3246120"/>
            <a:ext cx="640080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11680" y="3246120"/>
            <a:ext cx="640080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931920" y="3246120"/>
            <a:ext cx="640080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3246120"/>
            <a:ext cx="640080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194560" y="3931920"/>
            <a:ext cx="457200" cy="68580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72383" y="2340863"/>
            <a:ext cx="438912" cy="438912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3" y="23408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6" name="Oval 15"/>
          <p:cNvSpPr/>
          <p:nvPr/>
        </p:nvSpPr>
        <p:spPr>
          <a:xfrm>
            <a:off x="1792224" y="3026663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92224" y="30266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4352544" y="3026663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52544" y="30266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20" name="Oval 19"/>
          <p:cNvSpPr/>
          <p:nvPr/>
        </p:nvSpPr>
        <p:spPr>
          <a:xfrm>
            <a:off x="1152144" y="3712463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2144" y="37124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432304" y="3712463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32304" y="37124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3712463" y="3712463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12463" y="37124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26" name="Oval 25"/>
          <p:cNvSpPr/>
          <p:nvPr/>
        </p:nvSpPr>
        <p:spPr>
          <a:xfrm>
            <a:off x="4992624" y="3712463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4" y="3712463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28" name="Oval 27"/>
          <p:cNvSpPr/>
          <p:nvPr/>
        </p:nvSpPr>
        <p:spPr>
          <a:xfrm>
            <a:off x="1975104" y="439826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75104" y="43982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874519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Successor(x)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25856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next larger key: the smallest key greater than x.key.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80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Predecessor(x)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26440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next smaller key: the largest key less than x.key.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931920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041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3159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33F50"/>
                </a:solidFill>
                <a:latin typeface="Calibri"/>
              </a:rPr>
              <a:t>In-order traversal finds them in O(n). Using the tree's shape we walk just one path: O(h).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308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8308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1752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5196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17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52578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89720" y="5257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F50"/>
                </a:solidFill>
                <a:latin typeface="Courier New"/>
              </a:rPr>
              <a:t>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57790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55A11"/>
                </a:solidFill>
                <a:latin typeface="Calibri"/>
              </a:rPr>
              <a:t>pred(13)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7790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55A11"/>
                </a:solidFill>
                <a:latin typeface="Calibri"/>
              </a:rPr>
              <a:t>succ(13)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34924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in-order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57" name="TextBox 56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E5300608-C4E2-C988-D428-887D6AFE0723}"/>
              </a:ext>
            </a:extLst>
          </p:cNvPr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BUILDING BLOCKS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Successor: two cases, 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355597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95959"/>
                </a:solidFill>
                <a:latin typeface="Calibri"/>
              </a:rPr>
              <a:t>Does x have a right subtree? If yes, look down inside it. If no, the answer is an ancestor: look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CASE 1 · x HAS A RIGHT SUBTREE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succ(13) = 17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43507" y="2948940"/>
            <a:ext cx="793699" cy="51435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37206" y="2948940"/>
            <a:ext cx="793699" cy="514350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46657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43507" y="3463290"/>
            <a:ext cx="396849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34056" y="3463290"/>
            <a:ext cx="396849" cy="514349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30905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656892" y="3977639"/>
            <a:ext cx="283464" cy="514351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54326" y="2766060"/>
            <a:ext cx="365760" cy="365760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54326" y="27660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Oval 16"/>
          <p:cNvSpPr/>
          <p:nvPr/>
        </p:nvSpPr>
        <p:spPr>
          <a:xfrm>
            <a:off x="1360627" y="328041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0627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2948025" y="3280410"/>
            <a:ext cx="365760" cy="365760"/>
          </a:xfrm>
          <a:prstGeom prst="ellipse">
            <a:avLst/>
          </a:prstGeom>
          <a:solidFill>
            <a:srgbClr val="D6DCE4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48025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21" name="Oval 20"/>
          <p:cNvSpPr/>
          <p:nvPr/>
        </p:nvSpPr>
        <p:spPr>
          <a:xfrm>
            <a:off x="963777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3777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757476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5747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25" name="Oval 24"/>
          <p:cNvSpPr/>
          <p:nvPr/>
        </p:nvSpPr>
        <p:spPr>
          <a:xfrm>
            <a:off x="2551175" y="3794759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5117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27" name="Oval 26"/>
          <p:cNvSpPr/>
          <p:nvPr/>
        </p:nvSpPr>
        <p:spPr>
          <a:xfrm>
            <a:off x="3344875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4487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29" name="Oval 28"/>
          <p:cNvSpPr/>
          <p:nvPr/>
        </p:nvSpPr>
        <p:spPr>
          <a:xfrm>
            <a:off x="1474012" y="430910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74012" y="430910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Go right once, then left as far as possible: the minimum of the right subtree.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874519"/>
            <a:ext cx="36118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2029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CASE 2 · NO RIGHT SUBTREE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3042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succ(8) = 13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338267" y="2948940"/>
            <a:ext cx="793699" cy="514350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31966" y="2948940"/>
            <a:ext cx="793699" cy="51435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941417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38267" y="3463290"/>
            <a:ext cx="396849" cy="514349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528816" y="3463290"/>
            <a:ext cx="396849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25665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451652" y="3977639"/>
            <a:ext cx="283464" cy="514351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9086" y="276606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9086" y="27660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13</a:t>
            </a:r>
          </a:p>
        </p:txBody>
      </p:sp>
      <p:sp>
        <p:nvSpPr>
          <p:cNvPr id="44" name="Oval 43"/>
          <p:cNvSpPr/>
          <p:nvPr/>
        </p:nvSpPr>
        <p:spPr>
          <a:xfrm>
            <a:off x="5155387" y="3280410"/>
            <a:ext cx="365760" cy="365760"/>
          </a:xfrm>
          <a:prstGeom prst="ellipse">
            <a:avLst/>
          </a:prstGeom>
          <a:solidFill>
            <a:srgbClr val="D6DCE4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55387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6742785" y="328041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42785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48" name="Oval 47"/>
          <p:cNvSpPr/>
          <p:nvPr/>
        </p:nvSpPr>
        <p:spPr>
          <a:xfrm>
            <a:off x="4758537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8537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5552236" y="3794759"/>
            <a:ext cx="365760" cy="365760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5223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Oval 51"/>
          <p:cNvSpPr/>
          <p:nvPr/>
        </p:nvSpPr>
        <p:spPr>
          <a:xfrm>
            <a:off x="6345936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4593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54" name="Oval 53"/>
          <p:cNvSpPr/>
          <p:nvPr/>
        </p:nvSpPr>
        <p:spPr>
          <a:xfrm>
            <a:off x="7139635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963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56" name="Oval 55"/>
          <p:cNvSpPr/>
          <p:nvPr/>
        </p:nvSpPr>
        <p:spPr>
          <a:xfrm>
            <a:off x="5268772" y="430910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68772" y="430910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8463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Walk up until you arrive from a LEFT child. That parent is the successor.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1874519"/>
            <a:ext cx="3502152" cy="370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2057400"/>
            <a:ext cx="3136392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SUCCESSOR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if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.right != NIL: # Case 1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MINIMUM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.right)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# Case 2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while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!= NIL and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node = parent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.right: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# NIL if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max</a:t>
            </a:r>
          </a:p>
          <a:p>
            <a:pPr algn="l"/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MINIMUM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if node = NIL:</a:t>
            </a: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        return NIL</a:t>
            </a: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while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.left != NIL: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.left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endParaRPr sz="1050" b="1" i="0">
              <a:solidFill>
                <a:srgbClr val="333F50"/>
              </a:solidFill>
              <a:latin typeface="Courier New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94360" y="5788152"/>
            <a:ext cx="201168" cy="201168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start x</a:t>
            </a:r>
          </a:p>
        </p:txBody>
      </p:sp>
      <p:sp>
        <p:nvSpPr>
          <p:cNvPr id="63" name="Oval 62"/>
          <p:cNvSpPr/>
          <p:nvPr/>
        </p:nvSpPr>
        <p:spPr>
          <a:xfrm>
            <a:off x="2011680" y="5788152"/>
            <a:ext cx="201168" cy="201168"/>
          </a:xfrm>
          <a:prstGeom prst="ellipse">
            <a:avLst/>
          </a:prstGeom>
          <a:solidFill>
            <a:srgbClr val="D6DCE4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8600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 the path</a:t>
            </a:r>
          </a:p>
        </p:txBody>
      </p:sp>
      <p:sp>
        <p:nvSpPr>
          <p:cNvPr id="65" name="Oval 64"/>
          <p:cNvSpPr/>
          <p:nvPr/>
        </p:nvSpPr>
        <p:spPr>
          <a:xfrm>
            <a:off x="3429000" y="5788152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0332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answer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5733288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F50"/>
                </a:solidFill>
                <a:latin typeface="Calibri"/>
              </a:rPr>
              <a:t>Time: O(h) in both cases.  succ(25) does not exist: 25 is the maximum.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69" name="TextBox 68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/>
          </a:p>
        </p:txBody>
      </p:sp>
      <p:sp>
        <p:nvSpPr>
          <p:cNvPr id="70" name="Text 0">
            <a:extLst>
              <a:ext uri="{FF2B5EF4-FFF2-40B4-BE49-F238E27FC236}">
                <a16:creationId xmlns:a16="http://schemas.microsoft.com/office/drawing/2014/main" id="{601413E0-5D50-EB56-B9C2-4C6C53A1A5C1}"/>
              </a:ext>
            </a:extLst>
          </p:cNvPr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BUILDING BLOCKS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7420" y="585882"/>
            <a:ext cx="11064240" cy="49244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Predecessor: the mirror image of successor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9786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Swap left and right: look for the maximum of the left subtree, or the first ancestor reached from a right child.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CASE 1 · x HAS A LEFT SUBTREE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pred(13) = 8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43507" y="2948940"/>
            <a:ext cx="793699" cy="514350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37206" y="2948940"/>
            <a:ext cx="793699" cy="51435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46657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43507" y="3463290"/>
            <a:ext cx="396849" cy="514349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34056" y="3463290"/>
            <a:ext cx="396849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30905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656892" y="3977639"/>
            <a:ext cx="283464" cy="514351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54326" y="2766060"/>
            <a:ext cx="365760" cy="365760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54326" y="27660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Oval 16"/>
          <p:cNvSpPr/>
          <p:nvPr/>
        </p:nvSpPr>
        <p:spPr>
          <a:xfrm>
            <a:off x="1360627" y="3280410"/>
            <a:ext cx="365760" cy="365760"/>
          </a:xfrm>
          <a:prstGeom prst="ellipse">
            <a:avLst/>
          </a:prstGeom>
          <a:solidFill>
            <a:srgbClr val="D6DCE4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0627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2948025" y="328041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48025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21" name="Oval 20"/>
          <p:cNvSpPr/>
          <p:nvPr/>
        </p:nvSpPr>
        <p:spPr>
          <a:xfrm>
            <a:off x="963777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3777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757476" y="3794759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5747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25" name="Oval 24"/>
          <p:cNvSpPr/>
          <p:nvPr/>
        </p:nvSpPr>
        <p:spPr>
          <a:xfrm>
            <a:off x="2551175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5117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27" name="Oval 26"/>
          <p:cNvSpPr/>
          <p:nvPr/>
        </p:nvSpPr>
        <p:spPr>
          <a:xfrm>
            <a:off x="3344875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4487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29" name="Oval 28"/>
          <p:cNvSpPr/>
          <p:nvPr/>
        </p:nvSpPr>
        <p:spPr>
          <a:xfrm>
            <a:off x="1474012" y="430910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74012" y="430910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Go left once, then right as far as possible: the maximum of the left subtree.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874519"/>
            <a:ext cx="36118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20299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CASE 2 · NO LEFT SUBTREE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3042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33F50"/>
                </a:solidFill>
                <a:latin typeface="Courier New"/>
              </a:rPr>
              <a:t>pred(17) = 13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338267" y="2948940"/>
            <a:ext cx="793699" cy="51435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31966" y="2948940"/>
            <a:ext cx="793699" cy="514350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941417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38267" y="3463290"/>
            <a:ext cx="396849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528816" y="3463290"/>
            <a:ext cx="396849" cy="514349"/>
          </a:xfrm>
          <a:prstGeom prst="line">
            <a:avLst/>
          </a:prstGeom>
          <a:ln w="508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25665" y="3463290"/>
            <a:ext cx="396850" cy="514349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451652" y="3977639"/>
            <a:ext cx="283464" cy="514351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949086" y="276606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9086" y="27660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13</a:t>
            </a:r>
          </a:p>
        </p:txBody>
      </p:sp>
      <p:sp>
        <p:nvSpPr>
          <p:cNvPr id="44" name="Oval 43"/>
          <p:cNvSpPr/>
          <p:nvPr/>
        </p:nvSpPr>
        <p:spPr>
          <a:xfrm>
            <a:off x="5155387" y="328041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55387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6742785" y="3280410"/>
            <a:ext cx="365760" cy="365760"/>
          </a:xfrm>
          <a:prstGeom prst="ellipse">
            <a:avLst/>
          </a:prstGeom>
          <a:solidFill>
            <a:srgbClr val="D6DCE4"/>
          </a:solidFill>
          <a:ln w="222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42785" y="328041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48" name="Oval 47"/>
          <p:cNvSpPr/>
          <p:nvPr/>
        </p:nvSpPr>
        <p:spPr>
          <a:xfrm>
            <a:off x="4758537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8537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5552236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5223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52" name="Oval 51"/>
          <p:cNvSpPr/>
          <p:nvPr/>
        </p:nvSpPr>
        <p:spPr>
          <a:xfrm>
            <a:off x="6345936" y="3794759"/>
            <a:ext cx="365760" cy="365760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45936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4" name="Oval 53"/>
          <p:cNvSpPr/>
          <p:nvPr/>
        </p:nvSpPr>
        <p:spPr>
          <a:xfrm>
            <a:off x="7139635" y="379475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9635" y="37947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56" name="Oval 55"/>
          <p:cNvSpPr/>
          <p:nvPr/>
        </p:nvSpPr>
        <p:spPr>
          <a:xfrm>
            <a:off x="5268772" y="4309109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68772" y="430910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8463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Walk up until you arrive from a RIGHT child. That parent is the predecessor.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1874519"/>
            <a:ext cx="3502152" cy="370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2057400"/>
            <a:ext cx="3136392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PREDECESSOR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if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.left != NIL: # Case 1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MAXIMUM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.left)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# Case 2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while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!= NIL and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node = parent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.left: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</a:t>
            </a:r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parent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# NIL if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min</a:t>
            </a:r>
          </a:p>
          <a:p>
            <a:pPr algn="l"/>
            <a:endParaRPr sz="1050" b="1" i="0">
              <a:solidFill>
                <a:srgbClr val="333F50"/>
              </a:solidFill>
              <a:latin typeface="Courier New"/>
            </a:endParaRP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MAXIMUM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if node = NIL:</a:t>
            </a: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        return NIL</a:t>
            </a:r>
          </a:p>
          <a:p>
            <a:pPr algn="l"/>
            <a:r>
              <a:rPr lang="en-US"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while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.right != NIL: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  node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=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.right</a:t>
            </a:r>
          </a:p>
          <a:p>
            <a:pPr algn="l"/>
            <a:r>
              <a:rPr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050" b="1" i="0">
                <a:solidFill>
                  <a:srgbClr val="333F50"/>
                </a:solidFill>
                <a:latin typeface="Courier New"/>
              </a:rPr>
              <a:t>return </a:t>
            </a:r>
            <a:r>
              <a:rPr lang="en-US" sz="1050" b="1" i="0">
                <a:solidFill>
                  <a:srgbClr val="333F50"/>
                </a:solidFill>
                <a:latin typeface="Courier New"/>
              </a:rPr>
              <a:t>node</a:t>
            </a:r>
            <a:endParaRPr sz="1050" b="1" i="0">
              <a:solidFill>
                <a:srgbClr val="333F50"/>
              </a:solidFill>
              <a:latin typeface="Courier New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94360" y="5788152"/>
            <a:ext cx="201168" cy="201168"/>
          </a:xfrm>
          <a:prstGeom prst="ellipse">
            <a:avLst/>
          </a:prstGeom>
          <a:solidFill>
            <a:srgbClr val="33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start x</a:t>
            </a:r>
          </a:p>
        </p:txBody>
      </p:sp>
      <p:sp>
        <p:nvSpPr>
          <p:cNvPr id="63" name="Oval 62"/>
          <p:cNvSpPr/>
          <p:nvPr/>
        </p:nvSpPr>
        <p:spPr>
          <a:xfrm>
            <a:off x="2011680" y="5788152"/>
            <a:ext cx="201168" cy="201168"/>
          </a:xfrm>
          <a:prstGeom prst="ellipse">
            <a:avLst/>
          </a:prstGeom>
          <a:solidFill>
            <a:srgbClr val="D6DCE4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8600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 the path</a:t>
            </a:r>
          </a:p>
        </p:txBody>
      </p:sp>
      <p:sp>
        <p:nvSpPr>
          <p:cNvPr id="65" name="Oval 64"/>
          <p:cNvSpPr/>
          <p:nvPr/>
        </p:nvSpPr>
        <p:spPr>
          <a:xfrm>
            <a:off x="3429000" y="5788152"/>
            <a:ext cx="201168" cy="20116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03320" y="5760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answer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5733288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F50"/>
                </a:solidFill>
                <a:latin typeface="Calibri"/>
              </a:rPr>
              <a:t>Equivalently: walk up until you reach a key smaller than x.  pred(2) does not exist.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69" name="TextBox 68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/>
          </a:p>
        </p:txBody>
      </p:sp>
      <p:sp>
        <p:nvSpPr>
          <p:cNvPr id="70" name="Text 0">
            <a:extLst>
              <a:ext uri="{FF2B5EF4-FFF2-40B4-BE49-F238E27FC236}">
                <a16:creationId xmlns:a16="http://schemas.microsoft.com/office/drawing/2014/main" id="{F1A20823-52AE-92CE-7A36-B1C067086E0B}"/>
              </a:ext>
            </a:extLst>
          </p:cNvPr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BUILDING BLOCKS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three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node is easy — unless it has two children.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(no children)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remove it. Nothing else to patch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82549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13639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 it out — the child takes the deleted node's place directly.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69417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468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just remove it — which child would take over? Instead: copy in its SUCCESSOR's key, then delete the successor (which always falls into case 1 or 2).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8366760" y="2167128"/>
            <a:ext cx="1271016" cy="36576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7360919" y="2944368"/>
            <a:ext cx="740665" cy="37490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1584" y="2944368"/>
            <a:ext cx="899537" cy="419161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8595360" y="3721608"/>
            <a:ext cx="530352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37776" y="2167128"/>
            <a:ext cx="1024128" cy="32918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10168128" y="2944368"/>
            <a:ext cx="493776" cy="23774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61904" y="2944368"/>
            <a:ext cx="493776" cy="20116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90888" y="1673352"/>
            <a:ext cx="493776" cy="493776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90888" y="169310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90888" y="193999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54696" y="245059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5469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4263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4263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4263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78824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78824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878824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66760" y="4005072"/>
            <a:ext cx="493776" cy="493776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402482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66760" y="427171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1501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1501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41501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90295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90295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90295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927080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927080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27080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40880" y="4572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5 (two children): copy in successor 7,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delete the old 7 (a leaf)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058B8DC9-2CA6-671F-C8CE-40C4EAE8AB05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cases, in one recursive function.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19"/>
            <a:ext cx="6309360" cy="3826193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3575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DELETE(node, key):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 = NIL: return NIL
    if key &lt; node.key:
        node.left = DELETE(node.left, key)
    elif key &gt; node.key:
        node.right = DELETE(node.right, key)
    else:
        if node.left = NIL: return node.right
        if node.right = NIL: return node.left
        succ = MINIMUM(node.right)
        node.key, node.val = succ.key, succ.val
        node.right = DELETE(node.right, succ.key)
    return node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3826192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187452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costs at most O(h): the search down to the node, MINIMUM's walk down the right subtree, and the recursive delete of the successor are each a single root-to-leaf-ish path.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Text 37">
            <a:extLst>
              <a:ext uri="{FF2B5EF4-FFF2-40B4-BE49-F238E27FC236}">
                <a16:creationId xmlns:a16="http://schemas.microsoft.com/office/drawing/2014/main" id="{5540E56E-D42B-FD99-9701-64BEF48DFF71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delete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two-children case — the one worth slowing down for.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draw / ask the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DELETE(root,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node 5. It has TWO children (2, and the 8/7 subtree) — this is case 3.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successor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MINIMUM(5's right subtree) — walk left from 8: 8 has a left child 7, 7 has no left child. Successor = (7, C).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node 5's key/value with (7, C) — the node that used to say “5, B” now says “7, C.”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old successor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Recursively DELETE(7) from its original spot — it's a leaf, so it's just removed.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tree: 13 root; left = 7(C) with children 2(A), 8(D); right unchanged (20,17,25). Inorder traversal should still be sorted.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7">
            <a:extLst>
              <a:ext uri="{FF2B5EF4-FFF2-40B4-BE49-F238E27FC236}">
                <a16:creationId xmlns:a16="http://schemas.microsoft.com/office/drawing/2014/main" id="{B0CB56AD-EDD3-33D3-B1A3-30CC3124F508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4472C4"/>
                </a:solidFill>
                <a:latin typeface="Calibri"/>
              </a:rPr>
              <a:t>TREE TRAVERSALS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525589"/>
            <a:ext cx="11064240" cy="49244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Three traversals differ only in when we visit the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9786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Same recursion every time; move the visit before, between, or after the two recursive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7530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PREORDER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33F50"/>
                </a:solidFill>
                <a:latin typeface="Calibri"/>
              </a:rPr>
              <a:t>Node → Left → 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3118104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292608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0">
                <a:solidFill>
                  <a:srgbClr val="333F50"/>
                </a:solidFill>
                <a:latin typeface="Courier New"/>
              </a:rPr>
              <a:t>PREORDER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if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 =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NIL: return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VISIT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PREORDER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.left)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PREORDER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.right)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ON OUR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ourier New"/>
              </a:rPr>
              <a:t>13  5  2  8  7  20  17  25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74519"/>
            <a:ext cx="3575304" cy="3291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029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IN-ORDER (RECAP)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317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33F50"/>
                </a:solidFill>
                <a:latin typeface="Calibri"/>
              </a:rPr>
              <a:t>Left → Node → Right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2880360"/>
            <a:ext cx="311810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2990088"/>
            <a:ext cx="292608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0">
                <a:solidFill>
                  <a:srgbClr val="333F50"/>
                </a:solidFill>
                <a:latin typeface="Courier New"/>
              </a:rPr>
              <a:t>INORDER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if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 =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NIL: return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INORDER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.left)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VISIT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INORDER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.right)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251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ON OUR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5262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ourier New"/>
              </a:rPr>
              <a:t>2  5  7  8  13  17  20  25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874519"/>
            <a:ext cx="357530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20299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  <a:latin typeface="Calibri"/>
              </a:rPr>
              <a:t>POSTORDER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3317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33F50"/>
                </a:solidFill>
                <a:latin typeface="Calibri"/>
              </a:rPr>
              <a:t>Left → Right → Node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880360"/>
            <a:ext cx="3118104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0768" y="2990088"/>
            <a:ext cx="292608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0">
                <a:solidFill>
                  <a:srgbClr val="333F50"/>
                </a:solidFill>
                <a:latin typeface="Courier New"/>
              </a:rPr>
              <a:t>POSTORDER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):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if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 = 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NIL: return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POSTORDER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.left)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POSTORDER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.right)</a:t>
            </a:r>
          </a:p>
          <a:p>
            <a:pPr algn="l"/>
            <a:r>
              <a:rPr sz="1100" b="1" i="0">
                <a:solidFill>
                  <a:srgbClr val="333F50"/>
                </a:solidFill>
                <a:latin typeface="Courier New"/>
              </a:rPr>
              <a:t>  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  VISIT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(</a:t>
            </a:r>
            <a:r>
              <a:rPr lang="en-US" sz="1100" b="1" i="0">
                <a:solidFill>
                  <a:srgbClr val="333F50"/>
                </a:solidFill>
                <a:latin typeface="Courier New"/>
              </a:rPr>
              <a:t>node</a:t>
            </a:r>
            <a:r>
              <a:rPr sz="1100" b="1" i="0">
                <a:solidFill>
                  <a:srgbClr val="333F50"/>
                </a:solidFill>
                <a:latin typeface="Courier New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251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ON OUR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5262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55A11"/>
                </a:solidFill>
                <a:latin typeface="Courier New"/>
              </a:rPr>
              <a:t>2  7  8  5  17  25  20  13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394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333F50"/>
                </a:solidFill>
                <a:latin typeface="Calibri"/>
              </a:rPr>
              <a:t>Cost: </a:t>
            </a:r>
            <a:r>
              <a:rPr sz="1300" b="0" i="0">
                <a:solidFill>
                  <a:srgbClr val="333F50"/>
                </a:solidFill>
                <a:latin typeface="Calibri"/>
              </a:rPr>
              <a:t>every node is visited exactly once, so all three run in Θ(n) time; the recursion depth is the height 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29" name="TextBox 28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traversal: read the tree back out, sorted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payoff of the BST property.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left, node, right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4681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visit the left subtree, then the node itself, then the right subtree.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0837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319272"/>
            <a:ext cx="54681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BST property, this ALWAYS visits every key in increasing order — no sorting step required.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603504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same 8 numbers that gave us a clean binary heap two lectures ago also read out as a clean sorted sequence here — a BST and a sorted array are two different views of the same order.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H="1">
            <a:off x="8366760" y="2167128"/>
            <a:ext cx="1271016" cy="35515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>
            <a:off x="7607807" y="2944368"/>
            <a:ext cx="493777" cy="259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1585" y="2944367"/>
            <a:ext cx="777236" cy="303215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8631936" y="3721608"/>
            <a:ext cx="493776" cy="259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37776" y="2167128"/>
            <a:ext cx="1024128" cy="28346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10168128" y="2944368"/>
            <a:ext cx="493776" cy="259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661904" y="2944368"/>
            <a:ext cx="493776" cy="22960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90888" y="1673352"/>
            <a:ext cx="493776" cy="493776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90888" y="169310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90888" y="193999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5469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5469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5469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4263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4263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4263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78824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78824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78824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66760" y="400507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402482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66760" y="427171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415016" y="245059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15016" y="247034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15016" y="271723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02952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02952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902952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27080" y="3227832"/>
            <a:ext cx="493776" cy="49377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27080" y="3247583"/>
            <a:ext cx="493776" cy="259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27080" y="3494471"/>
            <a:ext cx="493776" cy="2098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Inorder: 2, 5, 7, 8, 13, 17, 20, 25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5FE14099-F0AA-DBEE-8620-98B891E0C31D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472C4"/>
                </a:solidFill>
                <a:latin typeface="Calibri"/>
              </a:rPr>
              <a:t>TREE TRAVERSALS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49244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3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/>
              <a:t>Tracing preorder and </a:t>
            </a:r>
            <a:r>
              <a:rPr dirty="0" err="1"/>
              <a:t>postorder</a:t>
            </a:r>
            <a:r>
              <a:rPr dirty="0"/>
              <a:t> on the running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97864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Badges show the visit order. Preorder finishes a whole subtree before moving right; postorder visits a node only after its children.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422392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Calibri"/>
              </a:rPr>
              <a:t>PREORDER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039111" y="2596896"/>
            <a:ext cx="1216152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55263" y="2596896"/>
            <a:ext cx="1216153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31036" y="3145536"/>
            <a:ext cx="608075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39111" y="3145536"/>
            <a:ext cx="608076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863339" y="3145536"/>
            <a:ext cx="608077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71416" y="3145536"/>
            <a:ext cx="608076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212848" y="3694176"/>
            <a:ext cx="434339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54095" y="2395727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54095" y="2395727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13</a:t>
            </a:r>
          </a:p>
        </p:txBody>
      </p:sp>
      <p:sp>
        <p:nvSpPr>
          <p:cNvPr id="16" name="Oval 15"/>
          <p:cNvSpPr/>
          <p:nvPr/>
        </p:nvSpPr>
        <p:spPr>
          <a:xfrm>
            <a:off x="3365906" y="228508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5906" y="22850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1837943" y="294436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37943" y="29443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2149754" y="283372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9754" y="283372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4270248" y="294436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0248" y="29443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24" name="Oval 23"/>
          <p:cNvSpPr/>
          <p:nvPr/>
        </p:nvSpPr>
        <p:spPr>
          <a:xfrm>
            <a:off x="4582058" y="283372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2058" y="283372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1229868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29868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1541678" y="338236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41678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2446019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46019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2757830" y="338236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57830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3662172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62172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36" name="Oval 35"/>
          <p:cNvSpPr/>
          <p:nvPr/>
        </p:nvSpPr>
        <p:spPr>
          <a:xfrm>
            <a:off x="3973982" y="338236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73982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4878324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8324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40" name="Oval 39"/>
          <p:cNvSpPr/>
          <p:nvPr/>
        </p:nvSpPr>
        <p:spPr>
          <a:xfrm>
            <a:off x="5190134" y="338236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90134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Oval 41"/>
          <p:cNvSpPr/>
          <p:nvPr/>
        </p:nvSpPr>
        <p:spPr>
          <a:xfrm>
            <a:off x="2011679" y="404164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11679" y="40416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44" name="Oval 43"/>
          <p:cNvSpPr/>
          <p:nvPr/>
        </p:nvSpPr>
        <p:spPr>
          <a:xfrm>
            <a:off x="2323490" y="3931005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23490" y="393100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ourier New"/>
              </a:rPr>
              <a:t>13  5  2  8  7  20  17  25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49377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Parents before children: copy or serialize a tree. Inserting this sequence into an empty BST rebuilds exactly this tree.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874519"/>
            <a:ext cx="5422392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  <a:latin typeface="Calibri"/>
              </a:rPr>
              <a:t>POSTORDER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7708392" y="2596896"/>
            <a:ext cx="1216152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924544" y="2596896"/>
            <a:ext cx="1216152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100316" y="3145536"/>
            <a:ext cx="608076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08392" y="3145536"/>
            <a:ext cx="608075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532619" y="3145536"/>
            <a:ext cx="608077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140696" y="3145536"/>
            <a:ext cx="608076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882127" y="3694176"/>
            <a:ext cx="434340" cy="548640"/>
          </a:xfrm>
          <a:prstGeom prst="line">
            <a:avLst/>
          </a:prstGeom>
          <a:ln w="222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723376" y="2395727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23376" y="2395727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13</a:t>
            </a:r>
          </a:p>
        </p:txBody>
      </p:sp>
      <p:sp>
        <p:nvSpPr>
          <p:cNvPr id="59" name="Oval 58"/>
          <p:cNvSpPr/>
          <p:nvPr/>
        </p:nvSpPr>
        <p:spPr>
          <a:xfrm>
            <a:off x="9035186" y="228508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35186" y="22850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1" name="Oval 60"/>
          <p:cNvSpPr/>
          <p:nvPr/>
        </p:nvSpPr>
        <p:spPr>
          <a:xfrm>
            <a:off x="7507223" y="294436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07223" y="29443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5</a:t>
            </a:r>
          </a:p>
        </p:txBody>
      </p:sp>
      <p:sp>
        <p:nvSpPr>
          <p:cNvPr id="63" name="Oval 62"/>
          <p:cNvSpPr/>
          <p:nvPr/>
        </p:nvSpPr>
        <p:spPr>
          <a:xfrm>
            <a:off x="7819034" y="283372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19034" y="283372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Oval 64"/>
          <p:cNvSpPr/>
          <p:nvPr/>
        </p:nvSpPr>
        <p:spPr>
          <a:xfrm>
            <a:off x="9939528" y="294436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39528" y="29443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20</a:t>
            </a:r>
          </a:p>
        </p:txBody>
      </p:sp>
      <p:sp>
        <p:nvSpPr>
          <p:cNvPr id="67" name="Oval 66"/>
          <p:cNvSpPr/>
          <p:nvPr/>
        </p:nvSpPr>
        <p:spPr>
          <a:xfrm>
            <a:off x="10251338" y="283372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51338" y="283372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9" name="Oval 68"/>
          <p:cNvSpPr/>
          <p:nvPr/>
        </p:nvSpPr>
        <p:spPr>
          <a:xfrm>
            <a:off x="6899148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99148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</a:t>
            </a:r>
          </a:p>
        </p:txBody>
      </p:sp>
      <p:sp>
        <p:nvSpPr>
          <p:cNvPr id="71" name="Oval 70"/>
          <p:cNvSpPr/>
          <p:nvPr/>
        </p:nvSpPr>
        <p:spPr>
          <a:xfrm>
            <a:off x="7210958" y="338236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10958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3" name="Oval 72"/>
          <p:cNvSpPr/>
          <p:nvPr/>
        </p:nvSpPr>
        <p:spPr>
          <a:xfrm>
            <a:off x="8115299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5299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8</a:t>
            </a:r>
          </a:p>
        </p:txBody>
      </p:sp>
      <p:sp>
        <p:nvSpPr>
          <p:cNvPr id="75" name="Oval 74"/>
          <p:cNvSpPr/>
          <p:nvPr/>
        </p:nvSpPr>
        <p:spPr>
          <a:xfrm>
            <a:off x="8427110" y="338236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27110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Oval 76"/>
          <p:cNvSpPr/>
          <p:nvPr/>
        </p:nvSpPr>
        <p:spPr>
          <a:xfrm>
            <a:off x="9331451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331451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17</a:t>
            </a:r>
          </a:p>
        </p:txBody>
      </p:sp>
      <p:sp>
        <p:nvSpPr>
          <p:cNvPr id="79" name="Oval 78"/>
          <p:cNvSpPr/>
          <p:nvPr/>
        </p:nvSpPr>
        <p:spPr>
          <a:xfrm>
            <a:off x="9643262" y="338236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43262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" name="Oval 80"/>
          <p:cNvSpPr/>
          <p:nvPr/>
        </p:nvSpPr>
        <p:spPr>
          <a:xfrm>
            <a:off x="10547603" y="349300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547603" y="34930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25</a:t>
            </a:r>
          </a:p>
        </p:txBody>
      </p:sp>
      <p:sp>
        <p:nvSpPr>
          <p:cNvPr id="83" name="Oval 82"/>
          <p:cNvSpPr/>
          <p:nvPr/>
        </p:nvSpPr>
        <p:spPr>
          <a:xfrm>
            <a:off x="10859414" y="338236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859414" y="338236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5" name="Oval 84"/>
          <p:cNvSpPr/>
          <p:nvPr/>
        </p:nvSpPr>
        <p:spPr>
          <a:xfrm>
            <a:off x="7680959" y="404164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680959" y="40416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33F50"/>
                </a:solidFill>
                <a:latin typeface="Calibri"/>
              </a:rPr>
              <a:t>7</a:t>
            </a:r>
          </a:p>
        </p:txBody>
      </p:sp>
      <p:sp>
        <p:nvSpPr>
          <p:cNvPr id="87" name="Oval 86"/>
          <p:cNvSpPr/>
          <p:nvPr/>
        </p:nvSpPr>
        <p:spPr>
          <a:xfrm>
            <a:off x="7992770" y="3931005"/>
            <a:ext cx="274320" cy="2743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992770" y="393100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  <a:latin typeface="Courier New"/>
              </a:rPr>
              <a:t>2  7  8  5  17  25  20  13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92240" y="49377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333F50"/>
                </a:solidFill>
                <a:latin typeface="Calibri"/>
              </a:rPr>
              <a:t>Children before parents: free a tree, or compute subtree sizes and heights bottom-up.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" y="5833872"/>
            <a:ext cx="11091672" cy="457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7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8" y="583387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333F50"/>
                </a:solidFill>
                <a:latin typeface="Calibri"/>
              </a:rPr>
              <a:t>Tip: </a:t>
            </a:r>
            <a:r>
              <a:rPr sz="1250" b="0" i="0">
                <a:solidFill>
                  <a:srgbClr val="333F50"/>
                </a:solidFill>
                <a:latin typeface="Calibri"/>
              </a:rPr>
              <a:t>walk around the outside of the tree from the root's left side. Preorder = first time you pass a node, postorder = last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/>
          </a:p>
        </p:txBody>
      </p:sp>
      <p:sp>
        <p:nvSpPr>
          <p:cNvPr id="94" name="TextBox 93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operations: the complete picture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today, in one table.</a:t>
            </a:r>
            <a:endParaRPr 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33284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3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root-to-leaf-ish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search that plants a node at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/ maximum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left / right to the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subtree walk, or one walk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+ (sometimes) successor + 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inorder traversal (whole tree)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visit every node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O(log n) if the tree is balanced, but O(n) in the worst case — that gap is the whole motivation for next class.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7">
            <a:extLst>
              <a:ext uri="{FF2B5EF4-FFF2-40B4-BE49-F238E27FC236}">
                <a16:creationId xmlns:a16="http://schemas.microsoft.com/office/drawing/2014/main" id="{C5643F9B-6321-050F-6779-6B10B98E57C2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CAVEAT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is O(h) — but h depends on HOW you built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 keys. Two wildly different shapes.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 flipH="1">
            <a:off x="2670048" y="2304288"/>
            <a:ext cx="1700784" cy="38404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>
            <a:off x="2103120" y="3081528"/>
            <a:ext cx="566928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70048" y="3081528"/>
            <a:ext cx="932678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3337560" y="3858768"/>
            <a:ext cx="466344" cy="33832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0832" y="2304288"/>
            <a:ext cx="932688" cy="28346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4937760" y="3081528"/>
            <a:ext cx="566928" cy="320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04688" y="3081528"/>
            <a:ext cx="530342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69664" y="1901952"/>
            <a:ext cx="402336" cy="402336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9664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8880" y="267919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01952" y="345643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0195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02736" y="345643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02736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423367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35808" y="4233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267919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36592" y="345643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3659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70448" y="3456432"/>
            <a:ext cx="402336" cy="402336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70448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insertion 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3  (= ⌊log₂ 8⌋)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9520" y="2112264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46720" y="2587752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03920" y="3063240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961120" y="3538728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18320" y="4014216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875520" y="4489704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332720" y="4965192"/>
            <a:ext cx="457200" cy="4754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97496" y="1728216"/>
            <a:ext cx="384048" cy="384048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97496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54696" y="2203704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54696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11896" y="2679192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11896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69096" y="3154680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69096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26296" y="3630168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226296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83496" y="4105656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683496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140696" y="4581144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140696" y="4581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597896" y="5056632"/>
            <a:ext cx="384048" cy="38404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97896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5440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Sorted-order insertion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09360" y="5715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7  (a straight chain)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" y="608076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case, every BST operation is O(n), not O(log n) — a plain BST makes NO guarantee about its own shape.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E523EB52-32B7-E532-88C8-C5A0194FBBEC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guaranteeing the height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gave us the rule. Next class, we guarantee the shape.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6785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property: a global rule, not just a local one.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insert, min/max, successor, and delete: all O(h), all just walking a single path.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is NOT guaranteed — a plain BST can degrade to a linked list.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2011680"/>
            <a:ext cx="5318608" cy="3566160"/>
          </a:xfrm>
          <a:prstGeom prst="roundRect">
            <a:avLst>
              <a:gd name="adj" fmla="val 205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44488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44488" y="2697480"/>
            <a:ext cx="46785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BSTs (e.g. red-black trees): extra bookkeeping that GUARANTEES O(log n) height, no matter the insertion order.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Rotations: the mechanism used to restore balance after an insert or delete.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Text 37">
            <a:extLst>
              <a:ext uri="{FF2B5EF4-FFF2-40B4-BE49-F238E27FC236}">
                <a16:creationId xmlns:a16="http://schemas.microsoft.com/office/drawing/2014/main" id="{10C8FFCA-DEF8-7D67-6B11-27F70F6A52E9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: Three ideas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81965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held everywhere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13055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 is about the WHOLE subtree, not just a node's direct children.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8254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follows one path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13639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insert, min/max, successor, delete — all O(h), all just walking down (or up) a single path.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8313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is not guaranteed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14223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BST can degrade to a linked list. Today's O(h) is only O(log n) if the shape cooperates.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be able to trace search/insert/delete on paper for any small tree, and explain in one sentence why a BST built from sorted input is bad news.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0" name="Text 37">
            <a:extLst>
              <a:ext uri="{FF2B5EF4-FFF2-40B4-BE49-F238E27FC236}">
                <a16:creationId xmlns:a16="http://schemas.microsoft.com/office/drawing/2014/main" id="{177DB91C-3FE9-3F96-1E3C-8AB3422CCBEC}"/>
              </a:ext>
            </a:extLst>
          </p:cNvPr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Design and Analysis  ·  Binary Search Trees  ·  Tanwistha Saha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</TotalTime>
  <Words>5359</Words>
  <Application>Microsoft Macintosh PowerPoint</Application>
  <PresentationFormat>Widescreen</PresentationFormat>
  <Paragraphs>685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57</cp:revision>
  <dcterms:created xsi:type="dcterms:W3CDTF">2026-09-30T21:00:46Z</dcterms:created>
  <dcterms:modified xsi:type="dcterms:W3CDTF">2026-10-07T05:13:34Z</dcterms:modified>
</cp:coreProperties>
</file>